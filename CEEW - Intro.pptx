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Familjen Grotesk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B6771E-921D-439D-9DBA-B1B22E315681}">
  <a:tblStyle styleId="{C0B6771E-921D-439D-9DBA-B1B22E31568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FF8"/>
          </a:solidFill>
        </a:fill>
      </a:tcStyle>
    </a:wholeTbl>
    <a:band1H>
      <a:tcTxStyle b="off" i="off"/>
      <a:tcStyle>
        <a:fill>
          <a:solidFill>
            <a:srgbClr val="CADEF0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EF0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amiljenGrotesk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FamiljenGrotesk-italic.fntdata"/><Relationship Id="rId10" Type="http://schemas.openxmlformats.org/officeDocument/2006/relationships/slide" Target="slides/slide4.xml"/><Relationship Id="rId32" Type="http://schemas.openxmlformats.org/officeDocument/2006/relationships/font" Target="fonts/FamiljenGrotesk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FamiljenGrotesk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18 states, 52 ongoing engagements.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3834064" y="0"/>
            <a:ext cx="8386000" cy="6858000"/>
          </a:xfrm>
          <a:prstGeom prst="rect">
            <a:avLst/>
          </a:prstGeom>
          <a:solidFill>
            <a:srgbClr val="E9E9E9"/>
          </a:solidFill>
          <a:ln>
            <a:noFill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4165600" y="2695073"/>
            <a:ext cx="7812400" cy="1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body"/>
          </p:nvPr>
        </p:nvSpPr>
        <p:spPr>
          <a:xfrm>
            <a:off x="4165600" y="4319588"/>
            <a:ext cx="4540400" cy="18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1pPr>
            <a:lvl2pPr indent="-3429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2" type="body"/>
          </p:nvPr>
        </p:nvSpPr>
        <p:spPr>
          <a:xfrm>
            <a:off x="4165600" y="6303963"/>
            <a:ext cx="78124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1pPr>
            <a:lvl2pPr indent="-3429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4134" y="2839400"/>
            <a:ext cx="2480433" cy="13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b="1" sz="2200" cap="none">
                <a:solidFill>
                  <a:srgbClr val="009C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395705" y="988341"/>
            <a:ext cx="11284400" cy="4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5" name="Google Shape;25;p3"/>
          <p:cNvCxnSpPr/>
          <p:nvPr/>
        </p:nvCxnSpPr>
        <p:spPr>
          <a:xfrm flipH="1" rot="10800000">
            <a:off x="395705" y="6627432"/>
            <a:ext cx="10315200" cy="9600"/>
          </a:xfrm>
          <a:prstGeom prst="straightConnector1">
            <a:avLst/>
          </a:prstGeom>
          <a:noFill/>
          <a:ln cap="flat" cmpd="sng" w="9525">
            <a:solidFill>
              <a:srgbClr val="8D8F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 txBox="1"/>
          <p:nvPr>
            <p:ph idx="2" type="body"/>
          </p:nvPr>
        </p:nvSpPr>
        <p:spPr>
          <a:xfrm>
            <a:off x="395707" y="6627432"/>
            <a:ext cx="9740800" cy="231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0" sz="1200" cap="none">
                <a:solidFill>
                  <a:srgbClr val="9D9D9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Layout">
  <p:cSld name="Section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661288" y="4389057"/>
            <a:ext cx="114112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3733">
                <a:solidFill>
                  <a:srgbClr val="009C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582992" y="4005943"/>
            <a:ext cx="11413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rgbClr val="575756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54419" y="226512"/>
            <a:ext cx="11228000" cy="8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b="1" sz="22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54419" y="1152456"/>
            <a:ext cx="5640000" cy="45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933">
                <a:solidFill>
                  <a:srgbClr val="575756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indent="-3429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indent="-330200" lvl="3" marL="1828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indent="-330200" lvl="4" marL="22860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6197600" y="1152456"/>
            <a:ext cx="5384800" cy="45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933">
                <a:solidFill>
                  <a:srgbClr val="575756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indent="-3429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indent="-330200" lvl="3" marL="1828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indent="-330200" lvl="4" marL="22860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354419" y="6631487"/>
            <a:ext cx="10315200" cy="227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0" sz="1200" cap="none">
                <a:solidFill>
                  <a:srgbClr val="9D9D9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" name="Google Shape;37;p6"/>
          <p:cNvCxnSpPr/>
          <p:nvPr/>
        </p:nvCxnSpPr>
        <p:spPr>
          <a:xfrm flipH="1" rot="10800000">
            <a:off x="395705" y="6636957"/>
            <a:ext cx="10315200" cy="9600"/>
          </a:xfrm>
          <a:prstGeom prst="straightConnector1">
            <a:avLst/>
          </a:prstGeom>
          <a:noFill/>
          <a:ln cap="flat" cmpd="sng" w="9525">
            <a:solidFill>
              <a:srgbClr val="8D8F9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74317" y="194428"/>
            <a:ext cx="11411200" cy="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77509" y="1105471"/>
            <a:ext cx="11390000" cy="49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374317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9D9D9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1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9415604" y="6590193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975768" y="6179275"/>
            <a:ext cx="1022449" cy="54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mc:AlternateContent>
    <mc:Choice Requires="p14">
      <p:transition p14:dur="400">
        <p:fade/>
      </p:transition>
    </mc:Choice>
    <mc:Fallback>
      <p:transition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8.png"/><Relationship Id="rId9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9.jp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19.jpg"/><Relationship Id="rId5" Type="http://schemas.openxmlformats.org/officeDocument/2006/relationships/image" Target="../media/image24.jpg"/><Relationship Id="rId6" Type="http://schemas.openxmlformats.org/officeDocument/2006/relationships/image" Target="../media/image2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jpg"/><Relationship Id="rId4" Type="http://schemas.openxmlformats.org/officeDocument/2006/relationships/image" Target="../media/image33.jpg"/><Relationship Id="rId5" Type="http://schemas.openxmlformats.org/officeDocument/2006/relationships/image" Target="../media/image3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165600" y="2695073"/>
            <a:ext cx="78123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E71"/>
              </a:buClr>
              <a:buSzPts val="3200"/>
              <a:buNone/>
            </a:pPr>
            <a:r>
              <a:rPr lang="en-IN" sz="3467">
                <a:solidFill>
                  <a:srgbClr val="6C6E71"/>
                </a:solidFill>
              </a:rPr>
              <a:t>Supporting ZBNF scale-up in AP through independent research</a:t>
            </a:r>
            <a:endParaRPr sz="3467">
              <a:solidFill>
                <a:srgbClr val="6C6E71"/>
              </a:solidFill>
            </a:endParaRPr>
          </a:p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165600" y="4217988"/>
            <a:ext cx="4540400" cy="18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lang="en-IN" sz="2000">
                <a:solidFill>
                  <a:schemeClr val="accent1"/>
                </a:solidFill>
              </a:rPr>
              <a:t>Arunabha Ghosh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lang="en-IN" sz="2000">
                <a:solidFill>
                  <a:schemeClr val="accent1"/>
                </a:solidFill>
              </a:rPr>
              <a:t>Abhishek Jain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2000">
              <a:solidFill>
                <a:srgbClr val="6C6E7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2000">
              <a:solidFill>
                <a:srgbClr val="6C6E7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r>
              <a:rPr lang="en-IN" sz="1627">
                <a:solidFill>
                  <a:srgbClr val="6C6E71"/>
                </a:solidFill>
              </a:rPr>
              <a:t>Rythu Sadhikara Sanstha (RySS), Guntur, AP 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r>
              <a:rPr lang="en-IN" sz="1627">
                <a:solidFill>
                  <a:srgbClr val="6C6E71"/>
                </a:solidFill>
              </a:rPr>
              <a:t>10 April 2021</a:t>
            </a:r>
            <a:endParaRPr b="1" sz="2000">
              <a:solidFill>
                <a:schemeClr val="accent1"/>
              </a:solidFill>
            </a:endParaRPr>
          </a:p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165600" y="6303963"/>
            <a:ext cx="78124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IN" sz="1733">
                <a:solidFill>
                  <a:srgbClr val="575756"/>
                </a:solidFill>
              </a:rPr>
              <a:t>© Council on Energy, Environment and Water, 2026</a:t>
            </a:r>
            <a:endParaRPr>
              <a:solidFill>
                <a:srgbClr val="575756"/>
              </a:solidFill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-35733" y="53575"/>
            <a:ext cx="3839600" cy="62923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r>
              <a:t/>
            </a:r>
            <a:endParaRPr b="0" i="0" sz="248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/>
        </p:nvSpPr>
        <p:spPr>
          <a:xfrm>
            <a:off x="8166025" y="2275550"/>
            <a:ext cx="3877500" cy="3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350" lIns="146750" spcFirstLastPara="1" rIns="146750" wrap="square" tIns="733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Arial"/>
              <a:buNone/>
            </a:pPr>
            <a:r>
              <a:rPr b="1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16 </a:t>
            </a:r>
            <a:r>
              <a:rPr b="0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years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Arial"/>
              <a:buNone/>
            </a:pPr>
            <a:r>
              <a:rPr b="1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16 </a:t>
            </a:r>
            <a:r>
              <a:rPr b="0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research teams</a:t>
            </a:r>
            <a:endParaRPr b="0" i="0" sz="1600" u="none" cap="none" strike="noStrik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Arial"/>
              <a:buNone/>
            </a:pPr>
            <a:r>
              <a:rPr b="1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400+ </a:t>
            </a:r>
            <a:r>
              <a:rPr b="0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600" u="none" cap="none" strike="noStrik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Arial"/>
              <a:buNone/>
            </a:pPr>
            <a:r>
              <a:rPr b="1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680+ </a:t>
            </a:r>
            <a:r>
              <a:rPr b="0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peer-reviewed studies</a:t>
            </a:r>
            <a:endParaRPr b="0" i="0" sz="1600" u="none" cap="none" strike="noStrik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chemeClr val="dk1"/>
              </a:buClr>
              <a:buSzPts val="1806"/>
              <a:buFont typeface="Arial"/>
              <a:buNone/>
            </a:pPr>
            <a:r>
              <a:rPr b="1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240+ </a:t>
            </a:r>
            <a:r>
              <a:rPr b="0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policies &amp; plans informed </a:t>
            </a:r>
            <a:endParaRPr b="0" i="0" sz="1600" u="none" cap="none" strike="noStrik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chemeClr val="dk1"/>
              </a:buClr>
              <a:buSzPts val="1806"/>
              <a:buFont typeface="Arial"/>
              <a:buNone/>
            </a:pPr>
            <a:r>
              <a:rPr b="1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80,000+ </a:t>
            </a:r>
            <a:r>
              <a:rPr b="0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livelihoods enabled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Arial"/>
              <a:buNone/>
            </a:pPr>
            <a:r>
              <a:rPr b="1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770+</a:t>
            </a:r>
            <a:r>
              <a:rPr b="0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 convenings </a:t>
            </a:r>
            <a:endParaRPr b="0" i="0" sz="1600" u="none" cap="none" strike="noStrik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Arial"/>
              <a:buNone/>
            </a:pPr>
            <a:r>
              <a:rPr b="1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800+ </a:t>
            </a:r>
            <a:r>
              <a:rPr b="0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opinion pieces  </a:t>
            </a:r>
            <a:endParaRPr b="0" i="0" sz="1600" u="none" cap="none" strike="noStrik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chemeClr val="dk1"/>
              </a:buClr>
              <a:buSzPts val="1806"/>
              <a:buFont typeface="Arial"/>
              <a:buNone/>
            </a:pPr>
            <a:r>
              <a:rPr b="1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52 mn </a:t>
            </a:r>
            <a:r>
              <a:rPr b="0" i="0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reached via films &amp; documentaries </a:t>
            </a:r>
            <a:endParaRPr b="0" i="0" sz="1600" u="none" cap="none" strike="noStrik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8" title="MapChart_Map (3).png"/>
          <p:cNvPicPr preferRelativeResize="0"/>
          <p:nvPr/>
        </p:nvPicPr>
        <p:blipFill rotWithShape="1">
          <a:blip r:embed="rId3">
            <a:alphaModFix/>
          </a:blip>
          <a:srcRect b="2591" l="0" r="0" t="0"/>
          <a:stretch/>
        </p:blipFill>
        <p:spPr>
          <a:xfrm>
            <a:off x="2869707" y="1675271"/>
            <a:ext cx="4163751" cy="48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/>
          <p:nvPr>
            <p:ph type="title"/>
          </p:nvPr>
        </p:nvSpPr>
        <p:spPr>
          <a:xfrm>
            <a:off x="415335" y="255122"/>
            <a:ext cx="113334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00" lIns="0" spcFirstLastPara="1" rIns="0" wrap="square" tIns="60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en-IN" sz="2200"/>
              <a:t>Impacting sustainable development at scale with data, integrated analysis, and strategic outreach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t/>
            </a:r>
            <a:endParaRPr sz="2300"/>
          </a:p>
        </p:txBody>
      </p:sp>
      <p:sp>
        <p:nvSpPr>
          <p:cNvPr id="53" name="Google Shape;53;p8"/>
          <p:cNvSpPr txBox="1"/>
          <p:nvPr>
            <p:ph idx="4294967295" type="sldNum"/>
          </p:nvPr>
        </p:nvSpPr>
        <p:spPr>
          <a:xfrm>
            <a:off x="-276585" y="6297039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00" lIns="121900" spcFirstLastPara="1" rIns="121900" wrap="square" tIns="60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 sz="1300"/>
              <a:t>|</a:t>
            </a:r>
            <a:endParaRPr sz="1300"/>
          </a:p>
        </p:txBody>
      </p:sp>
      <p:cxnSp>
        <p:nvCxnSpPr>
          <p:cNvPr id="54" name="Google Shape;54;p8"/>
          <p:cNvCxnSpPr/>
          <p:nvPr/>
        </p:nvCxnSpPr>
        <p:spPr>
          <a:xfrm flipH="1" rot="10800000">
            <a:off x="441042" y="1944238"/>
            <a:ext cx="11333400" cy="4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5" name="Google Shape;55;p8"/>
          <p:cNvCxnSpPr/>
          <p:nvPr/>
        </p:nvCxnSpPr>
        <p:spPr>
          <a:xfrm flipH="1" rot="10800000">
            <a:off x="400825" y="1131679"/>
            <a:ext cx="11333400" cy="4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6" name="Google Shape;56;p8"/>
          <p:cNvSpPr/>
          <p:nvPr/>
        </p:nvSpPr>
        <p:spPr>
          <a:xfrm>
            <a:off x="6331357" y="1327401"/>
            <a:ext cx="142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b="1" i="0" lang="en-IN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Improving quality of life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1090675" y="1343822"/>
            <a:ext cx="941653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b="1" i="0" lang="en-IN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Clean electricity </a:t>
            </a:r>
            <a:endParaRPr b="1" i="0" sz="1500" u="none" cap="none" strike="noStrike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/>
          <p:nvPr/>
        </p:nvSpPr>
        <p:spPr>
          <a:xfrm>
            <a:off x="8567729" y="1321330"/>
            <a:ext cx="12864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b="1" i="0" lang="en-IN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Green economy &amp; livelihoods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2736392" y="1349707"/>
            <a:ext cx="13479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b="1" i="0" lang="en-IN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Low-carbon </a:t>
            </a:r>
            <a:endParaRPr b="1" i="0" sz="1500" u="none" cap="none" strike="noStrike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b="1" i="0" lang="en-IN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industrialisation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390604" y="916963"/>
            <a:ext cx="188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b="0" i="0" lang="en-IN" sz="1201" u="none" cap="none" strike="noStrike">
                <a:solidFill>
                  <a:srgbClr val="1F1F1F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STRATEGIC PILLARS</a:t>
            </a:r>
            <a:endParaRPr b="0" i="0" sz="1201" u="none" cap="none" strike="noStrike">
              <a:solidFill>
                <a:srgbClr val="000000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10562841" y="1320404"/>
            <a:ext cx="13452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b="1" i="0" lang="en-IN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Sharing lessons from India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/>
          <p:nvPr/>
        </p:nvSpPr>
        <p:spPr>
          <a:xfrm>
            <a:off x="6402024" y="2722344"/>
            <a:ext cx="1498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Assam </a:t>
            </a:r>
            <a:endParaRPr b="0" i="0" sz="1153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Energy, Livelihoods</a:t>
            </a:r>
            <a:endParaRPr b="0" i="0" sz="1293" u="none" cap="none" strike="noStrik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4797553" y="2866028"/>
            <a:ext cx="14769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Uttar Pradesh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Energy, Mobility, Water</a:t>
            </a:r>
            <a:endParaRPr b="0" i="0" sz="1293" u="none" cap="none" strike="noStrik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5120229" y="5516865"/>
            <a:ext cx="1984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Andhra Pradesh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Resilience, Food </a:t>
            </a:r>
            <a:endParaRPr b="0" i="0" sz="1013" u="none" cap="none" strike="noStrik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t/>
            </a:r>
            <a:endParaRPr b="0" i="0" sz="1153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8"/>
          <p:cNvCxnSpPr/>
          <p:nvPr/>
        </p:nvCxnSpPr>
        <p:spPr>
          <a:xfrm flipH="1" rot="10800000">
            <a:off x="4498527" y="5608818"/>
            <a:ext cx="621900" cy="9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8"/>
          <p:cNvSpPr txBox="1"/>
          <p:nvPr/>
        </p:nvSpPr>
        <p:spPr>
          <a:xfrm>
            <a:off x="1722048" y="2274925"/>
            <a:ext cx="2105700" cy="418784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0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Himachal Pradesh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0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Resilience</a:t>
            </a:r>
            <a:endParaRPr/>
          </a:p>
        </p:txBody>
      </p:sp>
      <p:cxnSp>
        <p:nvCxnSpPr>
          <p:cNvPr id="67" name="Google Shape;67;p8"/>
          <p:cNvCxnSpPr/>
          <p:nvPr/>
        </p:nvCxnSpPr>
        <p:spPr>
          <a:xfrm>
            <a:off x="3661737" y="2596952"/>
            <a:ext cx="645900" cy="372000"/>
          </a:xfrm>
          <a:prstGeom prst="bentConnector3">
            <a:avLst>
              <a:gd fmla="val 246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8"/>
          <p:cNvSpPr txBox="1"/>
          <p:nvPr/>
        </p:nvSpPr>
        <p:spPr>
          <a:xfrm>
            <a:off x="2156631" y="3190959"/>
            <a:ext cx="1498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Delhi</a:t>
            </a:r>
            <a:endParaRPr b="0" i="0" sz="1153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Energy, Mobility</a:t>
            </a:r>
            <a:endParaRPr b="0" i="0" sz="1293" u="none" cap="none" strike="noStrik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"/>
          <p:cNvSpPr txBox="1"/>
          <p:nvPr/>
        </p:nvSpPr>
        <p:spPr>
          <a:xfrm>
            <a:off x="379152" y="2501570"/>
            <a:ext cx="23850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Punjab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20926" lvl="0" marL="320925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Mobility</a:t>
            </a:r>
            <a:endParaRPr b="0" i="0" sz="1013" u="none" cap="none" strike="noStrik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t/>
            </a:r>
            <a:endParaRPr b="0" i="0" sz="1153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6790539" y="4518405"/>
            <a:ext cx="1290225" cy="622366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Odisha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Energy, Livelihoods, Resilience</a:t>
            </a:r>
            <a:endParaRPr b="0" i="0" sz="1013" u="none" cap="none" strike="noStrik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1590606" y="4668806"/>
            <a:ext cx="14988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Maharashtra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Energy, Resilience, Water</a:t>
            </a:r>
            <a:endParaRPr b="0" i="0" sz="1013" u="none" cap="none" strike="noStrik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8"/>
          <p:cNvCxnSpPr/>
          <p:nvPr/>
        </p:nvCxnSpPr>
        <p:spPr>
          <a:xfrm flipH="1" rot="10800000">
            <a:off x="4391181" y="6170893"/>
            <a:ext cx="824400" cy="9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8"/>
          <p:cNvSpPr txBox="1"/>
          <p:nvPr/>
        </p:nvSpPr>
        <p:spPr>
          <a:xfrm>
            <a:off x="572589" y="3842432"/>
            <a:ext cx="2385000" cy="797927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			Gujarat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Air, Energy, Industry, Resilience, Water</a:t>
            </a:r>
            <a:endParaRPr b="0" i="0" sz="1013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 txBox="1"/>
          <p:nvPr/>
        </p:nvSpPr>
        <p:spPr>
          <a:xfrm>
            <a:off x="5194116" y="6033773"/>
            <a:ext cx="1962600" cy="622366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Tamil Nadu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Energy, Resilience, </a:t>
            </a:r>
            <a:endParaRPr b="0" i="0" sz="1013" u="none" cap="none" strike="noStrik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Water</a:t>
            </a:r>
            <a:endParaRPr b="0" i="0" sz="1153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1244246" y="3589730"/>
            <a:ext cx="17337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Rajasthan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Energy, Food, Industry, Water</a:t>
            </a:r>
            <a:b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13" u="none" cap="none" strike="noStrik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 txBox="1"/>
          <p:nvPr/>
        </p:nvSpPr>
        <p:spPr>
          <a:xfrm>
            <a:off x="4715177" y="2297416"/>
            <a:ext cx="1498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Uttarakhand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Energy, Resilience</a:t>
            </a:r>
            <a:endParaRPr b="0" i="0" sz="1293" u="none" cap="none" strike="noStrik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8"/>
          <p:cNvCxnSpPr/>
          <p:nvPr/>
        </p:nvCxnSpPr>
        <p:spPr>
          <a:xfrm>
            <a:off x="3440440" y="5762705"/>
            <a:ext cx="750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8"/>
          <p:cNvSpPr txBox="1"/>
          <p:nvPr/>
        </p:nvSpPr>
        <p:spPr>
          <a:xfrm>
            <a:off x="1344437" y="5633947"/>
            <a:ext cx="21057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Karnataka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endParaRPr b="0" i="0" sz="1013" u="none" cap="none" strike="noStrik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8"/>
          <p:cNvCxnSpPr/>
          <p:nvPr/>
        </p:nvCxnSpPr>
        <p:spPr>
          <a:xfrm>
            <a:off x="3276260" y="5335863"/>
            <a:ext cx="537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8"/>
          <p:cNvSpPr txBox="1"/>
          <p:nvPr/>
        </p:nvSpPr>
        <p:spPr>
          <a:xfrm>
            <a:off x="1223691" y="5217368"/>
            <a:ext cx="2105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Goa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0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Resilience, Water</a:t>
            </a:r>
            <a:endParaRPr b="0" i="0" sz="1010" u="none" cap="none" strike="noStrik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8"/>
          <p:cNvCxnSpPr/>
          <p:nvPr/>
        </p:nvCxnSpPr>
        <p:spPr>
          <a:xfrm>
            <a:off x="2933418" y="3703529"/>
            <a:ext cx="591000" cy="9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8"/>
          <p:cNvCxnSpPr/>
          <p:nvPr/>
        </p:nvCxnSpPr>
        <p:spPr>
          <a:xfrm>
            <a:off x="2941550" y="4318750"/>
            <a:ext cx="682800" cy="9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8"/>
          <p:cNvCxnSpPr/>
          <p:nvPr/>
        </p:nvCxnSpPr>
        <p:spPr>
          <a:xfrm flipH="1" rot="10800000">
            <a:off x="3063135" y="4779296"/>
            <a:ext cx="921300" cy="9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8"/>
          <p:cNvCxnSpPr>
            <a:endCxn id="85" idx="1"/>
          </p:cNvCxnSpPr>
          <p:nvPr/>
        </p:nvCxnSpPr>
        <p:spPr>
          <a:xfrm>
            <a:off x="5104620" y="4395655"/>
            <a:ext cx="1417800" cy="45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8"/>
          <p:cNvSpPr txBox="1"/>
          <p:nvPr/>
        </p:nvSpPr>
        <p:spPr>
          <a:xfrm>
            <a:off x="5563972" y="4649204"/>
            <a:ext cx="15927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Madhya Pradesh</a:t>
            </a:r>
            <a:endParaRPr b="0" i="0" sz="1153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Energy, Food</a:t>
            </a:r>
            <a:endParaRPr b="0" i="0" sz="1293" u="none" cap="none" strike="noStrik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6522420" y="4190305"/>
            <a:ext cx="1427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Chhattisgarh</a:t>
            </a:r>
            <a:endParaRPr b="0" i="0" sz="1153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Energy, Mobility</a:t>
            </a:r>
            <a:endParaRPr b="0" i="0" sz="1293" u="none" cap="none" strike="noStrik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8"/>
          <p:cNvCxnSpPr/>
          <p:nvPr/>
        </p:nvCxnSpPr>
        <p:spPr>
          <a:xfrm>
            <a:off x="4453391" y="4233304"/>
            <a:ext cx="1158300" cy="493500"/>
          </a:xfrm>
          <a:prstGeom prst="bentConnector3">
            <a:avLst>
              <a:gd fmla="val 1435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8"/>
          <p:cNvSpPr txBox="1"/>
          <p:nvPr/>
        </p:nvSpPr>
        <p:spPr>
          <a:xfrm>
            <a:off x="899777" y="2905144"/>
            <a:ext cx="1427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Haryana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20926" lvl="0" marL="320925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Energy</a:t>
            </a:r>
            <a:endParaRPr b="0" i="0" sz="1013" u="none" cap="none" strike="noStrik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t/>
            </a:r>
            <a:endParaRPr b="0" i="0" sz="1153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 txBox="1"/>
          <p:nvPr/>
        </p:nvSpPr>
        <p:spPr>
          <a:xfrm>
            <a:off x="6925534" y="3322397"/>
            <a:ext cx="1082453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Bihar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Livelihoods</a:t>
            </a:r>
            <a:endParaRPr b="0" i="0" sz="1293" u="none" cap="none" strike="noStrik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8"/>
          <p:cNvCxnSpPr/>
          <p:nvPr/>
        </p:nvCxnSpPr>
        <p:spPr>
          <a:xfrm flipH="1" rot="10800000">
            <a:off x="3384973" y="3425436"/>
            <a:ext cx="912300" cy="144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8"/>
          <p:cNvCxnSpPr/>
          <p:nvPr/>
        </p:nvCxnSpPr>
        <p:spPr>
          <a:xfrm>
            <a:off x="5353365" y="4610302"/>
            <a:ext cx="14271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8"/>
          <p:cNvSpPr txBox="1"/>
          <p:nvPr/>
        </p:nvSpPr>
        <p:spPr>
          <a:xfrm>
            <a:off x="1895178" y="6038533"/>
            <a:ext cx="1498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Kerala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Energy, Mobility</a:t>
            </a:r>
            <a:endParaRPr b="0" i="0" sz="1013" u="none" cap="none" strike="noStrik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 txBox="1"/>
          <p:nvPr/>
        </p:nvSpPr>
        <p:spPr>
          <a:xfrm>
            <a:off x="5164235" y="5018709"/>
            <a:ext cx="1984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Telangana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Mobility</a:t>
            </a:r>
            <a:endParaRPr b="0" i="0" sz="1013" u="none" cap="none" strike="noStrik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t/>
            </a:r>
            <a:endParaRPr b="0" i="0" sz="1153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8"/>
          <p:cNvCxnSpPr/>
          <p:nvPr/>
        </p:nvCxnSpPr>
        <p:spPr>
          <a:xfrm flipH="1" rot="10800000">
            <a:off x="4519676" y="5154287"/>
            <a:ext cx="621900" cy="9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8"/>
          <p:cNvSpPr txBox="1"/>
          <p:nvPr/>
        </p:nvSpPr>
        <p:spPr>
          <a:xfrm>
            <a:off x="6814550" y="3761537"/>
            <a:ext cx="11748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75" lIns="85550" spcFirstLastPara="1" rIns="85550" wrap="square" tIns="42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153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Jharkhand</a:t>
            </a:r>
            <a:endParaRPr b="0" i="0" sz="14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0" i="0" lang="en-IN" sz="1013" u="none" cap="none" strike="noStrik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endParaRPr b="0" i="0" sz="1013" u="none" cap="none" strike="noStrik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t/>
            </a:r>
            <a:endParaRPr b="0" i="0" sz="1153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8"/>
          <p:cNvCxnSpPr/>
          <p:nvPr/>
        </p:nvCxnSpPr>
        <p:spPr>
          <a:xfrm>
            <a:off x="3354735" y="6171590"/>
            <a:ext cx="82440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8"/>
          <p:cNvCxnSpPr/>
          <p:nvPr/>
        </p:nvCxnSpPr>
        <p:spPr>
          <a:xfrm>
            <a:off x="2770802" y="2735302"/>
            <a:ext cx="1217400" cy="369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8"/>
          <p:cNvCxnSpPr>
            <a:stCxn id="63" idx="2"/>
          </p:cNvCxnSpPr>
          <p:nvPr/>
        </p:nvCxnSpPr>
        <p:spPr>
          <a:xfrm rot="5400000">
            <a:off x="4886953" y="3042878"/>
            <a:ext cx="406200" cy="891900"/>
          </a:xfrm>
          <a:prstGeom prst="bentConnector2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8"/>
          <p:cNvCxnSpPr/>
          <p:nvPr/>
        </p:nvCxnSpPr>
        <p:spPr>
          <a:xfrm rot="5400000">
            <a:off x="4324681" y="2778768"/>
            <a:ext cx="712800" cy="128700"/>
          </a:xfrm>
          <a:prstGeom prst="bentConnector2">
            <a:avLst/>
          </a:prstGeom>
          <a:noFill/>
          <a:ln cap="flat" cmpd="sng" w="119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8"/>
          <p:cNvCxnSpPr/>
          <p:nvPr/>
        </p:nvCxnSpPr>
        <p:spPr>
          <a:xfrm flipH="1">
            <a:off x="5548612" y="3439781"/>
            <a:ext cx="1346100" cy="41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8"/>
          <p:cNvCxnSpPr>
            <a:stCxn id="95" idx="1"/>
          </p:cNvCxnSpPr>
          <p:nvPr/>
        </p:nvCxnSpPr>
        <p:spPr>
          <a:xfrm flipH="1">
            <a:off x="5326550" y="4071887"/>
            <a:ext cx="1488000" cy="168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8"/>
          <p:cNvCxnSpPr/>
          <p:nvPr/>
        </p:nvCxnSpPr>
        <p:spPr>
          <a:xfrm rot="10800000">
            <a:off x="6443120" y="2963016"/>
            <a:ext cx="5700" cy="6138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8"/>
          <p:cNvCxnSpPr/>
          <p:nvPr/>
        </p:nvCxnSpPr>
        <p:spPr>
          <a:xfrm>
            <a:off x="2326877" y="3037687"/>
            <a:ext cx="1844100" cy="236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4" name="Google Shape;1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336" y="1229937"/>
            <a:ext cx="622278" cy="60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60586" y="1279238"/>
            <a:ext cx="744239" cy="580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30293" y="1277164"/>
            <a:ext cx="552846" cy="55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8"/>
          <p:cNvCxnSpPr/>
          <p:nvPr/>
        </p:nvCxnSpPr>
        <p:spPr>
          <a:xfrm>
            <a:off x="8166016" y="2368718"/>
            <a:ext cx="0" cy="3715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108" name="Google Shape;10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361" y="1202523"/>
            <a:ext cx="693410" cy="693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8"/>
          <p:cNvPicPr preferRelativeResize="0"/>
          <p:nvPr/>
        </p:nvPicPr>
        <p:blipFill rotWithShape="1">
          <a:blip r:embed="rId8">
            <a:alphaModFix/>
          </a:blip>
          <a:srcRect b="9214" l="11000" r="12596" t="8390"/>
          <a:stretch/>
        </p:blipFill>
        <p:spPr>
          <a:xfrm>
            <a:off x="5713708" y="1262804"/>
            <a:ext cx="545916" cy="58873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8"/>
          <p:cNvSpPr/>
          <p:nvPr/>
        </p:nvSpPr>
        <p:spPr>
          <a:xfrm>
            <a:off x="4756790" y="1336094"/>
            <a:ext cx="1169455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b="1" i="0" lang="en-IN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Fuels of the future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8"/>
          <p:cNvPicPr preferRelativeResize="0"/>
          <p:nvPr/>
        </p:nvPicPr>
        <p:blipFill rotWithShape="1">
          <a:blip r:embed="rId9">
            <a:alphaModFix/>
          </a:blip>
          <a:srcRect b="7627" l="4513" r="5260" t="7833"/>
          <a:stretch/>
        </p:blipFill>
        <p:spPr>
          <a:xfrm flipH="1">
            <a:off x="4078748" y="1264814"/>
            <a:ext cx="601433" cy="56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/>
          <p:nvPr/>
        </p:nvSpPr>
        <p:spPr>
          <a:xfrm>
            <a:off x="457200" y="210086"/>
            <a:ext cx="10669600" cy="5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IN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Global collaborations since 2010</a:t>
            </a:r>
            <a:endParaRPr b="0" i="0" sz="22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9"/>
          <p:cNvGrpSpPr/>
          <p:nvPr/>
        </p:nvGrpSpPr>
        <p:grpSpPr>
          <a:xfrm>
            <a:off x="241005" y="773130"/>
            <a:ext cx="10689799" cy="5871681"/>
            <a:chOff x="127991" y="814226"/>
            <a:chExt cx="10689799" cy="5871681"/>
          </a:xfrm>
        </p:grpSpPr>
        <p:pic>
          <p:nvPicPr>
            <p:cNvPr id="118" name="Google Shape;118;p9"/>
            <p:cNvPicPr preferRelativeResize="0"/>
            <p:nvPr/>
          </p:nvPicPr>
          <p:blipFill rotWithShape="1">
            <a:blip r:embed="rId3">
              <a:alphaModFix/>
            </a:blip>
            <a:srcRect b="16255" l="8865" r="3005" t="15281"/>
            <a:stretch/>
          </p:blipFill>
          <p:spPr>
            <a:xfrm>
              <a:off x="127991" y="814226"/>
              <a:ext cx="10689799" cy="5871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9"/>
            <p:cNvSpPr/>
            <p:nvPr/>
          </p:nvSpPr>
          <p:spPr>
            <a:xfrm flipH="1" rot="10800000">
              <a:off x="7434159" y="3633095"/>
              <a:ext cx="84814" cy="74166"/>
            </a:xfrm>
            <a:prstGeom prst="ellipse">
              <a:avLst/>
            </a:prstGeom>
            <a:solidFill>
              <a:srgbClr val="00608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608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9"/>
          <p:cNvSpPr/>
          <p:nvPr/>
        </p:nvSpPr>
        <p:spPr>
          <a:xfrm>
            <a:off x="457200" y="3045068"/>
            <a:ext cx="2125602" cy="767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60+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230+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-276585" y="6297039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00" lIns="121900" spcFirstLastPara="1" rIns="121900" wrap="square" tIns="60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IN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en-IN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b="0" i="0" sz="13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CEEW’s engagement and support has already begun</a:t>
            </a:r>
            <a:endParaRPr/>
          </a:p>
        </p:txBody>
      </p:sp>
      <p:sp>
        <p:nvSpPr>
          <p:cNvPr id="127" name="Google Shape;127;p10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sp>
        <p:nvSpPr>
          <p:cNvPr id="128" name="Google Shape;128;p10"/>
          <p:cNvSpPr txBox="1"/>
          <p:nvPr>
            <p:ph idx="2" type="body"/>
          </p:nvPr>
        </p:nvSpPr>
        <p:spPr>
          <a:xfrm>
            <a:off x="395706" y="6663572"/>
            <a:ext cx="10309965" cy="194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 txBox="1"/>
          <p:nvPr/>
        </p:nvSpPr>
        <p:spPr>
          <a:xfrm>
            <a:off x="395705" y="988423"/>
            <a:ext cx="97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ZBNF could help AP and India make significant progress towards almost a quarter of the 169 SDG targets</a:t>
            </a:r>
            <a:endParaRPr b="0" i="0" sz="1600" u="none" cap="none" strike="noStrik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615" y="1750222"/>
            <a:ext cx="3063785" cy="4332644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" name="Google Shape;131;p10"/>
          <p:cNvSpPr txBox="1"/>
          <p:nvPr/>
        </p:nvSpPr>
        <p:spPr>
          <a:xfrm>
            <a:off x="4911856" y="1789861"/>
            <a:ext cx="659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Assessed the potential benefits of ZBNF in line with </a:t>
            </a:r>
            <a:r>
              <a:rPr b="1" i="0" lang="en-IN" sz="1600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Sustainable Development Goals (SDGs)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5072" y="2619036"/>
            <a:ext cx="4572001" cy="342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25647" y="591428"/>
            <a:ext cx="1355576" cy="1228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Prospective areas of research support</a:t>
            </a:r>
            <a:endParaRPr/>
          </a:p>
        </p:txBody>
      </p:sp>
      <p:sp>
        <p:nvSpPr>
          <p:cNvPr id="139" name="Google Shape;139;p11"/>
          <p:cNvSpPr txBox="1"/>
          <p:nvPr>
            <p:ph idx="1" type="body"/>
          </p:nvPr>
        </p:nvSpPr>
        <p:spPr>
          <a:xfrm>
            <a:off x="395705" y="901256"/>
            <a:ext cx="11284400" cy="4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406390" lvl="0" marL="4571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lang="en-IN" sz="1600"/>
              <a:t>Supporting the systemic scale-up</a:t>
            </a:r>
            <a:endParaRPr sz="1600"/>
          </a:p>
          <a:p>
            <a:pPr indent="-330192" lvl="1" marL="990575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</a:pPr>
            <a:r>
              <a:rPr lang="en-IN" sz="1600">
                <a:solidFill>
                  <a:srgbClr val="575756"/>
                </a:solidFill>
              </a:rPr>
              <a:t>Stakeholder mapping and power analysis</a:t>
            </a:r>
            <a:endParaRPr sz="1600">
              <a:solidFill>
                <a:srgbClr val="575756"/>
              </a:solidFill>
            </a:endParaRPr>
          </a:p>
          <a:p>
            <a:pPr indent="-330192" lvl="1" marL="990575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</a:pPr>
            <a:r>
              <a:rPr lang="en-IN" sz="1600">
                <a:solidFill>
                  <a:srgbClr val="575756"/>
                </a:solidFill>
              </a:rPr>
              <a:t>System-wide monitoring &amp; evaluation framework</a:t>
            </a:r>
            <a:endParaRPr sz="1600">
              <a:solidFill>
                <a:srgbClr val="575756"/>
              </a:solidFill>
            </a:endParaRPr>
          </a:p>
          <a:p>
            <a:pPr indent="-330192" lvl="1" marL="990575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</a:pPr>
            <a:r>
              <a:rPr lang="en-IN" sz="1600">
                <a:solidFill>
                  <a:srgbClr val="575756"/>
                </a:solidFill>
              </a:rPr>
              <a:t>Assessing financing ecosystem</a:t>
            </a:r>
            <a:endParaRPr/>
          </a:p>
          <a:p>
            <a:pPr indent="0" lvl="1" marL="660383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solidFill>
                <a:srgbClr val="575756"/>
              </a:solidFill>
            </a:endParaRPr>
          </a:p>
          <a:p>
            <a:pPr indent="-406390" lvl="0" marL="457189" rtl="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1600"/>
              <a:buChar char="•"/>
            </a:pPr>
            <a:r>
              <a:rPr b="1" lang="en-IN" sz="1600"/>
              <a:t>Understanding implications of systemic scale-up</a:t>
            </a:r>
            <a:endParaRPr sz="1600"/>
          </a:p>
          <a:p>
            <a:pPr indent="-330192" lvl="1" marL="990575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</a:pPr>
            <a:r>
              <a:rPr lang="en-IN" sz="1600">
                <a:solidFill>
                  <a:srgbClr val="575756"/>
                </a:solidFill>
              </a:rPr>
              <a:t>Assessing the economic, ecological, and social outcomes of AP ZBNF programme</a:t>
            </a:r>
            <a:endParaRPr sz="1600">
              <a:solidFill>
                <a:srgbClr val="575756"/>
              </a:solidFill>
            </a:endParaRPr>
          </a:p>
          <a:p>
            <a:pPr indent="-270927" lvl="2" marL="15239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Char char="•"/>
            </a:pPr>
            <a:r>
              <a:rPr lang="en-IN" sz="1600">
                <a:solidFill>
                  <a:srgbClr val="575756"/>
                </a:solidFill>
              </a:rPr>
              <a:t>Estimating and leveraging fertiliser subsidy savings</a:t>
            </a:r>
            <a:endParaRPr sz="1600">
              <a:solidFill>
                <a:srgbClr val="575756"/>
              </a:solidFill>
            </a:endParaRPr>
          </a:p>
          <a:p>
            <a:pPr indent="-330192" lvl="1" marL="990575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</a:pPr>
            <a:r>
              <a:rPr lang="en-IN" sz="1600">
                <a:solidFill>
                  <a:srgbClr val="575756"/>
                </a:solidFill>
              </a:rPr>
              <a:t>Understanding the social equity implications</a:t>
            </a:r>
            <a:endParaRPr/>
          </a:p>
          <a:p>
            <a:pPr indent="0" lvl="1" marL="660383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solidFill>
                <a:srgbClr val="575756"/>
              </a:solidFill>
            </a:endParaRPr>
          </a:p>
          <a:p>
            <a:pPr indent="-406390" lvl="0" marL="457189" rtl="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1600"/>
              <a:buChar char="•"/>
            </a:pPr>
            <a:r>
              <a:rPr b="1" lang="en-IN" sz="1600"/>
              <a:t>Achieving co-benefits</a:t>
            </a:r>
            <a:endParaRPr sz="1600"/>
          </a:p>
          <a:p>
            <a:pPr indent="-330192" lvl="1" marL="990575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</a:pPr>
            <a:r>
              <a:rPr lang="en-IN" sz="1600">
                <a:solidFill>
                  <a:srgbClr val="575756"/>
                </a:solidFill>
              </a:rPr>
              <a:t>Utilising the social capital towards achieving SDGs</a:t>
            </a:r>
            <a:endParaRPr sz="1600">
              <a:solidFill>
                <a:srgbClr val="575756"/>
              </a:solidFill>
            </a:endParaRPr>
          </a:p>
          <a:p>
            <a:pPr indent="-330192" lvl="1" marL="990575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</a:pPr>
            <a:r>
              <a:rPr lang="en-IN" sz="1600">
                <a:solidFill>
                  <a:srgbClr val="575756"/>
                </a:solidFill>
              </a:rPr>
              <a:t>Circular economy at the village level</a:t>
            </a:r>
            <a:endParaRPr sz="1600">
              <a:solidFill>
                <a:srgbClr val="575756"/>
              </a:solidFill>
            </a:endParaRPr>
          </a:p>
          <a:p>
            <a:pPr indent="-270927" lvl="2" marL="15239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Char char="•"/>
            </a:pPr>
            <a:r>
              <a:rPr lang="en-IN" sz="1600">
                <a:solidFill>
                  <a:srgbClr val="575756"/>
                </a:solidFill>
              </a:rPr>
              <a:t>Energy independence in villages </a:t>
            </a:r>
            <a:endParaRPr sz="1600">
              <a:solidFill>
                <a:srgbClr val="575756"/>
              </a:solidFill>
            </a:endParaRPr>
          </a:p>
          <a:p>
            <a:pPr indent="-270927" lvl="0" marL="457189" rtl="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</p:txBody>
      </p:sp>
      <p:sp>
        <p:nvSpPr>
          <p:cNvPr id="140" name="Google Shape;140;p11"/>
          <p:cNvSpPr txBox="1"/>
          <p:nvPr>
            <p:ph idx="2" type="body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>
            <p:ph type="title"/>
          </p:nvPr>
        </p:nvSpPr>
        <p:spPr>
          <a:xfrm>
            <a:off x="661288" y="4389057"/>
            <a:ext cx="114112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en-IN" sz="3227"/>
              <a:t>Supporting systemic scale-up</a:t>
            </a:r>
            <a:endParaRPr sz="3227"/>
          </a:p>
        </p:txBody>
      </p:sp>
      <p:sp>
        <p:nvSpPr>
          <p:cNvPr id="147" name="Google Shape;147;p12"/>
          <p:cNvSpPr txBox="1"/>
          <p:nvPr>
            <p:ph idx="1" type="body"/>
          </p:nvPr>
        </p:nvSpPr>
        <p:spPr>
          <a:xfrm>
            <a:off x="558692" y="4032676"/>
            <a:ext cx="11413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1"/>
              <a:buNone/>
            </a:pPr>
            <a:r>
              <a:rPr lang="en-IN" sz="2000"/>
              <a:t>AP ZBNF programme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93"/>
              </a:spcBef>
              <a:spcAft>
                <a:spcPts val="0"/>
              </a:spcAft>
              <a:buSzPts val="601"/>
              <a:buNone/>
            </a:pPr>
            <a:r>
              <a:t/>
            </a:r>
            <a:endParaRPr sz="2000"/>
          </a:p>
        </p:txBody>
      </p:sp>
      <p:sp>
        <p:nvSpPr>
          <p:cNvPr id="148" name="Google Shape;148;p12"/>
          <p:cNvSpPr txBox="1"/>
          <p:nvPr>
            <p:ph idx="12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Stakeholder mapping and power analysis</a:t>
            </a:r>
            <a:endParaRPr/>
          </a:p>
        </p:txBody>
      </p:sp>
      <p:sp>
        <p:nvSpPr>
          <p:cNvPr id="154" name="Google Shape;154;p13"/>
          <p:cNvSpPr txBox="1"/>
          <p:nvPr>
            <p:ph idx="1" type="body"/>
          </p:nvPr>
        </p:nvSpPr>
        <p:spPr>
          <a:xfrm>
            <a:off x="459671" y="2078160"/>
            <a:ext cx="5793347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ts val="888"/>
              <a:buNone/>
            </a:pPr>
            <a:r>
              <a:rPr b="1" lang="en-IN" sz="1600"/>
              <a:t>How?</a:t>
            </a:r>
            <a:endParaRPr sz="1600"/>
          </a:p>
          <a:p>
            <a:pPr indent="-181182" lvl="0" marL="234945" rtl="0" algn="l">
              <a:lnSpc>
                <a:spcPct val="100000"/>
              </a:lnSpc>
              <a:spcBef>
                <a:spcPts val="543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Identify and classify relevant stakeholder for scale-up of the programme</a:t>
            </a:r>
            <a:endParaRPr sz="1600"/>
          </a:p>
          <a:p>
            <a:pPr indent="-62649" lvl="0" marL="234945" rtl="0" algn="l">
              <a:lnSpc>
                <a:spcPct val="100000"/>
              </a:lnSpc>
              <a:spcBef>
                <a:spcPts val="543"/>
              </a:spcBef>
              <a:spcAft>
                <a:spcPts val="0"/>
              </a:spcAft>
              <a:buSzPts val="930"/>
              <a:buNone/>
            </a:pPr>
            <a:r>
              <a:t/>
            </a:r>
            <a:endParaRPr sz="1600"/>
          </a:p>
          <a:p>
            <a:pPr indent="-181182" lvl="0" marL="234945" rtl="0" algn="l">
              <a:lnSpc>
                <a:spcPct val="100000"/>
              </a:lnSpc>
              <a:spcBef>
                <a:spcPts val="543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Assess their existing positions, narratives, and sphere of influence</a:t>
            </a:r>
            <a:endParaRPr sz="1600"/>
          </a:p>
          <a:p>
            <a:pPr indent="-62649" lvl="0" marL="234945" rtl="0" algn="l">
              <a:lnSpc>
                <a:spcPct val="100000"/>
              </a:lnSpc>
              <a:spcBef>
                <a:spcPts val="543"/>
              </a:spcBef>
              <a:spcAft>
                <a:spcPts val="0"/>
              </a:spcAft>
              <a:buSzPts val="930"/>
              <a:buNone/>
            </a:pPr>
            <a:r>
              <a:t/>
            </a:r>
            <a:endParaRPr sz="1600"/>
          </a:p>
          <a:p>
            <a:pPr indent="-181182" lvl="0" marL="234945" rtl="0" algn="l">
              <a:lnSpc>
                <a:spcPct val="100000"/>
              </a:lnSpc>
              <a:spcBef>
                <a:spcPts val="543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Develop a stakeholder engagement strategy for the programme</a:t>
            </a:r>
            <a:endParaRPr sz="1600"/>
          </a:p>
          <a:p>
            <a:pPr indent="-62649" lvl="0" marL="234945" rtl="0" algn="l">
              <a:lnSpc>
                <a:spcPct val="100000"/>
              </a:lnSpc>
              <a:spcBef>
                <a:spcPts val="543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284896" lvl="0" marL="457189" rtl="0" algn="l">
              <a:lnSpc>
                <a:spcPct val="100000"/>
              </a:lnSpc>
              <a:spcBef>
                <a:spcPts val="543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284896" lvl="0" marL="457189" rtl="0" algn="l">
              <a:lnSpc>
                <a:spcPct val="100000"/>
              </a:lnSpc>
              <a:spcBef>
                <a:spcPts val="543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155" name="Google Shape;155;p13"/>
          <p:cNvSpPr txBox="1"/>
          <p:nvPr>
            <p:ph idx="2" type="body"/>
          </p:nvPr>
        </p:nvSpPr>
        <p:spPr>
          <a:xfrm>
            <a:off x="395700" y="6600594"/>
            <a:ext cx="9740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Image source: Wikipedia</a:t>
            </a:r>
            <a:endParaRPr/>
          </a:p>
        </p:txBody>
      </p:sp>
      <p:sp>
        <p:nvSpPr>
          <p:cNvPr id="156" name="Google Shape;156;p13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pic>
        <p:nvPicPr>
          <p:cNvPr id="157" name="Google Shape;1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3945" y="2105341"/>
            <a:ext cx="3683101" cy="365363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3"/>
          <p:cNvSpPr/>
          <p:nvPr/>
        </p:nvSpPr>
        <p:spPr>
          <a:xfrm>
            <a:off x="395705" y="1051924"/>
            <a:ext cx="11622000" cy="7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To garner adequate support and mitigate potential threats to programme scale-up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title"/>
          </p:nvPr>
        </p:nvSpPr>
        <p:spPr>
          <a:xfrm>
            <a:off x="395707" y="928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Stakeholder mapping and power analysis</a:t>
            </a:r>
            <a:endParaRPr/>
          </a:p>
        </p:txBody>
      </p:sp>
      <p:sp>
        <p:nvSpPr>
          <p:cNvPr id="164" name="Google Shape;164;p14"/>
          <p:cNvSpPr txBox="1"/>
          <p:nvPr>
            <p:ph idx="2" type="body"/>
          </p:nvPr>
        </p:nvSpPr>
        <p:spPr>
          <a:xfrm>
            <a:off x="395700" y="6600596"/>
            <a:ext cx="9740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Image source: Wikipedia</a:t>
            </a:r>
            <a:endParaRPr/>
          </a:p>
        </p:txBody>
      </p:sp>
      <p:sp>
        <p:nvSpPr>
          <p:cNvPr id="165" name="Google Shape;165;p14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303412" y="649673"/>
            <a:ext cx="11622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Leveraging CEEW expertise and experience</a:t>
            </a:r>
            <a:endParaRPr b="0" i="0" sz="1600" u="none" cap="none" strike="noStrik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 txBox="1"/>
          <p:nvPr>
            <p:ph idx="1" type="body"/>
          </p:nvPr>
        </p:nvSpPr>
        <p:spPr>
          <a:xfrm>
            <a:off x="395705" y="5171116"/>
            <a:ext cx="11284400" cy="8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423323" lvl="0" marL="4571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lang="en-IN" sz="1600"/>
              <a:t>On-going</a:t>
            </a:r>
            <a:endParaRPr sz="1600"/>
          </a:p>
          <a:p>
            <a:pPr indent="-330192" lvl="1" marL="990575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</a:pPr>
            <a:r>
              <a:rPr lang="en-IN" sz="1600">
                <a:solidFill>
                  <a:srgbClr val="575756"/>
                </a:solidFill>
              </a:rPr>
              <a:t>Evolving the Narrative on Energy Access</a:t>
            </a:r>
            <a:endParaRPr sz="1600">
              <a:solidFill>
                <a:srgbClr val="575756"/>
              </a:solidFill>
            </a:endParaRPr>
          </a:p>
        </p:txBody>
      </p:sp>
      <p:pic>
        <p:nvPicPr>
          <p:cNvPr id="168" name="Google Shape;1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739" y="1344610"/>
            <a:ext cx="2461375" cy="34807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9" name="Google Shape;1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4001" y="1344610"/>
            <a:ext cx="2461367" cy="34807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0" name="Google Shape;170;p14"/>
          <p:cNvPicPr preferRelativeResize="0"/>
          <p:nvPr/>
        </p:nvPicPr>
        <p:blipFill rotWithShape="1">
          <a:blip r:embed="rId5">
            <a:alphaModFix/>
          </a:blip>
          <a:srcRect b="1794" l="30159" r="30159" t="2525"/>
          <a:stretch/>
        </p:blipFill>
        <p:spPr>
          <a:xfrm>
            <a:off x="7751255" y="1344610"/>
            <a:ext cx="2472814" cy="34807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System-wide monitoring and evaluation framework</a:t>
            </a:r>
            <a:endParaRPr/>
          </a:p>
        </p:txBody>
      </p:sp>
      <p:sp>
        <p:nvSpPr>
          <p:cNvPr id="176" name="Google Shape;176;p15"/>
          <p:cNvSpPr txBox="1"/>
          <p:nvPr>
            <p:ph idx="1" type="body"/>
          </p:nvPr>
        </p:nvSpPr>
        <p:spPr>
          <a:xfrm>
            <a:off x="395705" y="988341"/>
            <a:ext cx="11284400" cy="4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IN" sz="1600"/>
              <a:t>Why?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None/>
            </a:pPr>
            <a:r>
              <a:rPr lang="en-IN" sz="1600"/>
              <a:t>To ensure regular process and impact evaluation to not just monitor progress, but to enable course corrections as we scale up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2200"/>
              <a:buNone/>
            </a:pPr>
            <a:r>
              <a:rPr b="1" lang="en-IN" sz="1600"/>
              <a:t>How?</a:t>
            </a:r>
            <a:endParaRPr sz="1600"/>
          </a:p>
          <a:p>
            <a:pPr indent="-406390" lvl="0" marL="457189" rtl="0" algn="just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</a:pPr>
            <a:r>
              <a:rPr lang="en-IN" sz="1600"/>
              <a:t>Understand the existing M&amp;E framework</a:t>
            </a:r>
            <a:endParaRPr sz="1600"/>
          </a:p>
          <a:p>
            <a:pPr indent="-406390" lvl="0" marL="457189" rtl="0" algn="just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</a:pPr>
            <a:r>
              <a:rPr lang="en-IN" sz="1600"/>
              <a:t>Co-build M&amp;E framework for the programme scale-up with focus on process as well as impact evolution</a:t>
            </a:r>
            <a:endParaRPr sz="1600"/>
          </a:p>
          <a:p>
            <a:pPr indent="-347125" lvl="1" marL="990575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Char char="–"/>
            </a:pPr>
            <a:r>
              <a:rPr lang="en-IN" sz="1600">
                <a:solidFill>
                  <a:srgbClr val="575756"/>
                </a:solidFill>
              </a:rPr>
              <a:t>List of indicators to be assessed</a:t>
            </a:r>
            <a:endParaRPr sz="1600">
              <a:solidFill>
                <a:srgbClr val="575756"/>
              </a:solidFill>
            </a:endParaRPr>
          </a:p>
          <a:p>
            <a:pPr indent="-364058" lvl="1" marL="990575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00"/>
              <a:buChar char="–"/>
            </a:pPr>
            <a:r>
              <a:rPr lang="en-IN" sz="1600">
                <a:solidFill>
                  <a:srgbClr val="575756"/>
                </a:solidFill>
              </a:rPr>
              <a:t>Methods and approaches to gather data: MIS, Surveys, GIS, Tech4Data</a:t>
            </a:r>
            <a:endParaRPr sz="1600">
              <a:solidFill>
                <a:srgbClr val="575756"/>
              </a:solidFill>
            </a:endParaRPr>
          </a:p>
          <a:p>
            <a:pPr indent="-406390" lvl="0" marL="457189" rtl="0" algn="just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</a:pPr>
            <a:r>
              <a:rPr lang="en-IN" sz="1600"/>
              <a:t>Evaluate impact using RCT, Differences-in-differences, experiments.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600"/>
          </a:p>
        </p:txBody>
      </p:sp>
      <p:sp>
        <p:nvSpPr>
          <p:cNvPr id="177" name="Google Shape;177;p15"/>
          <p:cNvSpPr txBox="1"/>
          <p:nvPr>
            <p:ph idx="2" type="body"/>
          </p:nvPr>
        </p:nvSpPr>
        <p:spPr>
          <a:xfrm>
            <a:off x="395707" y="6663572"/>
            <a:ext cx="9740800" cy="195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/>
          <p:nvPr>
            <p:ph type="title"/>
          </p:nvPr>
        </p:nvSpPr>
        <p:spPr>
          <a:xfrm>
            <a:off x="395707" y="928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System-wide monitoring and evaluation framework</a:t>
            </a:r>
            <a:endParaRPr/>
          </a:p>
        </p:txBody>
      </p:sp>
      <p:sp>
        <p:nvSpPr>
          <p:cNvPr id="185" name="Google Shape;185;p16"/>
          <p:cNvSpPr txBox="1"/>
          <p:nvPr>
            <p:ph idx="2" type="body"/>
          </p:nvPr>
        </p:nvSpPr>
        <p:spPr>
          <a:xfrm>
            <a:off x="395700" y="6720299"/>
            <a:ext cx="9740700" cy="1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186" name="Google Shape;186;p16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284939" y="591385"/>
            <a:ext cx="11622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Leveraging CEEW expertise and experience</a:t>
            </a:r>
            <a:endParaRPr b="0" i="0" sz="1600" u="none" cap="none" strike="noStrik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9102" y="1146546"/>
            <a:ext cx="2410747" cy="319513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9" name="Google Shape;189;p16"/>
          <p:cNvPicPr preferRelativeResize="0"/>
          <p:nvPr/>
        </p:nvPicPr>
        <p:blipFill rotWithShape="1">
          <a:blip r:embed="rId4">
            <a:alphaModFix/>
          </a:blip>
          <a:srcRect b="821" l="2791" r="2757" t="1821"/>
          <a:stretch/>
        </p:blipFill>
        <p:spPr>
          <a:xfrm>
            <a:off x="6179128" y="1146546"/>
            <a:ext cx="2373746" cy="319513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0" name="Google Shape;190;p16"/>
          <p:cNvSpPr txBox="1"/>
          <p:nvPr/>
        </p:nvSpPr>
        <p:spPr>
          <a:xfrm>
            <a:off x="395707" y="4515312"/>
            <a:ext cx="9275200" cy="1600384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On-going</a:t>
            </a:r>
            <a:endParaRPr b="1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125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Tech4Data – Sensor-based cloud data gathering, telephonic surveys, app-based data gathering, digital surveys 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594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125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M&amp;E framework for in situ management of crop stubble in Punjab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Assessing the financing ecosystem</a:t>
            </a:r>
            <a:endParaRPr/>
          </a:p>
        </p:txBody>
      </p:sp>
      <p:sp>
        <p:nvSpPr>
          <p:cNvPr id="196" name="Google Shape;196;p17"/>
          <p:cNvSpPr txBox="1"/>
          <p:nvPr>
            <p:ph idx="1" type="body"/>
          </p:nvPr>
        </p:nvSpPr>
        <p:spPr>
          <a:xfrm>
            <a:off x="395705" y="988341"/>
            <a:ext cx="11284400" cy="4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IN" sz="1600"/>
              <a:t>Why?</a:t>
            </a:r>
            <a:endParaRPr sz="1600"/>
          </a:p>
          <a:p>
            <a:pPr indent="-406390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</a:pPr>
            <a:r>
              <a:rPr lang="en-IN" sz="1600"/>
              <a:t>Leveraging public funds to crowd in private capital to scale the programme faster and more cost-effectively</a:t>
            </a:r>
            <a:endParaRPr sz="1600"/>
          </a:p>
          <a:p>
            <a:pPr indent="-287859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2200"/>
              <a:buNone/>
            </a:pPr>
            <a:r>
              <a:rPr b="1" lang="en-IN" sz="1600"/>
              <a:t>How?</a:t>
            </a:r>
            <a:endParaRPr sz="1600"/>
          </a:p>
          <a:p>
            <a:pPr indent="-406390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</a:pPr>
            <a:r>
              <a:rPr lang="en-IN" sz="1600"/>
              <a:t>Evaluation of alternative approaches to results-based financing</a:t>
            </a:r>
            <a:endParaRPr sz="1600"/>
          </a:p>
          <a:p>
            <a:pPr indent="-406390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</a:pPr>
            <a:r>
              <a:rPr lang="en-IN" sz="1600"/>
              <a:t>Assessing feasibility of offset mechanisms as a revenue stream</a:t>
            </a:r>
            <a:endParaRPr sz="1600"/>
          </a:p>
          <a:p>
            <a:pPr indent="-406390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</a:pPr>
            <a:r>
              <a:rPr lang="en-IN" sz="1600"/>
              <a:t>Assessing risk perceptions with regards to programme financing</a:t>
            </a:r>
            <a:endParaRPr sz="1600"/>
          </a:p>
          <a:p>
            <a:pPr indent="-406390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</a:pPr>
            <a:r>
              <a:rPr lang="en-IN" sz="1600"/>
              <a:t>Designing innovative financial instruments to mitigate the risks</a:t>
            </a:r>
            <a:endParaRPr sz="1600"/>
          </a:p>
          <a:p>
            <a:pPr indent="-406390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</a:pPr>
            <a:r>
              <a:rPr lang="en-IN" sz="1600"/>
              <a:t>Assessing potential for green bonds for credit enhancement</a:t>
            </a:r>
            <a:endParaRPr sz="1600"/>
          </a:p>
          <a:p>
            <a:pPr indent="-287859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600"/>
          </a:p>
          <a:p>
            <a:pPr indent="-287859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600"/>
          </a:p>
        </p:txBody>
      </p:sp>
      <p:sp>
        <p:nvSpPr>
          <p:cNvPr id="197" name="Google Shape;197;p17"/>
          <p:cNvSpPr txBox="1"/>
          <p:nvPr>
            <p:ph idx="2" type="body"/>
          </p:nvPr>
        </p:nvSpPr>
        <p:spPr>
          <a:xfrm>
            <a:off x="395700" y="6600594"/>
            <a:ext cx="9740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198" name="Google Shape;198;p17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>
            <p:ph type="title"/>
          </p:nvPr>
        </p:nvSpPr>
        <p:spPr>
          <a:xfrm>
            <a:off x="395707" y="928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Assessing the financing ecosystem</a:t>
            </a:r>
            <a:endParaRPr/>
          </a:p>
        </p:txBody>
      </p:sp>
      <p:sp>
        <p:nvSpPr>
          <p:cNvPr id="204" name="Google Shape;204;p18"/>
          <p:cNvSpPr txBox="1"/>
          <p:nvPr>
            <p:ph idx="2" type="body"/>
          </p:nvPr>
        </p:nvSpPr>
        <p:spPr>
          <a:xfrm>
            <a:off x="395700" y="6680869"/>
            <a:ext cx="97407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284939" y="591385"/>
            <a:ext cx="11622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Leveraging CEEW expertise and experience</a:t>
            </a:r>
            <a:endParaRPr b="0" i="0" sz="1600" u="none" cap="none" strike="noStrik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18"/>
          <p:cNvPicPr preferRelativeResize="0"/>
          <p:nvPr/>
        </p:nvPicPr>
        <p:blipFill rotWithShape="1">
          <a:blip r:embed="rId3">
            <a:alphaModFix/>
          </a:blip>
          <a:srcRect b="0" l="30476" r="30316" t="0"/>
          <a:stretch/>
        </p:blipFill>
        <p:spPr>
          <a:xfrm>
            <a:off x="1145309" y="1320783"/>
            <a:ext cx="2877482" cy="37775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8" name="Google Shape;208;p18"/>
          <p:cNvPicPr preferRelativeResize="0"/>
          <p:nvPr/>
        </p:nvPicPr>
        <p:blipFill rotWithShape="1">
          <a:blip r:embed="rId4">
            <a:alphaModFix/>
          </a:blip>
          <a:srcRect b="0" l="30318" r="30634" t="0"/>
          <a:stretch/>
        </p:blipFill>
        <p:spPr>
          <a:xfrm>
            <a:off x="4341090" y="1651241"/>
            <a:ext cx="3028510" cy="37928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9" name="Google Shape;209;p18"/>
          <p:cNvPicPr preferRelativeResize="0"/>
          <p:nvPr/>
        </p:nvPicPr>
        <p:blipFill rotWithShape="1">
          <a:blip r:embed="rId5">
            <a:alphaModFix/>
          </a:blip>
          <a:srcRect b="0" l="30159" r="30316" t="0"/>
          <a:stretch/>
        </p:blipFill>
        <p:spPr>
          <a:xfrm>
            <a:off x="7687899" y="2059007"/>
            <a:ext cx="2991595" cy="39007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type="title"/>
          </p:nvPr>
        </p:nvSpPr>
        <p:spPr>
          <a:xfrm>
            <a:off x="661288" y="4389057"/>
            <a:ext cx="114112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en-IN" sz="3227"/>
              <a:t>Understanding implications of systemic scale-up</a:t>
            </a:r>
            <a:endParaRPr sz="3227"/>
          </a:p>
        </p:txBody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582992" y="4005943"/>
            <a:ext cx="11413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1"/>
              <a:buNone/>
            </a:pPr>
            <a:r>
              <a:rPr lang="en-IN" sz="2001"/>
              <a:t>AP ZBNF programme</a:t>
            </a:r>
            <a:endParaRPr sz="2001"/>
          </a:p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type="title"/>
          </p:nvPr>
        </p:nvSpPr>
        <p:spPr>
          <a:xfrm>
            <a:off x="395705" y="194341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Economic, environmental and social cost and benefit analysis</a:t>
            </a:r>
            <a:endParaRPr/>
          </a:p>
        </p:txBody>
      </p:sp>
      <p:sp>
        <p:nvSpPr>
          <p:cNvPr id="222" name="Google Shape;222;p20"/>
          <p:cNvSpPr txBox="1"/>
          <p:nvPr>
            <p:ph idx="1" type="body"/>
          </p:nvPr>
        </p:nvSpPr>
        <p:spPr>
          <a:xfrm>
            <a:off x="395705" y="988341"/>
            <a:ext cx="11284400" cy="4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9"/>
              <a:buNone/>
            </a:pPr>
            <a:r>
              <a:rPr b="1" lang="en-IN" sz="1600"/>
              <a:t>Why?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00"/>
              <a:buNone/>
            </a:pPr>
            <a:r>
              <a:rPr lang="en-IN" sz="1600"/>
              <a:t>To garner adequate support through quantification of potential costs and benefits of the programme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1339"/>
              <a:buNone/>
            </a:pPr>
            <a:r>
              <a:rPr b="1" lang="en-IN" sz="1600"/>
              <a:t>How?</a:t>
            </a:r>
            <a:endParaRPr sz="1600"/>
          </a:p>
          <a:p>
            <a:pPr indent="-404273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In collaboration with other research entities (e.g. ICRAF, TEEB), quantifying and estimating the triple bottomline outcomes of the programme</a:t>
            </a:r>
            <a:endParaRPr sz="1600"/>
          </a:p>
          <a:p>
            <a:pPr indent="-287859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55"/>
              <a:buNone/>
            </a:pPr>
            <a:r>
              <a:t/>
            </a:r>
            <a:endParaRPr sz="1600"/>
          </a:p>
          <a:p>
            <a:pPr indent="-404273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Evaluate climate adaptation benefits of ZBNF </a:t>
            </a:r>
            <a:endParaRPr sz="1600"/>
          </a:p>
          <a:p>
            <a:pPr indent="-287859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55"/>
              <a:buNone/>
            </a:pPr>
            <a:r>
              <a:t/>
            </a:r>
            <a:endParaRPr sz="1600"/>
          </a:p>
          <a:p>
            <a:pPr indent="-404273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Assess ZBNF impact on water in Andhra Pradesh</a:t>
            </a:r>
            <a:endParaRPr sz="1600"/>
          </a:p>
          <a:p>
            <a:pPr indent="-287859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455"/>
              <a:buNone/>
            </a:pPr>
            <a:r>
              <a:t/>
            </a:r>
            <a:endParaRPr sz="1600"/>
          </a:p>
          <a:p>
            <a:pPr indent="-404273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Estimate and leverage fertiliser subsidy savings</a:t>
            </a:r>
            <a:endParaRPr sz="1600"/>
          </a:p>
          <a:p>
            <a:pPr indent="-287859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287859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287859" lvl="0" marL="457189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223" name="Google Shape;223;p20"/>
          <p:cNvSpPr txBox="1"/>
          <p:nvPr>
            <p:ph idx="2" type="body"/>
          </p:nvPr>
        </p:nvSpPr>
        <p:spPr>
          <a:xfrm>
            <a:off x="395700" y="6600596"/>
            <a:ext cx="9740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Image source: realbuildingconsulting.com</a:t>
            </a:r>
            <a:endParaRPr/>
          </a:p>
        </p:txBody>
      </p:sp>
      <p:sp>
        <p:nvSpPr>
          <p:cNvPr id="224" name="Google Shape;224;p20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pic>
        <p:nvPicPr>
          <p:cNvPr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9486" y="3367008"/>
            <a:ext cx="2782809" cy="2692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/>
          <p:nvPr>
            <p:ph type="title"/>
          </p:nvPr>
        </p:nvSpPr>
        <p:spPr>
          <a:xfrm>
            <a:off x="395707" y="928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Economic, environmental and social cost and benefit analysis</a:t>
            </a:r>
            <a:endParaRPr/>
          </a:p>
        </p:txBody>
      </p:sp>
      <p:sp>
        <p:nvSpPr>
          <p:cNvPr id="231" name="Google Shape;231;p21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284939" y="591385"/>
            <a:ext cx="11622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Leveraging CEEW expertise and experience</a:t>
            </a:r>
            <a:endParaRPr b="0" i="0" sz="1600" u="none" cap="none" strike="noStrik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29895" r="30006" t="0"/>
          <a:stretch/>
        </p:blipFill>
        <p:spPr>
          <a:xfrm>
            <a:off x="834810" y="1291508"/>
            <a:ext cx="2888325" cy="369097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9172" y="1524880"/>
            <a:ext cx="2677292" cy="372268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5" name="Google Shape;23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2431" y="1758252"/>
            <a:ext cx="2588395" cy="372268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6" name="Google Shape;23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33103" y="2096181"/>
            <a:ext cx="2677292" cy="372268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" name="Google Shape;237;p21"/>
          <p:cNvSpPr txBox="1"/>
          <p:nvPr>
            <p:ph idx="2" type="body"/>
          </p:nvPr>
        </p:nvSpPr>
        <p:spPr>
          <a:xfrm>
            <a:off x="395700" y="6600599"/>
            <a:ext cx="9740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Social equity implications of AP ZBNF programme</a:t>
            </a:r>
            <a:endParaRPr/>
          </a:p>
        </p:txBody>
      </p:sp>
      <p:sp>
        <p:nvSpPr>
          <p:cNvPr id="243" name="Google Shape;243;p22"/>
          <p:cNvSpPr txBox="1"/>
          <p:nvPr>
            <p:ph idx="1" type="body"/>
          </p:nvPr>
        </p:nvSpPr>
        <p:spPr>
          <a:xfrm>
            <a:off x="395705" y="988343"/>
            <a:ext cx="11284400" cy="13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IN" sz="1600">
                <a:latin typeface="Calibri"/>
                <a:ea typeface="Calibri"/>
                <a:cs typeface="Calibri"/>
                <a:sym typeface="Calibri"/>
              </a:rPr>
              <a:t>Why?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None/>
            </a:pPr>
            <a:r>
              <a:rPr lang="en-IN" sz="1600">
                <a:latin typeface="Calibri"/>
                <a:ea typeface="Calibri"/>
                <a:cs typeface="Calibri"/>
                <a:sym typeface="Calibri"/>
              </a:rPr>
              <a:t>To understand the unintended social inequity implications of the programme; to guide programme design to reduce social inequity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 txBox="1"/>
          <p:nvPr>
            <p:ph idx="2" type="body"/>
          </p:nvPr>
        </p:nvSpPr>
        <p:spPr>
          <a:xfrm>
            <a:off x="395700" y="6600595"/>
            <a:ext cx="9740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45" name="Google Shape;245;p22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pic>
        <p:nvPicPr>
          <p:cNvPr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71071" y="2795287"/>
            <a:ext cx="1214388" cy="1005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36372" y="3868596"/>
            <a:ext cx="1107515" cy="83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59688" y="4871306"/>
            <a:ext cx="1107513" cy="965017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/>
          <p:nvPr/>
        </p:nvSpPr>
        <p:spPr>
          <a:xfrm>
            <a:off x="395707" y="2357409"/>
            <a:ext cx="78872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How?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Study programme implications on  farm-labour requirement, wages, and rural employment market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0" marL="457189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Analyse impact on female farmers and labourers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0" marL="457189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Assess relative gains of landless, marginal, small and medium farmers vis-à-vis large farmers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0" marL="457189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Analyse implications of premium pricing of ZBNF produce on food affordability of poor and marginal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type="title"/>
          </p:nvPr>
        </p:nvSpPr>
        <p:spPr>
          <a:xfrm>
            <a:off x="395707" y="928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Social equity implications of AP ZBNF programme</a:t>
            </a:r>
            <a:endParaRPr/>
          </a:p>
        </p:txBody>
      </p:sp>
      <p:sp>
        <p:nvSpPr>
          <p:cNvPr id="255" name="Google Shape;255;p23"/>
          <p:cNvSpPr txBox="1"/>
          <p:nvPr>
            <p:ph idx="2" type="body"/>
          </p:nvPr>
        </p:nvSpPr>
        <p:spPr>
          <a:xfrm>
            <a:off x="395700" y="6600596"/>
            <a:ext cx="9740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284939" y="591385"/>
            <a:ext cx="11622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Leveraging CEEW expertise and experience</a:t>
            </a:r>
            <a:endParaRPr b="0" i="0" sz="1600" u="none" cap="none" strike="noStrik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1480" y="1656669"/>
            <a:ext cx="2862432" cy="370432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9" name="Google Shape;2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53" y="1211824"/>
            <a:ext cx="2619476" cy="37043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0" name="Google Shape;26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9163" y="2317722"/>
            <a:ext cx="2619475" cy="37033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>
            <p:ph type="title"/>
          </p:nvPr>
        </p:nvSpPr>
        <p:spPr>
          <a:xfrm>
            <a:off x="661288" y="4389057"/>
            <a:ext cx="114112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en-IN" sz="3227"/>
              <a:t>Achieving co-benefits</a:t>
            </a:r>
            <a:endParaRPr sz="3227"/>
          </a:p>
        </p:txBody>
      </p:sp>
      <p:sp>
        <p:nvSpPr>
          <p:cNvPr id="266" name="Google Shape;266;p24"/>
          <p:cNvSpPr txBox="1"/>
          <p:nvPr>
            <p:ph idx="1" type="body"/>
          </p:nvPr>
        </p:nvSpPr>
        <p:spPr>
          <a:xfrm>
            <a:off x="582992" y="4005943"/>
            <a:ext cx="11413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</a:pPr>
            <a:r>
              <a:rPr lang="en-IN" sz="2000"/>
              <a:t>AP ZBNF programme</a:t>
            </a:r>
            <a:endParaRPr sz="2000"/>
          </a:p>
        </p:txBody>
      </p:sp>
      <p:sp>
        <p:nvSpPr>
          <p:cNvPr id="267" name="Google Shape;267;p24"/>
          <p:cNvSpPr txBox="1"/>
          <p:nvPr>
            <p:ph idx="12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Circular economy at the village level</a:t>
            </a:r>
            <a:endParaRPr/>
          </a:p>
        </p:txBody>
      </p:sp>
      <p:sp>
        <p:nvSpPr>
          <p:cNvPr id="273" name="Google Shape;273;p25"/>
          <p:cNvSpPr txBox="1"/>
          <p:nvPr>
            <p:ph idx="1" type="body"/>
          </p:nvPr>
        </p:nvSpPr>
        <p:spPr>
          <a:xfrm>
            <a:off x="395705" y="988341"/>
            <a:ext cx="11284400" cy="1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IN" sz="1600"/>
              <a:t>Why?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None/>
            </a:pPr>
            <a:r>
              <a:rPr lang="en-IN" sz="1600"/>
              <a:t>Leveraging the social capital under the ZBNF programme to realise self-sufficient villages</a:t>
            </a:r>
            <a:endParaRPr sz="1600"/>
          </a:p>
        </p:txBody>
      </p:sp>
      <p:sp>
        <p:nvSpPr>
          <p:cNvPr id="274" name="Google Shape;274;p25"/>
          <p:cNvSpPr txBox="1"/>
          <p:nvPr>
            <p:ph idx="2" type="body"/>
          </p:nvPr>
        </p:nvSpPr>
        <p:spPr>
          <a:xfrm>
            <a:off x="395700" y="6600594"/>
            <a:ext cx="9740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75" name="Google Shape;275;p25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pic>
        <p:nvPicPr>
          <p:cNvPr descr="Image result for circular economy cartoon" id="276" name="Google Shape;2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3080" y="2426478"/>
            <a:ext cx="3420228" cy="344318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/>
          <p:nvPr/>
        </p:nvSpPr>
        <p:spPr>
          <a:xfrm>
            <a:off x="496788" y="2248251"/>
            <a:ext cx="609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How?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Understanding consumption needs and mapping the resources at the village level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85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Assessing the best practices to match village-level resources with the local needs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125" lvl="1" marL="990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125" lvl="1" marL="990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Water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125" lvl="1" marL="990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Food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>
            <p:ph type="title"/>
          </p:nvPr>
        </p:nvSpPr>
        <p:spPr>
          <a:xfrm>
            <a:off x="395707" y="928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Circular economy at the village level</a:t>
            </a:r>
            <a:endParaRPr/>
          </a:p>
        </p:txBody>
      </p:sp>
      <p:sp>
        <p:nvSpPr>
          <p:cNvPr id="283" name="Google Shape;283;p26"/>
          <p:cNvSpPr txBox="1"/>
          <p:nvPr>
            <p:ph idx="2" type="body"/>
          </p:nvPr>
        </p:nvSpPr>
        <p:spPr>
          <a:xfrm>
            <a:off x="395700" y="6600596"/>
            <a:ext cx="9740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84" name="Google Shape;284;p26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284939" y="591385"/>
            <a:ext cx="11622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Leveraging CEEW expertise and experience</a:t>
            </a:r>
            <a:endParaRPr b="0" i="0" sz="1600" u="none" cap="none" strike="noStrik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46" y="1385471"/>
            <a:ext cx="2897391" cy="38063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7" name="Google Shape;287;p26"/>
          <p:cNvPicPr preferRelativeResize="0"/>
          <p:nvPr/>
        </p:nvPicPr>
        <p:blipFill rotWithShape="1">
          <a:blip r:embed="rId4">
            <a:alphaModFix/>
          </a:blip>
          <a:srcRect b="26981" l="12857" r="39207" t="11503"/>
          <a:stretch/>
        </p:blipFill>
        <p:spPr>
          <a:xfrm>
            <a:off x="4644421" y="1385469"/>
            <a:ext cx="5358561" cy="380637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Circular economy: Energy-independent villages</a:t>
            </a:r>
            <a:endParaRPr/>
          </a:p>
        </p:txBody>
      </p:sp>
      <p:sp>
        <p:nvSpPr>
          <p:cNvPr id="293" name="Google Shape;293;p27"/>
          <p:cNvSpPr txBox="1"/>
          <p:nvPr>
            <p:ph idx="2" type="body"/>
          </p:nvPr>
        </p:nvSpPr>
        <p:spPr>
          <a:xfrm>
            <a:off x="395700" y="6600595"/>
            <a:ext cx="9740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94" name="Google Shape;294;p27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395707" y="851861"/>
            <a:ext cx="11400400" cy="5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How?</a:t>
            </a:r>
            <a:endParaRPr b="1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Understanding the consumption needs and mapping resources at the village level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Bioenergy: </a:t>
            </a: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Excess</a:t>
            </a: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agri-residue, waste biomass, and cow-dung (not used in-situ) for energy production through biomass gasification, bio-ethanol and biogas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85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Energy-as-a-service:</a:t>
            </a: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 Village-level energy enterprises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85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Leveraging </a:t>
            </a: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energy efficiency </a:t>
            </a: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towards energy independence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1" marL="106677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For instance in ZBNF micro-enterprises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859" lvl="1" marL="106677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Avoiding free-of-cost biomass for cooking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390" lvl="1" marL="106677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Generating livelihood alternatives to help put an economic value towards time-spent biomass collection and biomass-based cooking</a:t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85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 txBox="1"/>
          <p:nvPr>
            <p:ph type="title"/>
          </p:nvPr>
        </p:nvSpPr>
        <p:spPr>
          <a:xfrm>
            <a:off x="395707" y="928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Circular economy: Energy-independent villages</a:t>
            </a:r>
            <a:endParaRPr/>
          </a:p>
        </p:txBody>
      </p:sp>
      <p:sp>
        <p:nvSpPr>
          <p:cNvPr id="301" name="Google Shape;301;p28"/>
          <p:cNvSpPr txBox="1"/>
          <p:nvPr>
            <p:ph idx="2" type="body"/>
          </p:nvPr>
        </p:nvSpPr>
        <p:spPr>
          <a:xfrm>
            <a:off x="395700" y="6600595"/>
            <a:ext cx="9740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302" name="Google Shape;302;p28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284939" y="591385"/>
            <a:ext cx="11622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Leveraging CEEW expertise and experience</a:t>
            </a:r>
            <a:endParaRPr b="0" i="0" sz="1600" u="none" cap="none" strike="noStrik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28"/>
          <p:cNvPicPr preferRelativeResize="0"/>
          <p:nvPr/>
        </p:nvPicPr>
        <p:blipFill rotWithShape="1">
          <a:blip r:embed="rId3">
            <a:alphaModFix/>
          </a:blip>
          <a:srcRect b="0" l="30337" r="30394" t="2292"/>
          <a:stretch/>
        </p:blipFill>
        <p:spPr>
          <a:xfrm>
            <a:off x="1128645" y="1385385"/>
            <a:ext cx="2554691" cy="35415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5" name="Google Shape;305;p28"/>
          <p:cNvPicPr preferRelativeResize="0"/>
          <p:nvPr/>
        </p:nvPicPr>
        <p:blipFill rotWithShape="1">
          <a:blip r:embed="rId4">
            <a:alphaModFix/>
          </a:blip>
          <a:srcRect b="0" l="30158" r="30316" t="0"/>
          <a:stretch/>
        </p:blipFill>
        <p:spPr>
          <a:xfrm>
            <a:off x="4433455" y="1851535"/>
            <a:ext cx="2678545" cy="35545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6" name="Google Shape;306;p28"/>
          <p:cNvPicPr preferRelativeResize="0"/>
          <p:nvPr/>
        </p:nvPicPr>
        <p:blipFill rotWithShape="1">
          <a:blip r:embed="rId5">
            <a:alphaModFix/>
          </a:blip>
          <a:srcRect b="0" l="30159" r="30159" t="0"/>
          <a:stretch/>
        </p:blipFill>
        <p:spPr>
          <a:xfrm>
            <a:off x="7862119" y="2435247"/>
            <a:ext cx="2757933" cy="35545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Sequencing the research support</a:t>
            </a:r>
            <a:endParaRPr/>
          </a:p>
        </p:txBody>
      </p:sp>
      <p:sp>
        <p:nvSpPr>
          <p:cNvPr id="312" name="Google Shape;312;p29"/>
          <p:cNvSpPr txBox="1"/>
          <p:nvPr>
            <p:ph idx="2" type="body"/>
          </p:nvPr>
        </p:nvSpPr>
        <p:spPr>
          <a:xfrm>
            <a:off x="395700" y="6600594"/>
            <a:ext cx="9740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313" name="Google Shape;313;p29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graphicFrame>
        <p:nvGraphicFramePr>
          <p:cNvPr id="314" name="Google Shape;314;p29"/>
          <p:cNvGraphicFramePr/>
          <p:nvPr/>
        </p:nvGraphicFramePr>
        <p:xfrm>
          <a:off x="356705" y="988428"/>
          <a:ext cx="3000000" cy="3000000"/>
        </p:xfrm>
        <a:graphic>
          <a:graphicData uri="http://schemas.openxmlformats.org/drawingml/2006/table">
            <a:tbl>
              <a:tblPr firstCol="1" firstRow="1">
                <a:noFill/>
                <a:tableStyleId>{C0B6771E-921D-439D-9DBA-B1B22E315681}</a:tableStyleId>
              </a:tblPr>
              <a:tblGrid>
                <a:gridCol w="2342675"/>
                <a:gridCol w="3160775"/>
                <a:gridCol w="2925125"/>
                <a:gridCol w="2933825"/>
              </a:tblGrid>
              <a:tr h="112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600" u="none" cap="none" strike="noStrike"/>
                        <a:t>Phase I</a:t>
                      </a:r>
                      <a:endParaRPr sz="16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600" u="none" cap="none" strike="noStrike"/>
                        <a:t>(1-9 months)</a:t>
                      </a:r>
                      <a:endParaRPr sz="1600" u="none" cap="none" strike="noStrike"/>
                    </a:p>
                  </a:txBody>
                  <a:tcPr marT="45725" marB="45725" marR="121925" marL="1219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600" u="none" cap="none" strike="noStrike"/>
                        <a:t>Phase II</a:t>
                      </a:r>
                      <a:endParaRPr sz="16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600" u="none" cap="none" strike="noStrike"/>
                        <a:t>(9 – 18 months)</a:t>
                      </a:r>
                      <a:endParaRPr sz="1600" u="none" cap="none" strike="noStrike"/>
                    </a:p>
                  </a:txBody>
                  <a:tcPr marT="45725" marB="45725" marR="121925" marL="1219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600" u="none" cap="none" strike="noStrike"/>
                        <a:t>Phase III</a:t>
                      </a:r>
                      <a:endParaRPr sz="16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600" u="none" cap="none" strike="noStrike"/>
                        <a:t>(18+ months)</a:t>
                      </a:r>
                      <a:endParaRPr sz="1600" u="none" cap="none" strike="noStrike"/>
                    </a:p>
                  </a:txBody>
                  <a:tcPr marT="45725" marB="45725" marR="121925" marL="121925" anchor="ctr"/>
                </a:tc>
              </a:tr>
              <a:tr h="122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600" u="none" cap="none" strike="noStrike"/>
                        <a:t>Supporting the scale-up</a:t>
                      </a:r>
                      <a:endParaRPr b="1" sz="1600" u="none" cap="none" strike="noStrike"/>
                    </a:p>
                  </a:txBody>
                  <a:tcPr marT="45725" marB="45725" marR="121925" marL="121925" anchor="ctr"/>
                </a:tc>
                <a:tc>
                  <a:txBody>
                    <a:bodyPr/>
                    <a:lstStyle/>
                    <a:p>
                      <a:pPr indent="-1270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600" u="none" cap="none" strike="noStrike">
                          <a:solidFill>
                            <a:srgbClr val="575756"/>
                          </a:solidFill>
                        </a:rPr>
                        <a:t>Stakeholder mapping and power analysis</a:t>
                      </a:r>
                      <a:endParaRPr sz="1600" u="none" cap="none" strike="noStrike">
                        <a:solidFill>
                          <a:srgbClr val="575756"/>
                        </a:solidFill>
                      </a:endParaRPr>
                    </a:p>
                    <a:p>
                      <a:pPr indent="-1270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600" u="none" cap="none" strike="noStrike">
                          <a:solidFill>
                            <a:srgbClr val="575756"/>
                          </a:solidFill>
                        </a:rPr>
                        <a:t>Developing M&amp;E framework</a:t>
                      </a:r>
                      <a:endParaRPr sz="1600" u="none" cap="none" strike="noStrike">
                        <a:solidFill>
                          <a:srgbClr val="575756"/>
                        </a:solidFill>
                      </a:endParaRPr>
                    </a:p>
                  </a:txBody>
                  <a:tcPr marT="45725" marB="45725" marR="121925" marL="121925" anchor="ctr"/>
                </a:tc>
                <a:tc gridSpan="2">
                  <a:txBody>
                    <a:bodyPr/>
                    <a:lstStyle/>
                    <a:p>
                      <a:pPr indent="-1270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600" u="none" cap="none" strike="noStrike">
                          <a:solidFill>
                            <a:srgbClr val="575756"/>
                          </a:solidFill>
                        </a:rPr>
                        <a:t>Evaluations against M&amp;E framework</a:t>
                      </a:r>
                      <a:endParaRPr sz="1600" u="none" cap="none" strike="noStrike">
                        <a:solidFill>
                          <a:srgbClr val="575756"/>
                        </a:solidFill>
                      </a:endParaRPr>
                    </a:p>
                    <a:p>
                      <a:pPr indent="-1270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600" u="none" cap="none" strike="noStrike">
                          <a:solidFill>
                            <a:srgbClr val="575756"/>
                          </a:solidFill>
                        </a:rPr>
                        <a:t>Assessing financing ecosystem</a:t>
                      </a:r>
                      <a:endParaRPr sz="1600" u="none" cap="none" strike="noStrike">
                        <a:solidFill>
                          <a:srgbClr val="575756"/>
                        </a:solidFill>
                      </a:endParaRPr>
                    </a:p>
                  </a:txBody>
                  <a:tcPr marT="45725" marB="45725" marR="121925" marL="121925" anchor="ctr"/>
                </a:tc>
                <a:tc hMerge="1"/>
              </a:tr>
              <a:tr h="122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600" u="none" cap="none" strike="noStrike"/>
                        <a:t>Understanding implications of scale-up</a:t>
                      </a:r>
                      <a:endParaRPr b="1" sz="1600" u="none" cap="none" strike="noStrike"/>
                    </a:p>
                  </a:txBody>
                  <a:tcPr marT="45725" marB="45725" marR="121925" marL="121925" anchor="ctr"/>
                </a:tc>
                <a:tc>
                  <a:txBody>
                    <a:bodyPr/>
                    <a:lstStyle/>
                    <a:p>
                      <a:pPr indent="-1270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600" u="none" cap="none" strike="noStrike">
                          <a:solidFill>
                            <a:srgbClr val="575756"/>
                          </a:solidFill>
                        </a:rPr>
                        <a:t>Estimating and leveraging fertilisers subsidy savings</a:t>
                      </a:r>
                      <a:endParaRPr sz="1600" u="none" cap="none" strike="noStrike">
                        <a:solidFill>
                          <a:srgbClr val="575756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575756"/>
                        </a:solidFill>
                      </a:endParaRPr>
                    </a:p>
                  </a:txBody>
                  <a:tcPr marT="45725" marB="45725" marR="121925" marL="121925" anchor="ctr"/>
                </a:tc>
                <a:tc gridSpan="2">
                  <a:txBody>
                    <a:bodyPr/>
                    <a:lstStyle/>
                    <a:p>
                      <a:pPr indent="-1270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600" u="none" cap="none" strike="noStrike">
                          <a:solidFill>
                            <a:srgbClr val="575756"/>
                          </a:solidFill>
                        </a:rPr>
                        <a:t>Triple bottom-line CBA</a:t>
                      </a:r>
                      <a:endParaRPr sz="1600" u="none" cap="none" strike="noStrike">
                        <a:solidFill>
                          <a:srgbClr val="575756"/>
                        </a:solidFill>
                      </a:endParaRPr>
                    </a:p>
                    <a:p>
                      <a:pPr indent="-1270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600" u="none" cap="none" strike="noStrike">
                          <a:solidFill>
                            <a:srgbClr val="575756"/>
                          </a:solidFill>
                        </a:rPr>
                        <a:t>Understanding social equity implications</a:t>
                      </a:r>
                      <a:endParaRPr sz="1600" u="none" cap="none" strike="noStrike">
                        <a:solidFill>
                          <a:srgbClr val="575756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575756"/>
                        </a:solidFill>
                      </a:endParaRPr>
                    </a:p>
                  </a:txBody>
                  <a:tcPr marT="45725" marB="45725" marR="121925" marL="121925" anchor="ctr"/>
                </a:tc>
                <a:tc hMerge="1"/>
              </a:tr>
              <a:tr h="1229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600" u="none" cap="none" strike="noStrike"/>
                        <a:t>Achieving co-benefits</a:t>
                      </a:r>
                      <a:endParaRPr b="1" sz="1600" u="none" cap="none" strike="noStrike"/>
                    </a:p>
                  </a:txBody>
                  <a:tcPr marT="45725" marB="45725" marR="121925" marL="121925" anchor="ctr"/>
                </a:tc>
                <a:tc>
                  <a:txBody>
                    <a:bodyPr/>
                    <a:lstStyle/>
                    <a:p>
                      <a:pPr indent="-1270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600" u="none" cap="none" strike="noStrike">
                          <a:solidFill>
                            <a:srgbClr val="575756"/>
                          </a:solidFill>
                        </a:rPr>
                        <a:t>Village level resource mapping and needs assessment</a:t>
                      </a:r>
                      <a:endParaRPr sz="1600" u="none" cap="none" strike="noStrike">
                        <a:solidFill>
                          <a:srgbClr val="575756"/>
                        </a:solidFill>
                      </a:endParaRPr>
                    </a:p>
                  </a:txBody>
                  <a:tcPr marT="45725" marB="45725" marR="121925" marL="121925" anchor="ctr"/>
                </a:tc>
                <a:tc>
                  <a:txBody>
                    <a:bodyPr/>
                    <a:lstStyle/>
                    <a:p>
                      <a:pPr indent="-1270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600" u="none" cap="none" strike="noStrike">
                          <a:solidFill>
                            <a:srgbClr val="575756"/>
                          </a:solidFill>
                        </a:rPr>
                        <a:t>Developing village resource  management plans – circular economy for energy</a:t>
                      </a:r>
                      <a:endParaRPr sz="1600" u="none" cap="none" strike="noStrike">
                        <a:solidFill>
                          <a:srgbClr val="575756"/>
                        </a:solidFill>
                      </a:endParaRPr>
                    </a:p>
                  </a:txBody>
                  <a:tcPr marT="45725" marB="45725" marR="121925" marL="121925" anchor="ctr"/>
                </a:tc>
                <a:tc>
                  <a:txBody>
                    <a:bodyPr/>
                    <a:lstStyle/>
                    <a:p>
                      <a:pPr indent="-1270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600" u="none" cap="none" strike="noStrike">
                          <a:solidFill>
                            <a:srgbClr val="575756"/>
                          </a:solidFill>
                        </a:rPr>
                        <a:t>Evaluating implementation &amp; impact of circular economy plans</a:t>
                      </a:r>
                      <a:endParaRPr sz="1600" u="none" cap="none" strike="noStrike">
                        <a:solidFill>
                          <a:srgbClr val="575756"/>
                        </a:solidFill>
                      </a:endParaRPr>
                    </a:p>
                  </a:txBody>
                  <a:tcPr marT="45725" marB="45725" marR="121925" marL="1219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/>
          <p:nvPr>
            <p:ph idx="1" type="body"/>
          </p:nvPr>
        </p:nvSpPr>
        <p:spPr>
          <a:xfrm>
            <a:off x="826800" y="942160"/>
            <a:ext cx="10538400" cy="4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b="1" lang="en-IN" sz="2400">
                <a:solidFill>
                  <a:schemeClr val="accent1"/>
                </a:solidFill>
              </a:rPr>
              <a:t>Thank you</a:t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None/>
            </a:pPr>
            <a:r>
              <a:rPr lang="en-IN"/>
              <a:t>ceew.in | @CEEWIndia</a:t>
            </a:r>
            <a:endParaRPr/>
          </a:p>
        </p:txBody>
      </p:sp>
      <p:sp>
        <p:nvSpPr>
          <p:cNvPr id="320" name="Google Shape;320;p30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EEW - PPT Template 28Mar18">
  <a:themeElements>
    <a:clrScheme name="CEEW">
      <a:dk1>
        <a:srgbClr val="000000"/>
      </a:dk1>
      <a:lt1>
        <a:srgbClr val="FFFFFF"/>
      </a:lt1>
      <a:dk2>
        <a:srgbClr val="777877"/>
      </a:dk2>
      <a:lt2>
        <a:srgbClr val="FFFFFE"/>
      </a:lt2>
      <a:accent1>
        <a:srgbClr val="009ED8"/>
      </a:accent1>
      <a:accent2>
        <a:srgbClr val="F16223"/>
      </a:accent2>
      <a:accent3>
        <a:srgbClr val="86BB3F"/>
      </a:accent3>
      <a:accent4>
        <a:srgbClr val="929497"/>
      </a:accent4>
      <a:accent5>
        <a:srgbClr val="FFFFFE"/>
      </a:accent5>
      <a:accent6>
        <a:srgbClr val="FFFFFE"/>
      </a:accent6>
      <a:hlink>
        <a:srgbClr val="0D81B9"/>
      </a:hlink>
      <a:folHlink>
        <a:srgbClr val="0D81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
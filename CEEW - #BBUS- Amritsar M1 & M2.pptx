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 id="2147483653" r:id="rId2"/>
  </p:sldMasterIdLst>
  <p:notesMasterIdLst>
    <p:notesMasterId r:id="rId39"/>
  </p:notesMasterIdLst>
  <p:sldIdLst>
    <p:sldId id="256" r:id="rId3"/>
    <p:sldId id="257" r:id="rId4"/>
    <p:sldId id="258" r:id="rId5"/>
    <p:sldId id="259" r:id="rId6"/>
    <p:sldId id="260" r:id="rId7"/>
    <p:sldId id="261" r:id="rId8"/>
    <p:sldId id="262" r:id="rId9"/>
    <p:sldId id="263" r:id="rId10"/>
    <p:sldId id="285" r:id="rId11"/>
    <p:sldId id="291" r:id="rId12"/>
    <p:sldId id="290" r:id="rId13"/>
    <p:sldId id="286" r:id="rId14"/>
    <p:sldId id="287" r:id="rId15"/>
    <p:sldId id="264" r:id="rId16"/>
    <p:sldId id="265" r:id="rId17"/>
    <p:sldId id="266" r:id="rId18"/>
    <p:sldId id="267" r:id="rId19"/>
    <p:sldId id="268" r:id="rId20"/>
    <p:sldId id="269" r:id="rId21"/>
    <p:sldId id="288" r:id="rId22"/>
    <p:sldId id="289" r:id="rId23"/>
    <p:sldId id="270" r:id="rId24"/>
    <p:sldId id="271" r:id="rId25"/>
    <p:sldId id="272" r:id="rId26"/>
    <p:sldId id="273" r:id="rId27"/>
    <p:sldId id="274" r:id="rId28"/>
    <p:sldId id="275" r:id="rId29"/>
    <p:sldId id="276" r:id="rId30"/>
    <p:sldId id="277" r:id="rId31"/>
    <p:sldId id="284" r:id="rId32"/>
    <p:sldId id="278" r:id="rId33"/>
    <p:sldId id="279" r:id="rId34"/>
    <p:sldId id="280" r:id="rId35"/>
    <p:sldId id="281" r:id="rId36"/>
    <p:sldId id="282" r:id="rId37"/>
    <p:sldId id="283" r:id="rId3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0" roundtripDataSignature="AMtx7miE77Ccjbe2lHvGSkqNjG463wrfs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860CCE0-F297-41D7-A668-42E0A14AD0CD}">
  <a:tblStyle styleId="{0860CCE0-F297-41D7-A668-42E0A14AD0CD}"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A65E06BE-108E-464A-A335-A020800443A8}"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CE8E0634-9335-4D7C-9B2C-971118863D71}"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6F2BB3A-6318-44A7-88BF-84572F34096D}" styleName="Table_3">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81"/>
  </p:normalViewPr>
  <p:slideViewPr>
    <p:cSldViewPr snapToGrid="0">
      <p:cViewPr>
        <p:scale>
          <a:sx n="109" d="100"/>
          <a:sy n="109" d="100"/>
        </p:scale>
        <p:origin x="704" y="51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customschemas.google.com/relationships/presentationmetadata" Target="meta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 name="Google Shape;7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a1f07bbfc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85" name="Google Shape;85;g3a1f07bbfc6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f502f38a39_2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g3f502f38a39_2_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f502f38a39_2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3f502f38a39_2_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f502f38a39_2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g3f502f38a39_2_6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f502f38a39_2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g3f502f38a39_2_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f502f38a39_2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g3f502f38a39_2_9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f502f38a39_2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g3f502f38a39_2_10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A54CE5FC-C240-0C0E-2319-0535DD73352D}"/>
            </a:ext>
          </a:extLst>
        </p:cNvPr>
        <p:cNvGrpSpPr/>
        <p:nvPr/>
      </p:nvGrpSpPr>
      <p:grpSpPr>
        <a:xfrm>
          <a:off x="0" y="0"/>
          <a:ext cx="0" cy="0"/>
          <a:chOff x="0" y="0"/>
          <a:chExt cx="0" cy="0"/>
        </a:xfrm>
      </p:grpSpPr>
      <p:sp>
        <p:nvSpPr>
          <p:cNvPr id="373" name="Google Shape;373;g3f556ffc7f3_3_0:notes">
            <a:extLst>
              <a:ext uri="{FF2B5EF4-FFF2-40B4-BE49-F238E27FC236}">
                <a16:creationId xmlns:a16="http://schemas.microsoft.com/office/drawing/2014/main" id="{9E5A2238-AA49-09F9-1AD8-49DF30BCDE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g3f556ffc7f3_3_0:notes">
            <a:extLst>
              <a:ext uri="{FF2B5EF4-FFF2-40B4-BE49-F238E27FC236}">
                <a16:creationId xmlns:a16="http://schemas.microsoft.com/office/drawing/2014/main" id="{689D6EB6-F83E-B041-9792-10A9C2F5612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5" name="Google Shape;375;g3f556ffc7f3_3_0:notes">
            <a:extLst>
              <a:ext uri="{FF2B5EF4-FFF2-40B4-BE49-F238E27FC236}">
                <a16:creationId xmlns:a16="http://schemas.microsoft.com/office/drawing/2014/main" id="{E643B364-4BEB-CB0A-1493-01621FA44725}"/>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IN"/>
              <a:t>9</a:t>
            </a:fld>
            <a:endParaRPr/>
          </a:p>
        </p:txBody>
      </p:sp>
    </p:spTree>
    <p:extLst>
      <p:ext uri="{BB962C8B-B14F-4D97-AF65-F5344CB8AC3E}">
        <p14:creationId xmlns:p14="http://schemas.microsoft.com/office/powerpoint/2010/main" val="16631249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C9F16FA7-6AF1-EDB8-DCA9-0B176363E0A7}"/>
            </a:ext>
          </a:extLst>
        </p:cNvPr>
        <p:cNvGrpSpPr/>
        <p:nvPr/>
      </p:nvGrpSpPr>
      <p:grpSpPr>
        <a:xfrm>
          <a:off x="0" y="0"/>
          <a:ext cx="0" cy="0"/>
          <a:chOff x="0" y="0"/>
          <a:chExt cx="0" cy="0"/>
        </a:xfrm>
      </p:grpSpPr>
      <p:sp>
        <p:nvSpPr>
          <p:cNvPr id="373" name="Google Shape;373;g3f556ffc7f3_3_0:notes">
            <a:extLst>
              <a:ext uri="{FF2B5EF4-FFF2-40B4-BE49-F238E27FC236}">
                <a16:creationId xmlns:a16="http://schemas.microsoft.com/office/drawing/2014/main" id="{E24753D3-3C9F-1484-8D20-8E5147A5AE0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g3f556ffc7f3_3_0:notes">
            <a:extLst>
              <a:ext uri="{FF2B5EF4-FFF2-40B4-BE49-F238E27FC236}">
                <a16:creationId xmlns:a16="http://schemas.microsoft.com/office/drawing/2014/main" id="{645E8D7C-C321-3864-8A1D-BFC3D2C4003C}"/>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5" name="Google Shape;375;g3f556ffc7f3_3_0:notes">
            <a:extLst>
              <a:ext uri="{FF2B5EF4-FFF2-40B4-BE49-F238E27FC236}">
                <a16:creationId xmlns:a16="http://schemas.microsoft.com/office/drawing/2014/main" id="{47B926E6-0560-123B-89C8-2763ACB640A2}"/>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IN"/>
              <a:t>10</a:t>
            </a:fld>
            <a:endParaRPr/>
          </a:p>
        </p:txBody>
      </p:sp>
    </p:spTree>
    <p:extLst>
      <p:ext uri="{BB962C8B-B14F-4D97-AF65-F5344CB8AC3E}">
        <p14:creationId xmlns:p14="http://schemas.microsoft.com/office/powerpoint/2010/main" val="32373831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a:extLst>
            <a:ext uri="{FF2B5EF4-FFF2-40B4-BE49-F238E27FC236}">
              <a16:creationId xmlns:a16="http://schemas.microsoft.com/office/drawing/2014/main" id="{CFEF294C-4371-B2D0-C81A-A124ECEA7962}"/>
            </a:ext>
          </a:extLst>
        </p:cNvPr>
        <p:cNvGrpSpPr/>
        <p:nvPr/>
      </p:nvGrpSpPr>
      <p:grpSpPr>
        <a:xfrm>
          <a:off x="0" y="0"/>
          <a:ext cx="0" cy="0"/>
          <a:chOff x="0" y="0"/>
          <a:chExt cx="0" cy="0"/>
        </a:xfrm>
      </p:grpSpPr>
      <p:sp>
        <p:nvSpPr>
          <p:cNvPr id="373" name="Google Shape;373;g3f556ffc7f3_3_0:notes">
            <a:extLst>
              <a:ext uri="{FF2B5EF4-FFF2-40B4-BE49-F238E27FC236}">
                <a16:creationId xmlns:a16="http://schemas.microsoft.com/office/drawing/2014/main" id="{8C4A276B-179B-0799-AA49-A7E37D9397A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g3f556ffc7f3_3_0:notes">
            <a:extLst>
              <a:ext uri="{FF2B5EF4-FFF2-40B4-BE49-F238E27FC236}">
                <a16:creationId xmlns:a16="http://schemas.microsoft.com/office/drawing/2014/main" id="{169FD9EE-4B2E-0C55-C414-DAFAC1E40D7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5" name="Google Shape;375;g3f556ffc7f3_3_0:notes">
            <a:extLst>
              <a:ext uri="{FF2B5EF4-FFF2-40B4-BE49-F238E27FC236}">
                <a16:creationId xmlns:a16="http://schemas.microsoft.com/office/drawing/2014/main" id="{B1E37943-5CAD-E781-15AC-28C1A587DF2C}"/>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IN"/>
              <a:t>11</a:t>
            </a:fld>
            <a:endParaRPr/>
          </a:p>
        </p:txBody>
      </p:sp>
    </p:spTree>
    <p:extLst>
      <p:ext uri="{BB962C8B-B14F-4D97-AF65-F5344CB8AC3E}">
        <p14:creationId xmlns:p14="http://schemas.microsoft.com/office/powerpoint/2010/main" val="27053982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a:extLst>
            <a:ext uri="{FF2B5EF4-FFF2-40B4-BE49-F238E27FC236}">
              <a16:creationId xmlns:a16="http://schemas.microsoft.com/office/drawing/2014/main" id="{9C1F15AA-12E9-90DE-0CBC-2FA9FB761A59}"/>
            </a:ext>
          </a:extLst>
        </p:cNvPr>
        <p:cNvGrpSpPr/>
        <p:nvPr/>
      </p:nvGrpSpPr>
      <p:grpSpPr>
        <a:xfrm>
          <a:off x="0" y="0"/>
          <a:ext cx="0" cy="0"/>
          <a:chOff x="0" y="0"/>
          <a:chExt cx="0" cy="0"/>
        </a:xfrm>
      </p:grpSpPr>
      <p:sp>
        <p:nvSpPr>
          <p:cNvPr id="381" name="Google Shape;381;g3f556ffc7f3_3_7:notes">
            <a:extLst>
              <a:ext uri="{FF2B5EF4-FFF2-40B4-BE49-F238E27FC236}">
                <a16:creationId xmlns:a16="http://schemas.microsoft.com/office/drawing/2014/main" id="{43B2101C-1AE5-E6EC-C0E5-CA1545E4806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2" name="Google Shape;382;g3f556ffc7f3_3_7:notes">
            <a:extLst>
              <a:ext uri="{FF2B5EF4-FFF2-40B4-BE49-F238E27FC236}">
                <a16:creationId xmlns:a16="http://schemas.microsoft.com/office/drawing/2014/main" id="{67481AED-B223-6937-6248-35817445B01F}"/>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3" name="Google Shape;383;g3f556ffc7f3_3_7:notes">
            <a:extLst>
              <a:ext uri="{FF2B5EF4-FFF2-40B4-BE49-F238E27FC236}">
                <a16:creationId xmlns:a16="http://schemas.microsoft.com/office/drawing/2014/main" id="{66EB6C70-9758-8692-0428-C61A36E99C36}"/>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IN"/>
              <a:t>12</a:t>
            </a:fld>
            <a:endParaRPr/>
          </a:p>
        </p:txBody>
      </p:sp>
    </p:spTree>
    <p:extLst>
      <p:ext uri="{BB962C8B-B14F-4D97-AF65-F5344CB8AC3E}">
        <p14:creationId xmlns:p14="http://schemas.microsoft.com/office/powerpoint/2010/main" val="41175439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a:extLst>
            <a:ext uri="{FF2B5EF4-FFF2-40B4-BE49-F238E27FC236}">
              <a16:creationId xmlns:a16="http://schemas.microsoft.com/office/drawing/2014/main" id="{9FA3E32F-5D9F-1747-D3F8-BBE21858D1A0}"/>
            </a:ext>
          </a:extLst>
        </p:cNvPr>
        <p:cNvGrpSpPr/>
        <p:nvPr/>
      </p:nvGrpSpPr>
      <p:grpSpPr>
        <a:xfrm>
          <a:off x="0" y="0"/>
          <a:ext cx="0" cy="0"/>
          <a:chOff x="0" y="0"/>
          <a:chExt cx="0" cy="0"/>
        </a:xfrm>
      </p:grpSpPr>
      <p:sp>
        <p:nvSpPr>
          <p:cNvPr id="381" name="Google Shape;381;g3f556ffc7f3_3_7:notes">
            <a:extLst>
              <a:ext uri="{FF2B5EF4-FFF2-40B4-BE49-F238E27FC236}">
                <a16:creationId xmlns:a16="http://schemas.microsoft.com/office/drawing/2014/main" id="{CD43D032-052D-0A46-855C-154BD893EA2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2" name="Google Shape;382;g3f556ffc7f3_3_7:notes">
            <a:extLst>
              <a:ext uri="{FF2B5EF4-FFF2-40B4-BE49-F238E27FC236}">
                <a16:creationId xmlns:a16="http://schemas.microsoft.com/office/drawing/2014/main" id="{8E370F39-79C8-B796-1342-BA1604C4AD5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3" name="Google Shape;383;g3f556ffc7f3_3_7:notes">
            <a:extLst>
              <a:ext uri="{FF2B5EF4-FFF2-40B4-BE49-F238E27FC236}">
                <a16:creationId xmlns:a16="http://schemas.microsoft.com/office/drawing/2014/main" id="{CAB52B94-5BA1-49CA-EECD-FF9702E779E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IN"/>
              <a:t>13</a:t>
            </a:fld>
            <a:endParaRPr/>
          </a:p>
        </p:txBody>
      </p:sp>
    </p:spTree>
    <p:extLst>
      <p:ext uri="{BB962C8B-B14F-4D97-AF65-F5344CB8AC3E}">
        <p14:creationId xmlns:p14="http://schemas.microsoft.com/office/powerpoint/2010/main" val="36495140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f8175270f4_5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 name="Google Shape;227;g3f8175270f4_5_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f81e6d320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g3f81e6d320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f81e6d3204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g3f81e6d3204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8335CE19-5447-2435-B010-992E7A5F20A5}"/>
            </a:ext>
          </a:extLst>
        </p:cNvPr>
        <p:cNvGrpSpPr/>
        <p:nvPr/>
      </p:nvGrpSpPr>
      <p:grpSpPr>
        <a:xfrm>
          <a:off x="0" y="0"/>
          <a:ext cx="0" cy="0"/>
          <a:chOff x="0" y="0"/>
          <a:chExt cx="0" cy="0"/>
        </a:xfrm>
      </p:grpSpPr>
      <p:sp>
        <p:nvSpPr>
          <p:cNvPr id="249" name="Google Shape;249;g3f81e6d3204_0_11:notes">
            <a:extLst>
              <a:ext uri="{FF2B5EF4-FFF2-40B4-BE49-F238E27FC236}">
                <a16:creationId xmlns:a16="http://schemas.microsoft.com/office/drawing/2014/main" id="{D3D5DF0C-CAEF-AFBD-29F5-5399C69E50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g3f81e6d3204_0_11:notes">
            <a:extLst>
              <a:ext uri="{FF2B5EF4-FFF2-40B4-BE49-F238E27FC236}">
                <a16:creationId xmlns:a16="http://schemas.microsoft.com/office/drawing/2014/main" id="{14D63B1E-8E54-C5BA-2F4C-4B6FF790091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7132978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a:extLst>
            <a:ext uri="{FF2B5EF4-FFF2-40B4-BE49-F238E27FC236}">
              <a16:creationId xmlns:a16="http://schemas.microsoft.com/office/drawing/2014/main" id="{C6418CFC-D2B4-06C7-F440-577FC77D0ED8}"/>
            </a:ext>
          </a:extLst>
        </p:cNvPr>
        <p:cNvGrpSpPr/>
        <p:nvPr/>
      </p:nvGrpSpPr>
      <p:grpSpPr>
        <a:xfrm>
          <a:off x="0" y="0"/>
          <a:ext cx="0" cy="0"/>
          <a:chOff x="0" y="0"/>
          <a:chExt cx="0" cy="0"/>
        </a:xfrm>
      </p:grpSpPr>
      <p:sp>
        <p:nvSpPr>
          <p:cNvPr id="256" name="Google Shape;256;p4:notes">
            <a:extLst>
              <a:ext uri="{FF2B5EF4-FFF2-40B4-BE49-F238E27FC236}">
                <a16:creationId xmlns:a16="http://schemas.microsoft.com/office/drawing/2014/main" id="{93389F9E-A646-B2AB-EDA2-3D867C834A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p4:notes">
            <a:extLst>
              <a:ext uri="{FF2B5EF4-FFF2-40B4-BE49-F238E27FC236}">
                <a16:creationId xmlns:a16="http://schemas.microsoft.com/office/drawing/2014/main" id="{912A914B-2241-1168-22C3-E9A242389AF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5751978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5" name="Google Shape;325;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1" name="Google Shape;351;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f556ffc7f3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7" name="Google Shape;367;g3f556ffc7f3_0_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f556ffc7f3_3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g3f556ffc7f3_3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5" name="Google Shape;375;g3f556ffc7f3_3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IN"/>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3f556ffc7f3_3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2" name="Google Shape;382;g3f556ffc7f3_3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3" name="Google Shape;383;g3f556ffc7f3_3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IN"/>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a:extLst>
            <a:ext uri="{FF2B5EF4-FFF2-40B4-BE49-F238E27FC236}">
              <a16:creationId xmlns:a16="http://schemas.microsoft.com/office/drawing/2014/main" id="{7025E047-9DD8-7D4A-AFB5-97BB60B89D15}"/>
            </a:ext>
          </a:extLst>
        </p:cNvPr>
        <p:cNvGrpSpPr/>
        <p:nvPr/>
      </p:nvGrpSpPr>
      <p:grpSpPr>
        <a:xfrm>
          <a:off x="0" y="0"/>
          <a:ext cx="0" cy="0"/>
          <a:chOff x="0" y="0"/>
          <a:chExt cx="0" cy="0"/>
        </a:xfrm>
      </p:grpSpPr>
      <p:sp>
        <p:nvSpPr>
          <p:cNvPr id="381" name="Google Shape;381;g3f556ffc7f3_3_7:notes">
            <a:extLst>
              <a:ext uri="{FF2B5EF4-FFF2-40B4-BE49-F238E27FC236}">
                <a16:creationId xmlns:a16="http://schemas.microsoft.com/office/drawing/2014/main" id="{796F41B0-E427-810C-7228-B8891BE9E22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2" name="Google Shape;382;g3f556ffc7f3_3_7:notes">
            <a:extLst>
              <a:ext uri="{FF2B5EF4-FFF2-40B4-BE49-F238E27FC236}">
                <a16:creationId xmlns:a16="http://schemas.microsoft.com/office/drawing/2014/main" id="{2DF83776-D93F-6EF1-A500-B9EDAE0962F6}"/>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3" name="Google Shape;383;g3f556ffc7f3_3_7:notes">
            <a:extLst>
              <a:ext uri="{FF2B5EF4-FFF2-40B4-BE49-F238E27FC236}">
                <a16:creationId xmlns:a16="http://schemas.microsoft.com/office/drawing/2014/main" id="{705D1BC4-CC63-5704-13AF-0B48F95BEE89}"/>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IN"/>
              <a:t>30</a:t>
            </a:fld>
            <a:endParaRPr/>
          </a:p>
        </p:txBody>
      </p:sp>
    </p:spTree>
    <p:extLst>
      <p:ext uri="{BB962C8B-B14F-4D97-AF65-F5344CB8AC3E}">
        <p14:creationId xmlns:p14="http://schemas.microsoft.com/office/powerpoint/2010/main" val="29287045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3f8288f73f0_3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0" name="Google Shape;390;g3f8288f73f0_3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1" name="Google Shape;391;g3f8288f73f0_3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IN"/>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3f8288f73f0_3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4" name="Google Shape;404;g3f8288f73f0_3_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5" name="Google Shape;405;g3f8288f73f0_3_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IN"/>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f8288f73f0_3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3f8288f73f0_3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5" name="Google Shape;415;g3f8288f73f0_3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3f8288f73f0_3_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3f8288f73f0_3_7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9" name="Google Shape;429;g3f8288f73f0_3_7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3f8288f73f0_3_1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9" name="Google Shape;459;g3f8288f73f0_3_1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0" name="Google Shape;460;g3f8288f73f0_3_1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0" name="Google Shape;47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
        <p:cNvGrpSpPr/>
        <p:nvPr/>
      </p:nvGrpSpPr>
      <p:grpSpPr>
        <a:xfrm>
          <a:off x="0" y="0"/>
          <a:ext cx="0" cy="0"/>
          <a:chOff x="0" y="0"/>
          <a:chExt cx="0" cy="0"/>
        </a:xfrm>
      </p:grpSpPr>
      <p:sp>
        <p:nvSpPr>
          <p:cNvPr id="17" name="Google Shape;17;p25"/>
          <p:cNvSpPr/>
          <p:nvPr/>
        </p:nvSpPr>
        <p:spPr>
          <a:xfrm>
            <a:off x="3834064" y="0"/>
            <a:ext cx="8386000" cy="6858000"/>
          </a:xfrm>
          <a:prstGeom prst="rect">
            <a:avLst/>
          </a:prstGeom>
          <a:solidFill>
            <a:srgbClr val="E9E9E9"/>
          </a:solidFill>
          <a:ln>
            <a:noFill/>
          </a:ln>
          <a:effectLst>
            <a:outerShdw blurRad="40000" dist="23000" dir="5400000" rotWithShape="0">
              <a:srgbClr val="000000">
                <a:alpha val="32941"/>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2400" b="0" i="0" u="none" strike="noStrike" cap="none">
              <a:solidFill>
                <a:schemeClr val="lt1"/>
              </a:solidFill>
              <a:latin typeface="Calibri"/>
              <a:ea typeface="Calibri"/>
              <a:cs typeface="Calibri"/>
              <a:sym typeface="Calibri"/>
            </a:endParaRPr>
          </a:p>
        </p:txBody>
      </p:sp>
      <p:sp>
        <p:nvSpPr>
          <p:cNvPr id="18" name="Google Shape;18;p25"/>
          <p:cNvSpPr txBox="1">
            <a:spLocks noGrp="1"/>
          </p:cNvSpPr>
          <p:nvPr>
            <p:ph type="title"/>
          </p:nvPr>
        </p:nvSpPr>
        <p:spPr>
          <a:xfrm>
            <a:off x="4165600" y="2695073"/>
            <a:ext cx="7812400" cy="1315600"/>
          </a:xfrm>
          <a:prstGeom prst="rect">
            <a:avLst/>
          </a:prstGeom>
          <a:noFill/>
          <a:ln>
            <a:noFill/>
          </a:ln>
        </p:spPr>
        <p:txBody>
          <a:bodyPr spcFirstLastPara="1" wrap="square" lIns="0" tIns="45700" rIns="0" bIns="45700" anchor="t" anchorCtr="0">
            <a:normAutofit/>
          </a:bodyPr>
          <a:lstStyle>
            <a:lvl1pPr lvl="0" algn="l">
              <a:lnSpc>
                <a:spcPct val="100000"/>
              </a:lnSpc>
              <a:spcBef>
                <a:spcPts val="0"/>
              </a:spcBef>
              <a:spcAft>
                <a:spcPts val="0"/>
              </a:spcAft>
              <a:buClr>
                <a:schemeClr val="lt1"/>
              </a:buClr>
              <a:buSzPts val="3600"/>
              <a:buFont typeface="Calibri"/>
              <a:buNone/>
              <a:defRPr sz="4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5"/>
          <p:cNvSpPr txBox="1">
            <a:spLocks noGrp="1"/>
          </p:cNvSpPr>
          <p:nvPr>
            <p:ph type="body" idx="1"/>
          </p:nvPr>
        </p:nvSpPr>
        <p:spPr>
          <a:xfrm>
            <a:off x="4165600" y="4319588"/>
            <a:ext cx="4540400" cy="18036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33"/>
              </a:spcBef>
              <a:spcAft>
                <a:spcPts val="0"/>
              </a:spcAft>
              <a:buClr>
                <a:schemeClr val="dk1"/>
              </a:buClr>
              <a:buSzPts val="2000"/>
              <a:buNone/>
              <a:defRPr sz="2667"/>
            </a:lvl1pPr>
            <a:lvl2pPr marL="914400" lvl="1" indent="-342900" algn="l">
              <a:lnSpc>
                <a:spcPct val="100000"/>
              </a:lnSpc>
              <a:spcBef>
                <a:spcPts val="480"/>
              </a:spcBef>
              <a:spcAft>
                <a:spcPts val="0"/>
              </a:spcAft>
              <a:buClr>
                <a:schemeClr val="dk1"/>
              </a:buClr>
              <a:buSzPts val="1800"/>
              <a:buChar char="–"/>
              <a:defRPr/>
            </a:lvl2pPr>
            <a:lvl3pPr marL="1371600" lvl="2" indent="-342900" algn="l">
              <a:lnSpc>
                <a:spcPct val="100000"/>
              </a:lnSpc>
              <a:spcBef>
                <a:spcPts val="480"/>
              </a:spcBef>
              <a:spcAft>
                <a:spcPts val="0"/>
              </a:spcAft>
              <a:buClr>
                <a:schemeClr val="dk1"/>
              </a:buClr>
              <a:buSzPts val="1800"/>
              <a:buChar char="•"/>
              <a:defRPr/>
            </a:lvl3pPr>
            <a:lvl4pPr marL="1828800" lvl="3" indent="-342900" algn="l">
              <a:lnSpc>
                <a:spcPct val="100000"/>
              </a:lnSpc>
              <a:spcBef>
                <a:spcPts val="480"/>
              </a:spcBef>
              <a:spcAft>
                <a:spcPts val="0"/>
              </a:spcAft>
              <a:buClr>
                <a:schemeClr val="dk1"/>
              </a:buClr>
              <a:buSzPts val="1800"/>
              <a:buChar char="–"/>
              <a:defRPr/>
            </a:lvl4pPr>
            <a:lvl5pPr marL="2286000" lvl="4" indent="-342900" algn="l">
              <a:lnSpc>
                <a:spcPct val="100000"/>
              </a:lnSpc>
              <a:spcBef>
                <a:spcPts val="480"/>
              </a:spcBef>
              <a:spcAft>
                <a:spcPts val="0"/>
              </a:spcAft>
              <a:buClr>
                <a:schemeClr val="dk1"/>
              </a:buClr>
              <a:buSzPts val="1800"/>
              <a:buChar char="»"/>
              <a:defRPr/>
            </a:lvl5pPr>
            <a:lvl6pPr marL="2743200" lvl="5" indent="-342900" algn="l">
              <a:lnSpc>
                <a:spcPct val="100000"/>
              </a:lnSpc>
              <a:spcBef>
                <a:spcPts val="480"/>
              </a:spcBef>
              <a:spcAft>
                <a:spcPts val="0"/>
              </a:spcAft>
              <a:buClr>
                <a:schemeClr val="dk1"/>
              </a:buClr>
              <a:buSzPts val="1800"/>
              <a:buChar char="•"/>
              <a:defRPr/>
            </a:lvl6pPr>
            <a:lvl7pPr marL="3200400" lvl="6" indent="-342900" algn="l">
              <a:lnSpc>
                <a:spcPct val="100000"/>
              </a:lnSpc>
              <a:spcBef>
                <a:spcPts val="480"/>
              </a:spcBef>
              <a:spcAft>
                <a:spcPts val="0"/>
              </a:spcAft>
              <a:buClr>
                <a:schemeClr val="dk1"/>
              </a:buClr>
              <a:buSzPts val="1800"/>
              <a:buChar char="•"/>
              <a:defRPr/>
            </a:lvl7pPr>
            <a:lvl8pPr marL="3657600" lvl="7" indent="-342900" algn="l">
              <a:lnSpc>
                <a:spcPct val="100000"/>
              </a:lnSpc>
              <a:spcBef>
                <a:spcPts val="480"/>
              </a:spcBef>
              <a:spcAft>
                <a:spcPts val="0"/>
              </a:spcAft>
              <a:buClr>
                <a:schemeClr val="dk1"/>
              </a:buClr>
              <a:buSzPts val="1800"/>
              <a:buChar char="•"/>
              <a:defRPr/>
            </a:lvl8pPr>
            <a:lvl9pPr marL="4114800" lvl="8" indent="-342900" algn="l">
              <a:lnSpc>
                <a:spcPct val="100000"/>
              </a:lnSpc>
              <a:spcBef>
                <a:spcPts val="480"/>
              </a:spcBef>
              <a:spcAft>
                <a:spcPts val="0"/>
              </a:spcAft>
              <a:buClr>
                <a:schemeClr val="dk1"/>
              </a:buClr>
              <a:buSzPts val="1800"/>
              <a:buChar char="•"/>
              <a:defRPr/>
            </a:lvl9pPr>
          </a:lstStyle>
          <a:p>
            <a:endParaRPr/>
          </a:p>
        </p:txBody>
      </p:sp>
      <p:sp>
        <p:nvSpPr>
          <p:cNvPr id="20" name="Google Shape;20;p25"/>
          <p:cNvSpPr txBox="1">
            <a:spLocks noGrp="1"/>
          </p:cNvSpPr>
          <p:nvPr>
            <p:ph type="body" idx="2"/>
          </p:nvPr>
        </p:nvSpPr>
        <p:spPr>
          <a:xfrm>
            <a:off x="4165600" y="6303963"/>
            <a:ext cx="7812400" cy="4016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27"/>
              </a:spcBef>
              <a:spcAft>
                <a:spcPts val="0"/>
              </a:spcAft>
              <a:buClr>
                <a:schemeClr val="dk1"/>
              </a:buClr>
              <a:buSzPts val="1600"/>
              <a:buNone/>
              <a:defRPr sz="2133"/>
            </a:lvl1pPr>
            <a:lvl2pPr marL="914400" lvl="1" indent="-342900" algn="l">
              <a:lnSpc>
                <a:spcPct val="100000"/>
              </a:lnSpc>
              <a:spcBef>
                <a:spcPts val="480"/>
              </a:spcBef>
              <a:spcAft>
                <a:spcPts val="0"/>
              </a:spcAft>
              <a:buClr>
                <a:schemeClr val="dk1"/>
              </a:buClr>
              <a:buSzPts val="1800"/>
              <a:buChar char="–"/>
              <a:defRPr/>
            </a:lvl2pPr>
            <a:lvl3pPr marL="1371600" lvl="2" indent="-342900" algn="l">
              <a:lnSpc>
                <a:spcPct val="100000"/>
              </a:lnSpc>
              <a:spcBef>
                <a:spcPts val="480"/>
              </a:spcBef>
              <a:spcAft>
                <a:spcPts val="0"/>
              </a:spcAft>
              <a:buClr>
                <a:schemeClr val="dk1"/>
              </a:buClr>
              <a:buSzPts val="1800"/>
              <a:buChar char="•"/>
              <a:defRPr/>
            </a:lvl3pPr>
            <a:lvl4pPr marL="1828800" lvl="3" indent="-342900" algn="l">
              <a:lnSpc>
                <a:spcPct val="100000"/>
              </a:lnSpc>
              <a:spcBef>
                <a:spcPts val="480"/>
              </a:spcBef>
              <a:spcAft>
                <a:spcPts val="0"/>
              </a:spcAft>
              <a:buClr>
                <a:schemeClr val="dk1"/>
              </a:buClr>
              <a:buSzPts val="1800"/>
              <a:buChar char="–"/>
              <a:defRPr/>
            </a:lvl4pPr>
            <a:lvl5pPr marL="2286000" lvl="4" indent="-342900" algn="l">
              <a:lnSpc>
                <a:spcPct val="100000"/>
              </a:lnSpc>
              <a:spcBef>
                <a:spcPts val="480"/>
              </a:spcBef>
              <a:spcAft>
                <a:spcPts val="0"/>
              </a:spcAft>
              <a:buClr>
                <a:schemeClr val="dk1"/>
              </a:buClr>
              <a:buSzPts val="1800"/>
              <a:buChar char="»"/>
              <a:defRPr/>
            </a:lvl5pPr>
            <a:lvl6pPr marL="2743200" lvl="5" indent="-342900" algn="l">
              <a:lnSpc>
                <a:spcPct val="100000"/>
              </a:lnSpc>
              <a:spcBef>
                <a:spcPts val="480"/>
              </a:spcBef>
              <a:spcAft>
                <a:spcPts val="0"/>
              </a:spcAft>
              <a:buClr>
                <a:schemeClr val="dk1"/>
              </a:buClr>
              <a:buSzPts val="1800"/>
              <a:buChar char="•"/>
              <a:defRPr/>
            </a:lvl6pPr>
            <a:lvl7pPr marL="3200400" lvl="6" indent="-342900" algn="l">
              <a:lnSpc>
                <a:spcPct val="100000"/>
              </a:lnSpc>
              <a:spcBef>
                <a:spcPts val="480"/>
              </a:spcBef>
              <a:spcAft>
                <a:spcPts val="0"/>
              </a:spcAft>
              <a:buClr>
                <a:schemeClr val="dk1"/>
              </a:buClr>
              <a:buSzPts val="1800"/>
              <a:buChar char="•"/>
              <a:defRPr/>
            </a:lvl7pPr>
            <a:lvl8pPr marL="3657600" lvl="7" indent="-342900" algn="l">
              <a:lnSpc>
                <a:spcPct val="100000"/>
              </a:lnSpc>
              <a:spcBef>
                <a:spcPts val="480"/>
              </a:spcBef>
              <a:spcAft>
                <a:spcPts val="0"/>
              </a:spcAft>
              <a:buClr>
                <a:schemeClr val="dk1"/>
              </a:buClr>
              <a:buSzPts val="1800"/>
              <a:buChar char="•"/>
              <a:defRPr/>
            </a:lvl8pPr>
            <a:lvl9pPr marL="4114800" lvl="8" indent="-342900" algn="l">
              <a:lnSpc>
                <a:spcPct val="100000"/>
              </a:lnSpc>
              <a:spcBef>
                <a:spcPts val="480"/>
              </a:spcBef>
              <a:spcAft>
                <a:spcPts val="0"/>
              </a:spcAft>
              <a:buClr>
                <a:schemeClr val="dk1"/>
              </a:buClr>
              <a:buSzPts val="1800"/>
              <a:buChar char="•"/>
              <a:defRPr/>
            </a:lvl9pPr>
          </a:lstStyle>
          <a:p>
            <a:endParaRPr/>
          </a:p>
        </p:txBody>
      </p:sp>
      <p:pic>
        <p:nvPicPr>
          <p:cNvPr id="21" name="Google Shape;21;p25"/>
          <p:cNvPicPr preferRelativeResize="0"/>
          <p:nvPr/>
        </p:nvPicPr>
        <p:blipFill rotWithShape="1">
          <a:blip r:embed="rId2">
            <a:alphaModFix/>
          </a:blip>
          <a:srcRect/>
          <a:stretch/>
        </p:blipFill>
        <p:spPr>
          <a:xfrm>
            <a:off x="634134" y="2839400"/>
            <a:ext cx="2480433" cy="1315600"/>
          </a:xfrm>
          <a:prstGeom prst="rect">
            <a:avLst/>
          </a:prstGeom>
          <a:noFill/>
          <a:ln>
            <a:noFill/>
          </a:ln>
        </p:spPr>
      </p:pic>
      <p:pic>
        <p:nvPicPr>
          <p:cNvPr id="22" name="Google Shape;22;p25"/>
          <p:cNvPicPr preferRelativeResize="0"/>
          <p:nvPr/>
        </p:nvPicPr>
        <p:blipFill rotWithShape="1">
          <a:blip r:embed="rId3">
            <a:alphaModFix/>
          </a:blip>
          <a:srcRect/>
          <a:stretch/>
        </p:blipFill>
        <p:spPr>
          <a:xfrm>
            <a:off x="634134" y="2349773"/>
            <a:ext cx="2619359" cy="196981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Layout">
  <p:cSld name="Section Layout">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661288" y="4389057"/>
            <a:ext cx="11411200" cy="589200"/>
          </a:xfrm>
          <a:prstGeom prst="rect">
            <a:avLst/>
          </a:prstGeom>
          <a:noFill/>
          <a:ln>
            <a:noFill/>
          </a:ln>
        </p:spPr>
        <p:txBody>
          <a:bodyPr spcFirstLastPara="1" wrap="square" lIns="0" tIns="45700" rIns="0" bIns="45700" anchor="t" anchorCtr="0">
            <a:normAutofit/>
          </a:bodyPr>
          <a:lstStyle>
            <a:lvl1pPr lvl="0" algn="l">
              <a:lnSpc>
                <a:spcPct val="100000"/>
              </a:lnSpc>
              <a:spcBef>
                <a:spcPts val="0"/>
              </a:spcBef>
              <a:spcAft>
                <a:spcPts val="0"/>
              </a:spcAft>
              <a:buClr>
                <a:schemeClr val="accent1"/>
              </a:buClr>
              <a:buSzPts val="2800"/>
              <a:buFont typeface="Calibri"/>
              <a:buNone/>
              <a:defRPr sz="3733">
                <a:solidFill>
                  <a:srgbClr val="009CD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7"/>
          <p:cNvSpPr txBox="1">
            <a:spLocks noGrp="1"/>
          </p:cNvSpPr>
          <p:nvPr>
            <p:ph type="body" idx="1"/>
          </p:nvPr>
        </p:nvSpPr>
        <p:spPr>
          <a:xfrm>
            <a:off x="582992" y="4005943"/>
            <a:ext cx="11413200" cy="3564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33"/>
              </a:spcBef>
              <a:spcAft>
                <a:spcPts val="0"/>
              </a:spcAft>
              <a:buClr>
                <a:schemeClr val="dk1"/>
              </a:buClr>
              <a:buSzPts val="2000"/>
              <a:buNone/>
              <a:defRPr sz="2667">
                <a:solidFill>
                  <a:srgbClr val="575756"/>
                </a:solidFill>
              </a:defRPr>
            </a:lvl1pPr>
            <a:lvl2pPr marL="914400" lvl="1" indent="-342900" algn="l">
              <a:lnSpc>
                <a:spcPct val="100000"/>
              </a:lnSpc>
              <a:spcBef>
                <a:spcPts val="480"/>
              </a:spcBef>
              <a:spcAft>
                <a:spcPts val="0"/>
              </a:spcAft>
              <a:buClr>
                <a:schemeClr val="dk1"/>
              </a:buClr>
              <a:buSzPts val="1800"/>
              <a:buChar char="–"/>
              <a:defRPr/>
            </a:lvl2pPr>
            <a:lvl3pPr marL="1371600" lvl="2" indent="-342900" algn="l">
              <a:lnSpc>
                <a:spcPct val="100000"/>
              </a:lnSpc>
              <a:spcBef>
                <a:spcPts val="480"/>
              </a:spcBef>
              <a:spcAft>
                <a:spcPts val="0"/>
              </a:spcAft>
              <a:buClr>
                <a:schemeClr val="dk1"/>
              </a:buClr>
              <a:buSzPts val="1800"/>
              <a:buChar char="•"/>
              <a:defRPr/>
            </a:lvl3pPr>
            <a:lvl4pPr marL="1828800" lvl="3" indent="-342900" algn="l">
              <a:lnSpc>
                <a:spcPct val="100000"/>
              </a:lnSpc>
              <a:spcBef>
                <a:spcPts val="480"/>
              </a:spcBef>
              <a:spcAft>
                <a:spcPts val="0"/>
              </a:spcAft>
              <a:buClr>
                <a:schemeClr val="dk1"/>
              </a:buClr>
              <a:buSzPts val="1800"/>
              <a:buChar char="–"/>
              <a:defRPr/>
            </a:lvl4pPr>
            <a:lvl5pPr marL="2286000" lvl="4" indent="-342900" algn="l">
              <a:lnSpc>
                <a:spcPct val="100000"/>
              </a:lnSpc>
              <a:spcBef>
                <a:spcPts val="480"/>
              </a:spcBef>
              <a:spcAft>
                <a:spcPts val="0"/>
              </a:spcAft>
              <a:buClr>
                <a:schemeClr val="dk1"/>
              </a:buClr>
              <a:buSzPts val="1800"/>
              <a:buChar char="»"/>
              <a:defRPr/>
            </a:lvl5pPr>
            <a:lvl6pPr marL="2743200" lvl="5" indent="-342900" algn="l">
              <a:lnSpc>
                <a:spcPct val="100000"/>
              </a:lnSpc>
              <a:spcBef>
                <a:spcPts val="480"/>
              </a:spcBef>
              <a:spcAft>
                <a:spcPts val="0"/>
              </a:spcAft>
              <a:buClr>
                <a:schemeClr val="dk1"/>
              </a:buClr>
              <a:buSzPts val="1800"/>
              <a:buChar char="•"/>
              <a:defRPr/>
            </a:lvl6pPr>
            <a:lvl7pPr marL="3200400" lvl="6" indent="-342900" algn="l">
              <a:lnSpc>
                <a:spcPct val="100000"/>
              </a:lnSpc>
              <a:spcBef>
                <a:spcPts val="480"/>
              </a:spcBef>
              <a:spcAft>
                <a:spcPts val="0"/>
              </a:spcAft>
              <a:buClr>
                <a:schemeClr val="dk1"/>
              </a:buClr>
              <a:buSzPts val="1800"/>
              <a:buChar char="•"/>
              <a:defRPr/>
            </a:lvl7pPr>
            <a:lvl8pPr marL="3657600" lvl="7" indent="-342900" algn="l">
              <a:lnSpc>
                <a:spcPct val="100000"/>
              </a:lnSpc>
              <a:spcBef>
                <a:spcPts val="480"/>
              </a:spcBef>
              <a:spcAft>
                <a:spcPts val="0"/>
              </a:spcAft>
              <a:buClr>
                <a:schemeClr val="dk1"/>
              </a:buClr>
              <a:buSzPts val="1800"/>
              <a:buChar char="•"/>
              <a:defRPr/>
            </a:lvl8pPr>
            <a:lvl9pPr marL="4114800" lvl="8" indent="-342900" algn="l">
              <a:lnSpc>
                <a:spcPct val="100000"/>
              </a:lnSpc>
              <a:spcBef>
                <a:spcPts val="480"/>
              </a:spcBef>
              <a:spcAft>
                <a:spcPts val="0"/>
              </a:spcAft>
              <a:buClr>
                <a:schemeClr val="dk1"/>
              </a:buClr>
              <a:buSzPts val="1800"/>
              <a:buChar char="•"/>
              <a:defRPr/>
            </a:lvl9pPr>
          </a:lstStyle>
          <a:p>
            <a:endParaRPr/>
          </a:p>
        </p:txBody>
      </p:sp>
      <p:sp>
        <p:nvSpPr>
          <p:cNvPr id="26" name="Google Shape;26;p27"/>
          <p:cNvSpPr txBox="1">
            <a:spLocks noGrp="1"/>
          </p:cNvSpPr>
          <p:nvPr>
            <p:ph type="sldNum" idx="12"/>
          </p:nvPr>
        </p:nvSpPr>
        <p:spPr>
          <a:xfrm>
            <a:off x="-276585" y="6235395"/>
            <a:ext cx="773200" cy="3652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r>
              <a:rPr lang="en-IN"/>
              <a:t>|</a:t>
            </a:r>
            <a:endParaRPr/>
          </a:p>
        </p:txBody>
      </p:sp>
      <p:cxnSp>
        <p:nvCxnSpPr>
          <p:cNvPr id="27" name="Google Shape;27;p27"/>
          <p:cNvCxnSpPr/>
          <p:nvPr/>
        </p:nvCxnSpPr>
        <p:spPr>
          <a:xfrm rot="10800000" flipH="1">
            <a:off x="395705" y="6408357"/>
            <a:ext cx="10315200" cy="9600"/>
          </a:xfrm>
          <a:prstGeom prst="straightConnector1">
            <a:avLst/>
          </a:prstGeom>
          <a:noFill/>
          <a:ln w="9525" cap="flat" cmpd="sng">
            <a:solidFill>
              <a:srgbClr val="8D8F93"/>
            </a:solidFill>
            <a:prstDash val="solid"/>
            <a:round/>
            <a:headEnd type="none" w="sm" len="sm"/>
            <a:tailEnd type="none" w="sm" len="sm"/>
          </a:ln>
        </p:spPr>
      </p:cxnSp>
      <p:pic>
        <p:nvPicPr>
          <p:cNvPr id="28" name="Google Shape;28;p27"/>
          <p:cNvPicPr preferRelativeResize="0"/>
          <p:nvPr/>
        </p:nvPicPr>
        <p:blipFill rotWithShape="1">
          <a:blip r:embed="rId2">
            <a:alphaModFix/>
          </a:blip>
          <a:srcRect/>
          <a:stretch/>
        </p:blipFill>
        <p:spPr>
          <a:xfrm>
            <a:off x="10842215" y="5869659"/>
            <a:ext cx="1152389" cy="86662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9"/>
        <p:cNvGrpSpPr/>
        <p:nvPr/>
      </p:nvGrpSpPr>
      <p:grpSpPr>
        <a:xfrm>
          <a:off x="0" y="0"/>
          <a:ext cx="0" cy="0"/>
          <a:chOff x="0" y="0"/>
          <a:chExt cx="0" cy="0"/>
        </a:xfrm>
      </p:grpSpPr>
      <p:sp>
        <p:nvSpPr>
          <p:cNvPr id="30" name="Google Shape;30;p26"/>
          <p:cNvSpPr txBox="1">
            <a:spLocks noGrp="1"/>
          </p:cNvSpPr>
          <p:nvPr>
            <p:ph type="title"/>
          </p:nvPr>
        </p:nvSpPr>
        <p:spPr>
          <a:xfrm>
            <a:off x="395707" y="194428"/>
            <a:ext cx="11284400" cy="794000"/>
          </a:xfrm>
          <a:prstGeom prst="rect">
            <a:avLst/>
          </a:prstGeom>
          <a:noFill/>
          <a:ln>
            <a:noFill/>
          </a:ln>
        </p:spPr>
        <p:txBody>
          <a:bodyPr spcFirstLastPara="1" wrap="square" lIns="0" tIns="45700" rIns="0" bIns="45700" anchor="t" anchorCtr="0">
            <a:normAutofit/>
          </a:bodyPr>
          <a:lstStyle>
            <a:lvl1pPr lvl="0" algn="l">
              <a:lnSpc>
                <a:spcPct val="100000"/>
              </a:lnSpc>
              <a:spcBef>
                <a:spcPts val="0"/>
              </a:spcBef>
              <a:spcAft>
                <a:spcPts val="0"/>
              </a:spcAft>
              <a:buClr>
                <a:schemeClr val="accent1"/>
              </a:buClr>
              <a:buSzPts val="2400"/>
              <a:buFont typeface="Calibri"/>
              <a:buNone/>
              <a:defRPr sz="2200" b="1" cap="none">
                <a:solidFill>
                  <a:srgbClr val="009CD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6"/>
          <p:cNvSpPr txBox="1">
            <a:spLocks noGrp="1"/>
          </p:cNvSpPr>
          <p:nvPr>
            <p:ph type="body" idx="1"/>
          </p:nvPr>
        </p:nvSpPr>
        <p:spPr>
          <a:xfrm>
            <a:off x="395705" y="988341"/>
            <a:ext cx="11284400" cy="4784800"/>
          </a:xfrm>
          <a:prstGeom prst="rect">
            <a:avLst/>
          </a:prstGeom>
          <a:noFill/>
          <a:ln>
            <a:noFill/>
          </a:ln>
        </p:spPr>
        <p:txBody>
          <a:bodyPr spcFirstLastPara="1" wrap="square" lIns="91425" tIns="45700" rIns="91425" bIns="45700" anchor="t" anchorCtr="0">
            <a:normAutofit/>
          </a:bodyPr>
          <a:lstStyle>
            <a:lvl1pPr marL="457200" lvl="0" indent="-368300" algn="l">
              <a:lnSpc>
                <a:spcPct val="100000"/>
              </a:lnSpc>
              <a:spcBef>
                <a:spcPts val="587"/>
              </a:spcBef>
              <a:spcAft>
                <a:spcPts val="0"/>
              </a:spcAft>
              <a:buClr>
                <a:schemeClr val="dk1"/>
              </a:buClr>
              <a:buSzPts val="2200"/>
              <a:buChar char="•"/>
              <a:defRPr>
                <a:solidFill>
                  <a:srgbClr val="575756"/>
                </a:solidFill>
                <a:latin typeface="Calibri"/>
                <a:ea typeface="Calibri"/>
                <a:cs typeface="Calibri"/>
                <a:sym typeface="Calibri"/>
              </a:defRPr>
            </a:lvl1pPr>
            <a:lvl2pPr marL="914400" lvl="1" indent="-355600" algn="l">
              <a:lnSpc>
                <a:spcPct val="100000"/>
              </a:lnSpc>
              <a:spcBef>
                <a:spcPts val="533"/>
              </a:spcBef>
              <a:spcAft>
                <a:spcPts val="0"/>
              </a:spcAft>
              <a:buClr>
                <a:schemeClr val="dk1"/>
              </a:buClr>
              <a:buSzPts val="2000"/>
              <a:buChar char="–"/>
              <a:defRPr>
                <a:latin typeface="Calibri"/>
                <a:ea typeface="Calibri"/>
                <a:cs typeface="Calibri"/>
                <a:sym typeface="Calibri"/>
              </a:defRPr>
            </a:lvl2pPr>
            <a:lvl3pPr marL="1371600" lvl="2" indent="-342900" algn="l">
              <a:lnSpc>
                <a:spcPct val="100000"/>
              </a:lnSpc>
              <a:spcBef>
                <a:spcPts val="480"/>
              </a:spcBef>
              <a:spcAft>
                <a:spcPts val="0"/>
              </a:spcAft>
              <a:buClr>
                <a:schemeClr val="dk1"/>
              </a:buClr>
              <a:buSzPts val="1800"/>
              <a:buChar char="•"/>
              <a:defRPr sz="2400">
                <a:latin typeface="Calibri"/>
                <a:ea typeface="Calibri"/>
                <a:cs typeface="Calibri"/>
                <a:sym typeface="Calibri"/>
              </a:defRPr>
            </a:lvl3pPr>
            <a:lvl4pPr marL="1828800" lvl="3" indent="-342900" algn="l">
              <a:lnSpc>
                <a:spcPct val="100000"/>
              </a:lnSpc>
              <a:spcBef>
                <a:spcPts val="480"/>
              </a:spcBef>
              <a:spcAft>
                <a:spcPts val="0"/>
              </a:spcAft>
              <a:buClr>
                <a:schemeClr val="dk1"/>
              </a:buClr>
              <a:buSzPts val="1800"/>
              <a:buChar char="–"/>
              <a:defRPr>
                <a:latin typeface="Arial"/>
                <a:ea typeface="Arial"/>
                <a:cs typeface="Arial"/>
                <a:sym typeface="Arial"/>
              </a:defRPr>
            </a:lvl4pPr>
            <a:lvl5pPr marL="2286000" lvl="4" indent="-330200" algn="l">
              <a:lnSpc>
                <a:spcPct val="100000"/>
              </a:lnSpc>
              <a:spcBef>
                <a:spcPts val="427"/>
              </a:spcBef>
              <a:spcAft>
                <a:spcPts val="0"/>
              </a:spcAft>
              <a:buClr>
                <a:schemeClr val="dk1"/>
              </a:buClr>
              <a:buSzPts val="1600"/>
              <a:buChar char="»"/>
              <a:defRPr>
                <a:latin typeface="Arial"/>
                <a:ea typeface="Arial"/>
                <a:cs typeface="Arial"/>
                <a:sym typeface="Arial"/>
              </a:defRPr>
            </a:lvl5pPr>
            <a:lvl6pPr marL="2743200" lvl="5" indent="-342900" algn="l">
              <a:lnSpc>
                <a:spcPct val="100000"/>
              </a:lnSpc>
              <a:spcBef>
                <a:spcPts val="480"/>
              </a:spcBef>
              <a:spcAft>
                <a:spcPts val="0"/>
              </a:spcAft>
              <a:buClr>
                <a:schemeClr val="dk1"/>
              </a:buClr>
              <a:buSzPts val="1800"/>
              <a:buChar char="•"/>
              <a:defRPr/>
            </a:lvl6pPr>
            <a:lvl7pPr marL="3200400" lvl="6" indent="-342900" algn="l">
              <a:lnSpc>
                <a:spcPct val="100000"/>
              </a:lnSpc>
              <a:spcBef>
                <a:spcPts val="480"/>
              </a:spcBef>
              <a:spcAft>
                <a:spcPts val="0"/>
              </a:spcAft>
              <a:buClr>
                <a:schemeClr val="dk1"/>
              </a:buClr>
              <a:buSzPts val="1800"/>
              <a:buChar char="•"/>
              <a:defRPr/>
            </a:lvl7pPr>
            <a:lvl8pPr marL="3657600" lvl="7" indent="-342900" algn="l">
              <a:lnSpc>
                <a:spcPct val="100000"/>
              </a:lnSpc>
              <a:spcBef>
                <a:spcPts val="480"/>
              </a:spcBef>
              <a:spcAft>
                <a:spcPts val="0"/>
              </a:spcAft>
              <a:buClr>
                <a:schemeClr val="dk1"/>
              </a:buClr>
              <a:buSzPts val="1800"/>
              <a:buChar char="•"/>
              <a:defRPr/>
            </a:lvl8pPr>
            <a:lvl9pPr marL="4114800" lvl="8" indent="-342900" algn="l">
              <a:lnSpc>
                <a:spcPct val="100000"/>
              </a:lnSpc>
              <a:spcBef>
                <a:spcPts val="480"/>
              </a:spcBef>
              <a:spcAft>
                <a:spcPts val="0"/>
              </a:spcAft>
              <a:buClr>
                <a:schemeClr val="dk1"/>
              </a:buClr>
              <a:buSzPts val="1800"/>
              <a:buChar char="•"/>
              <a:defRPr/>
            </a:lvl9pPr>
          </a:lstStyle>
          <a:p>
            <a:endParaRPr/>
          </a:p>
        </p:txBody>
      </p:sp>
      <p:cxnSp>
        <p:nvCxnSpPr>
          <p:cNvPr id="32" name="Google Shape;32;p26"/>
          <p:cNvCxnSpPr/>
          <p:nvPr/>
        </p:nvCxnSpPr>
        <p:spPr>
          <a:xfrm rot="10800000" flipH="1">
            <a:off x="395705" y="6408357"/>
            <a:ext cx="10315200" cy="9600"/>
          </a:xfrm>
          <a:prstGeom prst="straightConnector1">
            <a:avLst/>
          </a:prstGeom>
          <a:noFill/>
          <a:ln w="9525" cap="flat" cmpd="sng">
            <a:solidFill>
              <a:srgbClr val="8D8F93"/>
            </a:solidFill>
            <a:prstDash val="solid"/>
            <a:round/>
            <a:headEnd type="none" w="sm" len="sm"/>
            <a:tailEnd type="none" w="sm" len="sm"/>
          </a:ln>
        </p:spPr>
      </p:cxnSp>
      <p:sp>
        <p:nvSpPr>
          <p:cNvPr id="33" name="Google Shape;33;p26"/>
          <p:cNvSpPr txBox="1">
            <a:spLocks noGrp="1"/>
          </p:cNvSpPr>
          <p:nvPr>
            <p:ph type="body" idx="2"/>
          </p:nvPr>
        </p:nvSpPr>
        <p:spPr>
          <a:xfrm>
            <a:off x="395707" y="6475388"/>
            <a:ext cx="9740800" cy="383200"/>
          </a:xfrm>
          <a:prstGeom prst="rect">
            <a:avLst/>
          </a:prstGeom>
          <a:noFill/>
          <a:ln>
            <a:noFill/>
          </a:ln>
        </p:spPr>
        <p:txBody>
          <a:bodyPr spcFirstLastPara="1" wrap="square" lIns="0" tIns="45700" rIns="91425" bIns="45700" anchor="ctr" anchorCtr="0">
            <a:noAutofit/>
          </a:bodyPr>
          <a:lstStyle>
            <a:lvl1pPr marL="457200" lvl="0" indent="-228600" algn="l">
              <a:lnSpc>
                <a:spcPct val="100000"/>
              </a:lnSpc>
              <a:spcBef>
                <a:spcPts val="240"/>
              </a:spcBef>
              <a:spcAft>
                <a:spcPts val="0"/>
              </a:spcAft>
              <a:buClr>
                <a:schemeClr val="dk1"/>
              </a:buClr>
              <a:buSzPts val="900"/>
              <a:buNone/>
              <a:defRPr sz="1200" b="0" cap="none">
                <a:solidFill>
                  <a:srgbClr val="9D9D9C"/>
                </a:solidFill>
              </a:defRPr>
            </a:lvl1pPr>
            <a:lvl2pPr marL="914400" lvl="1" indent="-228600" algn="l">
              <a:lnSpc>
                <a:spcPct val="100000"/>
              </a:lnSpc>
              <a:spcBef>
                <a:spcPts val="533"/>
              </a:spcBef>
              <a:spcAft>
                <a:spcPts val="0"/>
              </a:spcAft>
              <a:buClr>
                <a:schemeClr val="dk1"/>
              </a:buClr>
              <a:buSzPts val="2000"/>
              <a:buNone/>
              <a:defRPr/>
            </a:lvl2pPr>
            <a:lvl3pPr marL="1371600" lvl="2" indent="-228600" algn="l">
              <a:lnSpc>
                <a:spcPct val="100000"/>
              </a:lnSpc>
              <a:spcBef>
                <a:spcPts val="480"/>
              </a:spcBef>
              <a:spcAft>
                <a:spcPts val="0"/>
              </a:spcAft>
              <a:buClr>
                <a:schemeClr val="dk1"/>
              </a:buClr>
              <a:buSzPts val="1800"/>
              <a:buNone/>
              <a:defRPr/>
            </a:lvl3pPr>
            <a:lvl4pPr marL="1828800" lvl="3" indent="-228600" algn="l">
              <a:lnSpc>
                <a:spcPct val="100000"/>
              </a:lnSpc>
              <a:spcBef>
                <a:spcPts val="480"/>
              </a:spcBef>
              <a:spcAft>
                <a:spcPts val="0"/>
              </a:spcAft>
              <a:buClr>
                <a:schemeClr val="dk1"/>
              </a:buClr>
              <a:buSzPts val="1800"/>
              <a:buNone/>
              <a:defRPr/>
            </a:lvl4pPr>
            <a:lvl5pPr marL="2286000" lvl="4" indent="-228600" algn="l">
              <a:lnSpc>
                <a:spcPct val="100000"/>
              </a:lnSpc>
              <a:spcBef>
                <a:spcPts val="427"/>
              </a:spcBef>
              <a:spcAft>
                <a:spcPts val="0"/>
              </a:spcAft>
              <a:buClr>
                <a:schemeClr val="dk1"/>
              </a:buClr>
              <a:buSzPts val="1600"/>
              <a:buNone/>
              <a:defRPr/>
            </a:lvl5pPr>
            <a:lvl6pPr marL="2743200" lvl="5" indent="-342900" algn="l">
              <a:lnSpc>
                <a:spcPct val="100000"/>
              </a:lnSpc>
              <a:spcBef>
                <a:spcPts val="480"/>
              </a:spcBef>
              <a:spcAft>
                <a:spcPts val="0"/>
              </a:spcAft>
              <a:buClr>
                <a:schemeClr val="dk1"/>
              </a:buClr>
              <a:buSzPts val="1800"/>
              <a:buChar char="•"/>
              <a:defRPr/>
            </a:lvl6pPr>
            <a:lvl7pPr marL="3200400" lvl="6" indent="-342900" algn="l">
              <a:lnSpc>
                <a:spcPct val="100000"/>
              </a:lnSpc>
              <a:spcBef>
                <a:spcPts val="480"/>
              </a:spcBef>
              <a:spcAft>
                <a:spcPts val="0"/>
              </a:spcAft>
              <a:buClr>
                <a:schemeClr val="dk1"/>
              </a:buClr>
              <a:buSzPts val="1800"/>
              <a:buChar char="•"/>
              <a:defRPr/>
            </a:lvl7pPr>
            <a:lvl8pPr marL="3657600" lvl="7" indent="-342900" algn="l">
              <a:lnSpc>
                <a:spcPct val="100000"/>
              </a:lnSpc>
              <a:spcBef>
                <a:spcPts val="480"/>
              </a:spcBef>
              <a:spcAft>
                <a:spcPts val="0"/>
              </a:spcAft>
              <a:buClr>
                <a:schemeClr val="dk1"/>
              </a:buClr>
              <a:buSzPts val="1800"/>
              <a:buChar char="•"/>
              <a:defRPr/>
            </a:lvl8pPr>
            <a:lvl9pPr marL="4114800" lvl="8" indent="-342900" algn="l">
              <a:lnSpc>
                <a:spcPct val="100000"/>
              </a:lnSpc>
              <a:spcBef>
                <a:spcPts val="480"/>
              </a:spcBef>
              <a:spcAft>
                <a:spcPts val="0"/>
              </a:spcAft>
              <a:buClr>
                <a:schemeClr val="dk1"/>
              </a:buClr>
              <a:buSzPts val="1800"/>
              <a:buChar char="•"/>
              <a:defRPr/>
            </a:lvl9pPr>
          </a:lstStyle>
          <a:p>
            <a:endParaRPr/>
          </a:p>
        </p:txBody>
      </p:sp>
      <p:pic>
        <p:nvPicPr>
          <p:cNvPr id="34" name="Google Shape;34;p26"/>
          <p:cNvPicPr preferRelativeResize="0"/>
          <p:nvPr/>
        </p:nvPicPr>
        <p:blipFill rotWithShape="1">
          <a:blip r:embed="rId2">
            <a:alphaModFix/>
          </a:blip>
          <a:srcRect/>
          <a:stretch/>
        </p:blipFill>
        <p:spPr>
          <a:xfrm>
            <a:off x="10842215" y="5869659"/>
            <a:ext cx="1152389" cy="86662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lumn">
  <p:cSld name="Two Column">
    <p:spTree>
      <p:nvGrpSpPr>
        <p:cNvPr id="1" name="Shape 35"/>
        <p:cNvGrpSpPr/>
        <p:nvPr/>
      </p:nvGrpSpPr>
      <p:grpSpPr>
        <a:xfrm>
          <a:off x="0" y="0"/>
          <a:ext cx="0" cy="0"/>
          <a:chOff x="0" y="0"/>
          <a:chExt cx="0" cy="0"/>
        </a:xfrm>
      </p:grpSpPr>
      <p:sp>
        <p:nvSpPr>
          <p:cNvPr id="36" name="Google Shape;36;p28"/>
          <p:cNvSpPr txBox="1">
            <a:spLocks noGrp="1"/>
          </p:cNvSpPr>
          <p:nvPr>
            <p:ph type="title"/>
          </p:nvPr>
        </p:nvSpPr>
        <p:spPr>
          <a:xfrm>
            <a:off x="354419" y="226512"/>
            <a:ext cx="11228000" cy="893600"/>
          </a:xfrm>
          <a:prstGeom prst="rect">
            <a:avLst/>
          </a:prstGeom>
          <a:noFill/>
          <a:ln>
            <a:noFill/>
          </a:ln>
        </p:spPr>
        <p:txBody>
          <a:bodyPr spcFirstLastPara="1" wrap="square" lIns="0" tIns="45700" rIns="0" bIns="45700" anchor="t" anchorCtr="0">
            <a:noAutofit/>
          </a:bodyPr>
          <a:lstStyle>
            <a:lvl1pPr lvl="0" algn="l">
              <a:lnSpc>
                <a:spcPct val="100000"/>
              </a:lnSpc>
              <a:spcBef>
                <a:spcPts val="0"/>
              </a:spcBef>
              <a:spcAft>
                <a:spcPts val="0"/>
              </a:spcAft>
              <a:buClr>
                <a:schemeClr val="accent1"/>
              </a:buClr>
              <a:buSzPts val="2400"/>
              <a:buFont typeface="Calibri"/>
              <a:buNone/>
              <a:defRPr sz="2200" b="1"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8"/>
          <p:cNvSpPr txBox="1">
            <a:spLocks noGrp="1"/>
          </p:cNvSpPr>
          <p:nvPr>
            <p:ph type="body" idx="1"/>
          </p:nvPr>
        </p:nvSpPr>
        <p:spPr>
          <a:xfrm>
            <a:off x="354419" y="1152456"/>
            <a:ext cx="5640000" cy="4526000"/>
          </a:xfrm>
          <a:prstGeom prst="rect">
            <a:avLst/>
          </a:prstGeom>
          <a:noFill/>
          <a:ln>
            <a:noFill/>
          </a:ln>
        </p:spPr>
        <p:txBody>
          <a:bodyPr spcFirstLastPara="1" wrap="square" lIns="91425" tIns="45700" rIns="91425" bIns="45700" anchor="t" anchorCtr="0">
            <a:normAutofit/>
          </a:bodyPr>
          <a:lstStyle>
            <a:lvl1pPr marL="457200" lvl="0" indent="-368300" algn="l">
              <a:lnSpc>
                <a:spcPct val="100000"/>
              </a:lnSpc>
              <a:spcBef>
                <a:spcPts val="587"/>
              </a:spcBef>
              <a:spcAft>
                <a:spcPts val="0"/>
              </a:spcAft>
              <a:buClr>
                <a:schemeClr val="dk1"/>
              </a:buClr>
              <a:buSzPts val="2200"/>
              <a:buChar char="•"/>
              <a:defRPr sz="2933">
                <a:solidFill>
                  <a:srgbClr val="575756"/>
                </a:solidFill>
              </a:defRPr>
            </a:lvl1pPr>
            <a:lvl2pPr marL="914400" lvl="1" indent="-355600" algn="l">
              <a:lnSpc>
                <a:spcPct val="100000"/>
              </a:lnSpc>
              <a:spcBef>
                <a:spcPts val="533"/>
              </a:spcBef>
              <a:spcAft>
                <a:spcPts val="0"/>
              </a:spcAft>
              <a:buClr>
                <a:schemeClr val="dk1"/>
              </a:buClr>
              <a:buSzPts val="2000"/>
              <a:buChar char="–"/>
              <a:defRPr sz="2667"/>
            </a:lvl2pPr>
            <a:lvl3pPr marL="1371600" lvl="2" indent="-342900" algn="l">
              <a:lnSpc>
                <a:spcPct val="100000"/>
              </a:lnSpc>
              <a:spcBef>
                <a:spcPts val="480"/>
              </a:spcBef>
              <a:spcAft>
                <a:spcPts val="0"/>
              </a:spcAft>
              <a:buClr>
                <a:schemeClr val="dk1"/>
              </a:buClr>
              <a:buSzPts val="1800"/>
              <a:buChar char="•"/>
              <a:defRPr sz="2400"/>
            </a:lvl3pPr>
            <a:lvl4pPr marL="1828800" lvl="3" indent="-330200" algn="l">
              <a:lnSpc>
                <a:spcPct val="100000"/>
              </a:lnSpc>
              <a:spcBef>
                <a:spcPts val="427"/>
              </a:spcBef>
              <a:spcAft>
                <a:spcPts val="0"/>
              </a:spcAft>
              <a:buClr>
                <a:schemeClr val="dk1"/>
              </a:buClr>
              <a:buSzPts val="1600"/>
              <a:buChar char="–"/>
              <a:defRPr sz="2133"/>
            </a:lvl4pPr>
            <a:lvl5pPr marL="2286000" lvl="4" indent="-330200" algn="l">
              <a:lnSpc>
                <a:spcPct val="100000"/>
              </a:lnSpc>
              <a:spcBef>
                <a:spcPts val="427"/>
              </a:spcBef>
              <a:spcAft>
                <a:spcPts val="0"/>
              </a:spcAft>
              <a:buClr>
                <a:schemeClr val="dk1"/>
              </a:buClr>
              <a:buSzPts val="1600"/>
              <a:buChar char="»"/>
              <a:defRPr sz="2133"/>
            </a:lvl5pPr>
            <a:lvl6pPr marL="2743200" lvl="5" indent="-342900" algn="l">
              <a:lnSpc>
                <a:spcPct val="100000"/>
              </a:lnSpc>
              <a:spcBef>
                <a:spcPts val="480"/>
              </a:spcBef>
              <a:spcAft>
                <a:spcPts val="0"/>
              </a:spcAft>
              <a:buClr>
                <a:schemeClr val="dk1"/>
              </a:buClr>
              <a:buSzPts val="1800"/>
              <a:buChar char="•"/>
              <a:defRPr sz="2400"/>
            </a:lvl6pPr>
            <a:lvl7pPr marL="3200400" lvl="6" indent="-342900" algn="l">
              <a:lnSpc>
                <a:spcPct val="100000"/>
              </a:lnSpc>
              <a:spcBef>
                <a:spcPts val="480"/>
              </a:spcBef>
              <a:spcAft>
                <a:spcPts val="0"/>
              </a:spcAft>
              <a:buClr>
                <a:schemeClr val="dk1"/>
              </a:buClr>
              <a:buSzPts val="1800"/>
              <a:buChar char="•"/>
              <a:defRPr sz="2400"/>
            </a:lvl7pPr>
            <a:lvl8pPr marL="3657600" lvl="7" indent="-342900" algn="l">
              <a:lnSpc>
                <a:spcPct val="100000"/>
              </a:lnSpc>
              <a:spcBef>
                <a:spcPts val="480"/>
              </a:spcBef>
              <a:spcAft>
                <a:spcPts val="0"/>
              </a:spcAft>
              <a:buClr>
                <a:schemeClr val="dk1"/>
              </a:buClr>
              <a:buSzPts val="1800"/>
              <a:buChar char="•"/>
              <a:defRPr sz="2400"/>
            </a:lvl8pPr>
            <a:lvl9pPr marL="4114800" lvl="8" indent="-342900" algn="l">
              <a:lnSpc>
                <a:spcPct val="100000"/>
              </a:lnSpc>
              <a:spcBef>
                <a:spcPts val="480"/>
              </a:spcBef>
              <a:spcAft>
                <a:spcPts val="0"/>
              </a:spcAft>
              <a:buClr>
                <a:schemeClr val="dk1"/>
              </a:buClr>
              <a:buSzPts val="1800"/>
              <a:buChar char="•"/>
              <a:defRPr sz="2400"/>
            </a:lvl9pPr>
          </a:lstStyle>
          <a:p>
            <a:endParaRPr/>
          </a:p>
        </p:txBody>
      </p:sp>
      <p:sp>
        <p:nvSpPr>
          <p:cNvPr id="38" name="Google Shape;38;p28"/>
          <p:cNvSpPr txBox="1">
            <a:spLocks noGrp="1"/>
          </p:cNvSpPr>
          <p:nvPr>
            <p:ph type="body" idx="2"/>
          </p:nvPr>
        </p:nvSpPr>
        <p:spPr>
          <a:xfrm>
            <a:off x="6197600" y="1152456"/>
            <a:ext cx="5384800" cy="4526000"/>
          </a:xfrm>
          <a:prstGeom prst="rect">
            <a:avLst/>
          </a:prstGeom>
          <a:noFill/>
          <a:ln>
            <a:noFill/>
          </a:ln>
        </p:spPr>
        <p:txBody>
          <a:bodyPr spcFirstLastPara="1" wrap="square" lIns="91425" tIns="45700" rIns="91425" bIns="45700" anchor="t" anchorCtr="0">
            <a:normAutofit/>
          </a:bodyPr>
          <a:lstStyle>
            <a:lvl1pPr marL="457200" lvl="0" indent="-368300" algn="l">
              <a:lnSpc>
                <a:spcPct val="100000"/>
              </a:lnSpc>
              <a:spcBef>
                <a:spcPts val="587"/>
              </a:spcBef>
              <a:spcAft>
                <a:spcPts val="0"/>
              </a:spcAft>
              <a:buClr>
                <a:schemeClr val="dk1"/>
              </a:buClr>
              <a:buSzPts val="2200"/>
              <a:buChar char="•"/>
              <a:defRPr sz="2933">
                <a:solidFill>
                  <a:srgbClr val="575756"/>
                </a:solidFill>
              </a:defRPr>
            </a:lvl1pPr>
            <a:lvl2pPr marL="914400" lvl="1" indent="-355600" algn="l">
              <a:lnSpc>
                <a:spcPct val="100000"/>
              </a:lnSpc>
              <a:spcBef>
                <a:spcPts val="533"/>
              </a:spcBef>
              <a:spcAft>
                <a:spcPts val="0"/>
              </a:spcAft>
              <a:buClr>
                <a:schemeClr val="dk1"/>
              </a:buClr>
              <a:buSzPts val="2000"/>
              <a:buChar char="–"/>
              <a:defRPr sz="2667"/>
            </a:lvl2pPr>
            <a:lvl3pPr marL="1371600" lvl="2" indent="-342900" algn="l">
              <a:lnSpc>
                <a:spcPct val="100000"/>
              </a:lnSpc>
              <a:spcBef>
                <a:spcPts val="480"/>
              </a:spcBef>
              <a:spcAft>
                <a:spcPts val="0"/>
              </a:spcAft>
              <a:buClr>
                <a:schemeClr val="dk1"/>
              </a:buClr>
              <a:buSzPts val="1800"/>
              <a:buChar char="•"/>
              <a:defRPr sz="2400"/>
            </a:lvl3pPr>
            <a:lvl4pPr marL="1828800" lvl="3" indent="-330200" algn="l">
              <a:lnSpc>
                <a:spcPct val="100000"/>
              </a:lnSpc>
              <a:spcBef>
                <a:spcPts val="427"/>
              </a:spcBef>
              <a:spcAft>
                <a:spcPts val="0"/>
              </a:spcAft>
              <a:buClr>
                <a:schemeClr val="dk1"/>
              </a:buClr>
              <a:buSzPts val="1600"/>
              <a:buChar char="–"/>
              <a:defRPr sz="2133"/>
            </a:lvl4pPr>
            <a:lvl5pPr marL="2286000" lvl="4" indent="-330200" algn="l">
              <a:lnSpc>
                <a:spcPct val="100000"/>
              </a:lnSpc>
              <a:spcBef>
                <a:spcPts val="427"/>
              </a:spcBef>
              <a:spcAft>
                <a:spcPts val="0"/>
              </a:spcAft>
              <a:buClr>
                <a:schemeClr val="dk1"/>
              </a:buClr>
              <a:buSzPts val="1600"/>
              <a:buChar char="»"/>
              <a:defRPr sz="2133"/>
            </a:lvl5pPr>
            <a:lvl6pPr marL="2743200" lvl="5" indent="-342900" algn="l">
              <a:lnSpc>
                <a:spcPct val="100000"/>
              </a:lnSpc>
              <a:spcBef>
                <a:spcPts val="480"/>
              </a:spcBef>
              <a:spcAft>
                <a:spcPts val="0"/>
              </a:spcAft>
              <a:buClr>
                <a:schemeClr val="dk1"/>
              </a:buClr>
              <a:buSzPts val="1800"/>
              <a:buChar char="•"/>
              <a:defRPr sz="2400"/>
            </a:lvl6pPr>
            <a:lvl7pPr marL="3200400" lvl="6" indent="-342900" algn="l">
              <a:lnSpc>
                <a:spcPct val="100000"/>
              </a:lnSpc>
              <a:spcBef>
                <a:spcPts val="480"/>
              </a:spcBef>
              <a:spcAft>
                <a:spcPts val="0"/>
              </a:spcAft>
              <a:buClr>
                <a:schemeClr val="dk1"/>
              </a:buClr>
              <a:buSzPts val="1800"/>
              <a:buChar char="•"/>
              <a:defRPr sz="2400"/>
            </a:lvl7pPr>
            <a:lvl8pPr marL="3657600" lvl="7" indent="-342900" algn="l">
              <a:lnSpc>
                <a:spcPct val="100000"/>
              </a:lnSpc>
              <a:spcBef>
                <a:spcPts val="480"/>
              </a:spcBef>
              <a:spcAft>
                <a:spcPts val="0"/>
              </a:spcAft>
              <a:buClr>
                <a:schemeClr val="dk1"/>
              </a:buClr>
              <a:buSzPts val="1800"/>
              <a:buChar char="•"/>
              <a:defRPr sz="2400"/>
            </a:lvl8pPr>
            <a:lvl9pPr marL="4114800" lvl="8" indent="-342900" algn="l">
              <a:lnSpc>
                <a:spcPct val="100000"/>
              </a:lnSpc>
              <a:spcBef>
                <a:spcPts val="480"/>
              </a:spcBef>
              <a:spcAft>
                <a:spcPts val="0"/>
              </a:spcAft>
              <a:buClr>
                <a:schemeClr val="dk1"/>
              </a:buClr>
              <a:buSzPts val="1800"/>
              <a:buChar char="•"/>
              <a:defRPr sz="2400"/>
            </a:lvl9pPr>
          </a:lstStyle>
          <a:p>
            <a:endParaRPr/>
          </a:p>
        </p:txBody>
      </p:sp>
      <p:sp>
        <p:nvSpPr>
          <p:cNvPr id="39" name="Google Shape;39;p28"/>
          <p:cNvSpPr txBox="1">
            <a:spLocks noGrp="1"/>
          </p:cNvSpPr>
          <p:nvPr>
            <p:ph type="body" idx="3"/>
          </p:nvPr>
        </p:nvSpPr>
        <p:spPr>
          <a:xfrm>
            <a:off x="354419" y="6475387"/>
            <a:ext cx="6340000" cy="383200"/>
          </a:xfrm>
          <a:prstGeom prst="rect">
            <a:avLst/>
          </a:prstGeom>
          <a:noFill/>
          <a:ln>
            <a:noFill/>
          </a:ln>
        </p:spPr>
        <p:txBody>
          <a:bodyPr spcFirstLastPara="1" wrap="square" lIns="0" tIns="45700" rIns="91425" bIns="45700" anchor="ctr" anchorCtr="0">
            <a:noAutofit/>
          </a:bodyPr>
          <a:lstStyle>
            <a:lvl1pPr marL="457200" lvl="0" indent="-228600" algn="l">
              <a:lnSpc>
                <a:spcPct val="100000"/>
              </a:lnSpc>
              <a:spcBef>
                <a:spcPts val="240"/>
              </a:spcBef>
              <a:spcAft>
                <a:spcPts val="0"/>
              </a:spcAft>
              <a:buClr>
                <a:schemeClr val="dk1"/>
              </a:buClr>
              <a:buSzPts val="900"/>
              <a:buNone/>
              <a:defRPr sz="1200" b="0" cap="none">
                <a:solidFill>
                  <a:srgbClr val="9D9D9C"/>
                </a:solidFill>
              </a:defRPr>
            </a:lvl1pPr>
            <a:lvl2pPr marL="914400" lvl="1" indent="-228600" algn="l">
              <a:lnSpc>
                <a:spcPct val="100000"/>
              </a:lnSpc>
              <a:spcBef>
                <a:spcPts val="533"/>
              </a:spcBef>
              <a:spcAft>
                <a:spcPts val="0"/>
              </a:spcAft>
              <a:buClr>
                <a:schemeClr val="dk1"/>
              </a:buClr>
              <a:buSzPts val="2000"/>
              <a:buNone/>
              <a:defRPr/>
            </a:lvl2pPr>
            <a:lvl3pPr marL="1371600" lvl="2" indent="-228600" algn="l">
              <a:lnSpc>
                <a:spcPct val="100000"/>
              </a:lnSpc>
              <a:spcBef>
                <a:spcPts val="480"/>
              </a:spcBef>
              <a:spcAft>
                <a:spcPts val="0"/>
              </a:spcAft>
              <a:buClr>
                <a:schemeClr val="dk1"/>
              </a:buClr>
              <a:buSzPts val="1800"/>
              <a:buNone/>
              <a:defRPr/>
            </a:lvl3pPr>
            <a:lvl4pPr marL="1828800" lvl="3" indent="-228600" algn="l">
              <a:lnSpc>
                <a:spcPct val="100000"/>
              </a:lnSpc>
              <a:spcBef>
                <a:spcPts val="480"/>
              </a:spcBef>
              <a:spcAft>
                <a:spcPts val="0"/>
              </a:spcAft>
              <a:buClr>
                <a:schemeClr val="dk1"/>
              </a:buClr>
              <a:buSzPts val="1800"/>
              <a:buNone/>
              <a:defRPr/>
            </a:lvl4pPr>
            <a:lvl5pPr marL="2286000" lvl="4" indent="-228600" algn="l">
              <a:lnSpc>
                <a:spcPct val="100000"/>
              </a:lnSpc>
              <a:spcBef>
                <a:spcPts val="427"/>
              </a:spcBef>
              <a:spcAft>
                <a:spcPts val="0"/>
              </a:spcAft>
              <a:buClr>
                <a:schemeClr val="dk1"/>
              </a:buClr>
              <a:buSzPts val="1600"/>
              <a:buNone/>
              <a:defRPr/>
            </a:lvl5pPr>
            <a:lvl6pPr marL="2743200" lvl="5" indent="-342900" algn="l">
              <a:lnSpc>
                <a:spcPct val="100000"/>
              </a:lnSpc>
              <a:spcBef>
                <a:spcPts val="480"/>
              </a:spcBef>
              <a:spcAft>
                <a:spcPts val="0"/>
              </a:spcAft>
              <a:buClr>
                <a:schemeClr val="dk1"/>
              </a:buClr>
              <a:buSzPts val="1800"/>
              <a:buChar char="•"/>
              <a:defRPr/>
            </a:lvl6pPr>
            <a:lvl7pPr marL="3200400" lvl="6" indent="-342900" algn="l">
              <a:lnSpc>
                <a:spcPct val="100000"/>
              </a:lnSpc>
              <a:spcBef>
                <a:spcPts val="480"/>
              </a:spcBef>
              <a:spcAft>
                <a:spcPts val="0"/>
              </a:spcAft>
              <a:buClr>
                <a:schemeClr val="dk1"/>
              </a:buClr>
              <a:buSzPts val="1800"/>
              <a:buChar char="•"/>
              <a:defRPr/>
            </a:lvl7pPr>
            <a:lvl8pPr marL="3657600" lvl="7" indent="-342900" algn="l">
              <a:lnSpc>
                <a:spcPct val="100000"/>
              </a:lnSpc>
              <a:spcBef>
                <a:spcPts val="480"/>
              </a:spcBef>
              <a:spcAft>
                <a:spcPts val="0"/>
              </a:spcAft>
              <a:buClr>
                <a:schemeClr val="dk1"/>
              </a:buClr>
              <a:buSzPts val="1800"/>
              <a:buChar char="•"/>
              <a:defRPr/>
            </a:lvl8pPr>
            <a:lvl9pPr marL="4114800" lvl="8" indent="-342900" algn="l">
              <a:lnSpc>
                <a:spcPct val="100000"/>
              </a:lnSpc>
              <a:spcBef>
                <a:spcPts val="480"/>
              </a:spcBef>
              <a:spcAft>
                <a:spcPts val="0"/>
              </a:spcAft>
              <a:buClr>
                <a:schemeClr val="dk1"/>
              </a:buClr>
              <a:buSzPts val="1800"/>
              <a:buChar char="•"/>
              <a:defRPr/>
            </a:lvl9pPr>
          </a:lstStyle>
          <a:p>
            <a:endParaRPr/>
          </a:p>
        </p:txBody>
      </p:sp>
      <p:cxnSp>
        <p:nvCxnSpPr>
          <p:cNvPr id="40" name="Google Shape;40;p28"/>
          <p:cNvCxnSpPr/>
          <p:nvPr/>
        </p:nvCxnSpPr>
        <p:spPr>
          <a:xfrm rot="10800000" flipH="1">
            <a:off x="395705" y="6408357"/>
            <a:ext cx="10315200" cy="9600"/>
          </a:xfrm>
          <a:prstGeom prst="straightConnector1">
            <a:avLst/>
          </a:prstGeom>
          <a:noFill/>
          <a:ln w="9525" cap="flat" cmpd="sng">
            <a:solidFill>
              <a:srgbClr val="8D8F93"/>
            </a:solidFill>
            <a:prstDash val="solid"/>
            <a:round/>
            <a:headEnd type="none" w="sm" len="sm"/>
            <a:tailEnd type="none" w="sm" len="sm"/>
          </a:ln>
        </p:spPr>
      </p:cxnSp>
      <p:pic>
        <p:nvPicPr>
          <p:cNvPr id="41" name="Google Shape;41;p28"/>
          <p:cNvPicPr preferRelativeResize="0"/>
          <p:nvPr/>
        </p:nvPicPr>
        <p:blipFill rotWithShape="1">
          <a:blip r:embed="rId2">
            <a:alphaModFix/>
          </a:blip>
          <a:srcRect/>
          <a:stretch/>
        </p:blipFill>
        <p:spPr>
          <a:xfrm>
            <a:off x="10842215" y="5869659"/>
            <a:ext cx="1152389" cy="86662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49"/>
        <p:cNvGrpSpPr/>
        <p:nvPr/>
      </p:nvGrpSpPr>
      <p:grpSpPr>
        <a:xfrm>
          <a:off x="0" y="0"/>
          <a:ext cx="0" cy="0"/>
          <a:chOff x="0" y="0"/>
          <a:chExt cx="0" cy="0"/>
        </a:xfrm>
      </p:grpSpPr>
      <p:sp>
        <p:nvSpPr>
          <p:cNvPr id="50" name="Google Shape;50;g3f502f38a39_2_20"/>
          <p:cNvSpPr txBox="1">
            <a:spLocks noGrp="1"/>
          </p:cNvSpPr>
          <p:nvPr>
            <p:ph type="title"/>
          </p:nvPr>
        </p:nvSpPr>
        <p:spPr>
          <a:xfrm>
            <a:off x="395707" y="194428"/>
            <a:ext cx="11284400" cy="794000"/>
          </a:xfrm>
          <a:prstGeom prst="rect">
            <a:avLst/>
          </a:prstGeom>
          <a:noFill/>
          <a:ln>
            <a:noFill/>
          </a:ln>
        </p:spPr>
        <p:txBody>
          <a:bodyPr spcFirstLastPara="1" wrap="square" lIns="0" tIns="45700" rIns="0" bIns="45700" anchor="t" anchorCtr="0">
            <a:normAutofit/>
          </a:bodyPr>
          <a:lstStyle>
            <a:lvl1pPr lvl="0" algn="l">
              <a:lnSpc>
                <a:spcPct val="100000"/>
              </a:lnSpc>
              <a:spcBef>
                <a:spcPts val="0"/>
              </a:spcBef>
              <a:spcAft>
                <a:spcPts val="0"/>
              </a:spcAft>
              <a:buClr>
                <a:schemeClr val="accent1"/>
              </a:buClr>
              <a:buSzPts val="2400"/>
              <a:buFont typeface="Calibri"/>
              <a:buNone/>
              <a:defRPr sz="2300" b="1" cap="none">
                <a:solidFill>
                  <a:srgbClr val="009CD8"/>
                </a:solidFill>
                <a:latin typeface="Calibri"/>
                <a:ea typeface="Calibri"/>
                <a:cs typeface="Calibri"/>
                <a:sym typeface="Calibri"/>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a:endParaRPr/>
          </a:p>
        </p:txBody>
      </p:sp>
      <p:sp>
        <p:nvSpPr>
          <p:cNvPr id="51" name="Google Shape;51;g3f502f38a39_2_20"/>
          <p:cNvSpPr txBox="1">
            <a:spLocks noGrp="1"/>
          </p:cNvSpPr>
          <p:nvPr>
            <p:ph type="body" idx="1"/>
          </p:nvPr>
        </p:nvSpPr>
        <p:spPr>
          <a:xfrm>
            <a:off x="395705" y="988341"/>
            <a:ext cx="11284400" cy="4784800"/>
          </a:xfrm>
          <a:prstGeom prst="rect">
            <a:avLst/>
          </a:prstGeom>
          <a:noFill/>
          <a:ln>
            <a:noFill/>
          </a:ln>
        </p:spPr>
        <p:txBody>
          <a:bodyPr spcFirstLastPara="1" wrap="square" lIns="91425" tIns="45700" rIns="91425" bIns="45700" anchor="t" anchorCtr="0">
            <a:normAutofit/>
          </a:bodyPr>
          <a:lstStyle>
            <a:lvl1pPr marL="457200" lvl="0" indent="-374650" algn="l">
              <a:lnSpc>
                <a:spcPct val="100000"/>
              </a:lnSpc>
              <a:spcBef>
                <a:spcPts val="500"/>
              </a:spcBef>
              <a:spcAft>
                <a:spcPts val="0"/>
              </a:spcAft>
              <a:buClr>
                <a:schemeClr val="dk1"/>
              </a:buClr>
              <a:buSzPts val="2300"/>
              <a:buChar char="•"/>
              <a:defRPr>
                <a:solidFill>
                  <a:srgbClr val="575756"/>
                </a:solidFill>
                <a:latin typeface="Calibri"/>
                <a:ea typeface="Calibri"/>
                <a:cs typeface="Calibri"/>
                <a:sym typeface="Calibri"/>
              </a:defRPr>
            </a:lvl1pPr>
            <a:lvl2pPr marL="914400" lvl="1" indent="-355600" algn="l">
              <a:lnSpc>
                <a:spcPct val="100000"/>
              </a:lnSpc>
              <a:spcBef>
                <a:spcPts val="500"/>
              </a:spcBef>
              <a:spcAft>
                <a:spcPts val="0"/>
              </a:spcAft>
              <a:buClr>
                <a:schemeClr val="dk1"/>
              </a:buClr>
              <a:buSzPts val="2000"/>
              <a:buChar char="–"/>
              <a:defRPr>
                <a:latin typeface="Calibri"/>
                <a:ea typeface="Calibri"/>
                <a:cs typeface="Calibri"/>
                <a:sym typeface="Calibri"/>
              </a:defRPr>
            </a:lvl2pPr>
            <a:lvl3pPr marL="1371600" lvl="2" indent="-349250" algn="l">
              <a:lnSpc>
                <a:spcPct val="100000"/>
              </a:lnSpc>
              <a:spcBef>
                <a:spcPts val="500"/>
              </a:spcBef>
              <a:spcAft>
                <a:spcPts val="0"/>
              </a:spcAft>
              <a:buClr>
                <a:schemeClr val="dk1"/>
              </a:buClr>
              <a:buSzPts val="1900"/>
              <a:buChar char="•"/>
              <a:defRPr sz="2400">
                <a:latin typeface="Calibri"/>
                <a:ea typeface="Calibri"/>
                <a:cs typeface="Calibri"/>
                <a:sym typeface="Calibri"/>
              </a:defRPr>
            </a:lvl3pPr>
            <a:lvl4pPr marL="1828800" lvl="3" indent="-349250" algn="l">
              <a:lnSpc>
                <a:spcPct val="100000"/>
              </a:lnSpc>
              <a:spcBef>
                <a:spcPts val="500"/>
              </a:spcBef>
              <a:spcAft>
                <a:spcPts val="0"/>
              </a:spcAft>
              <a:buClr>
                <a:schemeClr val="dk1"/>
              </a:buClr>
              <a:buSzPts val="1900"/>
              <a:buChar char="–"/>
              <a:defRPr>
                <a:latin typeface="Arial"/>
                <a:ea typeface="Arial"/>
                <a:cs typeface="Arial"/>
                <a:sym typeface="Arial"/>
              </a:defRPr>
            </a:lvl4pPr>
            <a:lvl5pPr marL="2286000" lvl="4" indent="-330200" algn="l">
              <a:lnSpc>
                <a:spcPct val="100000"/>
              </a:lnSpc>
              <a:spcBef>
                <a:spcPts val="400"/>
              </a:spcBef>
              <a:spcAft>
                <a:spcPts val="0"/>
              </a:spcAft>
              <a:buClr>
                <a:schemeClr val="dk1"/>
              </a:buClr>
              <a:buSzPts val="1600"/>
              <a:buChar char="»"/>
              <a:defRPr>
                <a:latin typeface="Arial"/>
                <a:ea typeface="Arial"/>
                <a:cs typeface="Arial"/>
                <a:sym typeface="Arial"/>
              </a:defRPr>
            </a:lvl5pPr>
            <a:lvl6pPr marL="2743200" lvl="5" indent="-349250" algn="l">
              <a:lnSpc>
                <a:spcPct val="100000"/>
              </a:lnSpc>
              <a:spcBef>
                <a:spcPts val="500"/>
              </a:spcBef>
              <a:spcAft>
                <a:spcPts val="0"/>
              </a:spcAft>
              <a:buClr>
                <a:schemeClr val="dk1"/>
              </a:buClr>
              <a:buSzPts val="1900"/>
              <a:buChar char="•"/>
              <a:defRPr/>
            </a:lvl6pPr>
            <a:lvl7pPr marL="3200400" lvl="6" indent="-349250" algn="l">
              <a:lnSpc>
                <a:spcPct val="100000"/>
              </a:lnSpc>
              <a:spcBef>
                <a:spcPts val="500"/>
              </a:spcBef>
              <a:spcAft>
                <a:spcPts val="0"/>
              </a:spcAft>
              <a:buClr>
                <a:schemeClr val="dk1"/>
              </a:buClr>
              <a:buSzPts val="1900"/>
              <a:buChar char="•"/>
              <a:defRPr/>
            </a:lvl7pPr>
            <a:lvl8pPr marL="3657600" lvl="7" indent="-349250" algn="l">
              <a:lnSpc>
                <a:spcPct val="100000"/>
              </a:lnSpc>
              <a:spcBef>
                <a:spcPts val="500"/>
              </a:spcBef>
              <a:spcAft>
                <a:spcPts val="0"/>
              </a:spcAft>
              <a:buClr>
                <a:schemeClr val="dk1"/>
              </a:buClr>
              <a:buSzPts val="1900"/>
              <a:buChar char="•"/>
              <a:defRPr/>
            </a:lvl8pPr>
            <a:lvl9pPr marL="4114800" lvl="8" indent="-349250" algn="l">
              <a:lnSpc>
                <a:spcPct val="100000"/>
              </a:lnSpc>
              <a:spcBef>
                <a:spcPts val="500"/>
              </a:spcBef>
              <a:spcAft>
                <a:spcPts val="0"/>
              </a:spcAft>
              <a:buClr>
                <a:schemeClr val="dk1"/>
              </a:buClr>
              <a:buSzPts val="1900"/>
              <a:buChar char="•"/>
              <a:defRPr/>
            </a:lvl9pPr>
          </a:lstStyle>
          <a:p>
            <a:endParaRPr/>
          </a:p>
        </p:txBody>
      </p:sp>
      <p:cxnSp>
        <p:nvCxnSpPr>
          <p:cNvPr id="52" name="Google Shape;52;g3f502f38a39_2_20"/>
          <p:cNvCxnSpPr/>
          <p:nvPr/>
        </p:nvCxnSpPr>
        <p:spPr>
          <a:xfrm rot="10800000" flipH="1">
            <a:off x="395705" y="6408357"/>
            <a:ext cx="10315200" cy="9600"/>
          </a:xfrm>
          <a:prstGeom prst="straightConnector1">
            <a:avLst/>
          </a:prstGeom>
          <a:noFill/>
          <a:ln w="9525" cap="flat" cmpd="sng">
            <a:solidFill>
              <a:srgbClr val="8D8F93"/>
            </a:solidFill>
            <a:prstDash val="solid"/>
            <a:round/>
            <a:headEnd type="none" w="sm" len="sm"/>
            <a:tailEnd type="none" w="sm" len="sm"/>
          </a:ln>
        </p:spPr>
      </p:cxnSp>
      <p:sp>
        <p:nvSpPr>
          <p:cNvPr id="53" name="Google Shape;53;g3f502f38a39_2_20"/>
          <p:cNvSpPr txBox="1">
            <a:spLocks noGrp="1"/>
          </p:cNvSpPr>
          <p:nvPr>
            <p:ph type="body" idx="2"/>
          </p:nvPr>
        </p:nvSpPr>
        <p:spPr>
          <a:xfrm>
            <a:off x="395707" y="6475388"/>
            <a:ext cx="9740800" cy="383200"/>
          </a:xfrm>
          <a:prstGeom prst="rect">
            <a:avLst/>
          </a:prstGeom>
          <a:noFill/>
          <a:ln>
            <a:noFill/>
          </a:ln>
        </p:spPr>
        <p:txBody>
          <a:bodyPr spcFirstLastPara="1" wrap="square" lIns="0" tIns="45700" rIns="91425" bIns="45700" anchor="ctr" anchorCtr="0">
            <a:noAutofit/>
          </a:bodyPr>
          <a:lstStyle>
            <a:lvl1pPr marL="457200" lvl="0" indent="-228600" algn="l">
              <a:lnSpc>
                <a:spcPct val="100000"/>
              </a:lnSpc>
              <a:spcBef>
                <a:spcPts val="300"/>
              </a:spcBef>
              <a:spcAft>
                <a:spcPts val="0"/>
              </a:spcAft>
              <a:buClr>
                <a:schemeClr val="dk1"/>
              </a:buClr>
              <a:buSzPts val="900"/>
              <a:buNone/>
              <a:defRPr sz="1200" b="0" cap="none">
                <a:solidFill>
                  <a:srgbClr val="9D9D9C"/>
                </a:solidFill>
              </a:defRPr>
            </a:lvl1pPr>
            <a:lvl2pPr marL="914400" lvl="1" indent="-228600" algn="l">
              <a:lnSpc>
                <a:spcPct val="100000"/>
              </a:lnSpc>
              <a:spcBef>
                <a:spcPts val="500"/>
              </a:spcBef>
              <a:spcAft>
                <a:spcPts val="0"/>
              </a:spcAft>
              <a:buClr>
                <a:schemeClr val="dk1"/>
              </a:buClr>
              <a:buSzPts val="2000"/>
              <a:buNone/>
              <a:defRPr/>
            </a:lvl2pPr>
            <a:lvl3pPr marL="1371600" lvl="2" indent="-228600" algn="l">
              <a:lnSpc>
                <a:spcPct val="100000"/>
              </a:lnSpc>
              <a:spcBef>
                <a:spcPts val="500"/>
              </a:spcBef>
              <a:spcAft>
                <a:spcPts val="0"/>
              </a:spcAft>
              <a:buClr>
                <a:schemeClr val="dk1"/>
              </a:buClr>
              <a:buSzPts val="1900"/>
              <a:buNone/>
              <a:defRPr/>
            </a:lvl3pPr>
            <a:lvl4pPr marL="1828800" lvl="3" indent="-228600" algn="l">
              <a:lnSpc>
                <a:spcPct val="100000"/>
              </a:lnSpc>
              <a:spcBef>
                <a:spcPts val="500"/>
              </a:spcBef>
              <a:spcAft>
                <a:spcPts val="0"/>
              </a:spcAft>
              <a:buClr>
                <a:schemeClr val="dk1"/>
              </a:buClr>
              <a:buSzPts val="1900"/>
              <a:buNone/>
              <a:defRPr/>
            </a:lvl4pPr>
            <a:lvl5pPr marL="2286000" lvl="4" indent="-228600" algn="l">
              <a:lnSpc>
                <a:spcPct val="100000"/>
              </a:lnSpc>
              <a:spcBef>
                <a:spcPts val="400"/>
              </a:spcBef>
              <a:spcAft>
                <a:spcPts val="0"/>
              </a:spcAft>
              <a:buClr>
                <a:schemeClr val="dk1"/>
              </a:buClr>
              <a:buSzPts val="1600"/>
              <a:buNone/>
              <a:defRPr/>
            </a:lvl5pPr>
            <a:lvl6pPr marL="2743200" lvl="5" indent="-349250" algn="l">
              <a:lnSpc>
                <a:spcPct val="100000"/>
              </a:lnSpc>
              <a:spcBef>
                <a:spcPts val="500"/>
              </a:spcBef>
              <a:spcAft>
                <a:spcPts val="0"/>
              </a:spcAft>
              <a:buClr>
                <a:schemeClr val="dk1"/>
              </a:buClr>
              <a:buSzPts val="1900"/>
              <a:buChar char="•"/>
              <a:defRPr/>
            </a:lvl6pPr>
            <a:lvl7pPr marL="3200400" lvl="6" indent="-349250" algn="l">
              <a:lnSpc>
                <a:spcPct val="100000"/>
              </a:lnSpc>
              <a:spcBef>
                <a:spcPts val="500"/>
              </a:spcBef>
              <a:spcAft>
                <a:spcPts val="0"/>
              </a:spcAft>
              <a:buClr>
                <a:schemeClr val="dk1"/>
              </a:buClr>
              <a:buSzPts val="1900"/>
              <a:buChar char="•"/>
              <a:defRPr/>
            </a:lvl7pPr>
            <a:lvl8pPr marL="3657600" lvl="7" indent="-349250" algn="l">
              <a:lnSpc>
                <a:spcPct val="100000"/>
              </a:lnSpc>
              <a:spcBef>
                <a:spcPts val="500"/>
              </a:spcBef>
              <a:spcAft>
                <a:spcPts val="0"/>
              </a:spcAft>
              <a:buClr>
                <a:schemeClr val="dk1"/>
              </a:buClr>
              <a:buSzPts val="1900"/>
              <a:buChar char="•"/>
              <a:defRPr/>
            </a:lvl8pPr>
            <a:lvl9pPr marL="4114800" lvl="8" indent="-349250" algn="l">
              <a:lnSpc>
                <a:spcPct val="100000"/>
              </a:lnSpc>
              <a:spcBef>
                <a:spcPts val="500"/>
              </a:spcBef>
              <a:spcAft>
                <a:spcPts val="0"/>
              </a:spcAft>
              <a:buClr>
                <a:schemeClr val="dk1"/>
              </a:buClr>
              <a:buSzPts val="1900"/>
              <a:buChar char="•"/>
              <a:defRPr/>
            </a:lvl9pPr>
          </a:lstStyle>
          <a:p>
            <a:endParaRPr/>
          </a:p>
        </p:txBody>
      </p:sp>
      <p:pic>
        <p:nvPicPr>
          <p:cNvPr id="54" name="Google Shape;54;g3f502f38a39_2_20"/>
          <p:cNvPicPr preferRelativeResize="0"/>
          <p:nvPr/>
        </p:nvPicPr>
        <p:blipFill rotWithShape="1">
          <a:blip r:embed="rId2">
            <a:alphaModFix/>
          </a:blip>
          <a:srcRect/>
          <a:stretch/>
        </p:blipFill>
        <p:spPr>
          <a:xfrm>
            <a:off x="10842215" y="5869659"/>
            <a:ext cx="1152389" cy="86662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55"/>
        <p:cNvGrpSpPr/>
        <p:nvPr/>
      </p:nvGrpSpPr>
      <p:grpSpPr>
        <a:xfrm>
          <a:off x="0" y="0"/>
          <a:ext cx="0" cy="0"/>
          <a:chOff x="0" y="0"/>
          <a:chExt cx="0" cy="0"/>
        </a:xfrm>
      </p:grpSpPr>
      <p:sp>
        <p:nvSpPr>
          <p:cNvPr id="56" name="Google Shape;56;g3f502f38a39_2_7"/>
          <p:cNvSpPr/>
          <p:nvPr/>
        </p:nvSpPr>
        <p:spPr>
          <a:xfrm>
            <a:off x="3834064" y="0"/>
            <a:ext cx="8386000" cy="6858000"/>
          </a:xfrm>
          <a:prstGeom prst="rect">
            <a:avLst/>
          </a:prstGeom>
          <a:solidFill>
            <a:srgbClr val="E9E9E9"/>
          </a:solidFill>
          <a:ln>
            <a:noFill/>
          </a:ln>
          <a:effectLst>
            <a:outerShdw blurRad="40000" dist="23000" dir="5400000" rotWithShape="0">
              <a:srgbClr val="000000">
                <a:alpha val="32941"/>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2400" b="0" i="0" u="none" strike="noStrike" cap="none">
              <a:solidFill>
                <a:schemeClr val="lt1"/>
              </a:solidFill>
              <a:latin typeface="Calibri"/>
              <a:ea typeface="Calibri"/>
              <a:cs typeface="Calibri"/>
              <a:sym typeface="Calibri"/>
            </a:endParaRPr>
          </a:p>
        </p:txBody>
      </p:sp>
      <p:sp>
        <p:nvSpPr>
          <p:cNvPr id="57" name="Google Shape;57;g3f502f38a39_2_7"/>
          <p:cNvSpPr txBox="1">
            <a:spLocks noGrp="1"/>
          </p:cNvSpPr>
          <p:nvPr>
            <p:ph type="title"/>
          </p:nvPr>
        </p:nvSpPr>
        <p:spPr>
          <a:xfrm>
            <a:off x="4165600" y="2695073"/>
            <a:ext cx="7812400" cy="1315600"/>
          </a:xfrm>
          <a:prstGeom prst="rect">
            <a:avLst/>
          </a:prstGeom>
          <a:noFill/>
          <a:ln>
            <a:noFill/>
          </a:ln>
        </p:spPr>
        <p:txBody>
          <a:bodyPr spcFirstLastPara="1" wrap="square" lIns="0" tIns="45700" rIns="0" bIns="45700" anchor="t" anchorCtr="0">
            <a:normAutofit/>
          </a:bodyPr>
          <a:lstStyle>
            <a:lvl1pPr lvl="0" algn="l">
              <a:lnSpc>
                <a:spcPct val="100000"/>
              </a:lnSpc>
              <a:spcBef>
                <a:spcPts val="0"/>
              </a:spcBef>
              <a:spcAft>
                <a:spcPts val="0"/>
              </a:spcAft>
              <a:buClr>
                <a:schemeClr val="lt1"/>
              </a:buClr>
              <a:buSzPts val="3600"/>
              <a:buFont typeface="Calibri"/>
              <a:buNone/>
              <a:defRPr sz="4800">
                <a:solidFill>
                  <a:schemeClr val="lt1"/>
                </a:solidFill>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a:endParaRPr/>
          </a:p>
        </p:txBody>
      </p:sp>
      <p:sp>
        <p:nvSpPr>
          <p:cNvPr id="58" name="Google Shape;58;g3f502f38a39_2_7"/>
          <p:cNvSpPr txBox="1">
            <a:spLocks noGrp="1"/>
          </p:cNvSpPr>
          <p:nvPr>
            <p:ph type="body" idx="1"/>
          </p:nvPr>
        </p:nvSpPr>
        <p:spPr>
          <a:xfrm>
            <a:off x="4165600" y="4319588"/>
            <a:ext cx="4540400" cy="18036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00"/>
              </a:spcBef>
              <a:spcAft>
                <a:spcPts val="0"/>
              </a:spcAft>
              <a:buClr>
                <a:schemeClr val="dk1"/>
              </a:buClr>
              <a:buSzPts val="2000"/>
              <a:buNone/>
              <a:defRPr sz="2700"/>
            </a:lvl1pPr>
            <a:lvl2pPr marL="914400" lvl="1" indent="-349250" algn="l">
              <a:lnSpc>
                <a:spcPct val="100000"/>
              </a:lnSpc>
              <a:spcBef>
                <a:spcPts val="500"/>
              </a:spcBef>
              <a:spcAft>
                <a:spcPts val="0"/>
              </a:spcAft>
              <a:buClr>
                <a:schemeClr val="dk1"/>
              </a:buClr>
              <a:buSzPts val="1900"/>
              <a:buChar char="–"/>
              <a:defRPr/>
            </a:lvl2pPr>
            <a:lvl3pPr marL="1371600" lvl="2" indent="-349250" algn="l">
              <a:lnSpc>
                <a:spcPct val="100000"/>
              </a:lnSpc>
              <a:spcBef>
                <a:spcPts val="500"/>
              </a:spcBef>
              <a:spcAft>
                <a:spcPts val="0"/>
              </a:spcAft>
              <a:buClr>
                <a:schemeClr val="dk1"/>
              </a:buClr>
              <a:buSzPts val="1900"/>
              <a:buChar char="•"/>
              <a:defRPr/>
            </a:lvl3pPr>
            <a:lvl4pPr marL="1828800" lvl="3" indent="-349250" algn="l">
              <a:lnSpc>
                <a:spcPct val="100000"/>
              </a:lnSpc>
              <a:spcBef>
                <a:spcPts val="500"/>
              </a:spcBef>
              <a:spcAft>
                <a:spcPts val="0"/>
              </a:spcAft>
              <a:buClr>
                <a:schemeClr val="dk1"/>
              </a:buClr>
              <a:buSzPts val="1900"/>
              <a:buChar char="–"/>
              <a:defRPr/>
            </a:lvl4pPr>
            <a:lvl5pPr marL="2286000" lvl="4" indent="-349250" algn="l">
              <a:lnSpc>
                <a:spcPct val="100000"/>
              </a:lnSpc>
              <a:spcBef>
                <a:spcPts val="500"/>
              </a:spcBef>
              <a:spcAft>
                <a:spcPts val="0"/>
              </a:spcAft>
              <a:buClr>
                <a:schemeClr val="dk1"/>
              </a:buClr>
              <a:buSzPts val="1900"/>
              <a:buChar char="»"/>
              <a:defRPr/>
            </a:lvl5pPr>
            <a:lvl6pPr marL="2743200" lvl="5" indent="-349250" algn="l">
              <a:lnSpc>
                <a:spcPct val="100000"/>
              </a:lnSpc>
              <a:spcBef>
                <a:spcPts val="500"/>
              </a:spcBef>
              <a:spcAft>
                <a:spcPts val="0"/>
              </a:spcAft>
              <a:buClr>
                <a:schemeClr val="dk1"/>
              </a:buClr>
              <a:buSzPts val="1900"/>
              <a:buChar char="•"/>
              <a:defRPr/>
            </a:lvl6pPr>
            <a:lvl7pPr marL="3200400" lvl="6" indent="-349250" algn="l">
              <a:lnSpc>
                <a:spcPct val="100000"/>
              </a:lnSpc>
              <a:spcBef>
                <a:spcPts val="500"/>
              </a:spcBef>
              <a:spcAft>
                <a:spcPts val="0"/>
              </a:spcAft>
              <a:buClr>
                <a:schemeClr val="dk1"/>
              </a:buClr>
              <a:buSzPts val="1900"/>
              <a:buChar char="•"/>
              <a:defRPr/>
            </a:lvl7pPr>
            <a:lvl8pPr marL="3657600" lvl="7" indent="-349250" algn="l">
              <a:lnSpc>
                <a:spcPct val="100000"/>
              </a:lnSpc>
              <a:spcBef>
                <a:spcPts val="500"/>
              </a:spcBef>
              <a:spcAft>
                <a:spcPts val="0"/>
              </a:spcAft>
              <a:buClr>
                <a:schemeClr val="dk1"/>
              </a:buClr>
              <a:buSzPts val="1900"/>
              <a:buChar char="•"/>
              <a:defRPr/>
            </a:lvl8pPr>
            <a:lvl9pPr marL="4114800" lvl="8" indent="-349250" algn="l">
              <a:lnSpc>
                <a:spcPct val="100000"/>
              </a:lnSpc>
              <a:spcBef>
                <a:spcPts val="500"/>
              </a:spcBef>
              <a:spcAft>
                <a:spcPts val="0"/>
              </a:spcAft>
              <a:buClr>
                <a:schemeClr val="dk1"/>
              </a:buClr>
              <a:buSzPts val="1900"/>
              <a:buChar char="•"/>
              <a:defRPr/>
            </a:lvl9pPr>
          </a:lstStyle>
          <a:p>
            <a:endParaRPr/>
          </a:p>
        </p:txBody>
      </p:sp>
      <p:sp>
        <p:nvSpPr>
          <p:cNvPr id="59" name="Google Shape;59;g3f502f38a39_2_7"/>
          <p:cNvSpPr txBox="1">
            <a:spLocks noGrp="1"/>
          </p:cNvSpPr>
          <p:nvPr>
            <p:ph type="body" idx="2"/>
          </p:nvPr>
        </p:nvSpPr>
        <p:spPr>
          <a:xfrm>
            <a:off x="4165600" y="6303963"/>
            <a:ext cx="7812400" cy="4016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00"/>
              </a:spcBef>
              <a:spcAft>
                <a:spcPts val="0"/>
              </a:spcAft>
              <a:buClr>
                <a:schemeClr val="dk1"/>
              </a:buClr>
              <a:buSzPts val="1600"/>
              <a:buNone/>
              <a:defRPr sz="2100"/>
            </a:lvl1pPr>
            <a:lvl2pPr marL="914400" lvl="1" indent="-349250" algn="l">
              <a:lnSpc>
                <a:spcPct val="100000"/>
              </a:lnSpc>
              <a:spcBef>
                <a:spcPts val="500"/>
              </a:spcBef>
              <a:spcAft>
                <a:spcPts val="0"/>
              </a:spcAft>
              <a:buClr>
                <a:schemeClr val="dk1"/>
              </a:buClr>
              <a:buSzPts val="1900"/>
              <a:buChar char="–"/>
              <a:defRPr/>
            </a:lvl2pPr>
            <a:lvl3pPr marL="1371600" lvl="2" indent="-349250" algn="l">
              <a:lnSpc>
                <a:spcPct val="100000"/>
              </a:lnSpc>
              <a:spcBef>
                <a:spcPts val="500"/>
              </a:spcBef>
              <a:spcAft>
                <a:spcPts val="0"/>
              </a:spcAft>
              <a:buClr>
                <a:schemeClr val="dk1"/>
              </a:buClr>
              <a:buSzPts val="1900"/>
              <a:buChar char="•"/>
              <a:defRPr/>
            </a:lvl3pPr>
            <a:lvl4pPr marL="1828800" lvl="3" indent="-349250" algn="l">
              <a:lnSpc>
                <a:spcPct val="100000"/>
              </a:lnSpc>
              <a:spcBef>
                <a:spcPts val="500"/>
              </a:spcBef>
              <a:spcAft>
                <a:spcPts val="0"/>
              </a:spcAft>
              <a:buClr>
                <a:schemeClr val="dk1"/>
              </a:buClr>
              <a:buSzPts val="1900"/>
              <a:buChar char="–"/>
              <a:defRPr/>
            </a:lvl4pPr>
            <a:lvl5pPr marL="2286000" lvl="4" indent="-349250" algn="l">
              <a:lnSpc>
                <a:spcPct val="100000"/>
              </a:lnSpc>
              <a:spcBef>
                <a:spcPts val="500"/>
              </a:spcBef>
              <a:spcAft>
                <a:spcPts val="0"/>
              </a:spcAft>
              <a:buClr>
                <a:schemeClr val="dk1"/>
              </a:buClr>
              <a:buSzPts val="1900"/>
              <a:buChar char="»"/>
              <a:defRPr/>
            </a:lvl5pPr>
            <a:lvl6pPr marL="2743200" lvl="5" indent="-349250" algn="l">
              <a:lnSpc>
                <a:spcPct val="100000"/>
              </a:lnSpc>
              <a:spcBef>
                <a:spcPts val="500"/>
              </a:spcBef>
              <a:spcAft>
                <a:spcPts val="0"/>
              </a:spcAft>
              <a:buClr>
                <a:schemeClr val="dk1"/>
              </a:buClr>
              <a:buSzPts val="1900"/>
              <a:buChar char="•"/>
              <a:defRPr/>
            </a:lvl6pPr>
            <a:lvl7pPr marL="3200400" lvl="6" indent="-349250" algn="l">
              <a:lnSpc>
                <a:spcPct val="100000"/>
              </a:lnSpc>
              <a:spcBef>
                <a:spcPts val="500"/>
              </a:spcBef>
              <a:spcAft>
                <a:spcPts val="0"/>
              </a:spcAft>
              <a:buClr>
                <a:schemeClr val="dk1"/>
              </a:buClr>
              <a:buSzPts val="1900"/>
              <a:buChar char="•"/>
              <a:defRPr/>
            </a:lvl7pPr>
            <a:lvl8pPr marL="3657600" lvl="7" indent="-349250" algn="l">
              <a:lnSpc>
                <a:spcPct val="100000"/>
              </a:lnSpc>
              <a:spcBef>
                <a:spcPts val="500"/>
              </a:spcBef>
              <a:spcAft>
                <a:spcPts val="0"/>
              </a:spcAft>
              <a:buClr>
                <a:schemeClr val="dk1"/>
              </a:buClr>
              <a:buSzPts val="1900"/>
              <a:buChar char="•"/>
              <a:defRPr/>
            </a:lvl8pPr>
            <a:lvl9pPr marL="4114800" lvl="8" indent="-349250" algn="l">
              <a:lnSpc>
                <a:spcPct val="100000"/>
              </a:lnSpc>
              <a:spcBef>
                <a:spcPts val="500"/>
              </a:spcBef>
              <a:spcAft>
                <a:spcPts val="0"/>
              </a:spcAft>
              <a:buClr>
                <a:schemeClr val="dk1"/>
              </a:buClr>
              <a:buSzPts val="1900"/>
              <a:buChar char="•"/>
              <a:defRPr/>
            </a:lvl9pPr>
          </a:lstStyle>
          <a:p>
            <a:endParaRPr/>
          </a:p>
        </p:txBody>
      </p:sp>
      <p:pic>
        <p:nvPicPr>
          <p:cNvPr id="60" name="Google Shape;60;g3f502f38a39_2_7"/>
          <p:cNvPicPr preferRelativeResize="0"/>
          <p:nvPr/>
        </p:nvPicPr>
        <p:blipFill rotWithShape="1">
          <a:blip r:embed="rId2">
            <a:alphaModFix/>
          </a:blip>
          <a:srcRect/>
          <a:stretch/>
        </p:blipFill>
        <p:spPr>
          <a:xfrm>
            <a:off x="634134" y="2839400"/>
            <a:ext cx="2480433" cy="1315600"/>
          </a:xfrm>
          <a:prstGeom prst="rect">
            <a:avLst/>
          </a:prstGeom>
          <a:noFill/>
          <a:ln>
            <a:noFill/>
          </a:ln>
        </p:spPr>
      </p:pic>
      <p:pic>
        <p:nvPicPr>
          <p:cNvPr id="61" name="Google Shape;61;g3f502f38a39_2_7"/>
          <p:cNvPicPr preferRelativeResize="0"/>
          <p:nvPr/>
        </p:nvPicPr>
        <p:blipFill rotWithShape="1">
          <a:blip r:embed="rId3">
            <a:alphaModFix/>
          </a:blip>
          <a:srcRect/>
          <a:stretch/>
        </p:blipFill>
        <p:spPr>
          <a:xfrm>
            <a:off x="634134" y="2349773"/>
            <a:ext cx="2619359" cy="196981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Layout">
  <p:cSld name="Section Layout">
    <p:spTree>
      <p:nvGrpSpPr>
        <p:cNvPr id="1" name="Shape 62"/>
        <p:cNvGrpSpPr/>
        <p:nvPr/>
      </p:nvGrpSpPr>
      <p:grpSpPr>
        <a:xfrm>
          <a:off x="0" y="0"/>
          <a:ext cx="0" cy="0"/>
          <a:chOff x="0" y="0"/>
          <a:chExt cx="0" cy="0"/>
        </a:xfrm>
      </p:grpSpPr>
      <p:sp>
        <p:nvSpPr>
          <p:cNvPr id="63" name="Google Shape;63;g3f502f38a39_2_14"/>
          <p:cNvSpPr txBox="1">
            <a:spLocks noGrp="1"/>
          </p:cNvSpPr>
          <p:nvPr>
            <p:ph type="title"/>
          </p:nvPr>
        </p:nvSpPr>
        <p:spPr>
          <a:xfrm>
            <a:off x="661288" y="4389057"/>
            <a:ext cx="11411200" cy="589200"/>
          </a:xfrm>
          <a:prstGeom prst="rect">
            <a:avLst/>
          </a:prstGeom>
          <a:noFill/>
          <a:ln>
            <a:noFill/>
          </a:ln>
        </p:spPr>
        <p:txBody>
          <a:bodyPr spcFirstLastPara="1" wrap="square" lIns="0" tIns="45700" rIns="0" bIns="45700" anchor="t" anchorCtr="0">
            <a:normAutofit/>
          </a:bodyPr>
          <a:lstStyle>
            <a:lvl1pPr lvl="0" algn="l">
              <a:lnSpc>
                <a:spcPct val="100000"/>
              </a:lnSpc>
              <a:spcBef>
                <a:spcPts val="0"/>
              </a:spcBef>
              <a:spcAft>
                <a:spcPts val="0"/>
              </a:spcAft>
              <a:buClr>
                <a:schemeClr val="accent1"/>
              </a:buClr>
              <a:buSzPts val="2800"/>
              <a:buFont typeface="Calibri"/>
              <a:buNone/>
              <a:defRPr sz="3700">
                <a:solidFill>
                  <a:srgbClr val="009CD8"/>
                </a:solidFill>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a:endParaRPr/>
          </a:p>
        </p:txBody>
      </p:sp>
      <p:sp>
        <p:nvSpPr>
          <p:cNvPr id="64" name="Google Shape;64;g3f502f38a39_2_14"/>
          <p:cNvSpPr txBox="1">
            <a:spLocks noGrp="1"/>
          </p:cNvSpPr>
          <p:nvPr>
            <p:ph type="body" idx="1"/>
          </p:nvPr>
        </p:nvSpPr>
        <p:spPr>
          <a:xfrm>
            <a:off x="582992" y="4005943"/>
            <a:ext cx="11413200" cy="3564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500"/>
              </a:spcBef>
              <a:spcAft>
                <a:spcPts val="0"/>
              </a:spcAft>
              <a:buClr>
                <a:schemeClr val="dk1"/>
              </a:buClr>
              <a:buSzPts val="2000"/>
              <a:buNone/>
              <a:defRPr sz="2700">
                <a:solidFill>
                  <a:srgbClr val="575756"/>
                </a:solidFill>
              </a:defRPr>
            </a:lvl1pPr>
            <a:lvl2pPr marL="914400" lvl="1" indent="-349250" algn="l">
              <a:lnSpc>
                <a:spcPct val="100000"/>
              </a:lnSpc>
              <a:spcBef>
                <a:spcPts val="500"/>
              </a:spcBef>
              <a:spcAft>
                <a:spcPts val="0"/>
              </a:spcAft>
              <a:buClr>
                <a:schemeClr val="dk1"/>
              </a:buClr>
              <a:buSzPts val="1900"/>
              <a:buChar char="–"/>
              <a:defRPr/>
            </a:lvl2pPr>
            <a:lvl3pPr marL="1371600" lvl="2" indent="-349250" algn="l">
              <a:lnSpc>
                <a:spcPct val="100000"/>
              </a:lnSpc>
              <a:spcBef>
                <a:spcPts val="500"/>
              </a:spcBef>
              <a:spcAft>
                <a:spcPts val="0"/>
              </a:spcAft>
              <a:buClr>
                <a:schemeClr val="dk1"/>
              </a:buClr>
              <a:buSzPts val="1900"/>
              <a:buChar char="•"/>
              <a:defRPr/>
            </a:lvl3pPr>
            <a:lvl4pPr marL="1828800" lvl="3" indent="-349250" algn="l">
              <a:lnSpc>
                <a:spcPct val="100000"/>
              </a:lnSpc>
              <a:spcBef>
                <a:spcPts val="500"/>
              </a:spcBef>
              <a:spcAft>
                <a:spcPts val="0"/>
              </a:spcAft>
              <a:buClr>
                <a:schemeClr val="dk1"/>
              </a:buClr>
              <a:buSzPts val="1900"/>
              <a:buChar char="–"/>
              <a:defRPr/>
            </a:lvl4pPr>
            <a:lvl5pPr marL="2286000" lvl="4" indent="-349250" algn="l">
              <a:lnSpc>
                <a:spcPct val="100000"/>
              </a:lnSpc>
              <a:spcBef>
                <a:spcPts val="500"/>
              </a:spcBef>
              <a:spcAft>
                <a:spcPts val="0"/>
              </a:spcAft>
              <a:buClr>
                <a:schemeClr val="dk1"/>
              </a:buClr>
              <a:buSzPts val="1900"/>
              <a:buChar char="»"/>
              <a:defRPr/>
            </a:lvl5pPr>
            <a:lvl6pPr marL="2743200" lvl="5" indent="-349250" algn="l">
              <a:lnSpc>
                <a:spcPct val="100000"/>
              </a:lnSpc>
              <a:spcBef>
                <a:spcPts val="500"/>
              </a:spcBef>
              <a:spcAft>
                <a:spcPts val="0"/>
              </a:spcAft>
              <a:buClr>
                <a:schemeClr val="dk1"/>
              </a:buClr>
              <a:buSzPts val="1900"/>
              <a:buChar char="•"/>
              <a:defRPr/>
            </a:lvl6pPr>
            <a:lvl7pPr marL="3200400" lvl="6" indent="-349250" algn="l">
              <a:lnSpc>
                <a:spcPct val="100000"/>
              </a:lnSpc>
              <a:spcBef>
                <a:spcPts val="500"/>
              </a:spcBef>
              <a:spcAft>
                <a:spcPts val="0"/>
              </a:spcAft>
              <a:buClr>
                <a:schemeClr val="dk1"/>
              </a:buClr>
              <a:buSzPts val="1900"/>
              <a:buChar char="•"/>
              <a:defRPr/>
            </a:lvl7pPr>
            <a:lvl8pPr marL="3657600" lvl="7" indent="-349250" algn="l">
              <a:lnSpc>
                <a:spcPct val="100000"/>
              </a:lnSpc>
              <a:spcBef>
                <a:spcPts val="500"/>
              </a:spcBef>
              <a:spcAft>
                <a:spcPts val="0"/>
              </a:spcAft>
              <a:buClr>
                <a:schemeClr val="dk1"/>
              </a:buClr>
              <a:buSzPts val="1900"/>
              <a:buChar char="•"/>
              <a:defRPr/>
            </a:lvl8pPr>
            <a:lvl9pPr marL="4114800" lvl="8" indent="-349250" algn="l">
              <a:lnSpc>
                <a:spcPct val="100000"/>
              </a:lnSpc>
              <a:spcBef>
                <a:spcPts val="500"/>
              </a:spcBef>
              <a:spcAft>
                <a:spcPts val="0"/>
              </a:spcAft>
              <a:buClr>
                <a:schemeClr val="dk1"/>
              </a:buClr>
              <a:buSzPts val="1900"/>
              <a:buChar char="•"/>
              <a:defRPr/>
            </a:lvl9pPr>
          </a:lstStyle>
          <a:p>
            <a:endParaRPr/>
          </a:p>
        </p:txBody>
      </p:sp>
      <p:sp>
        <p:nvSpPr>
          <p:cNvPr id="65" name="Google Shape;65;g3f502f38a39_2_14"/>
          <p:cNvSpPr txBox="1">
            <a:spLocks noGrp="1"/>
          </p:cNvSpPr>
          <p:nvPr>
            <p:ph type="sldNum" idx="12"/>
          </p:nvPr>
        </p:nvSpPr>
        <p:spPr>
          <a:xfrm>
            <a:off x="-276585" y="6235395"/>
            <a:ext cx="773200" cy="3652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r>
              <a:rPr lang="en-IN"/>
              <a:t>|</a:t>
            </a:r>
            <a:endParaRPr/>
          </a:p>
        </p:txBody>
      </p:sp>
      <p:cxnSp>
        <p:nvCxnSpPr>
          <p:cNvPr id="66" name="Google Shape;66;g3f502f38a39_2_14"/>
          <p:cNvCxnSpPr/>
          <p:nvPr/>
        </p:nvCxnSpPr>
        <p:spPr>
          <a:xfrm rot="10800000" flipH="1">
            <a:off x="395705" y="6408357"/>
            <a:ext cx="10315200" cy="9600"/>
          </a:xfrm>
          <a:prstGeom prst="straightConnector1">
            <a:avLst/>
          </a:prstGeom>
          <a:noFill/>
          <a:ln w="9525" cap="flat" cmpd="sng">
            <a:solidFill>
              <a:srgbClr val="8D8F93"/>
            </a:solidFill>
            <a:prstDash val="solid"/>
            <a:round/>
            <a:headEnd type="none" w="sm" len="sm"/>
            <a:tailEnd type="none" w="sm" len="sm"/>
          </a:ln>
        </p:spPr>
      </p:cxnSp>
      <p:pic>
        <p:nvPicPr>
          <p:cNvPr id="67" name="Google Shape;67;g3f502f38a39_2_14"/>
          <p:cNvPicPr preferRelativeResize="0"/>
          <p:nvPr/>
        </p:nvPicPr>
        <p:blipFill rotWithShape="1">
          <a:blip r:embed="rId2">
            <a:alphaModFix/>
          </a:blip>
          <a:srcRect/>
          <a:stretch/>
        </p:blipFill>
        <p:spPr>
          <a:xfrm>
            <a:off x="10842215" y="5869659"/>
            <a:ext cx="1152389" cy="86662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lumn">
  <p:cSld name="Two Column">
    <p:spTree>
      <p:nvGrpSpPr>
        <p:cNvPr id="1" name="Shape 68"/>
        <p:cNvGrpSpPr/>
        <p:nvPr/>
      </p:nvGrpSpPr>
      <p:grpSpPr>
        <a:xfrm>
          <a:off x="0" y="0"/>
          <a:ext cx="0" cy="0"/>
          <a:chOff x="0" y="0"/>
          <a:chExt cx="0" cy="0"/>
        </a:xfrm>
      </p:grpSpPr>
      <p:sp>
        <p:nvSpPr>
          <p:cNvPr id="69" name="Google Shape;69;g3f502f38a39_2_26"/>
          <p:cNvSpPr txBox="1">
            <a:spLocks noGrp="1"/>
          </p:cNvSpPr>
          <p:nvPr>
            <p:ph type="title"/>
          </p:nvPr>
        </p:nvSpPr>
        <p:spPr>
          <a:xfrm>
            <a:off x="354419" y="226512"/>
            <a:ext cx="11228000" cy="893600"/>
          </a:xfrm>
          <a:prstGeom prst="rect">
            <a:avLst/>
          </a:prstGeom>
          <a:noFill/>
          <a:ln>
            <a:noFill/>
          </a:ln>
        </p:spPr>
        <p:txBody>
          <a:bodyPr spcFirstLastPara="1" wrap="square" lIns="0" tIns="45700" rIns="0" bIns="45700" anchor="t" anchorCtr="0">
            <a:noAutofit/>
          </a:bodyPr>
          <a:lstStyle>
            <a:lvl1pPr lvl="0" algn="l">
              <a:lnSpc>
                <a:spcPct val="100000"/>
              </a:lnSpc>
              <a:spcBef>
                <a:spcPts val="0"/>
              </a:spcBef>
              <a:spcAft>
                <a:spcPts val="0"/>
              </a:spcAft>
              <a:buClr>
                <a:schemeClr val="accent1"/>
              </a:buClr>
              <a:buSzPts val="2400"/>
              <a:buFont typeface="Calibri"/>
              <a:buNone/>
              <a:defRPr sz="2300" b="1" cap="none">
                <a:solidFill>
                  <a:schemeClr val="accent1"/>
                </a:solidFill>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a:endParaRPr/>
          </a:p>
        </p:txBody>
      </p:sp>
      <p:sp>
        <p:nvSpPr>
          <p:cNvPr id="70" name="Google Shape;70;g3f502f38a39_2_26"/>
          <p:cNvSpPr txBox="1">
            <a:spLocks noGrp="1"/>
          </p:cNvSpPr>
          <p:nvPr>
            <p:ph type="body" idx="1"/>
          </p:nvPr>
        </p:nvSpPr>
        <p:spPr>
          <a:xfrm>
            <a:off x="354419" y="1152456"/>
            <a:ext cx="5640000" cy="4526000"/>
          </a:xfrm>
          <a:prstGeom prst="rect">
            <a:avLst/>
          </a:prstGeom>
          <a:noFill/>
          <a:ln>
            <a:noFill/>
          </a:ln>
        </p:spPr>
        <p:txBody>
          <a:bodyPr spcFirstLastPara="1" wrap="square" lIns="91425" tIns="45700" rIns="91425" bIns="45700" anchor="t" anchorCtr="0">
            <a:normAutofit/>
          </a:bodyPr>
          <a:lstStyle>
            <a:lvl1pPr marL="457200" lvl="0" indent="-374650" algn="l">
              <a:lnSpc>
                <a:spcPct val="100000"/>
              </a:lnSpc>
              <a:spcBef>
                <a:spcPts val="500"/>
              </a:spcBef>
              <a:spcAft>
                <a:spcPts val="0"/>
              </a:spcAft>
              <a:buClr>
                <a:schemeClr val="dk1"/>
              </a:buClr>
              <a:buSzPts val="2300"/>
              <a:buChar char="•"/>
              <a:defRPr sz="2900">
                <a:solidFill>
                  <a:srgbClr val="575756"/>
                </a:solidFill>
              </a:defRPr>
            </a:lvl1pPr>
            <a:lvl2pPr marL="914400" lvl="1" indent="-355600" algn="l">
              <a:lnSpc>
                <a:spcPct val="100000"/>
              </a:lnSpc>
              <a:spcBef>
                <a:spcPts val="500"/>
              </a:spcBef>
              <a:spcAft>
                <a:spcPts val="0"/>
              </a:spcAft>
              <a:buClr>
                <a:schemeClr val="dk1"/>
              </a:buClr>
              <a:buSzPts val="2000"/>
              <a:buChar char="–"/>
              <a:defRPr sz="2700"/>
            </a:lvl2pPr>
            <a:lvl3pPr marL="1371600" lvl="2" indent="-349250" algn="l">
              <a:lnSpc>
                <a:spcPct val="100000"/>
              </a:lnSpc>
              <a:spcBef>
                <a:spcPts val="500"/>
              </a:spcBef>
              <a:spcAft>
                <a:spcPts val="0"/>
              </a:spcAft>
              <a:buClr>
                <a:schemeClr val="dk1"/>
              </a:buClr>
              <a:buSzPts val="1900"/>
              <a:buChar char="•"/>
              <a:defRPr sz="2400"/>
            </a:lvl3pPr>
            <a:lvl4pPr marL="1828800" lvl="3" indent="-330200" algn="l">
              <a:lnSpc>
                <a:spcPct val="100000"/>
              </a:lnSpc>
              <a:spcBef>
                <a:spcPts val="400"/>
              </a:spcBef>
              <a:spcAft>
                <a:spcPts val="0"/>
              </a:spcAft>
              <a:buClr>
                <a:schemeClr val="dk1"/>
              </a:buClr>
              <a:buSzPts val="1600"/>
              <a:buChar char="–"/>
              <a:defRPr sz="2100"/>
            </a:lvl4pPr>
            <a:lvl5pPr marL="2286000" lvl="4" indent="-330200" algn="l">
              <a:lnSpc>
                <a:spcPct val="100000"/>
              </a:lnSpc>
              <a:spcBef>
                <a:spcPts val="400"/>
              </a:spcBef>
              <a:spcAft>
                <a:spcPts val="0"/>
              </a:spcAft>
              <a:buClr>
                <a:schemeClr val="dk1"/>
              </a:buClr>
              <a:buSzPts val="1600"/>
              <a:buChar char="»"/>
              <a:defRPr sz="2100"/>
            </a:lvl5pPr>
            <a:lvl6pPr marL="2743200" lvl="5" indent="-349250" algn="l">
              <a:lnSpc>
                <a:spcPct val="100000"/>
              </a:lnSpc>
              <a:spcBef>
                <a:spcPts val="500"/>
              </a:spcBef>
              <a:spcAft>
                <a:spcPts val="0"/>
              </a:spcAft>
              <a:buClr>
                <a:schemeClr val="dk1"/>
              </a:buClr>
              <a:buSzPts val="1900"/>
              <a:buChar char="•"/>
              <a:defRPr sz="2400"/>
            </a:lvl6pPr>
            <a:lvl7pPr marL="3200400" lvl="6" indent="-349250" algn="l">
              <a:lnSpc>
                <a:spcPct val="100000"/>
              </a:lnSpc>
              <a:spcBef>
                <a:spcPts val="500"/>
              </a:spcBef>
              <a:spcAft>
                <a:spcPts val="0"/>
              </a:spcAft>
              <a:buClr>
                <a:schemeClr val="dk1"/>
              </a:buClr>
              <a:buSzPts val="1900"/>
              <a:buChar char="•"/>
              <a:defRPr sz="2400"/>
            </a:lvl7pPr>
            <a:lvl8pPr marL="3657600" lvl="7" indent="-349250" algn="l">
              <a:lnSpc>
                <a:spcPct val="100000"/>
              </a:lnSpc>
              <a:spcBef>
                <a:spcPts val="500"/>
              </a:spcBef>
              <a:spcAft>
                <a:spcPts val="0"/>
              </a:spcAft>
              <a:buClr>
                <a:schemeClr val="dk1"/>
              </a:buClr>
              <a:buSzPts val="1900"/>
              <a:buChar char="•"/>
              <a:defRPr sz="2400"/>
            </a:lvl8pPr>
            <a:lvl9pPr marL="4114800" lvl="8" indent="-349250" algn="l">
              <a:lnSpc>
                <a:spcPct val="100000"/>
              </a:lnSpc>
              <a:spcBef>
                <a:spcPts val="500"/>
              </a:spcBef>
              <a:spcAft>
                <a:spcPts val="0"/>
              </a:spcAft>
              <a:buClr>
                <a:schemeClr val="dk1"/>
              </a:buClr>
              <a:buSzPts val="1900"/>
              <a:buChar char="•"/>
              <a:defRPr sz="2400"/>
            </a:lvl9pPr>
          </a:lstStyle>
          <a:p>
            <a:endParaRPr/>
          </a:p>
        </p:txBody>
      </p:sp>
      <p:sp>
        <p:nvSpPr>
          <p:cNvPr id="71" name="Google Shape;71;g3f502f38a39_2_26"/>
          <p:cNvSpPr txBox="1">
            <a:spLocks noGrp="1"/>
          </p:cNvSpPr>
          <p:nvPr>
            <p:ph type="body" idx="2"/>
          </p:nvPr>
        </p:nvSpPr>
        <p:spPr>
          <a:xfrm>
            <a:off x="6197600" y="1152456"/>
            <a:ext cx="5384800" cy="4526000"/>
          </a:xfrm>
          <a:prstGeom prst="rect">
            <a:avLst/>
          </a:prstGeom>
          <a:noFill/>
          <a:ln>
            <a:noFill/>
          </a:ln>
        </p:spPr>
        <p:txBody>
          <a:bodyPr spcFirstLastPara="1" wrap="square" lIns="91425" tIns="45700" rIns="91425" bIns="45700" anchor="t" anchorCtr="0">
            <a:normAutofit/>
          </a:bodyPr>
          <a:lstStyle>
            <a:lvl1pPr marL="457200" lvl="0" indent="-374650" algn="l">
              <a:lnSpc>
                <a:spcPct val="100000"/>
              </a:lnSpc>
              <a:spcBef>
                <a:spcPts val="500"/>
              </a:spcBef>
              <a:spcAft>
                <a:spcPts val="0"/>
              </a:spcAft>
              <a:buClr>
                <a:schemeClr val="dk1"/>
              </a:buClr>
              <a:buSzPts val="2300"/>
              <a:buChar char="•"/>
              <a:defRPr sz="2900">
                <a:solidFill>
                  <a:srgbClr val="575756"/>
                </a:solidFill>
              </a:defRPr>
            </a:lvl1pPr>
            <a:lvl2pPr marL="914400" lvl="1" indent="-355600" algn="l">
              <a:lnSpc>
                <a:spcPct val="100000"/>
              </a:lnSpc>
              <a:spcBef>
                <a:spcPts val="500"/>
              </a:spcBef>
              <a:spcAft>
                <a:spcPts val="0"/>
              </a:spcAft>
              <a:buClr>
                <a:schemeClr val="dk1"/>
              </a:buClr>
              <a:buSzPts val="2000"/>
              <a:buChar char="–"/>
              <a:defRPr sz="2700"/>
            </a:lvl2pPr>
            <a:lvl3pPr marL="1371600" lvl="2" indent="-349250" algn="l">
              <a:lnSpc>
                <a:spcPct val="100000"/>
              </a:lnSpc>
              <a:spcBef>
                <a:spcPts val="500"/>
              </a:spcBef>
              <a:spcAft>
                <a:spcPts val="0"/>
              </a:spcAft>
              <a:buClr>
                <a:schemeClr val="dk1"/>
              </a:buClr>
              <a:buSzPts val="1900"/>
              <a:buChar char="•"/>
              <a:defRPr sz="2400"/>
            </a:lvl3pPr>
            <a:lvl4pPr marL="1828800" lvl="3" indent="-330200" algn="l">
              <a:lnSpc>
                <a:spcPct val="100000"/>
              </a:lnSpc>
              <a:spcBef>
                <a:spcPts val="400"/>
              </a:spcBef>
              <a:spcAft>
                <a:spcPts val="0"/>
              </a:spcAft>
              <a:buClr>
                <a:schemeClr val="dk1"/>
              </a:buClr>
              <a:buSzPts val="1600"/>
              <a:buChar char="–"/>
              <a:defRPr sz="2100"/>
            </a:lvl4pPr>
            <a:lvl5pPr marL="2286000" lvl="4" indent="-330200" algn="l">
              <a:lnSpc>
                <a:spcPct val="100000"/>
              </a:lnSpc>
              <a:spcBef>
                <a:spcPts val="400"/>
              </a:spcBef>
              <a:spcAft>
                <a:spcPts val="0"/>
              </a:spcAft>
              <a:buClr>
                <a:schemeClr val="dk1"/>
              </a:buClr>
              <a:buSzPts val="1600"/>
              <a:buChar char="»"/>
              <a:defRPr sz="2100"/>
            </a:lvl5pPr>
            <a:lvl6pPr marL="2743200" lvl="5" indent="-349250" algn="l">
              <a:lnSpc>
                <a:spcPct val="100000"/>
              </a:lnSpc>
              <a:spcBef>
                <a:spcPts val="500"/>
              </a:spcBef>
              <a:spcAft>
                <a:spcPts val="0"/>
              </a:spcAft>
              <a:buClr>
                <a:schemeClr val="dk1"/>
              </a:buClr>
              <a:buSzPts val="1900"/>
              <a:buChar char="•"/>
              <a:defRPr sz="2400"/>
            </a:lvl6pPr>
            <a:lvl7pPr marL="3200400" lvl="6" indent="-349250" algn="l">
              <a:lnSpc>
                <a:spcPct val="100000"/>
              </a:lnSpc>
              <a:spcBef>
                <a:spcPts val="500"/>
              </a:spcBef>
              <a:spcAft>
                <a:spcPts val="0"/>
              </a:spcAft>
              <a:buClr>
                <a:schemeClr val="dk1"/>
              </a:buClr>
              <a:buSzPts val="1900"/>
              <a:buChar char="•"/>
              <a:defRPr sz="2400"/>
            </a:lvl7pPr>
            <a:lvl8pPr marL="3657600" lvl="7" indent="-349250" algn="l">
              <a:lnSpc>
                <a:spcPct val="100000"/>
              </a:lnSpc>
              <a:spcBef>
                <a:spcPts val="500"/>
              </a:spcBef>
              <a:spcAft>
                <a:spcPts val="0"/>
              </a:spcAft>
              <a:buClr>
                <a:schemeClr val="dk1"/>
              </a:buClr>
              <a:buSzPts val="1900"/>
              <a:buChar char="•"/>
              <a:defRPr sz="2400"/>
            </a:lvl8pPr>
            <a:lvl9pPr marL="4114800" lvl="8" indent="-349250" algn="l">
              <a:lnSpc>
                <a:spcPct val="100000"/>
              </a:lnSpc>
              <a:spcBef>
                <a:spcPts val="500"/>
              </a:spcBef>
              <a:spcAft>
                <a:spcPts val="0"/>
              </a:spcAft>
              <a:buClr>
                <a:schemeClr val="dk1"/>
              </a:buClr>
              <a:buSzPts val="1900"/>
              <a:buChar char="•"/>
              <a:defRPr sz="2400"/>
            </a:lvl9pPr>
          </a:lstStyle>
          <a:p>
            <a:endParaRPr/>
          </a:p>
        </p:txBody>
      </p:sp>
      <p:sp>
        <p:nvSpPr>
          <p:cNvPr id="72" name="Google Shape;72;g3f502f38a39_2_26"/>
          <p:cNvSpPr txBox="1">
            <a:spLocks noGrp="1"/>
          </p:cNvSpPr>
          <p:nvPr>
            <p:ph type="body" idx="3"/>
          </p:nvPr>
        </p:nvSpPr>
        <p:spPr>
          <a:xfrm>
            <a:off x="354419" y="6475387"/>
            <a:ext cx="6340000" cy="383200"/>
          </a:xfrm>
          <a:prstGeom prst="rect">
            <a:avLst/>
          </a:prstGeom>
          <a:noFill/>
          <a:ln>
            <a:noFill/>
          </a:ln>
        </p:spPr>
        <p:txBody>
          <a:bodyPr spcFirstLastPara="1" wrap="square" lIns="0" tIns="45700" rIns="91425" bIns="45700" anchor="ctr" anchorCtr="0">
            <a:noAutofit/>
          </a:bodyPr>
          <a:lstStyle>
            <a:lvl1pPr marL="457200" lvl="0" indent="-228600" algn="l">
              <a:lnSpc>
                <a:spcPct val="100000"/>
              </a:lnSpc>
              <a:spcBef>
                <a:spcPts val="300"/>
              </a:spcBef>
              <a:spcAft>
                <a:spcPts val="0"/>
              </a:spcAft>
              <a:buClr>
                <a:schemeClr val="dk1"/>
              </a:buClr>
              <a:buSzPts val="900"/>
              <a:buNone/>
              <a:defRPr sz="1200" b="0" cap="none">
                <a:solidFill>
                  <a:srgbClr val="9D9D9C"/>
                </a:solidFill>
              </a:defRPr>
            </a:lvl1pPr>
            <a:lvl2pPr marL="914400" lvl="1" indent="-228600" algn="l">
              <a:lnSpc>
                <a:spcPct val="100000"/>
              </a:lnSpc>
              <a:spcBef>
                <a:spcPts val="500"/>
              </a:spcBef>
              <a:spcAft>
                <a:spcPts val="0"/>
              </a:spcAft>
              <a:buClr>
                <a:schemeClr val="dk1"/>
              </a:buClr>
              <a:buSzPts val="2000"/>
              <a:buNone/>
              <a:defRPr/>
            </a:lvl2pPr>
            <a:lvl3pPr marL="1371600" lvl="2" indent="-228600" algn="l">
              <a:lnSpc>
                <a:spcPct val="100000"/>
              </a:lnSpc>
              <a:spcBef>
                <a:spcPts val="500"/>
              </a:spcBef>
              <a:spcAft>
                <a:spcPts val="0"/>
              </a:spcAft>
              <a:buClr>
                <a:schemeClr val="dk1"/>
              </a:buClr>
              <a:buSzPts val="1900"/>
              <a:buNone/>
              <a:defRPr/>
            </a:lvl3pPr>
            <a:lvl4pPr marL="1828800" lvl="3" indent="-228600" algn="l">
              <a:lnSpc>
                <a:spcPct val="100000"/>
              </a:lnSpc>
              <a:spcBef>
                <a:spcPts val="500"/>
              </a:spcBef>
              <a:spcAft>
                <a:spcPts val="0"/>
              </a:spcAft>
              <a:buClr>
                <a:schemeClr val="dk1"/>
              </a:buClr>
              <a:buSzPts val="1900"/>
              <a:buNone/>
              <a:defRPr/>
            </a:lvl4pPr>
            <a:lvl5pPr marL="2286000" lvl="4" indent="-228600" algn="l">
              <a:lnSpc>
                <a:spcPct val="100000"/>
              </a:lnSpc>
              <a:spcBef>
                <a:spcPts val="400"/>
              </a:spcBef>
              <a:spcAft>
                <a:spcPts val="0"/>
              </a:spcAft>
              <a:buClr>
                <a:schemeClr val="dk1"/>
              </a:buClr>
              <a:buSzPts val="1600"/>
              <a:buNone/>
              <a:defRPr/>
            </a:lvl5pPr>
            <a:lvl6pPr marL="2743200" lvl="5" indent="-349250" algn="l">
              <a:lnSpc>
                <a:spcPct val="100000"/>
              </a:lnSpc>
              <a:spcBef>
                <a:spcPts val="500"/>
              </a:spcBef>
              <a:spcAft>
                <a:spcPts val="0"/>
              </a:spcAft>
              <a:buClr>
                <a:schemeClr val="dk1"/>
              </a:buClr>
              <a:buSzPts val="1900"/>
              <a:buChar char="•"/>
              <a:defRPr/>
            </a:lvl6pPr>
            <a:lvl7pPr marL="3200400" lvl="6" indent="-349250" algn="l">
              <a:lnSpc>
                <a:spcPct val="100000"/>
              </a:lnSpc>
              <a:spcBef>
                <a:spcPts val="500"/>
              </a:spcBef>
              <a:spcAft>
                <a:spcPts val="0"/>
              </a:spcAft>
              <a:buClr>
                <a:schemeClr val="dk1"/>
              </a:buClr>
              <a:buSzPts val="1900"/>
              <a:buChar char="•"/>
              <a:defRPr/>
            </a:lvl7pPr>
            <a:lvl8pPr marL="3657600" lvl="7" indent="-349250" algn="l">
              <a:lnSpc>
                <a:spcPct val="100000"/>
              </a:lnSpc>
              <a:spcBef>
                <a:spcPts val="500"/>
              </a:spcBef>
              <a:spcAft>
                <a:spcPts val="0"/>
              </a:spcAft>
              <a:buClr>
                <a:schemeClr val="dk1"/>
              </a:buClr>
              <a:buSzPts val="1900"/>
              <a:buChar char="•"/>
              <a:defRPr/>
            </a:lvl8pPr>
            <a:lvl9pPr marL="4114800" lvl="8" indent="-349250" algn="l">
              <a:lnSpc>
                <a:spcPct val="100000"/>
              </a:lnSpc>
              <a:spcBef>
                <a:spcPts val="500"/>
              </a:spcBef>
              <a:spcAft>
                <a:spcPts val="0"/>
              </a:spcAft>
              <a:buClr>
                <a:schemeClr val="dk1"/>
              </a:buClr>
              <a:buSzPts val="1900"/>
              <a:buChar char="•"/>
              <a:defRPr/>
            </a:lvl9pPr>
          </a:lstStyle>
          <a:p>
            <a:endParaRPr/>
          </a:p>
        </p:txBody>
      </p:sp>
      <p:cxnSp>
        <p:nvCxnSpPr>
          <p:cNvPr id="73" name="Google Shape;73;g3f502f38a39_2_26"/>
          <p:cNvCxnSpPr/>
          <p:nvPr/>
        </p:nvCxnSpPr>
        <p:spPr>
          <a:xfrm rot="10800000" flipH="1">
            <a:off x="395705" y="6408357"/>
            <a:ext cx="10315200" cy="9600"/>
          </a:xfrm>
          <a:prstGeom prst="straightConnector1">
            <a:avLst/>
          </a:prstGeom>
          <a:noFill/>
          <a:ln w="9525" cap="flat" cmpd="sng">
            <a:solidFill>
              <a:srgbClr val="8D8F93"/>
            </a:solidFill>
            <a:prstDash val="solid"/>
            <a:round/>
            <a:headEnd type="none" w="sm" len="sm"/>
            <a:tailEnd type="none" w="sm" len="sm"/>
          </a:ln>
        </p:spPr>
      </p:cxnSp>
      <p:pic>
        <p:nvPicPr>
          <p:cNvPr id="74" name="Google Shape;74;g3f502f38a39_2_26"/>
          <p:cNvPicPr preferRelativeResize="0"/>
          <p:nvPr/>
        </p:nvPicPr>
        <p:blipFill rotWithShape="1">
          <a:blip r:embed="rId2">
            <a:alphaModFix/>
          </a:blip>
          <a:srcRect/>
          <a:stretch/>
        </p:blipFill>
        <p:spPr>
          <a:xfrm>
            <a:off x="10842215" y="5869659"/>
            <a:ext cx="1152389" cy="86662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
          <p:cNvSpPr txBox="1">
            <a:spLocks noGrp="1"/>
          </p:cNvSpPr>
          <p:nvPr>
            <p:ph type="title"/>
          </p:nvPr>
        </p:nvSpPr>
        <p:spPr>
          <a:xfrm>
            <a:off x="374317" y="194428"/>
            <a:ext cx="11411200" cy="911200"/>
          </a:xfrm>
          <a:prstGeom prst="rect">
            <a:avLst/>
          </a:prstGeom>
          <a:noFill/>
          <a:ln>
            <a:noFill/>
          </a:ln>
        </p:spPr>
        <p:txBody>
          <a:bodyPr spcFirstLastPara="1" wrap="square" lIns="0" tIns="45700" rIns="0" bIns="45700" anchor="t" anchorCtr="0">
            <a:normAutofit/>
          </a:bodyPr>
          <a:lstStyle>
            <a:lvl1pPr marR="0" lvl="0" algn="l" rtl="0">
              <a:lnSpc>
                <a:spcPct val="100000"/>
              </a:lnSpc>
              <a:spcBef>
                <a:spcPts val="0"/>
              </a:spcBef>
              <a:spcAft>
                <a:spcPts val="0"/>
              </a:spcAft>
              <a:buClr>
                <a:schemeClr val="accent1"/>
              </a:buClr>
              <a:buSzPts val="2400"/>
              <a:buFont typeface="Calibri"/>
              <a:buNone/>
              <a:defRPr sz="2400" b="1" i="0" u="none" strike="noStrike" cap="none">
                <a:solidFill>
                  <a:schemeClr val="accen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4"/>
          <p:cNvSpPr txBox="1">
            <a:spLocks noGrp="1"/>
          </p:cNvSpPr>
          <p:nvPr>
            <p:ph type="body" idx="1"/>
          </p:nvPr>
        </p:nvSpPr>
        <p:spPr>
          <a:xfrm>
            <a:off x="377509" y="1105471"/>
            <a:ext cx="11390000" cy="4940400"/>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100000"/>
              </a:lnSpc>
              <a:spcBef>
                <a:spcPts val="440"/>
              </a:spcBef>
              <a:spcAft>
                <a:spcPts val="0"/>
              </a:spcAft>
              <a:buClr>
                <a:schemeClr val="dk1"/>
              </a:buClr>
              <a:buSzPts val="2200"/>
              <a:buFont typeface="Arial"/>
              <a:buChar char="•"/>
              <a:defRPr sz="22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4"/>
          <p:cNvSpPr txBox="1">
            <a:spLocks noGrp="1"/>
          </p:cNvSpPr>
          <p:nvPr>
            <p:ph type="dt" idx="10"/>
          </p:nvPr>
        </p:nvSpPr>
        <p:spPr>
          <a:xfrm>
            <a:off x="374317" y="6356351"/>
            <a:ext cx="2844800" cy="365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9D9D9C"/>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9pPr>
          </a:lstStyle>
          <a:p>
            <a:endParaRPr/>
          </a:p>
        </p:txBody>
      </p:sp>
      <p:sp>
        <p:nvSpPr>
          <p:cNvPr id="13" name="Google Shape;13;p24"/>
          <p:cNvSpPr txBox="1">
            <a:spLocks noGrp="1"/>
          </p:cNvSpPr>
          <p:nvPr>
            <p:ph type="ftr" idx="11"/>
          </p:nvPr>
        </p:nvSpPr>
        <p:spPr>
          <a:xfrm>
            <a:off x="4165600" y="6356351"/>
            <a:ext cx="3860800" cy="365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600" b="0" i="0" u="none" strike="noStrike" cap="none">
                <a:solidFill>
                  <a:srgbClr val="9D9D9C"/>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alibri"/>
                <a:ea typeface="Calibri"/>
                <a:cs typeface="Calibri"/>
                <a:sym typeface="Calibri"/>
              </a:defRPr>
            </a:lvl9pPr>
          </a:lstStyle>
          <a:p>
            <a:endParaRPr/>
          </a:p>
        </p:txBody>
      </p:sp>
      <p:sp>
        <p:nvSpPr>
          <p:cNvPr id="14" name="Google Shape;14;p24"/>
          <p:cNvSpPr txBox="1">
            <a:spLocks noGrp="1"/>
          </p:cNvSpPr>
          <p:nvPr>
            <p:ph type="sldNum" idx="12"/>
          </p:nvPr>
        </p:nvSpPr>
        <p:spPr>
          <a:xfrm>
            <a:off x="9415604" y="6590193"/>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15" name="Google Shape;15;p24"/>
          <p:cNvPicPr preferRelativeResize="0"/>
          <p:nvPr/>
        </p:nvPicPr>
        <p:blipFill rotWithShape="1">
          <a:blip r:embed="rId6">
            <a:alphaModFix/>
          </a:blip>
          <a:srcRect/>
          <a:stretch/>
        </p:blipFill>
        <p:spPr>
          <a:xfrm>
            <a:off x="10861468" y="6179275"/>
            <a:ext cx="1022449" cy="542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
        <p:cNvGrpSpPr/>
        <p:nvPr/>
      </p:nvGrpSpPr>
      <p:grpSpPr>
        <a:xfrm>
          <a:off x="0" y="0"/>
          <a:ext cx="0" cy="0"/>
          <a:chOff x="0" y="0"/>
          <a:chExt cx="0" cy="0"/>
        </a:xfrm>
      </p:grpSpPr>
      <p:sp>
        <p:nvSpPr>
          <p:cNvPr id="43" name="Google Shape;43;g3f502f38a39_2_0"/>
          <p:cNvSpPr txBox="1">
            <a:spLocks noGrp="1"/>
          </p:cNvSpPr>
          <p:nvPr>
            <p:ph type="title"/>
          </p:nvPr>
        </p:nvSpPr>
        <p:spPr>
          <a:xfrm>
            <a:off x="374317" y="194428"/>
            <a:ext cx="11411200" cy="911200"/>
          </a:xfrm>
          <a:prstGeom prst="rect">
            <a:avLst/>
          </a:prstGeom>
          <a:noFill/>
          <a:ln>
            <a:noFill/>
          </a:ln>
        </p:spPr>
        <p:txBody>
          <a:bodyPr spcFirstLastPara="1" wrap="square" lIns="0" tIns="45700" rIns="0" bIns="45700" anchor="t" anchorCtr="0">
            <a:normAutofit/>
          </a:bodyPr>
          <a:lstStyle>
            <a:lvl1pPr marR="0" lvl="0" algn="l" rtl="0">
              <a:lnSpc>
                <a:spcPct val="100000"/>
              </a:lnSpc>
              <a:spcBef>
                <a:spcPts val="0"/>
              </a:spcBef>
              <a:spcAft>
                <a:spcPts val="0"/>
              </a:spcAft>
              <a:buClr>
                <a:schemeClr val="accent1"/>
              </a:buClr>
              <a:buSzPts val="2400"/>
              <a:buFont typeface="Calibri"/>
              <a:buNone/>
              <a:defRPr sz="2400" b="1" i="0" u="none" strike="noStrike" cap="none">
                <a:solidFill>
                  <a:schemeClr val="accen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9pPr>
          </a:lstStyle>
          <a:p>
            <a:endParaRPr/>
          </a:p>
        </p:txBody>
      </p:sp>
      <p:sp>
        <p:nvSpPr>
          <p:cNvPr id="44" name="Google Shape;44;g3f502f38a39_2_0"/>
          <p:cNvSpPr txBox="1">
            <a:spLocks noGrp="1"/>
          </p:cNvSpPr>
          <p:nvPr>
            <p:ph type="body" idx="1"/>
          </p:nvPr>
        </p:nvSpPr>
        <p:spPr>
          <a:xfrm>
            <a:off x="377509" y="1105471"/>
            <a:ext cx="11390000" cy="4940400"/>
          </a:xfrm>
          <a:prstGeom prst="rect">
            <a:avLst/>
          </a:prstGeom>
          <a:noFill/>
          <a:ln>
            <a:noFill/>
          </a:ln>
        </p:spPr>
        <p:txBody>
          <a:bodyPr spcFirstLastPara="1" wrap="square" lIns="91425" tIns="45700" rIns="91425" bIns="45700" anchor="t" anchorCtr="0">
            <a:normAutofit/>
          </a:bodyPr>
          <a:lstStyle>
            <a:lvl1pPr marL="457200" marR="0" lvl="0" indent="-374650" algn="l" rtl="0">
              <a:lnSpc>
                <a:spcPct val="100000"/>
              </a:lnSpc>
              <a:spcBef>
                <a:spcPts val="400"/>
              </a:spcBef>
              <a:spcAft>
                <a:spcPts val="0"/>
              </a:spcAft>
              <a:buClr>
                <a:schemeClr val="dk1"/>
              </a:buClr>
              <a:buSzPts val="2300"/>
              <a:buFont typeface="Arial"/>
              <a:buChar char="•"/>
              <a:defRPr sz="23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9250" algn="l" rtl="0">
              <a:lnSpc>
                <a:spcPct val="100000"/>
              </a:lnSpc>
              <a:spcBef>
                <a:spcPts val="4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3pPr>
            <a:lvl4pPr marL="1828800" marR="0" lvl="3" indent="-349250" algn="l" rtl="0">
              <a:lnSpc>
                <a:spcPct val="100000"/>
              </a:lnSpc>
              <a:spcBef>
                <a:spcPts val="4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5" name="Google Shape;45;g3f502f38a39_2_0"/>
          <p:cNvSpPr txBox="1">
            <a:spLocks noGrp="1"/>
          </p:cNvSpPr>
          <p:nvPr>
            <p:ph type="dt" idx="10"/>
          </p:nvPr>
        </p:nvSpPr>
        <p:spPr>
          <a:xfrm>
            <a:off x="374317" y="6356351"/>
            <a:ext cx="2844800" cy="365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500"/>
              <a:buFont typeface="Arial"/>
              <a:buNone/>
              <a:defRPr sz="1200" b="0" i="0" u="none" strike="noStrike" cap="none">
                <a:solidFill>
                  <a:srgbClr val="9D9D9C"/>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2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5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500"/>
              <a:buFont typeface="Arial"/>
              <a:buNone/>
              <a:defRPr sz="2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500"/>
              <a:buFont typeface="Arial"/>
              <a:buNone/>
              <a:defRPr sz="2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500"/>
              <a:buFont typeface="Arial"/>
              <a:buNone/>
              <a:defRPr sz="2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500"/>
              <a:buFont typeface="Arial"/>
              <a:buNone/>
              <a:defRPr sz="2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500"/>
              <a:buFont typeface="Arial"/>
              <a:buNone/>
              <a:defRPr sz="2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500"/>
              <a:buFont typeface="Arial"/>
              <a:buNone/>
              <a:defRPr sz="2400" b="0" i="0" u="none" strike="noStrike" cap="none">
                <a:solidFill>
                  <a:schemeClr val="dk1"/>
                </a:solidFill>
                <a:latin typeface="Calibri"/>
                <a:ea typeface="Calibri"/>
                <a:cs typeface="Calibri"/>
                <a:sym typeface="Calibri"/>
              </a:defRPr>
            </a:lvl9pPr>
          </a:lstStyle>
          <a:p>
            <a:endParaRPr/>
          </a:p>
        </p:txBody>
      </p:sp>
      <p:sp>
        <p:nvSpPr>
          <p:cNvPr id="46" name="Google Shape;46;g3f502f38a39_2_0"/>
          <p:cNvSpPr txBox="1">
            <a:spLocks noGrp="1"/>
          </p:cNvSpPr>
          <p:nvPr>
            <p:ph type="ftr" idx="11"/>
          </p:nvPr>
        </p:nvSpPr>
        <p:spPr>
          <a:xfrm>
            <a:off x="4165600" y="6356351"/>
            <a:ext cx="3860800" cy="365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500"/>
              <a:buFont typeface="Arial"/>
              <a:buNone/>
              <a:defRPr sz="1600" b="0" i="0" u="none" strike="noStrike" cap="none">
                <a:solidFill>
                  <a:srgbClr val="9D9D9C"/>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500"/>
              <a:buFont typeface="Arial"/>
              <a:buNone/>
              <a:defRPr sz="2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5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500"/>
              <a:buFont typeface="Arial"/>
              <a:buNone/>
              <a:defRPr sz="2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500"/>
              <a:buFont typeface="Arial"/>
              <a:buNone/>
              <a:defRPr sz="2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500"/>
              <a:buFont typeface="Arial"/>
              <a:buNone/>
              <a:defRPr sz="2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500"/>
              <a:buFont typeface="Arial"/>
              <a:buNone/>
              <a:defRPr sz="2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500"/>
              <a:buFont typeface="Arial"/>
              <a:buNone/>
              <a:defRPr sz="2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500"/>
              <a:buFont typeface="Arial"/>
              <a:buNone/>
              <a:defRPr sz="2400" b="0" i="0" u="none" strike="noStrike" cap="none">
                <a:solidFill>
                  <a:schemeClr val="dk1"/>
                </a:solidFill>
                <a:latin typeface="Calibri"/>
                <a:ea typeface="Calibri"/>
                <a:cs typeface="Calibri"/>
                <a:sym typeface="Calibri"/>
              </a:defRPr>
            </a:lvl9pPr>
          </a:lstStyle>
          <a:p>
            <a:endParaRPr/>
          </a:p>
        </p:txBody>
      </p:sp>
      <p:sp>
        <p:nvSpPr>
          <p:cNvPr id="47" name="Google Shape;47;g3f502f38a39_2_0"/>
          <p:cNvSpPr txBox="1">
            <a:spLocks noGrp="1"/>
          </p:cNvSpPr>
          <p:nvPr>
            <p:ph type="sldNum" idx="12"/>
          </p:nvPr>
        </p:nvSpPr>
        <p:spPr>
          <a:xfrm>
            <a:off x="9415604" y="6590193"/>
            <a:ext cx="2844800" cy="365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8" name="Google Shape;48;g3f502f38a39_2_0"/>
          <p:cNvPicPr preferRelativeResize="0"/>
          <p:nvPr/>
        </p:nvPicPr>
        <p:blipFill rotWithShape="1">
          <a:blip r:embed="rId6">
            <a:alphaModFix/>
          </a:blip>
          <a:srcRect/>
          <a:stretch/>
        </p:blipFill>
        <p:spPr>
          <a:xfrm>
            <a:off x="10861468" y="6179275"/>
            <a:ext cx="1022449" cy="542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colab.research.google.com/drive/1IuqGo55BqcTKaHaY95NbHHXM66iIrTBt?usp=sharing"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
          <p:cNvSpPr txBox="1">
            <a:spLocks noGrp="1"/>
          </p:cNvSpPr>
          <p:nvPr>
            <p:ph type="title"/>
          </p:nvPr>
        </p:nvSpPr>
        <p:spPr>
          <a:xfrm>
            <a:off x="4165600" y="2567453"/>
            <a:ext cx="7812300" cy="2072400"/>
          </a:xfrm>
          <a:prstGeom prst="rect">
            <a:avLst/>
          </a:prstGeom>
          <a:noFill/>
          <a:ln>
            <a:noFill/>
          </a:ln>
        </p:spPr>
        <p:txBody>
          <a:bodyPr spcFirstLastPara="1" wrap="square" lIns="0" tIns="60925" rIns="0" bIns="60925" anchor="t" anchorCtr="0">
            <a:spAutoFit/>
          </a:bodyPr>
          <a:lstStyle/>
          <a:p>
            <a:pPr marL="0" lvl="0" indent="0" algn="l" rtl="0">
              <a:lnSpc>
                <a:spcPct val="100000"/>
              </a:lnSpc>
              <a:spcBef>
                <a:spcPts val="0"/>
              </a:spcBef>
              <a:spcAft>
                <a:spcPts val="0"/>
              </a:spcAft>
              <a:buClr>
                <a:srgbClr val="6C6E71"/>
              </a:buClr>
              <a:buSzPts val="3200"/>
              <a:buNone/>
            </a:pPr>
            <a:r>
              <a:rPr lang="en-IN" sz="3466">
                <a:solidFill>
                  <a:srgbClr val="6C6E71"/>
                </a:solidFill>
              </a:rPr>
              <a:t>Efficiency and Bus Fleet Management: Strategic Communications and quantifying GHG and other co-benefits (#BBUS)</a:t>
            </a:r>
            <a:endParaRPr sz="3466">
              <a:solidFill>
                <a:srgbClr val="6C6E71"/>
              </a:solidFill>
            </a:endParaRPr>
          </a:p>
          <a:p>
            <a:pPr marL="0" lvl="0" indent="0" algn="l" rtl="0">
              <a:lnSpc>
                <a:spcPct val="100000"/>
              </a:lnSpc>
              <a:spcBef>
                <a:spcPts val="0"/>
              </a:spcBef>
              <a:spcAft>
                <a:spcPts val="0"/>
              </a:spcAft>
              <a:buClr>
                <a:srgbClr val="6C6E71"/>
              </a:buClr>
              <a:buSzPts val="3200"/>
              <a:buNone/>
            </a:pPr>
            <a:r>
              <a:rPr lang="en-IN" sz="2266">
                <a:solidFill>
                  <a:schemeClr val="accent1"/>
                </a:solidFill>
              </a:rPr>
              <a:t>Case Application - Amritsar (M1, M2&amp; M3 model) </a:t>
            </a:r>
            <a:endParaRPr sz="2266">
              <a:solidFill>
                <a:schemeClr val="accent1"/>
              </a:solidFill>
            </a:endParaRPr>
          </a:p>
        </p:txBody>
      </p:sp>
      <p:sp>
        <p:nvSpPr>
          <p:cNvPr id="80" name="Google Shape;80;p1"/>
          <p:cNvSpPr txBox="1">
            <a:spLocks noGrp="1"/>
          </p:cNvSpPr>
          <p:nvPr>
            <p:ph type="body" idx="1"/>
          </p:nvPr>
        </p:nvSpPr>
        <p:spPr>
          <a:xfrm>
            <a:off x="4165600" y="5392367"/>
            <a:ext cx="4540500" cy="629100"/>
          </a:xfrm>
          <a:prstGeom prst="rect">
            <a:avLst/>
          </a:prstGeom>
          <a:noFill/>
          <a:ln>
            <a:noFill/>
          </a:ln>
        </p:spPr>
        <p:txBody>
          <a:bodyPr spcFirstLastPara="1" wrap="square" lIns="121900" tIns="60925" rIns="121900" bIns="60925" anchor="t" anchorCtr="0">
            <a:noAutofit/>
          </a:bodyPr>
          <a:lstStyle/>
          <a:p>
            <a:pPr marL="0" lvl="0" indent="0" algn="l" rtl="0">
              <a:lnSpc>
                <a:spcPct val="80000"/>
              </a:lnSpc>
              <a:spcBef>
                <a:spcPts val="427"/>
              </a:spcBef>
              <a:spcAft>
                <a:spcPts val="0"/>
              </a:spcAft>
              <a:buClr>
                <a:srgbClr val="6C6E71"/>
              </a:buClr>
              <a:buSzPts val="1120"/>
              <a:buNone/>
            </a:pPr>
            <a:endParaRPr sz="1627">
              <a:solidFill>
                <a:srgbClr val="6C6E71"/>
              </a:solidFill>
            </a:endParaRPr>
          </a:p>
          <a:p>
            <a:pPr marL="0" lvl="0" indent="0" algn="l" rtl="0">
              <a:lnSpc>
                <a:spcPct val="80000"/>
              </a:lnSpc>
              <a:spcBef>
                <a:spcPts val="427"/>
              </a:spcBef>
              <a:spcAft>
                <a:spcPts val="0"/>
              </a:spcAft>
              <a:buClr>
                <a:srgbClr val="6C6E71"/>
              </a:buClr>
              <a:buSzPts val="1120"/>
              <a:buNone/>
            </a:pPr>
            <a:r>
              <a:rPr lang="en-IN" sz="1627">
                <a:solidFill>
                  <a:srgbClr val="6C6E71"/>
                </a:solidFill>
              </a:rPr>
              <a:t>July 2026</a:t>
            </a:r>
            <a:endParaRPr sz="2000" b="1">
              <a:solidFill>
                <a:schemeClr val="accent1"/>
              </a:solidFill>
            </a:endParaRPr>
          </a:p>
        </p:txBody>
      </p:sp>
      <p:sp>
        <p:nvSpPr>
          <p:cNvPr id="81" name="Google Shape;81;p1"/>
          <p:cNvSpPr txBox="1">
            <a:spLocks noGrp="1"/>
          </p:cNvSpPr>
          <p:nvPr>
            <p:ph type="body" idx="2"/>
          </p:nvPr>
        </p:nvSpPr>
        <p:spPr>
          <a:xfrm>
            <a:off x="4165600" y="6303963"/>
            <a:ext cx="7812400" cy="401600"/>
          </a:xfrm>
          <a:prstGeom prst="rect">
            <a:avLst/>
          </a:prstGeom>
          <a:noFill/>
          <a:ln>
            <a:noFill/>
          </a:ln>
        </p:spPr>
        <p:txBody>
          <a:bodyPr spcFirstLastPara="1" wrap="square" lIns="121900" tIns="60925" rIns="121900" bIns="60925" anchor="t" anchorCtr="0">
            <a:normAutofit/>
          </a:bodyPr>
          <a:lstStyle/>
          <a:p>
            <a:pPr marL="0" lvl="0" indent="0" algn="l" rtl="0">
              <a:lnSpc>
                <a:spcPct val="100000"/>
              </a:lnSpc>
              <a:spcBef>
                <a:spcPts val="0"/>
              </a:spcBef>
              <a:spcAft>
                <a:spcPts val="0"/>
              </a:spcAft>
              <a:buSzPts val="1300"/>
              <a:buNone/>
            </a:pPr>
            <a:r>
              <a:rPr lang="en-IN" sz="1733">
                <a:solidFill>
                  <a:srgbClr val="575756"/>
                </a:solidFill>
              </a:rPr>
              <a:t>© Council on Energy, Environment and Water, 2026</a:t>
            </a:r>
            <a:endParaRPr>
              <a:solidFill>
                <a:srgbClr val="575756"/>
              </a:solidFill>
            </a:endParaRPr>
          </a:p>
        </p:txBody>
      </p:sp>
      <p:sp>
        <p:nvSpPr>
          <p:cNvPr id="82" name="Google Shape;82;p1"/>
          <p:cNvSpPr txBox="1"/>
          <p:nvPr/>
        </p:nvSpPr>
        <p:spPr>
          <a:xfrm>
            <a:off x="-35733" y="53575"/>
            <a:ext cx="3839600" cy="629234"/>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2489"/>
              <a:buFont typeface="Arial"/>
              <a:buNone/>
            </a:pPr>
            <a:endParaRPr sz="2489" b="0" i="0" u="none" strike="noStrike" cap="none">
              <a:solidFill>
                <a:srgbClr val="000000"/>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87" name="Google Shape;87;g3a1f07bbfc6_0_0"/>
          <p:cNvPicPr preferRelativeResize="0"/>
          <p:nvPr/>
        </p:nvPicPr>
        <p:blipFill rotWithShape="1">
          <a:blip r:embed="rId3">
            <a:alphaModFix/>
          </a:blip>
          <a:srcRect l="33709" r="55109" b="84114"/>
          <a:stretch/>
        </p:blipFill>
        <p:spPr>
          <a:xfrm>
            <a:off x="338550" y="1344986"/>
            <a:ext cx="400855" cy="302065"/>
          </a:xfrm>
          <a:prstGeom prst="rect">
            <a:avLst/>
          </a:prstGeom>
          <a:noFill/>
          <a:ln>
            <a:noFill/>
          </a:ln>
        </p:spPr>
      </p:pic>
      <p:sp>
        <p:nvSpPr>
          <p:cNvPr id="88" name="Google Shape;88;g3a1f07bbfc6_0_0"/>
          <p:cNvSpPr txBox="1">
            <a:spLocks noGrp="1"/>
          </p:cNvSpPr>
          <p:nvPr>
            <p:ph type="title"/>
          </p:nvPr>
        </p:nvSpPr>
        <p:spPr>
          <a:xfrm>
            <a:off x="362842" y="342882"/>
            <a:ext cx="11411100" cy="589200"/>
          </a:xfrm>
          <a:prstGeom prst="rect">
            <a:avLst/>
          </a:prstGeom>
          <a:noFill/>
          <a:ln>
            <a:noFill/>
          </a:ln>
        </p:spPr>
        <p:txBody>
          <a:bodyPr spcFirstLastPara="1" wrap="square" lIns="0" tIns="60925" rIns="0" bIns="60925" anchor="t" anchorCtr="0">
            <a:noAutofit/>
          </a:bodyPr>
          <a:lstStyle/>
          <a:p>
            <a:pPr marL="0" lvl="0" indent="0" algn="l" rtl="0">
              <a:lnSpc>
                <a:spcPct val="100000"/>
              </a:lnSpc>
              <a:spcBef>
                <a:spcPts val="0"/>
              </a:spcBef>
              <a:spcAft>
                <a:spcPts val="0"/>
              </a:spcAft>
              <a:buClr>
                <a:schemeClr val="accent1"/>
              </a:buClr>
              <a:buSzPts val="2400"/>
              <a:buFont typeface="Calibri"/>
              <a:buNone/>
            </a:pPr>
            <a:r>
              <a:rPr lang="en-IN" sz="2200"/>
              <a:t>Impacting sustainable development at scale with </a:t>
            </a:r>
            <a:r>
              <a:rPr lang="en-IN" sz="2200" u="sng"/>
              <a:t>data</a:t>
            </a:r>
            <a:r>
              <a:rPr lang="en-IN" sz="2200"/>
              <a:t>, </a:t>
            </a:r>
            <a:r>
              <a:rPr lang="en-IN" sz="2200" u="sng"/>
              <a:t>integrated analysis</a:t>
            </a:r>
            <a:r>
              <a:rPr lang="en-IN" sz="2200"/>
              <a:t>, and </a:t>
            </a:r>
            <a:r>
              <a:rPr lang="en-IN" sz="2200" u="sng"/>
              <a:t>strategic outreach</a:t>
            </a:r>
            <a:endParaRPr sz="2200" u="sng"/>
          </a:p>
        </p:txBody>
      </p:sp>
      <p:sp>
        <p:nvSpPr>
          <p:cNvPr id="89" name="Google Shape;89;g3a1f07bbfc6_0_0"/>
          <p:cNvSpPr/>
          <p:nvPr/>
        </p:nvSpPr>
        <p:spPr>
          <a:xfrm>
            <a:off x="5248125" y="5794458"/>
            <a:ext cx="1790100" cy="383100"/>
          </a:xfrm>
          <a:prstGeom prst="rect">
            <a:avLst/>
          </a:prstGeom>
          <a:solidFill>
            <a:srgbClr val="E9E9E9">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1400" b="1" i="0" u="none" strike="noStrike" cap="none">
                <a:solidFill>
                  <a:srgbClr val="595A59"/>
                </a:solidFill>
                <a:latin typeface="Calibri"/>
                <a:ea typeface="Calibri"/>
                <a:cs typeface="Calibri"/>
                <a:sym typeface="Calibri"/>
              </a:rPr>
              <a:t>Emerging Economies</a:t>
            </a:r>
            <a:endParaRPr sz="1400" b="0" i="0" u="none" strike="noStrike" cap="none">
              <a:solidFill>
                <a:srgbClr val="000000"/>
              </a:solidFill>
              <a:latin typeface="Arial"/>
              <a:ea typeface="Arial"/>
              <a:cs typeface="Arial"/>
              <a:sym typeface="Arial"/>
            </a:endParaRPr>
          </a:p>
        </p:txBody>
      </p:sp>
      <p:sp>
        <p:nvSpPr>
          <p:cNvPr id="90" name="Google Shape;90;g3a1f07bbfc6_0_0"/>
          <p:cNvSpPr/>
          <p:nvPr/>
        </p:nvSpPr>
        <p:spPr>
          <a:xfrm>
            <a:off x="310088" y="5790904"/>
            <a:ext cx="2568000" cy="384000"/>
          </a:xfrm>
          <a:prstGeom prst="rect">
            <a:avLst/>
          </a:prstGeom>
          <a:solidFill>
            <a:srgbClr val="E9E9E9">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1400" b="1" i="0" u="none" strike="noStrike" cap="none">
                <a:solidFill>
                  <a:srgbClr val="595A59"/>
                </a:solidFill>
                <a:latin typeface="Calibri"/>
                <a:ea typeface="Calibri"/>
                <a:cs typeface="Calibri"/>
                <a:sym typeface="Calibri"/>
              </a:rPr>
              <a:t>CEEW Green Finance Centre</a:t>
            </a:r>
            <a:endParaRPr sz="1400" b="0" i="0" u="none" strike="noStrike" cap="none">
              <a:solidFill>
                <a:srgbClr val="000000"/>
              </a:solidFill>
              <a:latin typeface="Arial"/>
              <a:ea typeface="Arial"/>
              <a:cs typeface="Arial"/>
              <a:sym typeface="Arial"/>
            </a:endParaRPr>
          </a:p>
        </p:txBody>
      </p:sp>
      <p:sp>
        <p:nvSpPr>
          <p:cNvPr id="91" name="Google Shape;91;g3a1f07bbfc6_0_0"/>
          <p:cNvSpPr/>
          <p:nvPr/>
        </p:nvSpPr>
        <p:spPr>
          <a:xfrm>
            <a:off x="7314991" y="5788600"/>
            <a:ext cx="1389000" cy="384000"/>
          </a:xfrm>
          <a:prstGeom prst="rect">
            <a:avLst/>
          </a:prstGeom>
          <a:solidFill>
            <a:srgbClr val="E9E9E9">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1400" b="1" i="0" u="none" strike="noStrike" cap="none">
                <a:solidFill>
                  <a:srgbClr val="595A59"/>
                </a:solidFill>
                <a:latin typeface="Calibri"/>
                <a:ea typeface="Calibri"/>
                <a:cs typeface="Calibri"/>
                <a:sym typeface="Calibri"/>
              </a:rPr>
              <a:t>UP State Office</a:t>
            </a:r>
            <a:endParaRPr sz="1400" b="0" i="0" u="none" strike="noStrike" cap="none">
              <a:solidFill>
                <a:srgbClr val="000000"/>
              </a:solidFill>
              <a:latin typeface="Arial"/>
              <a:ea typeface="Arial"/>
              <a:cs typeface="Arial"/>
              <a:sym typeface="Arial"/>
            </a:endParaRPr>
          </a:p>
        </p:txBody>
      </p:sp>
      <p:cxnSp>
        <p:nvCxnSpPr>
          <p:cNvPr id="92" name="Google Shape;92;g3a1f07bbfc6_0_0"/>
          <p:cNvCxnSpPr/>
          <p:nvPr/>
        </p:nvCxnSpPr>
        <p:spPr>
          <a:xfrm>
            <a:off x="9078215" y="1190790"/>
            <a:ext cx="0" cy="4981800"/>
          </a:xfrm>
          <a:prstGeom prst="straightConnector1">
            <a:avLst/>
          </a:prstGeom>
          <a:noFill/>
          <a:ln w="12700" cap="flat" cmpd="sng">
            <a:solidFill>
              <a:srgbClr val="009CD8"/>
            </a:solidFill>
            <a:prstDash val="solid"/>
            <a:round/>
            <a:headEnd type="none" w="sm" len="sm"/>
            <a:tailEnd type="none" w="sm" len="sm"/>
          </a:ln>
        </p:spPr>
      </p:cxnSp>
      <p:grpSp>
        <p:nvGrpSpPr>
          <p:cNvPr id="93" name="Google Shape;93;g3a1f07bbfc6_0_0"/>
          <p:cNvGrpSpPr/>
          <p:nvPr/>
        </p:nvGrpSpPr>
        <p:grpSpPr>
          <a:xfrm>
            <a:off x="310605" y="1262056"/>
            <a:ext cx="2461419" cy="2995124"/>
            <a:chOff x="310621" y="1400956"/>
            <a:chExt cx="2715000" cy="2995124"/>
          </a:xfrm>
        </p:grpSpPr>
        <p:cxnSp>
          <p:nvCxnSpPr>
            <p:cNvPr id="94" name="Google Shape;94;g3a1f07bbfc6_0_0"/>
            <p:cNvCxnSpPr/>
            <p:nvPr/>
          </p:nvCxnSpPr>
          <p:spPr>
            <a:xfrm>
              <a:off x="725127" y="1736439"/>
              <a:ext cx="1647600" cy="0"/>
            </a:xfrm>
            <a:prstGeom prst="straightConnector1">
              <a:avLst/>
            </a:prstGeom>
            <a:noFill/>
            <a:ln w="12700" cap="flat" cmpd="sng">
              <a:solidFill>
                <a:schemeClr val="accent2"/>
              </a:solidFill>
              <a:prstDash val="lgDash"/>
              <a:round/>
              <a:headEnd type="none" w="sm" len="sm"/>
              <a:tailEnd type="none" w="sm" len="sm"/>
            </a:ln>
          </p:spPr>
        </p:cxnSp>
        <p:sp>
          <p:nvSpPr>
            <p:cNvPr id="95" name="Google Shape;95;g3a1f07bbfc6_0_0"/>
            <p:cNvSpPr/>
            <p:nvPr/>
          </p:nvSpPr>
          <p:spPr>
            <a:xfrm>
              <a:off x="310621" y="2385771"/>
              <a:ext cx="2705100" cy="402600"/>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b="1" i="0" u="none" strike="noStrike" cap="none">
                  <a:solidFill>
                    <a:srgbClr val="595A59"/>
                  </a:solidFill>
                  <a:latin typeface="Calibri"/>
                  <a:ea typeface="Calibri"/>
                  <a:cs typeface="Calibri"/>
                  <a:sym typeface="Calibri"/>
                </a:rPr>
                <a:t>Energy Transitions</a:t>
              </a:r>
              <a:endParaRPr sz="1400" b="0" i="0" u="none" strike="noStrike" cap="none">
                <a:solidFill>
                  <a:srgbClr val="000000"/>
                </a:solidFill>
                <a:latin typeface="Arial"/>
                <a:ea typeface="Arial"/>
                <a:cs typeface="Arial"/>
                <a:sym typeface="Arial"/>
              </a:endParaRPr>
            </a:p>
          </p:txBody>
        </p:sp>
        <p:sp>
          <p:nvSpPr>
            <p:cNvPr id="96" name="Google Shape;96;g3a1f07bbfc6_0_0"/>
            <p:cNvSpPr/>
            <p:nvPr/>
          </p:nvSpPr>
          <p:spPr>
            <a:xfrm>
              <a:off x="310621" y="3459108"/>
              <a:ext cx="2705100" cy="401700"/>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b="1" i="0" u="none" strike="noStrike" cap="none">
                  <a:solidFill>
                    <a:srgbClr val="595A59"/>
                  </a:solidFill>
                  <a:latin typeface="Calibri"/>
                  <a:ea typeface="Calibri"/>
                  <a:cs typeface="Calibri"/>
                  <a:sym typeface="Calibri"/>
                </a:rPr>
                <a:t>Industrial Sustainability</a:t>
              </a:r>
              <a:endParaRPr sz="1400" b="0" i="0" u="none" strike="noStrike" cap="none">
                <a:solidFill>
                  <a:srgbClr val="000000"/>
                </a:solidFill>
                <a:latin typeface="Arial"/>
                <a:ea typeface="Arial"/>
                <a:cs typeface="Arial"/>
                <a:sym typeface="Arial"/>
              </a:endParaRPr>
            </a:p>
          </p:txBody>
        </p:sp>
        <p:sp>
          <p:nvSpPr>
            <p:cNvPr id="97" name="Google Shape;97;g3a1f07bbfc6_0_0"/>
            <p:cNvSpPr/>
            <p:nvPr/>
          </p:nvSpPr>
          <p:spPr>
            <a:xfrm>
              <a:off x="310621" y="3994980"/>
              <a:ext cx="2705100" cy="401100"/>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b="1" i="0" u="none" strike="noStrike" cap="none">
                  <a:solidFill>
                    <a:srgbClr val="595A59"/>
                  </a:solidFill>
                  <a:latin typeface="Calibri"/>
                  <a:ea typeface="Calibri"/>
                  <a:cs typeface="Calibri"/>
                  <a:sym typeface="Calibri"/>
                </a:rPr>
                <a:t>Sustainable Livelihoods</a:t>
              </a:r>
              <a:endParaRPr sz="1400" b="0" i="0" u="none" strike="noStrike" cap="none">
                <a:solidFill>
                  <a:srgbClr val="000000"/>
                </a:solidFill>
                <a:latin typeface="Arial"/>
                <a:ea typeface="Arial"/>
                <a:cs typeface="Arial"/>
                <a:sym typeface="Arial"/>
              </a:endParaRPr>
            </a:p>
          </p:txBody>
        </p:sp>
        <p:sp>
          <p:nvSpPr>
            <p:cNvPr id="98" name="Google Shape;98;g3a1f07bbfc6_0_0"/>
            <p:cNvSpPr/>
            <p:nvPr/>
          </p:nvSpPr>
          <p:spPr>
            <a:xfrm>
              <a:off x="310621" y="1849103"/>
              <a:ext cx="2705100" cy="402600"/>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b="1" i="0" u="none" strike="noStrike" cap="none">
                  <a:solidFill>
                    <a:srgbClr val="595A59"/>
                  </a:solidFill>
                  <a:latin typeface="Calibri"/>
                  <a:ea typeface="Calibri"/>
                  <a:cs typeface="Calibri"/>
                  <a:sym typeface="Calibri"/>
                </a:rPr>
                <a:t>Low-carbon Economy</a:t>
              </a:r>
              <a:endParaRPr sz="1400" b="0" i="0" u="none" strike="noStrike" cap="none">
                <a:solidFill>
                  <a:srgbClr val="000000"/>
                </a:solidFill>
                <a:latin typeface="Arial"/>
                <a:ea typeface="Arial"/>
                <a:cs typeface="Arial"/>
                <a:sym typeface="Arial"/>
              </a:endParaRPr>
            </a:p>
          </p:txBody>
        </p:sp>
        <p:sp>
          <p:nvSpPr>
            <p:cNvPr id="99" name="Google Shape;99;g3a1f07bbfc6_0_0"/>
            <p:cNvSpPr/>
            <p:nvPr/>
          </p:nvSpPr>
          <p:spPr>
            <a:xfrm>
              <a:off x="310621" y="2922439"/>
              <a:ext cx="2715000" cy="402600"/>
            </a:xfrm>
            <a:prstGeom prst="roundRect">
              <a:avLst>
                <a:gd name="adj" fmla="val 16667"/>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b="1" i="0" u="none" strike="noStrike" cap="none">
                  <a:solidFill>
                    <a:srgbClr val="595A59"/>
                  </a:solidFill>
                  <a:latin typeface="Calibri"/>
                  <a:ea typeface="Calibri"/>
                  <a:cs typeface="Calibri"/>
                  <a:sym typeface="Calibri"/>
                </a:rPr>
                <a:t>Power Markets</a:t>
              </a:r>
              <a:endParaRPr sz="1400" b="0" i="0" u="none" strike="noStrike" cap="none">
                <a:solidFill>
                  <a:srgbClr val="000000"/>
                </a:solidFill>
                <a:latin typeface="Arial"/>
                <a:ea typeface="Arial"/>
                <a:cs typeface="Arial"/>
                <a:sym typeface="Arial"/>
              </a:endParaRPr>
            </a:p>
          </p:txBody>
        </p:sp>
        <p:sp>
          <p:nvSpPr>
            <p:cNvPr id="100" name="Google Shape;100;g3a1f07bbfc6_0_0"/>
            <p:cNvSpPr/>
            <p:nvPr/>
          </p:nvSpPr>
          <p:spPr>
            <a:xfrm>
              <a:off x="562056" y="1400956"/>
              <a:ext cx="1930800" cy="402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IN" sz="1600" b="1" i="1" u="none" strike="noStrike" cap="none" dirty="0">
                  <a:solidFill>
                    <a:srgbClr val="F16223"/>
                  </a:solidFill>
                  <a:latin typeface="Calibri"/>
                  <a:ea typeface="Calibri"/>
                  <a:cs typeface="Calibri"/>
                  <a:sym typeface="Calibri"/>
                </a:rPr>
                <a:t>T</a:t>
              </a:r>
              <a:r>
                <a:rPr lang="en-IN" sz="1300" b="1" i="1" u="none" strike="noStrike" cap="none" dirty="0">
                  <a:solidFill>
                    <a:srgbClr val="F16223"/>
                  </a:solidFill>
                  <a:latin typeface="Calibri"/>
                  <a:ea typeface="Calibri"/>
                  <a:cs typeface="Calibri"/>
                  <a:sym typeface="Calibri"/>
                </a:rPr>
                <a:t>RANSFORMATIONS</a:t>
              </a:r>
              <a:endParaRPr sz="1400" b="0" i="1" u="none" strike="noStrike" cap="none" dirty="0">
                <a:solidFill>
                  <a:srgbClr val="000000"/>
                </a:solidFill>
                <a:latin typeface="Arial"/>
                <a:ea typeface="Arial"/>
                <a:cs typeface="Arial"/>
                <a:sym typeface="Arial"/>
              </a:endParaRPr>
            </a:p>
          </p:txBody>
        </p:sp>
      </p:grpSp>
      <p:grpSp>
        <p:nvGrpSpPr>
          <p:cNvPr id="101" name="Google Shape;101;g3a1f07bbfc6_0_0"/>
          <p:cNvGrpSpPr/>
          <p:nvPr/>
        </p:nvGrpSpPr>
        <p:grpSpPr>
          <a:xfrm>
            <a:off x="3436062" y="1259620"/>
            <a:ext cx="2452444" cy="2997614"/>
            <a:chOff x="3305715" y="1398520"/>
            <a:chExt cx="2705100" cy="2997614"/>
          </a:xfrm>
        </p:grpSpPr>
        <p:sp>
          <p:nvSpPr>
            <p:cNvPr id="102" name="Google Shape;102;g3a1f07bbfc6_0_0"/>
            <p:cNvSpPr/>
            <p:nvPr/>
          </p:nvSpPr>
          <p:spPr>
            <a:xfrm>
              <a:off x="3385658" y="1398520"/>
              <a:ext cx="1995300" cy="402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IN" sz="1600" b="1" i="1" u="none" strike="noStrike" cap="none">
                  <a:solidFill>
                    <a:srgbClr val="86BB3F"/>
                  </a:solidFill>
                  <a:latin typeface="Calibri"/>
                  <a:ea typeface="Calibri"/>
                  <a:cs typeface="Calibri"/>
                  <a:sym typeface="Calibri"/>
                </a:rPr>
                <a:t>Q</a:t>
              </a:r>
              <a:r>
                <a:rPr lang="en-IN" sz="1300" b="1" i="1" u="none" strike="noStrike" cap="none">
                  <a:solidFill>
                    <a:srgbClr val="86BB3F"/>
                  </a:solidFill>
                  <a:latin typeface="Calibri"/>
                  <a:ea typeface="Calibri"/>
                  <a:cs typeface="Calibri"/>
                  <a:sym typeface="Calibri"/>
                </a:rPr>
                <a:t>UALITY OF LIFE</a:t>
              </a:r>
              <a:endParaRPr sz="1400" b="0" i="0" u="none" strike="noStrike" cap="none">
                <a:solidFill>
                  <a:srgbClr val="000000"/>
                </a:solidFill>
                <a:latin typeface="Arial"/>
                <a:ea typeface="Arial"/>
                <a:cs typeface="Arial"/>
                <a:sym typeface="Arial"/>
              </a:endParaRPr>
            </a:p>
          </p:txBody>
        </p:sp>
        <p:cxnSp>
          <p:nvCxnSpPr>
            <p:cNvPr id="103" name="Google Shape;103;g3a1f07bbfc6_0_0"/>
            <p:cNvCxnSpPr/>
            <p:nvPr/>
          </p:nvCxnSpPr>
          <p:spPr>
            <a:xfrm>
              <a:off x="3716954" y="1739306"/>
              <a:ext cx="1348200" cy="0"/>
            </a:xfrm>
            <a:prstGeom prst="straightConnector1">
              <a:avLst/>
            </a:prstGeom>
            <a:noFill/>
            <a:ln w="12700" cap="flat" cmpd="sng">
              <a:solidFill>
                <a:schemeClr val="accent3"/>
              </a:solidFill>
              <a:prstDash val="lgDash"/>
              <a:round/>
              <a:headEnd type="none" w="sm" len="sm"/>
              <a:tailEnd type="none" w="sm" len="sm"/>
            </a:ln>
          </p:spPr>
        </p:cxnSp>
        <p:sp>
          <p:nvSpPr>
            <p:cNvPr id="104" name="Google Shape;104;g3a1f07bbfc6_0_0"/>
            <p:cNvSpPr/>
            <p:nvPr/>
          </p:nvSpPr>
          <p:spPr>
            <a:xfrm>
              <a:off x="3305715" y="1849103"/>
              <a:ext cx="2705100" cy="38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b="1" i="0" u="none" strike="noStrike" cap="none">
                  <a:solidFill>
                    <a:srgbClr val="595A59"/>
                  </a:solidFill>
                  <a:latin typeface="Calibri"/>
                  <a:ea typeface="Calibri"/>
                  <a:cs typeface="Calibri"/>
                  <a:sym typeface="Calibri"/>
                </a:rPr>
                <a:t>Clean Air</a:t>
              </a:r>
              <a:endParaRPr sz="1400" b="0" i="0" u="none" strike="noStrike" cap="none">
                <a:solidFill>
                  <a:srgbClr val="000000"/>
                </a:solidFill>
                <a:latin typeface="Arial"/>
                <a:ea typeface="Arial"/>
                <a:cs typeface="Arial"/>
                <a:sym typeface="Arial"/>
              </a:endParaRPr>
            </a:p>
          </p:txBody>
        </p:sp>
        <p:sp>
          <p:nvSpPr>
            <p:cNvPr id="105" name="Google Shape;105;g3a1f07bbfc6_0_0"/>
            <p:cNvSpPr/>
            <p:nvPr/>
          </p:nvSpPr>
          <p:spPr>
            <a:xfrm>
              <a:off x="3305715" y="4008234"/>
              <a:ext cx="2705100" cy="387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b="1" i="0" u="none" strike="noStrike" cap="none">
                  <a:solidFill>
                    <a:srgbClr val="595A59"/>
                  </a:solidFill>
                  <a:latin typeface="Calibri"/>
                  <a:ea typeface="Calibri"/>
                  <a:cs typeface="Calibri"/>
                  <a:sym typeface="Calibri"/>
                </a:rPr>
                <a:t>Sustainable Mobility</a:t>
              </a:r>
              <a:endParaRPr sz="1400" b="0" i="0" u="none" strike="noStrike" cap="none">
                <a:solidFill>
                  <a:srgbClr val="000000"/>
                </a:solidFill>
                <a:latin typeface="Arial"/>
                <a:ea typeface="Arial"/>
                <a:cs typeface="Arial"/>
                <a:sym typeface="Arial"/>
              </a:endParaRPr>
            </a:p>
          </p:txBody>
        </p:sp>
        <p:sp>
          <p:nvSpPr>
            <p:cNvPr id="106" name="Google Shape;106;g3a1f07bbfc6_0_0"/>
            <p:cNvSpPr/>
            <p:nvPr/>
          </p:nvSpPr>
          <p:spPr>
            <a:xfrm>
              <a:off x="3305715" y="2374716"/>
              <a:ext cx="2705100" cy="402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b="1" i="0" u="none" strike="noStrike" cap="none">
                  <a:solidFill>
                    <a:srgbClr val="595A59"/>
                  </a:solidFill>
                  <a:latin typeface="Calibri"/>
                  <a:ea typeface="Calibri"/>
                  <a:cs typeface="Calibri"/>
                  <a:sym typeface="Calibri"/>
                </a:rPr>
                <a:t>Sustainable Water</a:t>
              </a:r>
              <a:endParaRPr sz="1400" b="0" i="0" u="none" strike="noStrike" cap="none">
                <a:solidFill>
                  <a:srgbClr val="000000"/>
                </a:solidFill>
                <a:latin typeface="Arial"/>
                <a:ea typeface="Arial"/>
                <a:cs typeface="Arial"/>
                <a:sym typeface="Arial"/>
              </a:endParaRPr>
            </a:p>
          </p:txBody>
        </p:sp>
        <p:sp>
          <p:nvSpPr>
            <p:cNvPr id="107" name="Google Shape;107;g3a1f07bbfc6_0_0"/>
            <p:cNvSpPr/>
            <p:nvPr/>
          </p:nvSpPr>
          <p:spPr>
            <a:xfrm>
              <a:off x="3305715" y="2922772"/>
              <a:ext cx="2705100" cy="39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b="1" i="0" u="none" strike="noStrike" cap="none">
                  <a:solidFill>
                    <a:srgbClr val="595A59"/>
                  </a:solidFill>
                  <a:latin typeface="Calibri"/>
                  <a:ea typeface="Calibri"/>
                  <a:cs typeface="Calibri"/>
                  <a:sym typeface="Calibri"/>
                </a:rPr>
                <a:t>Sustainable Food Systems</a:t>
              </a:r>
              <a:endParaRPr sz="1400" b="0" i="0" u="none" strike="noStrike" cap="none">
                <a:solidFill>
                  <a:srgbClr val="000000"/>
                </a:solidFill>
                <a:latin typeface="Arial"/>
                <a:ea typeface="Arial"/>
                <a:cs typeface="Arial"/>
                <a:sym typeface="Arial"/>
              </a:endParaRPr>
            </a:p>
          </p:txBody>
        </p:sp>
        <p:sp>
          <p:nvSpPr>
            <p:cNvPr id="108" name="Google Shape;108;g3a1f07bbfc6_0_0"/>
            <p:cNvSpPr/>
            <p:nvPr/>
          </p:nvSpPr>
          <p:spPr>
            <a:xfrm>
              <a:off x="3305715" y="3465504"/>
              <a:ext cx="2705100" cy="39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b="1" i="0" u="none" strike="noStrike" cap="none">
                  <a:solidFill>
                    <a:srgbClr val="595A59"/>
                  </a:solidFill>
                  <a:latin typeface="Calibri"/>
                  <a:ea typeface="Calibri"/>
                  <a:cs typeface="Calibri"/>
                  <a:sym typeface="Calibri"/>
                </a:rPr>
                <a:t>Sustainable Cooling</a:t>
              </a:r>
              <a:endParaRPr sz="1400" b="0" i="0" u="none" strike="noStrike" cap="none">
                <a:solidFill>
                  <a:srgbClr val="000000"/>
                </a:solidFill>
                <a:latin typeface="Arial"/>
                <a:ea typeface="Arial"/>
                <a:cs typeface="Arial"/>
                <a:sym typeface="Arial"/>
              </a:endParaRPr>
            </a:p>
          </p:txBody>
        </p:sp>
      </p:grpSp>
      <p:cxnSp>
        <p:nvCxnSpPr>
          <p:cNvPr id="109" name="Google Shape;109;g3a1f07bbfc6_0_0"/>
          <p:cNvCxnSpPr/>
          <p:nvPr/>
        </p:nvCxnSpPr>
        <p:spPr>
          <a:xfrm>
            <a:off x="288414" y="5546523"/>
            <a:ext cx="8440800" cy="26400"/>
          </a:xfrm>
          <a:prstGeom prst="straightConnector1">
            <a:avLst/>
          </a:prstGeom>
          <a:noFill/>
          <a:ln w="12700" cap="flat" cmpd="sng">
            <a:solidFill>
              <a:schemeClr val="accent4"/>
            </a:solidFill>
            <a:prstDash val="lgDash"/>
            <a:round/>
            <a:headEnd type="none" w="sm" len="sm"/>
            <a:tailEnd type="none" w="sm" len="sm"/>
          </a:ln>
        </p:spPr>
      </p:cxnSp>
      <p:sp>
        <p:nvSpPr>
          <p:cNvPr id="110" name="Google Shape;110;g3a1f07bbfc6_0_0"/>
          <p:cNvSpPr/>
          <p:nvPr/>
        </p:nvSpPr>
        <p:spPr>
          <a:xfrm>
            <a:off x="3849191" y="5356172"/>
            <a:ext cx="1790100" cy="402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IN" sz="1600" b="1" i="1" u="none" strike="noStrike" cap="none">
                <a:solidFill>
                  <a:srgbClr val="595A59"/>
                </a:solidFill>
                <a:latin typeface="Calibri"/>
                <a:ea typeface="Calibri"/>
                <a:cs typeface="Calibri"/>
                <a:sym typeface="Calibri"/>
              </a:rPr>
              <a:t>S</a:t>
            </a:r>
            <a:r>
              <a:rPr lang="en-IN" sz="1300" b="1" i="1" u="none" strike="noStrike" cap="none">
                <a:solidFill>
                  <a:srgbClr val="595A59"/>
                </a:solidFill>
                <a:latin typeface="Calibri"/>
                <a:ea typeface="Calibri"/>
                <a:cs typeface="Calibri"/>
                <a:sym typeface="Calibri"/>
              </a:rPr>
              <a:t>PECIAL INITIATIVES</a:t>
            </a:r>
            <a:endParaRPr sz="1400" b="0" i="0" u="none" strike="noStrike" cap="none">
              <a:solidFill>
                <a:srgbClr val="000000"/>
              </a:solidFill>
              <a:latin typeface="Arial"/>
              <a:ea typeface="Arial"/>
              <a:cs typeface="Arial"/>
              <a:sym typeface="Arial"/>
            </a:endParaRPr>
          </a:p>
        </p:txBody>
      </p:sp>
      <p:sp>
        <p:nvSpPr>
          <p:cNvPr id="111" name="Google Shape;111;g3a1f07bbfc6_0_0"/>
          <p:cNvSpPr/>
          <p:nvPr/>
        </p:nvSpPr>
        <p:spPr>
          <a:xfrm>
            <a:off x="3184396" y="5801264"/>
            <a:ext cx="1790100" cy="383100"/>
          </a:xfrm>
          <a:prstGeom prst="rect">
            <a:avLst/>
          </a:prstGeom>
          <a:solidFill>
            <a:srgbClr val="E9E9E9">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1400" b="1" i="0" u="none" strike="noStrike" cap="none">
                <a:solidFill>
                  <a:srgbClr val="595A59"/>
                </a:solidFill>
                <a:latin typeface="Calibri"/>
                <a:ea typeface="Calibri"/>
                <a:cs typeface="Calibri"/>
                <a:sym typeface="Calibri"/>
              </a:rPr>
              <a:t>Powering Livelihoods</a:t>
            </a:r>
            <a:endParaRPr sz="1400" b="0" i="0" u="none" strike="noStrike" cap="none">
              <a:solidFill>
                <a:srgbClr val="000000"/>
              </a:solidFill>
              <a:latin typeface="Arial"/>
              <a:ea typeface="Arial"/>
              <a:cs typeface="Arial"/>
              <a:sym typeface="Arial"/>
            </a:endParaRPr>
          </a:p>
        </p:txBody>
      </p:sp>
      <p:grpSp>
        <p:nvGrpSpPr>
          <p:cNvPr id="112" name="Google Shape;112;g3a1f07bbfc6_0_0"/>
          <p:cNvGrpSpPr/>
          <p:nvPr/>
        </p:nvGrpSpPr>
        <p:grpSpPr>
          <a:xfrm>
            <a:off x="6508076" y="1258498"/>
            <a:ext cx="2433297" cy="2982753"/>
            <a:chOff x="6508076" y="1258498"/>
            <a:chExt cx="2433297" cy="2982753"/>
          </a:xfrm>
        </p:grpSpPr>
        <p:grpSp>
          <p:nvGrpSpPr>
            <p:cNvPr id="113" name="Google Shape;113;g3a1f07bbfc6_0_0"/>
            <p:cNvGrpSpPr/>
            <p:nvPr/>
          </p:nvGrpSpPr>
          <p:grpSpPr>
            <a:xfrm>
              <a:off x="6508076" y="1258498"/>
              <a:ext cx="2432862" cy="2443299"/>
              <a:chOff x="6529905" y="1397398"/>
              <a:chExt cx="2683501" cy="2443299"/>
            </a:xfrm>
          </p:grpSpPr>
          <p:cxnSp>
            <p:nvCxnSpPr>
              <p:cNvPr id="114" name="Google Shape;114;g3a1f07bbfc6_0_0"/>
              <p:cNvCxnSpPr/>
              <p:nvPr/>
            </p:nvCxnSpPr>
            <p:spPr>
              <a:xfrm>
                <a:off x="6940213" y="1741860"/>
                <a:ext cx="873300" cy="0"/>
              </a:xfrm>
              <a:prstGeom prst="straightConnector1">
                <a:avLst/>
              </a:prstGeom>
              <a:noFill/>
              <a:ln w="12700" cap="flat" cmpd="sng">
                <a:solidFill>
                  <a:schemeClr val="accent1"/>
                </a:solidFill>
                <a:prstDash val="lgDash"/>
                <a:round/>
                <a:headEnd type="none" w="sm" len="sm"/>
                <a:tailEnd type="none" w="sm" len="sm"/>
              </a:ln>
            </p:spPr>
          </p:cxnSp>
          <p:sp>
            <p:nvSpPr>
              <p:cNvPr id="115" name="Google Shape;115;g3a1f07bbfc6_0_0"/>
              <p:cNvSpPr/>
              <p:nvPr/>
            </p:nvSpPr>
            <p:spPr>
              <a:xfrm>
                <a:off x="6529905" y="3448297"/>
                <a:ext cx="2683500" cy="392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b="1" i="0" u="none" strike="noStrike" cap="none">
                    <a:solidFill>
                      <a:srgbClr val="595A59"/>
                    </a:solidFill>
                    <a:latin typeface="Calibri"/>
                    <a:ea typeface="Calibri"/>
                    <a:cs typeface="Calibri"/>
                    <a:sym typeface="Calibri"/>
                  </a:rPr>
                  <a:t>Climate Resilience</a:t>
                </a:r>
                <a:endParaRPr sz="1400" b="0" i="0" u="none" strike="noStrike" cap="none">
                  <a:solidFill>
                    <a:srgbClr val="000000"/>
                  </a:solidFill>
                  <a:latin typeface="Arial"/>
                  <a:ea typeface="Arial"/>
                  <a:cs typeface="Arial"/>
                  <a:sym typeface="Arial"/>
                </a:endParaRPr>
              </a:p>
            </p:txBody>
          </p:sp>
          <p:sp>
            <p:nvSpPr>
              <p:cNvPr id="116" name="Google Shape;116;g3a1f07bbfc6_0_0"/>
              <p:cNvSpPr/>
              <p:nvPr/>
            </p:nvSpPr>
            <p:spPr>
              <a:xfrm>
                <a:off x="6529906" y="1866103"/>
                <a:ext cx="2683500" cy="361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b="1" i="0" u="none" strike="noStrike" cap="none">
                    <a:solidFill>
                      <a:srgbClr val="595A59"/>
                    </a:solidFill>
                    <a:latin typeface="Calibri"/>
                    <a:ea typeface="Calibri"/>
                    <a:cs typeface="Calibri"/>
                    <a:sym typeface="Calibri"/>
                  </a:rPr>
                  <a:t>Sustainable Finance</a:t>
                </a:r>
                <a:endParaRPr sz="1400" b="0" i="0" u="none" strike="noStrike" cap="none">
                  <a:solidFill>
                    <a:srgbClr val="000000"/>
                  </a:solidFill>
                  <a:latin typeface="Arial"/>
                  <a:ea typeface="Arial"/>
                  <a:cs typeface="Arial"/>
                  <a:sym typeface="Arial"/>
                </a:endParaRPr>
              </a:p>
            </p:txBody>
          </p:sp>
          <p:sp>
            <p:nvSpPr>
              <p:cNvPr id="117" name="Google Shape;117;g3a1f07bbfc6_0_0"/>
              <p:cNvSpPr/>
              <p:nvPr/>
            </p:nvSpPr>
            <p:spPr>
              <a:xfrm>
                <a:off x="6529905" y="2374594"/>
                <a:ext cx="2683500" cy="396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b="1" i="0" u="none" strike="noStrike" cap="none">
                    <a:solidFill>
                      <a:srgbClr val="595A59"/>
                    </a:solidFill>
                    <a:latin typeface="Calibri"/>
                    <a:ea typeface="Calibri"/>
                    <a:cs typeface="Calibri"/>
                    <a:sym typeface="Calibri"/>
                  </a:rPr>
                  <a:t>Technology Futures</a:t>
                </a:r>
                <a:endParaRPr sz="1400" b="0" i="0" u="none" strike="noStrike" cap="none">
                  <a:solidFill>
                    <a:srgbClr val="000000"/>
                  </a:solidFill>
                  <a:latin typeface="Arial"/>
                  <a:ea typeface="Arial"/>
                  <a:cs typeface="Arial"/>
                  <a:sym typeface="Arial"/>
                </a:endParaRPr>
              </a:p>
            </p:txBody>
          </p:sp>
          <p:sp>
            <p:nvSpPr>
              <p:cNvPr id="118" name="Google Shape;118;g3a1f07bbfc6_0_0"/>
              <p:cNvSpPr/>
              <p:nvPr/>
            </p:nvSpPr>
            <p:spPr>
              <a:xfrm>
                <a:off x="6529905" y="2918074"/>
                <a:ext cx="2683500" cy="383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b="1" i="0" u="none" strike="noStrike" cap="none">
                    <a:solidFill>
                      <a:srgbClr val="595A59"/>
                    </a:solidFill>
                    <a:latin typeface="Calibri"/>
                    <a:ea typeface="Calibri"/>
                    <a:cs typeface="Calibri"/>
                    <a:sym typeface="Calibri"/>
                  </a:rPr>
                  <a:t>Circular Economy</a:t>
                </a:r>
                <a:endParaRPr sz="1400" b="0" i="0" u="none" strike="noStrike" cap="none">
                  <a:solidFill>
                    <a:srgbClr val="000000"/>
                  </a:solidFill>
                  <a:latin typeface="Arial"/>
                  <a:ea typeface="Arial"/>
                  <a:cs typeface="Arial"/>
                  <a:sym typeface="Arial"/>
                </a:endParaRPr>
              </a:p>
            </p:txBody>
          </p:sp>
          <p:sp>
            <p:nvSpPr>
              <p:cNvPr id="119" name="Google Shape;119;g3a1f07bbfc6_0_0"/>
              <p:cNvSpPr/>
              <p:nvPr/>
            </p:nvSpPr>
            <p:spPr>
              <a:xfrm>
                <a:off x="6800539" y="1397398"/>
                <a:ext cx="1078200" cy="402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IN" sz="1600" b="1" i="1" u="none" strike="noStrike" cap="none">
                    <a:solidFill>
                      <a:srgbClr val="009ED8"/>
                    </a:solidFill>
                    <a:latin typeface="Calibri"/>
                    <a:ea typeface="Calibri"/>
                    <a:cs typeface="Calibri"/>
                    <a:sym typeface="Calibri"/>
                  </a:rPr>
                  <a:t>E</a:t>
                </a:r>
                <a:r>
                  <a:rPr lang="en-IN" sz="1300" b="1" i="1" u="none" strike="noStrike" cap="none">
                    <a:solidFill>
                      <a:srgbClr val="009ED8"/>
                    </a:solidFill>
                    <a:latin typeface="Calibri"/>
                    <a:ea typeface="Calibri"/>
                    <a:cs typeface="Calibri"/>
                    <a:sym typeface="Calibri"/>
                  </a:rPr>
                  <a:t>NABLERS</a:t>
                </a:r>
                <a:endParaRPr sz="1400" b="0" i="0" u="none" strike="noStrike" cap="none">
                  <a:solidFill>
                    <a:srgbClr val="000000"/>
                  </a:solidFill>
                  <a:latin typeface="Arial"/>
                  <a:ea typeface="Arial"/>
                  <a:cs typeface="Arial"/>
                  <a:sym typeface="Arial"/>
                </a:endParaRPr>
              </a:p>
            </p:txBody>
          </p:sp>
        </p:grpSp>
        <p:sp>
          <p:nvSpPr>
            <p:cNvPr id="120" name="Google Shape;120;g3a1f07bbfc6_0_0"/>
            <p:cNvSpPr/>
            <p:nvPr/>
          </p:nvSpPr>
          <p:spPr>
            <a:xfrm>
              <a:off x="6508373" y="3848851"/>
              <a:ext cx="2433000" cy="392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b="1" i="0" u="none" strike="noStrike" cap="none">
                  <a:solidFill>
                    <a:srgbClr val="595A59"/>
                  </a:solidFill>
                  <a:latin typeface="Calibri"/>
                  <a:ea typeface="Calibri"/>
                  <a:cs typeface="Calibri"/>
                  <a:sym typeface="Calibri"/>
                </a:rPr>
                <a:t>International Cooperation</a:t>
              </a:r>
              <a:endParaRPr sz="1400" b="0" i="0" u="none" strike="noStrike" cap="none">
                <a:solidFill>
                  <a:srgbClr val="000000"/>
                </a:solidFill>
                <a:latin typeface="Arial"/>
                <a:ea typeface="Arial"/>
                <a:cs typeface="Arial"/>
                <a:sym typeface="Arial"/>
              </a:endParaRPr>
            </a:p>
          </p:txBody>
        </p:sp>
      </p:grpSp>
      <p:grpSp>
        <p:nvGrpSpPr>
          <p:cNvPr id="121" name="Google Shape;121;g3a1f07bbfc6_0_0"/>
          <p:cNvGrpSpPr/>
          <p:nvPr/>
        </p:nvGrpSpPr>
        <p:grpSpPr>
          <a:xfrm>
            <a:off x="6595372" y="2019295"/>
            <a:ext cx="429325" cy="2143136"/>
            <a:chOff x="6296456" y="2056960"/>
            <a:chExt cx="2444906" cy="2143136"/>
          </a:xfrm>
        </p:grpSpPr>
        <p:cxnSp>
          <p:nvCxnSpPr>
            <p:cNvPr id="122" name="Google Shape;122;g3a1f07bbfc6_0_0"/>
            <p:cNvCxnSpPr/>
            <p:nvPr/>
          </p:nvCxnSpPr>
          <p:spPr>
            <a:xfrm>
              <a:off x="6308355" y="2056960"/>
              <a:ext cx="2433000" cy="0"/>
            </a:xfrm>
            <a:prstGeom prst="straightConnector1">
              <a:avLst/>
            </a:prstGeom>
            <a:noFill/>
            <a:ln w="19050" cap="flat" cmpd="sng">
              <a:solidFill>
                <a:srgbClr val="00B0F0"/>
              </a:solidFill>
              <a:prstDash val="solid"/>
              <a:round/>
              <a:headEnd type="none" w="sm" len="sm"/>
              <a:tailEnd type="none" w="sm" len="sm"/>
            </a:ln>
          </p:spPr>
        </p:cxnSp>
        <p:cxnSp>
          <p:nvCxnSpPr>
            <p:cNvPr id="123" name="Google Shape;123;g3a1f07bbfc6_0_0"/>
            <p:cNvCxnSpPr/>
            <p:nvPr/>
          </p:nvCxnSpPr>
          <p:spPr>
            <a:xfrm>
              <a:off x="6308362" y="2599885"/>
              <a:ext cx="2433000" cy="0"/>
            </a:xfrm>
            <a:prstGeom prst="straightConnector1">
              <a:avLst/>
            </a:prstGeom>
            <a:noFill/>
            <a:ln w="19050" cap="flat" cmpd="sng">
              <a:solidFill>
                <a:srgbClr val="00B0F0"/>
              </a:solidFill>
              <a:prstDash val="solid"/>
              <a:round/>
              <a:headEnd type="none" w="sm" len="sm"/>
              <a:tailEnd type="none" w="sm" len="sm"/>
            </a:ln>
          </p:spPr>
        </p:cxnSp>
        <p:cxnSp>
          <p:nvCxnSpPr>
            <p:cNvPr id="124" name="Google Shape;124;g3a1f07bbfc6_0_0"/>
            <p:cNvCxnSpPr/>
            <p:nvPr/>
          </p:nvCxnSpPr>
          <p:spPr>
            <a:xfrm>
              <a:off x="6308361" y="3126143"/>
              <a:ext cx="2433000" cy="0"/>
            </a:xfrm>
            <a:prstGeom prst="straightConnector1">
              <a:avLst/>
            </a:prstGeom>
            <a:noFill/>
            <a:ln w="19050" cap="flat" cmpd="sng">
              <a:solidFill>
                <a:srgbClr val="00B0F0"/>
              </a:solidFill>
              <a:prstDash val="solid"/>
              <a:round/>
              <a:headEnd type="none" w="sm" len="sm"/>
              <a:tailEnd type="none" w="sm" len="sm"/>
            </a:ln>
          </p:spPr>
        </p:cxnSp>
        <p:cxnSp>
          <p:nvCxnSpPr>
            <p:cNvPr id="125" name="Google Shape;125;g3a1f07bbfc6_0_0"/>
            <p:cNvCxnSpPr/>
            <p:nvPr/>
          </p:nvCxnSpPr>
          <p:spPr>
            <a:xfrm>
              <a:off x="6308361" y="3671457"/>
              <a:ext cx="2433000" cy="0"/>
            </a:xfrm>
            <a:prstGeom prst="straightConnector1">
              <a:avLst/>
            </a:prstGeom>
            <a:noFill/>
            <a:ln w="19050" cap="flat" cmpd="sng">
              <a:solidFill>
                <a:srgbClr val="00B0F0"/>
              </a:solidFill>
              <a:prstDash val="solid"/>
              <a:round/>
              <a:headEnd type="none" w="sm" len="sm"/>
              <a:tailEnd type="none" w="sm" len="sm"/>
            </a:ln>
          </p:spPr>
        </p:cxnSp>
        <p:cxnSp>
          <p:nvCxnSpPr>
            <p:cNvPr id="126" name="Google Shape;126;g3a1f07bbfc6_0_0"/>
            <p:cNvCxnSpPr/>
            <p:nvPr/>
          </p:nvCxnSpPr>
          <p:spPr>
            <a:xfrm>
              <a:off x="6296456" y="4200096"/>
              <a:ext cx="2433000" cy="0"/>
            </a:xfrm>
            <a:prstGeom prst="straightConnector1">
              <a:avLst/>
            </a:prstGeom>
            <a:noFill/>
            <a:ln w="19050" cap="flat" cmpd="sng">
              <a:solidFill>
                <a:srgbClr val="00B0F0"/>
              </a:solidFill>
              <a:prstDash val="solid"/>
              <a:round/>
              <a:headEnd type="none" w="sm" len="sm"/>
              <a:tailEnd type="none" w="sm" len="sm"/>
            </a:ln>
          </p:spPr>
        </p:cxnSp>
      </p:grpSp>
      <p:grpSp>
        <p:nvGrpSpPr>
          <p:cNvPr id="127" name="Google Shape;127;g3a1f07bbfc6_0_0"/>
          <p:cNvGrpSpPr/>
          <p:nvPr/>
        </p:nvGrpSpPr>
        <p:grpSpPr>
          <a:xfrm>
            <a:off x="3532460" y="2019295"/>
            <a:ext cx="429326" cy="2162186"/>
            <a:chOff x="6296456" y="2047435"/>
            <a:chExt cx="2444907" cy="2162186"/>
          </a:xfrm>
        </p:grpSpPr>
        <p:cxnSp>
          <p:nvCxnSpPr>
            <p:cNvPr id="128" name="Google Shape;128;g3a1f07bbfc6_0_0"/>
            <p:cNvCxnSpPr/>
            <p:nvPr/>
          </p:nvCxnSpPr>
          <p:spPr>
            <a:xfrm>
              <a:off x="6308357" y="2047435"/>
              <a:ext cx="2433000" cy="0"/>
            </a:xfrm>
            <a:prstGeom prst="straightConnector1">
              <a:avLst/>
            </a:prstGeom>
            <a:noFill/>
            <a:ln w="19050" cap="flat" cmpd="sng">
              <a:solidFill>
                <a:srgbClr val="92D050"/>
              </a:solidFill>
              <a:prstDash val="solid"/>
              <a:round/>
              <a:headEnd type="none" w="sm" len="sm"/>
              <a:tailEnd type="none" w="sm" len="sm"/>
            </a:ln>
          </p:spPr>
        </p:cxnSp>
        <p:cxnSp>
          <p:nvCxnSpPr>
            <p:cNvPr id="129" name="Google Shape;129;g3a1f07bbfc6_0_0"/>
            <p:cNvCxnSpPr/>
            <p:nvPr/>
          </p:nvCxnSpPr>
          <p:spPr>
            <a:xfrm>
              <a:off x="6308362" y="2599885"/>
              <a:ext cx="2433000" cy="0"/>
            </a:xfrm>
            <a:prstGeom prst="straightConnector1">
              <a:avLst/>
            </a:prstGeom>
            <a:noFill/>
            <a:ln w="19050" cap="flat" cmpd="sng">
              <a:solidFill>
                <a:srgbClr val="92D050"/>
              </a:solidFill>
              <a:prstDash val="solid"/>
              <a:round/>
              <a:headEnd type="none" w="sm" len="sm"/>
              <a:tailEnd type="none" w="sm" len="sm"/>
            </a:ln>
          </p:spPr>
        </p:cxnSp>
        <p:cxnSp>
          <p:nvCxnSpPr>
            <p:cNvPr id="130" name="Google Shape;130;g3a1f07bbfc6_0_0"/>
            <p:cNvCxnSpPr/>
            <p:nvPr/>
          </p:nvCxnSpPr>
          <p:spPr>
            <a:xfrm>
              <a:off x="6308361" y="3135668"/>
              <a:ext cx="2433000" cy="0"/>
            </a:xfrm>
            <a:prstGeom prst="straightConnector1">
              <a:avLst/>
            </a:prstGeom>
            <a:noFill/>
            <a:ln w="19050" cap="flat" cmpd="sng">
              <a:solidFill>
                <a:srgbClr val="92D050"/>
              </a:solidFill>
              <a:prstDash val="solid"/>
              <a:round/>
              <a:headEnd type="none" w="sm" len="sm"/>
              <a:tailEnd type="none" w="sm" len="sm"/>
            </a:ln>
          </p:spPr>
        </p:cxnSp>
        <p:cxnSp>
          <p:nvCxnSpPr>
            <p:cNvPr id="131" name="Google Shape;131;g3a1f07bbfc6_0_0"/>
            <p:cNvCxnSpPr/>
            <p:nvPr/>
          </p:nvCxnSpPr>
          <p:spPr>
            <a:xfrm>
              <a:off x="6308363" y="3680982"/>
              <a:ext cx="2433000" cy="0"/>
            </a:xfrm>
            <a:prstGeom prst="straightConnector1">
              <a:avLst/>
            </a:prstGeom>
            <a:noFill/>
            <a:ln w="19050" cap="flat" cmpd="sng">
              <a:solidFill>
                <a:srgbClr val="92D050"/>
              </a:solidFill>
              <a:prstDash val="solid"/>
              <a:round/>
              <a:headEnd type="none" w="sm" len="sm"/>
              <a:tailEnd type="none" w="sm" len="sm"/>
            </a:ln>
          </p:spPr>
        </p:cxnSp>
        <p:cxnSp>
          <p:nvCxnSpPr>
            <p:cNvPr id="132" name="Google Shape;132;g3a1f07bbfc6_0_0"/>
            <p:cNvCxnSpPr/>
            <p:nvPr/>
          </p:nvCxnSpPr>
          <p:spPr>
            <a:xfrm>
              <a:off x="6296456" y="4209621"/>
              <a:ext cx="2433000" cy="0"/>
            </a:xfrm>
            <a:prstGeom prst="straightConnector1">
              <a:avLst/>
            </a:prstGeom>
            <a:noFill/>
            <a:ln w="19050" cap="flat" cmpd="sng">
              <a:solidFill>
                <a:srgbClr val="92D050"/>
              </a:solidFill>
              <a:prstDash val="solid"/>
              <a:round/>
              <a:headEnd type="none" w="sm" len="sm"/>
              <a:tailEnd type="none" w="sm" len="sm"/>
            </a:ln>
          </p:spPr>
        </p:cxnSp>
      </p:grpSp>
      <p:grpSp>
        <p:nvGrpSpPr>
          <p:cNvPr id="133" name="Google Shape;133;g3a1f07bbfc6_0_0"/>
          <p:cNvGrpSpPr/>
          <p:nvPr/>
        </p:nvGrpSpPr>
        <p:grpSpPr>
          <a:xfrm>
            <a:off x="430755" y="2019295"/>
            <a:ext cx="429325" cy="2162186"/>
            <a:chOff x="6296456" y="2047435"/>
            <a:chExt cx="2444906" cy="2162186"/>
          </a:xfrm>
        </p:grpSpPr>
        <p:cxnSp>
          <p:nvCxnSpPr>
            <p:cNvPr id="134" name="Google Shape;134;g3a1f07bbfc6_0_0"/>
            <p:cNvCxnSpPr/>
            <p:nvPr/>
          </p:nvCxnSpPr>
          <p:spPr>
            <a:xfrm>
              <a:off x="6308357" y="2047435"/>
              <a:ext cx="2433000" cy="0"/>
            </a:xfrm>
            <a:prstGeom prst="straightConnector1">
              <a:avLst/>
            </a:prstGeom>
            <a:noFill/>
            <a:ln w="19050" cap="flat" cmpd="sng">
              <a:solidFill>
                <a:schemeClr val="accent2"/>
              </a:solidFill>
              <a:prstDash val="solid"/>
              <a:round/>
              <a:headEnd type="none" w="sm" len="sm"/>
              <a:tailEnd type="none" w="sm" len="sm"/>
            </a:ln>
          </p:spPr>
        </p:cxnSp>
        <p:cxnSp>
          <p:nvCxnSpPr>
            <p:cNvPr id="135" name="Google Shape;135;g3a1f07bbfc6_0_0"/>
            <p:cNvCxnSpPr/>
            <p:nvPr/>
          </p:nvCxnSpPr>
          <p:spPr>
            <a:xfrm>
              <a:off x="6308362" y="2599885"/>
              <a:ext cx="2433000" cy="0"/>
            </a:xfrm>
            <a:prstGeom prst="straightConnector1">
              <a:avLst/>
            </a:prstGeom>
            <a:noFill/>
            <a:ln w="19050" cap="flat" cmpd="sng">
              <a:solidFill>
                <a:schemeClr val="accent2"/>
              </a:solidFill>
              <a:prstDash val="solid"/>
              <a:round/>
              <a:headEnd type="none" w="sm" len="sm"/>
              <a:tailEnd type="none" w="sm" len="sm"/>
            </a:ln>
          </p:spPr>
        </p:cxnSp>
        <p:cxnSp>
          <p:nvCxnSpPr>
            <p:cNvPr id="136" name="Google Shape;136;g3a1f07bbfc6_0_0"/>
            <p:cNvCxnSpPr/>
            <p:nvPr/>
          </p:nvCxnSpPr>
          <p:spPr>
            <a:xfrm>
              <a:off x="6308361" y="3135668"/>
              <a:ext cx="2433000" cy="0"/>
            </a:xfrm>
            <a:prstGeom prst="straightConnector1">
              <a:avLst/>
            </a:prstGeom>
            <a:noFill/>
            <a:ln w="19050" cap="flat" cmpd="sng">
              <a:solidFill>
                <a:schemeClr val="accent2"/>
              </a:solidFill>
              <a:prstDash val="solid"/>
              <a:round/>
              <a:headEnd type="none" w="sm" len="sm"/>
              <a:tailEnd type="none" w="sm" len="sm"/>
            </a:ln>
          </p:spPr>
        </p:cxnSp>
        <p:cxnSp>
          <p:nvCxnSpPr>
            <p:cNvPr id="137" name="Google Shape;137;g3a1f07bbfc6_0_0"/>
            <p:cNvCxnSpPr/>
            <p:nvPr/>
          </p:nvCxnSpPr>
          <p:spPr>
            <a:xfrm>
              <a:off x="6308361" y="3661932"/>
              <a:ext cx="2433000" cy="0"/>
            </a:xfrm>
            <a:prstGeom prst="straightConnector1">
              <a:avLst/>
            </a:prstGeom>
            <a:noFill/>
            <a:ln w="19050" cap="flat" cmpd="sng">
              <a:solidFill>
                <a:schemeClr val="accent2"/>
              </a:solidFill>
              <a:prstDash val="solid"/>
              <a:round/>
              <a:headEnd type="none" w="sm" len="sm"/>
              <a:tailEnd type="none" w="sm" len="sm"/>
            </a:ln>
          </p:spPr>
        </p:cxnSp>
        <p:cxnSp>
          <p:nvCxnSpPr>
            <p:cNvPr id="138" name="Google Shape;138;g3a1f07bbfc6_0_0"/>
            <p:cNvCxnSpPr/>
            <p:nvPr/>
          </p:nvCxnSpPr>
          <p:spPr>
            <a:xfrm>
              <a:off x="6296456" y="4209621"/>
              <a:ext cx="2433000" cy="0"/>
            </a:xfrm>
            <a:prstGeom prst="straightConnector1">
              <a:avLst/>
            </a:prstGeom>
            <a:noFill/>
            <a:ln w="19050" cap="flat" cmpd="sng">
              <a:solidFill>
                <a:schemeClr val="accent2"/>
              </a:solidFill>
              <a:prstDash val="solid"/>
              <a:round/>
              <a:headEnd type="none" w="sm" len="sm"/>
              <a:tailEnd type="none" w="sm" len="sm"/>
            </a:ln>
          </p:spPr>
        </p:cxnSp>
      </p:grpSp>
      <p:pic>
        <p:nvPicPr>
          <p:cNvPr id="139" name="Google Shape;139;g3a1f07bbfc6_0_0"/>
          <p:cNvPicPr preferRelativeResize="0"/>
          <p:nvPr/>
        </p:nvPicPr>
        <p:blipFill rotWithShape="1">
          <a:blip r:embed="rId3">
            <a:alphaModFix/>
          </a:blip>
          <a:srcRect l="86245" b="83573"/>
          <a:stretch/>
        </p:blipFill>
        <p:spPr>
          <a:xfrm>
            <a:off x="6441000" y="1319521"/>
            <a:ext cx="493051" cy="312330"/>
          </a:xfrm>
          <a:prstGeom prst="rect">
            <a:avLst/>
          </a:prstGeom>
          <a:noFill/>
          <a:ln>
            <a:noFill/>
          </a:ln>
        </p:spPr>
      </p:pic>
      <p:pic>
        <p:nvPicPr>
          <p:cNvPr id="140" name="Google Shape;140;g3a1f07bbfc6_0_0"/>
          <p:cNvPicPr preferRelativeResize="0"/>
          <p:nvPr/>
        </p:nvPicPr>
        <p:blipFill rotWithShape="1">
          <a:blip r:embed="rId3">
            <a:alphaModFix/>
          </a:blip>
          <a:srcRect l="47168" r="39627" b="84432"/>
          <a:stretch/>
        </p:blipFill>
        <p:spPr>
          <a:xfrm>
            <a:off x="3405927" y="1329734"/>
            <a:ext cx="473343" cy="295987"/>
          </a:xfrm>
          <a:prstGeom prst="rect">
            <a:avLst/>
          </a:prstGeom>
          <a:noFill/>
          <a:ln>
            <a:noFill/>
          </a:ln>
        </p:spPr>
      </p:pic>
      <p:sp>
        <p:nvSpPr>
          <p:cNvPr id="141" name="Google Shape;141;g3a1f07bbfc6_0_0"/>
          <p:cNvSpPr txBox="1"/>
          <p:nvPr/>
        </p:nvSpPr>
        <p:spPr>
          <a:xfrm>
            <a:off x="9224133" y="1172273"/>
            <a:ext cx="2912400" cy="4587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IN" sz="2800" b="1" i="0" u="none" strike="noStrike" cap="none">
                <a:solidFill>
                  <a:srgbClr val="009ED8"/>
                </a:solidFill>
                <a:latin typeface="Calibri"/>
                <a:ea typeface="Calibri"/>
                <a:cs typeface="Calibri"/>
                <a:sym typeface="Calibri"/>
              </a:rPr>
              <a:t>390+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IN" sz="1200" b="0" i="0" u="none" strike="noStrike" cap="none">
                <a:solidFill>
                  <a:srgbClr val="575756"/>
                </a:solidFill>
                <a:latin typeface="Calibri"/>
                <a:ea typeface="Calibri"/>
                <a:cs typeface="Calibri"/>
                <a:sym typeface="Calibri"/>
              </a:rPr>
              <a:t>Multidisciplinary team</a:t>
            </a:r>
            <a:endParaRPr sz="1400" b="0" i="0" u="none" strike="noStrike" cap="none">
              <a:solidFill>
                <a:srgbClr val="575756"/>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IN" sz="1200" b="0" i="0" u="none" strike="noStrike" cap="none">
                <a:solidFill>
                  <a:srgbClr val="000000"/>
                </a:solidFill>
                <a:latin typeface="Calibri"/>
                <a:ea typeface="Calibri"/>
                <a:cs typeface="Calibri"/>
                <a:sym typeface="Calibri"/>
              </a:rPr>
              <a:t> </a:t>
            </a:r>
            <a:endParaRPr sz="1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IN" sz="2800" b="1" i="0" u="none" strike="noStrike" cap="none">
                <a:solidFill>
                  <a:srgbClr val="009ED8"/>
                </a:solidFill>
                <a:latin typeface="Calibri"/>
                <a:ea typeface="Calibri"/>
                <a:cs typeface="Calibri"/>
                <a:sym typeface="Calibri"/>
              </a:rPr>
              <a:t>550+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IN" sz="1200" b="0" i="0" u="none" strike="noStrike" cap="none">
                <a:solidFill>
                  <a:srgbClr val="575756"/>
                </a:solidFill>
                <a:latin typeface="Calibri"/>
                <a:ea typeface="Calibri"/>
                <a:cs typeface="Calibri"/>
                <a:sym typeface="Calibri"/>
              </a:rPr>
              <a:t>Peer-reviewed publications</a:t>
            </a:r>
            <a:endParaRPr sz="1400" b="0" i="0" u="none" strike="noStrike" cap="none">
              <a:solidFill>
                <a:srgbClr val="575756"/>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800"/>
              <a:buFont typeface="Arial"/>
              <a:buNone/>
            </a:pPr>
            <a:r>
              <a:rPr lang="en-IN" sz="2800" b="1" i="0" u="none" strike="noStrike" cap="none">
                <a:solidFill>
                  <a:srgbClr val="009ED8"/>
                </a:solidFill>
                <a:latin typeface="Calibri"/>
                <a:ea typeface="Calibri"/>
                <a:cs typeface="Calibri"/>
                <a:sym typeface="Calibri"/>
              </a:rPr>
              <a:t>700+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IN" sz="1200" b="0" i="0" u="none" strike="noStrike" cap="none">
                <a:solidFill>
                  <a:srgbClr val="575756"/>
                </a:solidFill>
                <a:latin typeface="Calibri"/>
                <a:ea typeface="Calibri"/>
                <a:cs typeface="Calibri"/>
                <a:sym typeface="Calibri"/>
              </a:rPr>
              <a:t>Convenings </a:t>
            </a:r>
            <a:endParaRPr sz="1400" b="0" i="0" u="none" strike="noStrike" cap="none">
              <a:solidFill>
                <a:srgbClr val="575756"/>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800"/>
              <a:buFont typeface="Arial"/>
              <a:buNone/>
            </a:pPr>
            <a:r>
              <a:rPr lang="en-IN" sz="2800" b="1" i="0" u="none" strike="noStrike" cap="none">
                <a:solidFill>
                  <a:srgbClr val="009ED8"/>
                </a:solidFill>
                <a:latin typeface="Calibri"/>
                <a:ea typeface="Calibri"/>
                <a:cs typeface="Calibri"/>
                <a:sym typeface="Calibri"/>
              </a:rPr>
              <a:t>400 million+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IN" sz="1200" b="0" i="0" u="none" strike="noStrike" cap="none">
                <a:solidFill>
                  <a:srgbClr val="575756"/>
                </a:solidFill>
                <a:latin typeface="Calibri"/>
                <a:ea typeface="Calibri"/>
                <a:cs typeface="Calibri"/>
                <a:sym typeface="Calibri"/>
              </a:rPr>
              <a:t>Lives impacted </a:t>
            </a:r>
            <a:endParaRPr sz="1400" b="0" i="0" u="none" strike="noStrike" cap="none">
              <a:solidFill>
                <a:srgbClr val="575756"/>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0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800"/>
              <a:buFont typeface="Arial"/>
              <a:buNone/>
            </a:pPr>
            <a:r>
              <a:rPr lang="en-IN" sz="2800" b="1" i="0" u="none" strike="noStrike" cap="none">
                <a:solidFill>
                  <a:srgbClr val="009ED8"/>
                </a:solidFill>
                <a:latin typeface="Calibri"/>
                <a:ea typeface="Calibri"/>
                <a:cs typeface="Calibri"/>
                <a:sym typeface="Calibri"/>
              </a:rPr>
              <a:t>11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en-IN" sz="1200" b="0" i="0" u="none" strike="noStrike" cap="none">
                <a:solidFill>
                  <a:srgbClr val="575756"/>
                </a:solidFill>
                <a:latin typeface="Calibri"/>
                <a:ea typeface="Calibri"/>
                <a:cs typeface="Calibri"/>
                <a:sym typeface="Calibri"/>
              </a:rPr>
              <a:t>Union ministries supported</a:t>
            </a:r>
            <a:endParaRPr sz="1200" b="0" i="0" u="none" strike="noStrike" cap="none">
              <a:solidFill>
                <a:srgbClr val="575756"/>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endParaRPr sz="1000" b="0" i="0" u="none" strike="noStrike" cap="none">
              <a:solidFill>
                <a:srgbClr val="575756"/>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800"/>
              <a:buFont typeface="Arial"/>
              <a:buNone/>
            </a:pPr>
            <a:r>
              <a:rPr lang="en-IN" sz="2800" b="1" i="0" u="none" strike="noStrike" cap="none">
                <a:solidFill>
                  <a:schemeClr val="accent1"/>
                </a:solidFill>
                <a:latin typeface="Calibri"/>
                <a:ea typeface="Calibri"/>
                <a:cs typeface="Calibri"/>
                <a:sym typeface="Calibri"/>
              </a:rPr>
              <a:t>20+</a:t>
            </a: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Arial"/>
              <a:buNone/>
            </a:pPr>
            <a:r>
              <a:rPr lang="en-IN" sz="1200" b="0" i="0" u="none" strike="noStrike" cap="none">
                <a:solidFill>
                  <a:srgbClr val="575756"/>
                </a:solidFill>
                <a:latin typeface="Calibri"/>
                <a:ea typeface="Calibri"/>
                <a:cs typeface="Calibri"/>
                <a:sym typeface="Calibri"/>
              </a:rPr>
              <a:t>State governments supported</a:t>
            </a:r>
            <a:endParaRPr sz="1200" b="0" i="0" u="none" strike="noStrike" cap="none">
              <a:solidFill>
                <a:srgbClr val="575756"/>
              </a:solidFill>
              <a:latin typeface="Calibri"/>
              <a:ea typeface="Calibri"/>
              <a:cs typeface="Calibri"/>
              <a:sym typeface="Calibri"/>
            </a:endParaRPr>
          </a:p>
        </p:txBody>
      </p:sp>
      <p:sp>
        <p:nvSpPr>
          <p:cNvPr id="142" name="Google Shape;142;g3a1f07bbfc6_0_0"/>
          <p:cNvSpPr txBox="1">
            <a:spLocks noGrp="1"/>
          </p:cNvSpPr>
          <p:nvPr>
            <p:ph type="sldNum" idx="12"/>
          </p:nvPr>
        </p:nvSpPr>
        <p:spPr>
          <a:xfrm>
            <a:off x="-276585" y="6235395"/>
            <a:ext cx="773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IN"/>
              <a:t>2</a:t>
            </a:fld>
            <a:r>
              <a:rPr lang="en-IN"/>
              <a:t>|</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g3f502f38a39_2_33"/>
          <p:cNvSpPr txBox="1">
            <a:spLocks noGrp="1"/>
          </p:cNvSpPr>
          <p:nvPr>
            <p:ph type="title"/>
          </p:nvPr>
        </p:nvSpPr>
        <p:spPr>
          <a:xfrm>
            <a:off x="395707" y="194428"/>
            <a:ext cx="11284400" cy="794000"/>
          </a:xfrm>
          <a:prstGeom prst="rect">
            <a:avLst/>
          </a:prstGeom>
          <a:noFill/>
          <a:ln>
            <a:noFill/>
          </a:ln>
        </p:spPr>
        <p:txBody>
          <a:bodyPr spcFirstLastPara="1" wrap="square" lIns="0" tIns="45700" rIns="0" bIns="45700" anchor="t" anchorCtr="0">
            <a:normAutofit/>
          </a:bodyPr>
          <a:lstStyle/>
          <a:p>
            <a:pPr marL="0" lvl="0" indent="0" algn="l" rtl="0">
              <a:lnSpc>
                <a:spcPct val="100000"/>
              </a:lnSpc>
              <a:spcBef>
                <a:spcPts val="0"/>
              </a:spcBef>
              <a:spcAft>
                <a:spcPts val="0"/>
              </a:spcAft>
              <a:buSzPts val="2400"/>
              <a:buNone/>
            </a:pPr>
            <a:r>
              <a:rPr lang="en-IN"/>
              <a:t>M1-Socio economic co-benefit </a:t>
            </a:r>
            <a:endParaRPr/>
          </a:p>
          <a:p>
            <a:pPr marL="0" lvl="0" indent="0" algn="l" rtl="0">
              <a:lnSpc>
                <a:spcPct val="100000"/>
              </a:lnSpc>
              <a:spcBef>
                <a:spcPts val="0"/>
              </a:spcBef>
              <a:spcAft>
                <a:spcPts val="0"/>
              </a:spcAft>
              <a:buSzPts val="2400"/>
              <a:buNone/>
            </a:pPr>
            <a:r>
              <a:rPr lang="en-IN" sz="1500" b="0"/>
              <a:t>Premise for the analysis</a:t>
            </a:r>
            <a:endParaRPr sz="1500" b="0"/>
          </a:p>
          <a:p>
            <a:pPr marL="0" lvl="0" indent="0" algn="l" rtl="0">
              <a:lnSpc>
                <a:spcPct val="100000"/>
              </a:lnSpc>
              <a:spcBef>
                <a:spcPts val="0"/>
              </a:spcBef>
              <a:spcAft>
                <a:spcPts val="0"/>
              </a:spcAft>
              <a:buSzPts val="2400"/>
              <a:buNone/>
            </a:pPr>
            <a:endParaRPr/>
          </a:p>
        </p:txBody>
      </p:sp>
      <p:sp>
        <p:nvSpPr>
          <p:cNvPr id="148" name="Google Shape;148;g3f502f38a39_2_33"/>
          <p:cNvSpPr txBox="1">
            <a:spLocks noGrp="1"/>
          </p:cNvSpPr>
          <p:nvPr>
            <p:ph type="body" idx="1"/>
          </p:nvPr>
        </p:nvSpPr>
        <p:spPr>
          <a:xfrm>
            <a:off x="395700" y="988332"/>
            <a:ext cx="11284400" cy="58056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500"/>
              </a:spcBef>
              <a:spcAft>
                <a:spcPts val="0"/>
              </a:spcAft>
              <a:buSzPts val="2300"/>
              <a:buNone/>
            </a:pPr>
            <a:r>
              <a:rPr lang="en-IN"/>
              <a:t>&gt;&gt; Using Amritsar OD survey conducted on September,2025 we did a Difference in Difference analysis for monthly travel expenditure.</a:t>
            </a:r>
            <a:endParaRPr/>
          </a:p>
          <a:p>
            <a:pPr marL="0" lvl="0" indent="0" algn="l" rtl="0">
              <a:lnSpc>
                <a:spcPct val="100000"/>
              </a:lnSpc>
              <a:spcBef>
                <a:spcPts val="500"/>
              </a:spcBef>
              <a:spcAft>
                <a:spcPts val="0"/>
              </a:spcAft>
              <a:buSzPts val="2300"/>
              <a:buNone/>
            </a:pPr>
            <a:endParaRPr/>
          </a:p>
          <a:p>
            <a:pPr marL="0" lvl="0" indent="0" algn="l" rtl="0">
              <a:lnSpc>
                <a:spcPct val="100000"/>
              </a:lnSpc>
              <a:spcBef>
                <a:spcPts val="500"/>
              </a:spcBef>
              <a:spcAft>
                <a:spcPts val="0"/>
              </a:spcAft>
              <a:buSzPts val="2300"/>
              <a:buNone/>
            </a:pPr>
            <a:r>
              <a:rPr lang="en-IN"/>
              <a:t>&gt;&gt; There were a total of 705 respondents from 36 different survey locations scattered across the city.</a:t>
            </a:r>
            <a:endParaRPr/>
          </a:p>
          <a:p>
            <a:pPr marL="0" lvl="0" indent="0" algn="l" rtl="0">
              <a:lnSpc>
                <a:spcPct val="100000"/>
              </a:lnSpc>
              <a:spcBef>
                <a:spcPts val="500"/>
              </a:spcBef>
              <a:spcAft>
                <a:spcPts val="0"/>
              </a:spcAft>
              <a:buSzPts val="2300"/>
              <a:buNone/>
            </a:pPr>
            <a:endParaRPr/>
          </a:p>
          <a:p>
            <a:pPr marL="0" lvl="0" indent="0" algn="l" rtl="0">
              <a:lnSpc>
                <a:spcPct val="100000"/>
              </a:lnSpc>
              <a:spcBef>
                <a:spcPts val="500"/>
              </a:spcBef>
              <a:spcAft>
                <a:spcPts val="0"/>
              </a:spcAft>
              <a:buSzPts val="2300"/>
              <a:buNone/>
            </a:pPr>
            <a:r>
              <a:rPr lang="en-IN"/>
              <a:t>&gt;&gt; for the analysis we made the following assumptions.</a:t>
            </a:r>
            <a:endParaRPr/>
          </a:p>
          <a:p>
            <a:pPr marL="609600" lvl="0" indent="0" algn="l" rtl="0">
              <a:lnSpc>
                <a:spcPct val="100000"/>
              </a:lnSpc>
              <a:spcBef>
                <a:spcPts val="500"/>
              </a:spcBef>
              <a:spcAft>
                <a:spcPts val="0"/>
              </a:spcAft>
              <a:buSzPts val="2300"/>
              <a:buNone/>
            </a:pPr>
            <a:endParaRPr/>
          </a:p>
          <a:p>
            <a:pPr marL="609600" lvl="0" indent="-450850" algn="l" rtl="0">
              <a:lnSpc>
                <a:spcPct val="100000"/>
              </a:lnSpc>
              <a:spcBef>
                <a:spcPts val="500"/>
              </a:spcBef>
              <a:spcAft>
                <a:spcPts val="0"/>
              </a:spcAft>
              <a:buSzPts val="2300"/>
              <a:buAutoNum type="arabicPeriod"/>
            </a:pPr>
            <a:r>
              <a:rPr lang="en-IN"/>
              <a:t>Income wasn’t part of the survey so imputed it from PLFS 2025 based on profession.</a:t>
            </a:r>
            <a:endParaRPr/>
          </a:p>
          <a:p>
            <a:pPr marL="609600" lvl="0" indent="0" algn="l" rtl="0">
              <a:lnSpc>
                <a:spcPct val="100000"/>
              </a:lnSpc>
              <a:spcBef>
                <a:spcPts val="500"/>
              </a:spcBef>
              <a:spcAft>
                <a:spcPts val="0"/>
              </a:spcAft>
              <a:buSzPts val="2300"/>
              <a:buNone/>
            </a:pPr>
            <a:endParaRPr/>
          </a:p>
          <a:p>
            <a:pPr marL="609600" lvl="0" indent="-450850" algn="l" rtl="0">
              <a:lnSpc>
                <a:spcPct val="100000"/>
              </a:lnSpc>
              <a:spcBef>
                <a:spcPts val="500"/>
              </a:spcBef>
              <a:spcAft>
                <a:spcPts val="0"/>
              </a:spcAft>
              <a:buSzPts val="2300"/>
              <a:buAutoNum type="arabicPeriod"/>
            </a:pPr>
            <a:r>
              <a:rPr lang="en-IN"/>
              <a:t>Used low ambition modal shift randomly assigned to survey respondents to make a pseudo longitudinal data.</a:t>
            </a:r>
            <a:endParaRPr/>
          </a:p>
        </p:txBody>
      </p:sp>
      <p:sp>
        <p:nvSpPr>
          <p:cNvPr id="149" name="Google Shape;149;g3f502f38a39_2_33"/>
          <p:cNvSpPr txBox="1">
            <a:spLocks noGrp="1"/>
          </p:cNvSpPr>
          <p:nvPr>
            <p:ph type="body" idx="2"/>
          </p:nvPr>
        </p:nvSpPr>
        <p:spPr>
          <a:xfrm>
            <a:off x="395707" y="6475388"/>
            <a:ext cx="9740800" cy="383200"/>
          </a:xfrm>
          <a:prstGeom prst="rect">
            <a:avLst/>
          </a:prstGeom>
          <a:noFill/>
          <a:ln>
            <a:noFill/>
          </a:ln>
        </p:spPr>
        <p:txBody>
          <a:bodyPr spcFirstLastPara="1" wrap="square" lIns="0" tIns="45700" rIns="91425" bIns="45700" anchor="ctr" anchorCtr="0">
            <a:noAutofit/>
          </a:bodyPr>
          <a:lstStyle/>
          <a:p>
            <a:pPr marL="0" lvl="0" indent="0" algn="l" rtl="0">
              <a:lnSpc>
                <a:spcPct val="100000"/>
              </a:lnSpc>
              <a:spcBef>
                <a:spcPts val="300"/>
              </a:spcBef>
              <a:spcAft>
                <a:spcPts val="0"/>
              </a:spcAft>
              <a:buSzPts val="90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g3f502f38a39_2_40"/>
          <p:cNvSpPr txBox="1">
            <a:spLocks noGrp="1"/>
          </p:cNvSpPr>
          <p:nvPr>
            <p:ph type="title"/>
          </p:nvPr>
        </p:nvSpPr>
        <p:spPr>
          <a:xfrm>
            <a:off x="395707" y="194428"/>
            <a:ext cx="11284400" cy="794000"/>
          </a:xfrm>
          <a:prstGeom prst="rect">
            <a:avLst/>
          </a:prstGeom>
          <a:noFill/>
          <a:ln>
            <a:noFill/>
          </a:ln>
        </p:spPr>
        <p:txBody>
          <a:bodyPr spcFirstLastPara="1" wrap="square" lIns="0" tIns="45700" rIns="0" bIns="45700" anchor="t" anchorCtr="0">
            <a:normAutofit/>
          </a:bodyPr>
          <a:lstStyle/>
          <a:p>
            <a:pPr marL="0" lvl="0" indent="0" algn="l" rtl="0">
              <a:lnSpc>
                <a:spcPct val="100000"/>
              </a:lnSpc>
              <a:spcBef>
                <a:spcPts val="0"/>
              </a:spcBef>
              <a:spcAft>
                <a:spcPts val="0"/>
              </a:spcAft>
              <a:buSzPts val="2400"/>
              <a:buNone/>
            </a:pPr>
            <a:r>
              <a:rPr lang="en-IN"/>
              <a:t>Pre-Treatment</a:t>
            </a:r>
            <a:endParaRPr/>
          </a:p>
          <a:p>
            <a:pPr marL="0" lvl="0" indent="0" algn="l" rtl="0">
              <a:lnSpc>
                <a:spcPct val="100000"/>
              </a:lnSpc>
              <a:spcBef>
                <a:spcPts val="0"/>
              </a:spcBef>
              <a:spcAft>
                <a:spcPts val="0"/>
              </a:spcAft>
              <a:buSzPts val="2400"/>
              <a:buNone/>
            </a:pPr>
            <a:r>
              <a:rPr lang="en-IN" sz="1900" b="0"/>
              <a:t>The baseline</a:t>
            </a:r>
            <a:endParaRPr sz="1900" b="0"/>
          </a:p>
        </p:txBody>
      </p:sp>
      <p:sp>
        <p:nvSpPr>
          <p:cNvPr id="155" name="Google Shape;155;g3f502f38a39_2_40"/>
          <p:cNvSpPr txBox="1">
            <a:spLocks noGrp="1"/>
          </p:cNvSpPr>
          <p:nvPr>
            <p:ph type="body" idx="2"/>
          </p:nvPr>
        </p:nvSpPr>
        <p:spPr>
          <a:xfrm>
            <a:off x="395707" y="6475388"/>
            <a:ext cx="9740800" cy="383200"/>
          </a:xfrm>
          <a:prstGeom prst="rect">
            <a:avLst/>
          </a:prstGeom>
          <a:noFill/>
          <a:ln>
            <a:noFill/>
          </a:ln>
        </p:spPr>
        <p:txBody>
          <a:bodyPr spcFirstLastPara="1" wrap="square" lIns="0" tIns="45700" rIns="91425" bIns="45700" anchor="ctr" anchorCtr="0">
            <a:noAutofit/>
          </a:bodyPr>
          <a:lstStyle/>
          <a:p>
            <a:pPr marL="0" lvl="0" indent="0" algn="l" rtl="0">
              <a:lnSpc>
                <a:spcPct val="100000"/>
              </a:lnSpc>
              <a:spcBef>
                <a:spcPts val="300"/>
              </a:spcBef>
              <a:spcAft>
                <a:spcPts val="0"/>
              </a:spcAft>
              <a:buSzPts val="900"/>
              <a:buNone/>
            </a:pPr>
            <a:endParaRPr/>
          </a:p>
        </p:txBody>
      </p:sp>
      <p:sp>
        <p:nvSpPr>
          <p:cNvPr id="156" name="Google Shape;156;g3f502f38a39_2_40"/>
          <p:cNvSpPr/>
          <p:nvPr/>
        </p:nvSpPr>
        <p:spPr>
          <a:xfrm>
            <a:off x="351440" y="1463040"/>
            <a:ext cx="2606000" cy="1417200"/>
          </a:xfrm>
          <a:prstGeom prst="rect">
            <a:avLst/>
          </a:prstGeom>
          <a:solidFill>
            <a:srgbClr val="F7F9F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g3f502f38a39_2_40"/>
          <p:cNvSpPr/>
          <p:nvPr/>
        </p:nvSpPr>
        <p:spPr>
          <a:xfrm>
            <a:off x="3396440" y="1463040"/>
            <a:ext cx="2606000" cy="1417200"/>
          </a:xfrm>
          <a:prstGeom prst="rect">
            <a:avLst/>
          </a:prstGeom>
          <a:solidFill>
            <a:srgbClr val="F7F9F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g3f502f38a39_2_40"/>
          <p:cNvSpPr/>
          <p:nvPr/>
        </p:nvSpPr>
        <p:spPr>
          <a:xfrm>
            <a:off x="6387607" y="1463040"/>
            <a:ext cx="2606000" cy="1417200"/>
          </a:xfrm>
          <a:prstGeom prst="rect">
            <a:avLst/>
          </a:prstGeom>
          <a:solidFill>
            <a:srgbClr val="F7F9F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g3f502f38a39_2_40"/>
          <p:cNvSpPr/>
          <p:nvPr/>
        </p:nvSpPr>
        <p:spPr>
          <a:xfrm>
            <a:off x="9378773" y="1463040"/>
            <a:ext cx="2606000" cy="1417200"/>
          </a:xfrm>
          <a:prstGeom prst="rect">
            <a:avLst/>
          </a:prstGeom>
          <a:solidFill>
            <a:srgbClr val="F7F9F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60" name="Google Shape;160;g3f502f38a39_2_40" descr="preencoded.png"/>
          <p:cNvPicPr preferRelativeResize="0"/>
          <p:nvPr/>
        </p:nvPicPr>
        <p:blipFill rotWithShape="1">
          <a:blip r:embed="rId3">
            <a:alphaModFix/>
          </a:blip>
          <a:srcRect/>
          <a:stretch/>
        </p:blipFill>
        <p:spPr>
          <a:xfrm>
            <a:off x="517240" y="1637308"/>
            <a:ext cx="274320" cy="274320"/>
          </a:xfrm>
          <a:prstGeom prst="rect">
            <a:avLst/>
          </a:prstGeom>
          <a:noFill/>
          <a:ln>
            <a:noFill/>
          </a:ln>
        </p:spPr>
      </p:pic>
      <p:pic>
        <p:nvPicPr>
          <p:cNvPr id="161" name="Google Shape;161;g3f502f38a39_2_40" descr="preencoded.png"/>
          <p:cNvPicPr preferRelativeResize="0"/>
          <p:nvPr/>
        </p:nvPicPr>
        <p:blipFill rotWithShape="1">
          <a:blip r:embed="rId4">
            <a:alphaModFix/>
          </a:blip>
          <a:srcRect/>
          <a:stretch/>
        </p:blipFill>
        <p:spPr>
          <a:xfrm>
            <a:off x="3593415" y="1637308"/>
            <a:ext cx="274320" cy="274320"/>
          </a:xfrm>
          <a:prstGeom prst="rect">
            <a:avLst/>
          </a:prstGeom>
          <a:noFill/>
          <a:ln>
            <a:noFill/>
          </a:ln>
        </p:spPr>
      </p:pic>
      <p:pic>
        <p:nvPicPr>
          <p:cNvPr id="162" name="Google Shape;162;g3f502f38a39_2_40" descr="preencoded.png"/>
          <p:cNvPicPr preferRelativeResize="0"/>
          <p:nvPr/>
        </p:nvPicPr>
        <p:blipFill rotWithShape="1">
          <a:blip r:embed="rId5">
            <a:alphaModFix/>
          </a:blip>
          <a:srcRect/>
          <a:stretch/>
        </p:blipFill>
        <p:spPr>
          <a:xfrm>
            <a:off x="6539856" y="1637308"/>
            <a:ext cx="274320" cy="274320"/>
          </a:xfrm>
          <a:prstGeom prst="rect">
            <a:avLst/>
          </a:prstGeom>
          <a:noFill/>
          <a:ln>
            <a:noFill/>
          </a:ln>
        </p:spPr>
      </p:pic>
      <p:pic>
        <p:nvPicPr>
          <p:cNvPr id="163" name="Google Shape;163;g3f502f38a39_2_40" descr="preencoded.png"/>
          <p:cNvPicPr preferRelativeResize="0"/>
          <p:nvPr/>
        </p:nvPicPr>
        <p:blipFill rotWithShape="1">
          <a:blip r:embed="rId6">
            <a:alphaModFix/>
          </a:blip>
          <a:srcRect/>
          <a:stretch/>
        </p:blipFill>
        <p:spPr>
          <a:xfrm>
            <a:off x="9486297" y="1637308"/>
            <a:ext cx="274320" cy="274320"/>
          </a:xfrm>
          <a:prstGeom prst="rect">
            <a:avLst/>
          </a:prstGeom>
          <a:noFill/>
          <a:ln>
            <a:noFill/>
          </a:ln>
        </p:spPr>
      </p:pic>
      <p:sp>
        <p:nvSpPr>
          <p:cNvPr id="164" name="Google Shape;164;g3f502f38a39_2_40"/>
          <p:cNvSpPr/>
          <p:nvPr/>
        </p:nvSpPr>
        <p:spPr>
          <a:xfrm>
            <a:off x="517240" y="1920240"/>
            <a:ext cx="2148800" cy="502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6324F"/>
              </a:buClr>
              <a:buSzPts val="2700"/>
              <a:buFont typeface="Cambria"/>
              <a:buNone/>
            </a:pPr>
            <a:r>
              <a:rPr lang="en-IN" sz="2700" b="1" i="0" u="none" strike="noStrike" cap="none">
                <a:solidFill>
                  <a:srgbClr val="16324F"/>
                </a:solidFill>
                <a:latin typeface="Cambria"/>
                <a:ea typeface="Cambria"/>
                <a:cs typeface="Cambria"/>
                <a:sym typeface="Cambria"/>
              </a:rPr>
              <a:t>705</a:t>
            </a:r>
            <a:endParaRPr sz="2700" b="0" i="0" u="none" strike="noStrike" cap="none">
              <a:solidFill>
                <a:schemeClr val="dk1"/>
              </a:solidFill>
              <a:latin typeface="Calibri"/>
              <a:ea typeface="Calibri"/>
              <a:cs typeface="Calibri"/>
              <a:sym typeface="Calibri"/>
            </a:endParaRPr>
          </a:p>
        </p:txBody>
      </p:sp>
      <p:pic>
        <p:nvPicPr>
          <p:cNvPr id="165" name="Google Shape;165;g3f502f38a39_2_40"/>
          <p:cNvPicPr preferRelativeResize="0"/>
          <p:nvPr/>
        </p:nvPicPr>
        <p:blipFill rotWithShape="1">
          <a:blip r:embed="rId7">
            <a:alphaModFix/>
          </a:blip>
          <a:srcRect/>
          <a:stretch/>
        </p:blipFill>
        <p:spPr>
          <a:xfrm>
            <a:off x="351440" y="3502507"/>
            <a:ext cx="5943600" cy="2788800"/>
          </a:xfrm>
          <a:prstGeom prst="rect">
            <a:avLst/>
          </a:prstGeom>
          <a:noFill/>
          <a:ln>
            <a:noFill/>
          </a:ln>
        </p:spPr>
      </p:pic>
      <p:sp>
        <p:nvSpPr>
          <p:cNvPr id="166" name="Google Shape;166;g3f502f38a39_2_40"/>
          <p:cNvSpPr txBox="1"/>
          <p:nvPr/>
        </p:nvSpPr>
        <p:spPr>
          <a:xfrm>
            <a:off x="351433" y="3182800"/>
            <a:ext cx="5163600" cy="492400"/>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IN" sz="1600" b="0" i="0" u="none" strike="noStrike" cap="none">
                <a:solidFill>
                  <a:schemeClr val="dk1"/>
                </a:solidFill>
                <a:latin typeface="Calibri"/>
                <a:ea typeface="Calibri"/>
                <a:cs typeface="Calibri"/>
                <a:sym typeface="Calibri"/>
              </a:rPr>
              <a:t>Pre-Treatment transport expenditure</a:t>
            </a:r>
            <a:endParaRPr sz="1600" b="0" i="0" u="none" strike="noStrike" cap="none">
              <a:solidFill>
                <a:schemeClr val="dk1"/>
              </a:solidFill>
              <a:latin typeface="Calibri"/>
              <a:ea typeface="Calibri"/>
              <a:cs typeface="Calibri"/>
              <a:sym typeface="Calibri"/>
            </a:endParaRPr>
          </a:p>
        </p:txBody>
      </p:sp>
      <p:sp>
        <p:nvSpPr>
          <p:cNvPr id="167" name="Google Shape;167;g3f502f38a39_2_40"/>
          <p:cNvSpPr txBox="1"/>
          <p:nvPr/>
        </p:nvSpPr>
        <p:spPr>
          <a:xfrm>
            <a:off x="395700" y="2280417"/>
            <a:ext cx="5163600" cy="410400"/>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IN" sz="1100" b="0" i="0" u="none" strike="noStrike" cap="none">
                <a:solidFill>
                  <a:schemeClr val="dk1"/>
                </a:solidFill>
                <a:latin typeface="Calibri"/>
                <a:ea typeface="Calibri"/>
                <a:cs typeface="Calibri"/>
                <a:sym typeface="Calibri"/>
              </a:rPr>
              <a:t>Sample size</a:t>
            </a:r>
            <a:endParaRPr sz="1100" b="0" i="0" u="none" strike="noStrike" cap="none">
              <a:solidFill>
                <a:schemeClr val="dk1"/>
              </a:solidFill>
              <a:latin typeface="Calibri"/>
              <a:ea typeface="Calibri"/>
              <a:cs typeface="Calibri"/>
              <a:sym typeface="Calibri"/>
            </a:endParaRPr>
          </a:p>
        </p:txBody>
      </p:sp>
      <p:sp>
        <p:nvSpPr>
          <p:cNvPr id="168" name="Google Shape;168;g3f502f38a39_2_40"/>
          <p:cNvSpPr/>
          <p:nvPr/>
        </p:nvSpPr>
        <p:spPr>
          <a:xfrm>
            <a:off x="3584448" y="1920240"/>
            <a:ext cx="2148800" cy="502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6324F"/>
              </a:buClr>
              <a:buSzPts val="2700"/>
              <a:buFont typeface="Cambria"/>
              <a:buNone/>
            </a:pPr>
            <a:r>
              <a:rPr lang="en-IN" sz="2700" b="1" i="0" u="none" strike="noStrike" cap="none">
                <a:solidFill>
                  <a:srgbClr val="16324F"/>
                </a:solidFill>
                <a:latin typeface="Cambria"/>
                <a:ea typeface="Cambria"/>
                <a:cs typeface="Cambria"/>
                <a:sym typeface="Cambria"/>
              </a:rPr>
              <a:t>36</a:t>
            </a:r>
            <a:endParaRPr sz="2700" b="0" i="0" u="none" strike="noStrike" cap="none">
              <a:solidFill>
                <a:schemeClr val="dk1"/>
              </a:solidFill>
              <a:latin typeface="Calibri"/>
              <a:ea typeface="Calibri"/>
              <a:cs typeface="Calibri"/>
              <a:sym typeface="Calibri"/>
            </a:endParaRPr>
          </a:p>
        </p:txBody>
      </p:sp>
      <p:sp>
        <p:nvSpPr>
          <p:cNvPr id="169" name="Google Shape;169;g3f502f38a39_2_40"/>
          <p:cNvSpPr/>
          <p:nvPr/>
        </p:nvSpPr>
        <p:spPr>
          <a:xfrm>
            <a:off x="3552331" y="2318610"/>
            <a:ext cx="2240400" cy="45720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64748B"/>
              </a:buClr>
              <a:buSzPts val="1100"/>
              <a:buFont typeface="Calibri"/>
              <a:buNone/>
            </a:pPr>
            <a:r>
              <a:rPr lang="en-IN" sz="1100" b="0" i="0" u="none" strike="noStrike" cap="none">
                <a:solidFill>
                  <a:schemeClr val="dk1"/>
                </a:solidFill>
                <a:latin typeface="Calibri"/>
                <a:ea typeface="Calibri"/>
                <a:cs typeface="Calibri"/>
                <a:sym typeface="Calibri"/>
              </a:rPr>
              <a:t>survey locations</a:t>
            </a:r>
            <a:endParaRPr sz="1100" b="0" i="0" u="none" strike="noStrike" cap="none">
              <a:solidFill>
                <a:schemeClr val="dk1"/>
              </a:solidFill>
              <a:latin typeface="Calibri"/>
              <a:ea typeface="Calibri"/>
              <a:cs typeface="Calibri"/>
              <a:sym typeface="Calibri"/>
            </a:endParaRPr>
          </a:p>
          <a:p>
            <a:pPr marL="0" marR="0" lvl="0" indent="0" algn="l" rtl="0">
              <a:lnSpc>
                <a:spcPct val="110000"/>
              </a:lnSpc>
              <a:spcBef>
                <a:spcPts val="0"/>
              </a:spcBef>
              <a:spcAft>
                <a:spcPts val="0"/>
              </a:spcAft>
              <a:buClr>
                <a:srgbClr val="64748B"/>
              </a:buClr>
              <a:buSzPts val="1100"/>
              <a:buFont typeface="Calibri"/>
              <a:buNone/>
            </a:pPr>
            <a:r>
              <a:rPr lang="en-IN" sz="1100" b="0" i="0" u="none" strike="noStrike" cap="none">
                <a:solidFill>
                  <a:schemeClr val="dk1"/>
                </a:solidFill>
                <a:latin typeface="Calibri"/>
                <a:ea typeface="Calibri"/>
                <a:cs typeface="Calibri"/>
                <a:sym typeface="Calibri"/>
              </a:rPr>
              <a:t>across Amritsar</a:t>
            </a:r>
            <a:endParaRPr sz="1100" b="0" i="0" u="none" strike="noStrike" cap="none">
              <a:solidFill>
                <a:schemeClr val="dk1"/>
              </a:solidFill>
              <a:latin typeface="Calibri"/>
              <a:ea typeface="Calibri"/>
              <a:cs typeface="Calibri"/>
              <a:sym typeface="Calibri"/>
            </a:endParaRPr>
          </a:p>
        </p:txBody>
      </p:sp>
      <p:sp>
        <p:nvSpPr>
          <p:cNvPr id="170" name="Google Shape;170;g3f502f38a39_2_40"/>
          <p:cNvSpPr/>
          <p:nvPr/>
        </p:nvSpPr>
        <p:spPr>
          <a:xfrm>
            <a:off x="6511339" y="1920240"/>
            <a:ext cx="2148800" cy="502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6324F"/>
              </a:buClr>
              <a:buSzPts val="2700"/>
              <a:buFont typeface="Cambria"/>
              <a:buNone/>
            </a:pPr>
            <a:r>
              <a:rPr lang="en-IN" sz="2700" b="1" i="0" u="none" strike="noStrike" cap="none">
                <a:solidFill>
                  <a:srgbClr val="16324F"/>
                </a:solidFill>
                <a:latin typeface="Cambria"/>
                <a:ea typeface="Cambria"/>
                <a:cs typeface="Cambria"/>
                <a:sym typeface="Cambria"/>
              </a:rPr>
              <a:t>88</a:t>
            </a:r>
            <a:endParaRPr sz="2700" b="0" i="0" u="none" strike="noStrike" cap="none">
              <a:solidFill>
                <a:schemeClr val="dk1"/>
              </a:solidFill>
              <a:latin typeface="Calibri"/>
              <a:ea typeface="Calibri"/>
              <a:cs typeface="Calibri"/>
              <a:sym typeface="Calibri"/>
            </a:endParaRPr>
          </a:p>
        </p:txBody>
      </p:sp>
      <p:sp>
        <p:nvSpPr>
          <p:cNvPr id="171" name="Google Shape;171;g3f502f38a39_2_40"/>
          <p:cNvSpPr/>
          <p:nvPr/>
        </p:nvSpPr>
        <p:spPr>
          <a:xfrm>
            <a:off x="6465539" y="2318593"/>
            <a:ext cx="2240400" cy="45720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64748B"/>
              </a:buClr>
              <a:buSzPts val="1100"/>
              <a:buFont typeface="Calibri"/>
              <a:buNone/>
            </a:pPr>
            <a:r>
              <a:rPr lang="en-IN" sz="1100" b="0" i="0" u="none" strike="noStrike" cap="none">
                <a:solidFill>
                  <a:schemeClr val="dk1"/>
                </a:solidFill>
                <a:latin typeface="Calibri"/>
                <a:ea typeface="Calibri"/>
                <a:cs typeface="Calibri"/>
                <a:sym typeface="Calibri"/>
              </a:rPr>
              <a:t>treated obs.</a:t>
            </a:r>
            <a:endParaRPr sz="1100" b="0" i="0" u="none" strike="noStrike" cap="none">
              <a:solidFill>
                <a:schemeClr val="dk1"/>
              </a:solidFill>
              <a:latin typeface="Calibri"/>
              <a:ea typeface="Calibri"/>
              <a:cs typeface="Calibri"/>
              <a:sym typeface="Calibri"/>
            </a:endParaRPr>
          </a:p>
          <a:p>
            <a:pPr marL="0" marR="0" lvl="0" indent="0" algn="l" rtl="0">
              <a:lnSpc>
                <a:spcPct val="110000"/>
              </a:lnSpc>
              <a:spcBef>
                <a:spcPts val="0"/>
              </a:spcBef>
              <a:spcAft>
                <a:spcPts val="0"/>
              </a:spcAft>
              <a:buClr>
                <a:srgbClr val="64748B"/>
              </a:buClr>
              <a:buSzPts val="1100"/>
              <a:buFont typeface="Calibri"/>
              <a:buNone/>
            </a:pPr>
            <a:endParaRPr sz="1100" b="0" i="0" u="none" strike="noStrike" cap="none">
              <a:solidFill>
                <a:schemeClr val="dk1"/>
              </a:solidFill>
              <a:latin typeface="Calibri"/>
              <a:ea typeface="Calibri"/>
              <a:cs typeface="Calibri"/>
              <a:sym typeface="Calibri"/>
            </a:endParaRPr>
          </a:p>
        </p:txBody>
      </p:sp>
      <p:sp>
        <p:nvSpPr>
          <p:cNvPr id="172" name="Google Shape;172;g3f502f38a39_2_40"/>
          <p:cNvSpPr/>
          <p:nvPr/>
        </p:nvSpPr>
        <p:spPr>
          <a:xfrm>
            <a:off x="9438231" y="1920240"/>
            <a:ext cx="2148800" cy="502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6324F"/>
              </a:buClr>
              <a:buSzPts val="2700"/>
              <a:buFont typeface="Cambria"/>
              <a:buNone/>
            </a:pPr>
            <a:r>
              <a:rPr lang="en-IN" sz="2700" b="1" i="0" u="none" strike="noStrike" cap="none">
                <a:solidFill>
                  <a:srgbClr val="16324F"/>
                </a:solidFill>
                <a:latin typeface="Cambria"/>
                <a:ea typeface="Cambria"/>
                <a:cs typeface="Cambria"/>
                <a:sym typeface="Cambria"/>
              </a:rPr>
              <a:t>617</a:t>
            </a:r>
            <a:endParaRPr sz="2700" b="0" i="0" u="none" strike="noStrike" cap="none">
              <a:solidFill>
                <a:schemeClr val="dk1"/>
              </a:solidFill>
              <a:latin typeface="Calibri"/>
              <a:ea typeface="Calibri"/>
              <a:cs typeface="Calibri"/>
              <a:sym typeface="Calibri"/>
            </a:endParaRPr>
          </a:p>
        </p:txBody>
      </p:sp>
      <p:sp>
        <p:nvSpPr>
          <p:cNvPr id="173" name="Google Shape;173;g3f502f38a39_2_40"/>
          <p:cNvSpPr/>
          <p:nvPr/>
        </p:nvSpPr>
        <p:spPr>
          <a:xfrm>
            <a:off x="9486297" y="2318593"/>
            <a:ext cx="2240400" cy="45720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64748B"/>
              </a:buClr>
              <a:buSzPts val="1100"/>
              <a:buFont typeface="Calibri"/>
              <a:buNone/>
            </a:pPr>
            <a:r>
              <a:rPr lang="en-IN" sz="1100" b="0" i="0" u="none" strike="noStrike" cap="none">
                <a:solidFill>
                  <a:schemeClr val="dk1"/>
                </a:solidFill>
                <a:latin typeface="Calibri"/>
                <a:ea typeface="Calibri"/>
                <a:cs typeface="Calibri"/>
                <a:sym typeface="Calibri"/>
              </a:rPr>
              <a:t>comparison obs.</a:t>
            </a:r>
            <a:endParaRPr sz="1100" b="0" i="0" u="none" strike="noStrike" cap="none">
              <a:solidFill>
                <a:schemeClr val="dk1"/>
              </a:solidFill>
              <a:latin typeface="Calibri"/>
              <a:ea typeface="Calibri"/>
              <a:cs typeface="Calibri"/>
              <a:sym typeface="Calibri"/>
            </a:endParaRPr>
          </a:p>
          <a:p>
            <a:pPr marL="0" marR="0" lvl="0" indent="0" algn="l" rtl="0">
              <a:lnSpc>
                <a:spcPct val="110000"/>
              </a:lnSpc>
              <a:spcBef>
                <a:spcPts val="0"/>
              </a:spcBef>
              <a:spcAft>
                <a:spcPts val="0"/>
              </a:spcAft>
              <a:buClr>
                <a:srgbClr val="64748B"/>
              </a:buClr>
              <a:buSzPts val="1100"/>
              <a:buFont typeface="Calibri"/>
              <a:buNone/>
            </a:pPr>
            <a:endParaRPr sz="1100" b="0" i="0" u="none" strike="noStrike" cap="none">
              <a:solidFill>
                <a:schemeClr val="dk1"/>
              </a:solidFill>
              <a:latin typeface="Calibri"/>
              <a:ea typeface="Calibri"/>
              <a:cs typeface="Calibri"/>
              <a:sym typeface="Calibri"/>
            </a:endParaRPr>
          </a:p>
        </p:txBody>
      </p:sp>
      <p:sp>
        <p:nvSpPr>
          <p:cNvPr id="174" name="Google Shape;174;g3f502f38a39_2_40"/>
          <p:cNvSpPr/>
          <p:nvPr/>
        </p:nvSpPr>
        <p:spPr>
          <a:xfrm>
            <a:off x="6903720" y="3154680"/>
            <a:ext cx="4709200" cy="3154800"/>
          </a:xfrm>
          <a:prstGeom prst="rect">
            <a:avLst/>
          </a:prstGeom>
          <a:solidFill>
            <a:srgbClr val="FBF3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g3f502f38a39_2_40"/>
          <p:cNvSpPr/>
          <p:nvPr/>
        </p:nvSpPr>
        <p:spPr>
          <a:xfrm>
            <a:off x="7149985" y="3354848"/>
            <a:ext cx="3794800" cy="411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500"/>
              <a:buFont typeface="Cambria"/>
              <a:buNone/>
            </a:pPr>
            <a:r>
              <a:rPr lang="en-IN" sz="1500" b="1" i="0" u="none" strike="noStrike" cap="none">
                <a:solidFill>
                  <a:srgbClr val="1E293B"/>
                </a:solidFill>
                <a:latin typeface="Cambria"/>
                <a:ea typeface="Cambria"/>
                <a:cs typeface="Cambria"/>
                <a:sym typeface="Cambria"/>
              </a:rPr>
              <a:t>What the baseline tells us ?</a:t>
            </a:r>
            <a:endParaRPr sz="1500" b="0" i="0" u="none" strike="noStrike" cap="none">
              <a:solidFill>
                <a:schemeClr val="dk1"/>
              </a:solidFill>
              <a:latin typeface="Calibri"/>
              <a:ea typeface="Calibri"/>
              <a:cs typeface="Calibri"/>
              <a:sym typeface="Calibri"/>
            </a:endParaRPr>
          </a:p>
        </p:txBody>
      </p:sp>
      <p:sp>
        <p:nvSpPr>
          <p:cNvPr id="176" name="Google Shape;176;g3f502f38a39_2_40"/>
          <p:cNvSpPr/>
          <p:nvPr/>
        </p:nvSpPr>
        <p:spPr>
          <a:xfrm>
            <a:off x="7178040" y="3867912"/>
            <a:ext cx="4160400" cy="228600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1E293B"/>
              </a:buClr>
              <a:buSzPts val="1200"/>
              <a:buFont typeface="Calibri"/>
              <a:buNone/>
            </a:pPr>
            <a:r>
              <a:rPr lang="en-IN" sz="1200" b="0" i="0" u="none" strike="noStrike" cap="none">
                <a:solidFill>
                  <a:srgbClr val="1E293B"/>
                </a:solidFill>
                <a:latin typeface="Calibri"/>
                <a:ea typeface="Calibri"/>
                <a:cs typeface="Calibri"/>
                <a:sym typeface="Calibri"/>
              </a:rPr>
              <a:t>Before any bus service, treated individuals already spent about ₹80/month more on transport than control group.</a:t>
            </a:r>
            <a:endParaRPr sz="1200" b="0" i="0" u="none" strike="noStrike" cap="none">
              <a:solidFill>
                <a:schemeClr val="dk1"/>
              </a:solidFill>
              <a:latin typeface="Calibri"/>
              <a:ea typeface="Calibri"/>
              <a:cs typeface="Calibri"/>
              <a:sym typeface="Calibri"/>
            </a:endParaRPr>
          </a:p>
          <a:p>
            <a:pPr marL="0" marR="0" lvl="0" indent="0" algn="l" rtl="0">
              <a:lnSpc>
                <a:spcPct val="125000"/>
              </a:lnSpc>
              <a:spcBef>
                <a:spcPts val="800"/>
              </a:spcBef>
              <a:spcAft>
                <a:spcPts val="0"/>
              </a:spcAft>
              <a:buClr>
                <a:srgbClr val="1E293B"/>
              </a:buClr>
              <a:buSzPts val="1200"/>
              <a:buFont typeface="Calibri"/>
              <a:buNone/>
            </a:pPr>
            <a:r>
              <a:rPr lang="en-IN" sz="1200" b="0" i="0" u="none" strike="noStrike" cap="none">
                <a:solidFill>
                  <a:srgbClr val="1E293B"/>
                </a:solidFill>
                <a:latin typeface="Calibri"/>
                <a:ea typeface="Calibri"/>
                <a:cs typeface="Calibri"/>
                <a:sym typeface="Calibri"/>
              </a:rPr>
              <a:t>This gap is exactly why we use DiD rather than a simple before/after comparison — the two groups were never identical to start with.</a:t>
            </a:r>
            <a:endParaRPr sz="1200" b="0" i="0" u="none" strike="noStrike" cap="none">
              <a:solidFill>
                <a:schemeClr val="dk1"/>
              </a:solidFill>
              <a:latin typeface="Calibri"/>
              <a:ea typeface="Calibri"/>
              <a:cs typeface="Calibri"/>
              <a:sym typeface="Calibri"/>
            </a:endParaRPr>
          </a:p>
          <a:p>
            <a:pPr marL="0" marR="0" lvl="0" indent="0" algn="l" rtl="0">
              <a:lnSpc>
                <a:spcPct val="125000"/>
              </a:lnSpc>
              <a:spcBef>
                <a:spcPts val="800"/>
              </a:spcBef>
              <a:spcAft>
                <a:spcPts val="0"/>
              </a:spcAft>
              <a:buClr>
                <a:srgbClr val="1E293B"/>
              </a:buClr>
              <a:buSzPts val="1200"/>
              <a:buFont typeface="Calibri"/>
              <a:buNone/>
            </a:pPr>
            <a:r>
              <a:rPr lang="en-IN" sz="1200" b="0" i="0" u="none" strike="noStrike" cap="none">
                <a:solidFill>
                  <a:srgbClr val="1E293B"/>
                </a:solidFill>
                <a:latin typeface="Calibri"/>
                <a:ea typeface="Calibri"/>
                <a:cs typeface="Calibri"/>
                <a:sym typeface="Calibri"/>
              </a:rPr>
              <a:t>Treated and control groups have near-identical average vulnerability (VI ≈ 0.34 both), so the groups are comparable on this dimension.</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g3f502f38a39_2_66"/>
          <p:cNvSpPr txBox="1">
            <a:spLocks noGrp="1"/>
          </p:cNvSpPr>
          <p:nvPr>
            <p:ph type="title"/>
          </p:nvPr>
        </p:nvSpPr>
        <p:spPr>
          <a:xfrm>
            <a:off x="395707" y="194428"/>
            <a:ext cx="11284400" cy="794000"/>
          </a:xfrm>
          <a:prstGeom prst="rect">
            <a:avLst/>
          </a:prstGeom>
          <a:noFill/>
          <a:ln>
            <a:noFill/>
          </a:ln>
        </p:spPr>
        <p:txBody>
          <a:bodyPr spcFirstLastPara="1" wrap="square" lIns="0" tIns="45700" rIns="0" bIns="45700" anchor="t" anchorCtr="0">
            <a:normAutofit/>
          </a:bodyPr>
          <a:lstStyle/>
          <a:p>
            <a:pPr marL="0" lvl="0" indent="0" algn="l" rtl="0">
              <a:lnSpc>
                <a:spcPct val="100000"/>
              </a:lnSpc>
              <a:spcBef>
                <a:spcPts val="0"/>
              </a:spcBef>
              <a:spcAft>
                <a:spcPts val="0"/>
              </a:spcAft>
              <a:buSzPts val="2400"/>
              <a:buNone/>
            </a:pPr>
            <a:r>
              <a:rPr lang="en-IN"/>
              <a:t>Post-Treatment</a:t>
            </a:r>
            <a:endParaRPr/>
          </a:p>
        </p:txBody>
      </p:sp>
      <p:sp>
        <p:nvSpPr>
          <p:cNvPr id="182" name="Google Shape;182;g3f502f38a39_2_66"/>
          <p:cNvSpPr txBox="1">
            <a:spLocks noGrp="1"/>
          </p:cNvSpPr>
          <p:nvPr>
            <p:ph type="body" idx="1"/>
          </p:nvPr>
        </p:nvSpPr>
        <p:spPr>
          <a:xfrm>
            <a:off x="395705" y="988341"/>
            <a:ext cx="11284400" cy="478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500"/>
              </a:spcBef>
              <a:spcAft>
                <a:spcPts val="0"/>
              </a:spcAft>
              <a:buSzPts val="2300"/>
              <a:buNone/>
            </a:pPr>
            <a:r>
              <a:rPr lang="en-IN" b="1"/>
              <a:t>Transport spending fell for treated individuals </a:t>
            </a:r>
            <a:endParaRPr b="1"/>
          </a:p>
        </p:txBody>
      </p:sp>
      <p:sp>
        <p:nvSpPr>
          <p:cNvPr id="183" name="Google Shape;183;g3f502f38a39_2_66"/>
          <p:cNvSpPr txBox="1">
            <a:spLocks noGrp="1"/>
          </p:cNvSpPr>
          <p:nvPr>
            <p:ph type="body" idx="2"/>
          </p:nvPr>
        </p:nvSpPr>
        <p:spPr>
          <a:xfrm>
            <a:off x="395707" y="6475388"/>
            <a:ext cx="9740800" cy="383200"/>
          </a:xfrm>
          <a:prstGeom prst="rect">
            <a:avLst/>
          </a:prstGeom>
          <a:noFill/>
          <a:ln>
            <a:noFill/>
          </a:ln>
        </p:spPr>
        <p:txBody>
          <a:bodyPr spcFirstLastPara="1" wrap="square" lIns="0" tIns="45700" rIns="91425" bIns="45700" anchor="ctr" anchorCtr="0">
            <a:noAutofit/>
          </a:bodyPr>
          <a:lstStyle/>
          <a:p>
            <a:pPr marL="0" lvl="0" indent="0" algn="l" rtl="0">
              <a:lnSpc>
                <a:spcPct val="100000"/>
              </a:lnSpc>
              <a:spcBef>
                <a:spcPts val="300"/>
              </a:spcBef>
              <a:spcAft>
                <a:spcPts val="0"/>
              </a:spcAft>
              <a:buSzPts val="900"/>
              <a:buNone/>
            </a:pPr>
            <a:r>
              <a:rPr lang="en-IN" dirty="0"/>
              <a:t>Link to google </a:t>
            </a:r>
            <a:r>
              <a:rPr lang="en-IN" dirty="0" err="1"/>
              <a:t>colab</a:t>
            </a:r>
            <a:r>
              <a:rPr lang="en-IN" dirty="0"/>
              <a:t>:  </a:t>
            </a:r>
            <a:r>
              <a:rPr lang="en-IN" u="sng" dirty="0">
                <a:solidFill>
                  <a:schemeClr val="hlink"/>
                </a:solidFill>
                <a:hlinkClick r:id="rId3"/>
              </a:rPr>
              <a:t>https://colab.research.google.com/drive/1IuqGo55BqcTKaHaY95NbHHXM66iIrTBt?usp=sharing</a:t>
            </a:r>
            <a:endParaRPr dirty="0"/>
          </a:p>
        </p:txBody>
      </p:sp>
      <p:pic>
        <p:nvPicPr>
          <p:cNvPr id="184" name="Google Shape;184;g3f502f38a39_2_66"/>
          <p:cNvPicPr preferRelativeResize="0"/>
          <p:nvPr/>
        </p:nvPicPr>
        <p:blipFill rotWithShape="1">
          <a:blip r:embed="rId4">
            <a:alphaModFix/>
          </a:blip>
          <a:srcRect/>
          <a:stretch/>
        </p:blipFill>
        <p:spPr>
          <a:xfrm>
            <a:off x="548640" y="1417320"/>
            <a:ext cx="6218000" cy="4206400"/>
          </a:xfrm>
          <a:prstGeom prst="rect">
            <a:avLst/>
          </a:prstGeom>
          <a:noFill/>
          <a:ln>
            <a:noFill/>
          </a:ln>
        </p:spPr>
      </p:pic>
      <p:sp>
        <p:nvSpPr>
          <p:cNvPr id="185" name="Google Shape;185;g3f502f38a39_2_66"/>
          <p:cNvSpPr/>
          <p:nvPr/>
        </p:nvSpPr>
        <p:spPr>
          <a:xfrm>
            <a:off x="7108100" y="1094620"/>
            <a:ext cx="4572000" cy="1966000"/>
          </a:xfrm>
          <a:prstGeom prst="rect">
            <a:avLst/>
          </a:prstGeom>
          <a:solidFill>
            <a:srgbClr val="FBF3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g3f502f38a39_2_66"/>
          <p:cNvSpPr/>
          <p:nvPr/>
        </p:nvSpPr>
        <p:spPr>
          <a:xfrm>
            <a:off x="7379740" y="1240747"/>
            <a:ext cx="3932000" cy="868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3C08A"/>
              </a:buClr>
              <a:buSzPts val="5200"/>
              <a:buFont typeface="Cambria"/>
              <a:buNone/>
            </a:pPr>
            <a:r>
              <a:rPr lang="en-IN" sz="5200" b="1" i="0" u="none" strike="noStrike" cap="none">
                <a:solidFill>
                  <a:srgbClr val="F3C08A"/>
                </a:solidFill>
                <a:latin typeface="Arial"/>
                <a:ea typeface="Arial"/>
                <a:cs typeface="Arial"/>
                <a:sym typeface="Arial"/>
              </a:rPr>
              <a:t>-₹122</a:t>
            </a:r>
            <a:endParaRPr sz="5200" b="0" i="0" u="none" strike="noStrike" cap="none">
              <a:solidFill>
                <a:schemeClr val="dk1"/>
              </a:solidFill>
              <a:latin typeface="Arial"/>
              <a:ea typeface="Arial"/>
              <a:cs typeface="Arial"/>
              <a:sym typeface="Arial"/>
            </a:endParaRPr>
          </a:p>
        </p:txBody>
      </p:sp>
      <p:sp>
        <p:nvSpPr>
          <p:cNvPr id="187" name="Google Shape;187;g3f502f38a39_2_66"/>
          <p:cNvSpPr/>
          <p:nvPr/>
        </p:nvSpPr>
        <p:spPr>
          <a:xfrm>
            <a:off x="7428107" y="2020328"/>
            <a:ext cx="3932000" cy="9144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E9EEF3"/>
              </a:buClr>
              <a:buSzPts val="1200"/>
              <a:buFont typeface="Calibri"/>
              <a:buNone/>
            </a:pPr>
            <a:r>
              <a:rPr lang="en-IN" sz="1200" b="0" i="0" u="none" strike="noStrike" cap="none">
                <a:solidFill>
                  <a:schemeClr val="dk1"/>
                </a:solidFill>
                <a:latin typeface="Calibri"/>
                <a:ea typeface="Calibri"/>
                <a:cs typeface="Calibri"/>
                <a:sym typeface="Calibri"/>
              </a:rPr>
              <a:t>On average the individuals with bus access have a 122INR decline in monthly transport expenditure. This is the DID-ATT after controlling for time and location fixed effects.</a:t>
            </a:r>
            <a:endParaRPr sz="1200" b="0" i="0" u="none" strike="noStrike" cap="none">
              <a:solidFill>
                <a:schemeClr val="dk1"/>
              </a:solidFill>
              <a:latin typeface="Calibri"/>
              <a:ea typeface="Calibri"/>
              <a:cs typeface="Calibri"/>
              <a:sym typeface="Calibri"/>
            </a:endParaRPr>
          </a:p>
        </p:txBody>
      </p:sp>
      <p:sp>
        <p:nvSpPr>
          <p:cNvPr id="188" name="Google Shape;188;g3f502f38a39_2_66"/>
          <p:cNvSpPr/>
          <p:nvPr/>
        </p:nvSpPr>
        <p:spPr>
          <a:xfrm>
            <a:off x="7086600" y="3566160"/>
            <a:ext cx="4572000" cy="2057600"/>
          </a:xfrm>
          <a:prstGeom prst="rect">
            <a:avLst/>
          </a:prstGeom>
          <a:solidFill>
            <a:srgbClr val="FBF3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g3f502f38a39_2_66"/>
          <p:cNvSpPr/>
          <p:nvPr/>
        </p:nvSpPr>
        <p:spPr>
          <a:xfrm>
            <a:off x="7360920" y="3730752"/>
            <a:ext cx="4023200" cy="411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1E293B"/>
              </a:buClr>
              <a:buSzPts val="1200"/>
              <a:buFont typeface="Calibri"/>
              <a:buNone/>
            </a:pPr>
            <a:r>
              <a:rPr lang="en-IN" sz="1200" b="1" i="0" u="none" strike="noStrike" cap="none">
                <a:solidFill>
                  <a:srgbClr val="1E293B"/>
                </a:solidFill>
                <a:latin typeface="Calibri"/>
                <a:ea typeface="Calibri"/>
                <a:cs typeface="Calibri"/>
                <a:sym typeface="Calibri"/>
              </a:rPr>
              <a:t>Statistically significant: </a:t>
            </a:r>
            <a:r>
              <a:rPr lang="en-IN" sz="1200" b="0" i="0" u="none" strike="noStrike" cap="none">
                <a:solidFill>
                  <a:srgbClr val="64748B"/>
                </a:solidFill>
                <a:latin typeface="Calibri"/>
                <a:ea typeface="Calibri"/>
                <a:cs typeface="Calibri"/>
                <a:sym typeface="Calibri"/>
              </a:rPr>
              <a:t>p &lt; 0.001 (cluster-robust SE by location)</a:t>
            </a:r>
            <a:endParaRPr sz="1200" b="0" i="0" u="none" strike="noStrike" cap="none">
              <a:solidFill>
                <a:schemeClr val="dk1"/>
              </a:solidFill>
              <a:latin typeface="Calibri"/>
              <a:ea typeface="Calibri"/>
              <a:cs typeface="Calibri"/>
              <a:sym typeface="Calibri"/>
            </a:endParaRPr>
          </a:p>
        </p:txBody>
      </p:sp>
      <p:sp>
        <p:nvSpPr>
          <p:cNvPr id="190" name="Google Shape;190;g3f502f38a39_2_66"/>
          <p:cNvSpPr/>
          <p:nvPr/>
        </p:nvSpPr>
        <p:spPr>
          <a:xfrm>
            <a:off x="7360920" y="4224528"/>
            <a:ext cx="4023200" cy="5944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1E293B"/>
              </a:buClr>
              <a:buSzPts val="1200"/>
              <a:buFont typeface="Calibri"/>
              <a:buNone/>
            </a:pPr>
            <a:r>
              <a:rPr lang="en-IN" sz="1200" b="1" i="0" u="none" strike="noStrike" cap="none">
                <a:solidFill>
                  <a:srgbClr val="1E293B"/>
                </a:solidFill>
                <a:latin typeface="Calibri"/>
                <a:ea typeface="Calibri"/>
                <a:cs typeface="Calibri"/>
                <a:sym typeface="Calibri"/>
              </a:rPr>
              <a:t>Comparison group: </a:t>
            </a:r>
            <a:r>
              <a:rPr lang="en-IN" sz="1200" b="0" i="0" u="none" strike="noStrike" cap="none">
                <a:solidFill>
                  <a:srgbClr val="64748B"/>
                </a:solidFill>
                <a:latin typeface="Calibri"/>
                <a:ea typeface="Calibri"/>
                <a:cs typeface="Calibri"/>
                <a:sym typeface="Calibri"/>
              </a:rPr>
              <a:t>essentially flat (+₹5, +1.6%) — the fall isn't just a citywide trend</a:t>
            </a:r>
            <a:endParaRPr sz="1200" b="0" i="0" u="none" strike="noStrike" cap="none">
              <a:solidFill>
                <a:schemeClr val="dk1"/>
              </a:solidFill>
              <a:latin typeface="Calibri"/>
              <a:ea typeface="Calibri"/>
              <a:cs typeface="Calibri"/>
              <a:sym typeface="Calibri"/>
            </a:endParaRPr>
          </a:p>
        </p:txBody>
      </p:sp>
      <p:sp>
        <p:nvSpPr>
          <p:cNvPr id="191" name="Google Shape;191;g3f502f38a39_2_66"/>
          <p:cNvSpPr/>
          <p:nvPr/>
        </p:nvSpPr>
        <p:spPr>
          <a:xfrm>
            <a:off x="7360920" y="4892040"/>
            <a:ext cx="4023200" cy="6860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1E293B"/>
              </a:buClr>
              <a:buSzPts val="1200"/>
              <a:buFont typeface="Calibri"/>
              <a:buNone/>
            </a:pPr>
            <a:r>
              <a:rPr lang="en-IN" sz="1200" b="1" i="0" u="none" strike="noStrike" cap="none">
                <a:solidFill>
                  <a:srgbClr val="1E293B"/>
                </a:solidFill>
                <a:latin typeface="Calibri"/>
                <a:ea typeface="Calibri"/>
                <a:cs typeface="Calibri"/>
                <a:sym typeface="Calibri"/>
              </a:rPr>
              <a:t>Treated group: </a:t>
            </a:r>
            <a:r>
              <a:rPr lang="en-IN" sz="1200" b="0" i="0" u="none" strike="noStrike" cap="none">
                <a:solidFill>
                  <a:srgbClr val="64748B"/>
                </a:solidFill>
                <a:latin typeface="Calibri"/>
                <a:ea typeface="Calibri"/>
                <a:cs typeface="Calibri"/>
                <a:sym typeface="Calibri"/>
              </a:rPr>
              <a:t>spending fell ~30%, from ₹391 to ₹274 — consistent with households substituting toward lower-cost bus trips</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3f502f38a39_2_80"/>
          <p:cNvSpPr txBox="1">
            <a:spLocks noGrp="1"/>
          </p:cNvSpPr>
          <p:nvPr>
            <p:ph type="title"/>
          </p:nvPr>
        </p:nvSpPr>
        <p:spPr>
          <a:xfrm>
            <a:off x="395707" y="194428"/>
            <a:ext cx="11284400" cy="794000"/>
          </a:xfrm>
          <a:prstGeom prst="rect">
            <a:avLst/>
          </a:prstGeom>
          <a:noFill/>
          <a:ln>
            <a:noFill/>
          </a:ln>
        </p:spPr>
        <p:txBody>
          <a:bodyPr spcFirstLastPara="1" wrap="square" lIns="0" tIns="45700" rIns="0" bIns="45700" anchor="t" anchorCtr="0">
            <a:normAutofit/>
          </a:bodyPr>
          <a:lstStyle/>
          <a:p>
            <a:pPr marL="0" lvl="0" indent="0" algn="l" rtl="0">
              <a:lnSpc>
                <a:spcPct val="100000"/>
              </a:lnSpc>
              <a:spcBef>
                <a:spcPts val="0"/>
              </a:spcBef>
              <a:spcAft>
                <a:spcPts val="0"/>
              </a:spcAft>
              <a:buSzPts val="2400"/>
              <a:buNone/>
            </a:pPr>
            <a:r>
              <a:rPr lang="en-IN" sz="1600"/>
              <a:t>The Equity lens</a:t>
            </a:r>
            <a:endParaRPr sz="1600"/>
          </a:p>
          <a:p>
            <a:pPr marL="0" lvl="0" indent="0" algn="l" rtl="0">
              <a:lnSpc>
                <a:spcPct val="100000"/>
              </a:lnSpc>
              <a:spcBef>
                <a:spcPts val="0"/>
              </a:spcBef>
              <a:spcAft>
                <a:spcPts val="0"/>
              </a:spcAft>
              <a:buSzPts val="2400"/>
              <a:buNone/>
            </a:pPr>
            <a:r>
              <a:rPr lang="en-IN" sz="1600" b="0"/>
              <a:t>Who benefits?</a:t>
            </a:r>
            <a:endParaRPr sz="1600" b="0"/>
          </a:p>
        </p:txBody>
      </p:sp>
      <p:sp>
        <p:nvSpPr>
          <p:cNvPr id="197" name="Google Shape;197;g3f502f38a39_2_80"/>
          <p:cNvSpPr txBox="1">
            <a:spLocks noGrp="1"/>
          </p:cNvSpPr>
          <p:nvPr>
            <p:ph type="body" idx="1"/>
          </p:nvPr>
        </p:nvSpPr>
        <p:spPr>
          <a:xfrm>
            <a:off x="395705" y="988341"/>
            <a:ext cx="11284400" cy="478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500"/>
              </a:spcBef>
              <a:spcAft>
                <a:spcPts val="0"/>
              </a:spcAft>
              <a:buSzPts val="2300"/>
              <a:buNone/>
            </a:pPr>
            <a:r>
              <a:rPr lang="en-IN" b="1"/>
              <a:t>Savings are concentrated  among vulnerable individuals</a:t>
            </a:r>
            <a:endParaRPr b="1"/>
          </a:p>
        </p:txBody>
      </p:sp>
      <p:sp>
        <p:nvSpPr>
          <p:cNvPr id="198" name="Google Shape;198;g3f502f38a39_2_80"/>
          <p:cNvSpPr txBox="1">
            <a:spLocks noGrp="1"/>
          </p:cNvSpPr>
          <p:nvPr>
            <p:ph type="body" idx="2"/>
          </p:nvPr>
        </p:nvSpPr>
        <p:spPr>
          <a:xfrm>
            <a:off x="395707" y="6475388"/>
            <a:ext cx="9740800" cy="383200"/>
          </a:xfrm>
          <a:prstGeom prst="rect">
            <a:avLst/>
          </a:prstGeom>
          <a:noFill/>
          <a:ln>
            <a:noFill/>
          </a:ln>
        </p:spPr>
        <p:txBody>
          <a:bodyPr spcFirstLastPara="1" wrap="square" lIns="0" tIns="45700" rIns="91425" bIns="45700" anchor="ctr" anchorCtr="0">
            <a:noAutofit/>
          </a:bodyPr>
          <a:lstStyle/>
          <a:p>
            <a:pPr marL="0" lvl="0" indent="0" algn="l" rtl="0">
              <a:lnSpc>
                <a:spcPct val="100000"/>
              </a:lnSpc>
              <a:spcBef>
                <a:spcPts val="300"/>
              </a:spcBef>
              <a:spcAft>
                <a:spcPts val="0"/>
              </a:spcAft>
              <a:buSzPts val="900"/>
              <a:buNone/>
            </a:pPr>
            <a:endParaRPr/>
          </a:p>
        </p:txBody>
      </p:sp>
      <p:pic>
        <p:nvPicPr>
          <p:cNvPr id="199" name="Google Shape;199;g3f502f38a39_2_80"/>
          <p:cNvPicPr preferRelativeResize="0"/>
          <p:nvPr/>
        </p:nvPicPr>
        <p:blipFill rotWithShape="1">
          <a:blip r:embed="rId3">
            <a:alphaModFix/>
          </a:blip>
          <a:srcRect/>
          <a:stretch/>
        </p:blipFill>
        <p:spPr>
          <a:xfrm>
            <a:off x="548640" y="1417320"/>
            <a:ext cx="6949600" cy="4297600"/>
          </a:xfrm>
          <a:prstGeom prst="rect">
            <a:avLst/>
          </a:prstGeom>
          <a:noFill/>
          <a:ln>
            <a:noFill/>
          </a:ln>
        </p:spPr>
      </p:pic>
      <p:sp>
        <p:nvSpPr>
          <p:cNvPr id="200" name="Google Shape;200;g3f502f38a39_2_80"/>
          <p:cNvSpPr txBox="1"/>
          <p:nvPr/>
        </p:nvSpPr>
        <p:spPr>
          <a:xfrm>
            <a:off x="1721300" y="4656933"/>
            <a:ext cx="805600" cy="472000"/>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IN" sz="1500" b="0" i="0" u="none" strike="noStrike" cap="none">
                <a:solidFill>
                  <a:schemeClr val="dk2"/>
                </a:solidFill>
                <a:latin typeface="Calibri"/>
                <a:ea typeface="Calibri"/>
                <a:cs typeface="Calibri"/>
                <a:sym typeface="Calibri"/>
              </a:rPr>
              <a:t>Low VI</a:t>
            </a:r>
            <a:endParaRPr sz="1500" b="0" i="0" u="none" strike="noStrike" cap="none">
              <a:solidFill>
                <a:schemeClr val="dk2"/>
              </a:solidFill>
              <a:latin typeface="Calibri"/>
              <a:ea typeface="Calibri"/>
              <a:cs typeface="Calibri"/>
              <a:sym typeface="Calibri"/>
            </a:endParaRPr>
          </a:p>
        </p:txBody>
      </p:sp>
      <p:sp>
        <p:nvSpPr>
          <p:cNvPr id="201" name="Google Shape;201;g3f502f38a39_2_80"/>
          <p:cNvSpPr txBox="1"/>
          <p:nvPr/>
        </p:nvSpPr>
        <p:spPr>
          <a:xfrm>
            <a:off x="3856467" y="4656933"/>
            <a:ext cx="805600" cy="472000"/>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IN" sz="1500" b="0" i="0" u="none" strike="noStrike" cap="none">
                <a:solidFill>
                  <a:schemeClr val="dk2"/>
                </a:solidFill>
                <a:latin typeface="Calibri"/>
                <a:ea typeface="Calibri"/>
                <a:cs typeface="Calibri"/>
                <a:sym typeface="Calibri"/>
              </a:rPr>
              <a:t>Mid VI</a:t>
            </a:r>
            <a:endParaRPr sz="1500" b="0" i="0" u="none" strike="noStrike" cap="none">
              <a:solidFill>
                <a:schemeClr val="dk2"/>
              </a:solidFill>
              <a:latin typeface="Calibri"/>
              <a:ea typeface="Calibri"/>
              <a:cs typeface="Calibri"/>
              <a:sym typeface="Calibri"/>
            </a:endParaRPr>
          </a:p>
        </p:txBody>
      </p:sp>
      <p:sp>
        <p:nvSpPr>
          <p:cNvPr id="202" name="Google Shape;202;g3f502f38a39_2_80"/>
          <p:cNvSpPr txBox="1"/>
          <p:nvPr/>
        </p:nvSpPr>
        <p:spPr>
          <a:xfrm>
            <a:off x="5991633" y="4656933"/>
            <a:ext cx="805600" cy="472000"/>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IN" sz="1500" b="0" i="0" u="none" strike="noStrike" cap="none">
                <a:solidFill>
                  <a:schemeClr val="dk2"/>
                </a:solidFill>
                <a:latin typeface="Calibri"/>
                <a:ea typeface="Calibri"/>
                <a:cs typeface="Calibri"/>
                <a:sym typeface="Calibri"/>
              </a:rPr>
              <a:t>High VI</a:t>
            </a:r>
            <a:endParaRPr sz="1500" b="0" i="0" u="none" strike="noStrike" cap="none">
              <a:solidFill>
                <a:schemeClr val="dk2"/>
              </a:solidFill>
              <a:latin typeface="Calibri"/>
              <a:ea typeface="Calibri"/>
              <a:cs typeface="Calibri"/>
              <a:sym typeface="Calibri"/>
            </a:endParaRPr>
          </a:p>
        </p:txBody>
      </p:sp>
      <p:sp>
        <p:nvSpPr>
          <p:cNvPr id="203" name="Google Shape;203;g3f502f38a39_2_80"/>
          <p:cNvSpPr/>
          <p:nvPr/>
        </p:nvSpPr>
        <p:spPr>
          <a:xfrm>
            <a:off x="7839700" y="814900"/>
            <a:ext cx="3840400" cy="5209600"/>
          </a:xfrm>
          <a:prstGeom prst="rect">
            <a:avLst/>
          </a:prstGeom>
          <a:solidFill>
            <a:srgbClr val="FBF3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 name="Google Shape;204;g3f502f38a39_2_80"/>
          <p:cNvSpPr/>
          <p:nvPr/>
        </p:nvSpPr>
        <p:spPr>
          <a:xfrm>
            <a:off x="8126807" y="1689140"/>
            <a:ext cx="3292000" cy="3383200"/>
          </a:xfrm>
          <a:prstGeom prst="rect">
            <a:avLst/>
          </a:prstGeom>
          <a:noFill/>
          <a:ln>
            <a:noFill/>
          </a:ln>
        </p:spPr>
        <p:txBody>
          <a:bodyPr spcFirstLastPara="1" wrap="square" lIns="0" tIns="0" rIns="0" bIns="0" anchor="ctr" anchorCtr="0">
            <a:noAutofit/>
          </a:bodyPr>
          <a:lstStyle/>
          <a:p>
            <a:pPr marL="609600" marR="0" lvl="0" indent="-406400" algn="l" rtl="0">
              <a:lnSpc>
                <a:spcPct val="125000"/>
              </a:lnSpc>
              <a:spcBef>
                <a:spcPts val="0"/>
              </a:spcBef>
              <a:spcAft>
                <a:spcPts val="0"/>
              </a:spcAft>
              <a:buClr>
                <a:srgbClr val="1E293B"/>
              </a:buClr>
              <a:buSzPts val="1600"/>
              <a:buFont typeface="Calibri"/>
              <a:buAutoNum type="arabicPeriod"/>
            </a:pPr>
            <a:r>
              <a:rPr lang="en-IN" sz="1600" b="0" i="0" u="none" strike="noStrike" cap="none">
                <a:solidFill>
                  <a:srgbClr val="1E293B"/>
                </a:solidFill>
                <a:latin typeface="Calibri"/>
                <a:ea typeface="Calibri"/>
                <a:cs typeface="Calibri"/>
                <a:sym typeface="Calibri"/>
              </a:rPr>
              <a:t>Low-vulnerability treated individuals track the control group — a small rise, no bus effect. They already own vehicles or have alternatives, so bus access doesn't change their spending.</a:t>
            </a:r>
            <a:endParaRPr sz="1600" b="0" i="0" u="none" strike="noStrike" cap="none">
              <a:solidFill>
                <a:schemeClr val="dk1"/>
              </a:solidFill>
              <a:latin typeface="Calibri"/>
              <a:ea typeface="Calibri"/>
              <a:cs typeface="Calibri"/>
              <a:sym typeface="Calibri"/>
            </a:endParaRPr>
          </a:p>
          <a:p>
            <a:pPr marL="609600" marR="0" lvl="0" indent="-406400" algn="l" rtl="0">
              <a:lnSpc>
                <a:spcPct val="125000"/>
              </a:lnSpc>
              <a:spcBef>
                <a:spcPts val="0"/>
              </a:spcBef>
              <a:spcAft>
                <a:spcPts val="0"/>
              </a:spcAft>
              <a:buClr>
                <a:srgbClr val="1E293B"/>
              </a:buClr>
              <a:buSzPts val="1600"/>
              <a:buFont typeface="Calibri"/>
              <a:buAutoNum type="arabicPeriod"/>
            </a:pPr>
            <a:r>
              <a:rPr lang="en-IN" sz="1600" b="0" i="0" u="none" strike="noStrike" cap="none">
                <a:solidFill>
                  <a:srgbClr val="1E293B"/>
                </a:solidFill>
                <a:latin typeface="Calibri"/>
                <a:ea typeface="Calibri"/>
                <a:cs typeface="Calibri"/>
                <a:sym typeface="Calibri"/>
              </a:rPr>
              <a:t>Mid- and high-vulnerability treated individuals cut spending by 43–48% — the group most likely to switch onto the new bus service.</a:t>
            </a:r>
            <a:endParaRPr sz="1600" b="0" i="0" u="none" strike="noStrike" cap="none">
              <a:solidFill>
                <a:schemeClr val="dk1"/>
              </a:solidFill>
              <a:latin typeface="Calibri"/>
              <a:ea typeface="Calibri"/>
              <a:cs typeface="Calibri"/>
              <a:sym typeface="Calibri"/>
            </a:endParaRPr>
          </a:p>
          <a:p>
            <a:pPr marL="609600" marR="0" lvl="0" indent="-406400" algn="l" rtl="0">
              <a:lnSpc>
                <a:spcPct val="125000"/>
              </a:lnSpc>
              <a:spcBef>
                <a:spcPts val="0"/>
              </a:spcBef>
              <a:spcAft>
                <a:spcPts val="0"/>
              </a:spcAft>
              <a:buClr>
                <a:schemeClr val="dk1"/>
              </a:buClr>
              <a:buSzPts val="1600"/>
              <a:buFont typeface="Calibri"/>
              <a:buAutoNum type="arabicPeriod"/>
            </a:pPr>
            <a:r>
              <a:rPr lang="en-IN" sz="1600" b="0" i="0" u="none" strike="noStrike" cap="none">
                <a:solidFill>
                  <a:schemeClr val="dk1"/>
                </a:solidFill>
                <a:latin typeface="Calibri"/>
                <a:ea typeface="Calibri"/>
                <a:cs typeface="Calibri"/>
                <a:sym typeface="Calibri"/>
              </a:rPr>
              <a:t>From the regression results the average saving of an individual with VI=1 is estimated to be 333 INR.</a:t>
            </a:r>
            <a:endParaRPr sz="16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3f502f38a39_2_92"/>
          <p:cNvSpPr txBox="1">
            <a:spLocks noGrp="1"/>
          </p:cNvSpPr>
          <p:nvPr>
            <p:ph type="title"/>
          </p:nvPr>
        </p:nvSpPr>
        <p:spPr>
          <a:xfrm>
            <a:off x="453807" y="3270895"/>
            <a:ext cx="11284400" cy="794000"/>
          </a:xfrm>
          <a:prstGeom prst="rect">
            <a:avLst/>
          </a:prstGeom>
          <a:noFill/>
          <a:ln>
            <a:noFill/>
          </a:ln>
        </p:spPr>
        <p:txBody>
          <a:bodyPr spcFirstLastPara="1" wrap="square" lIns="0" tIns="45700" rIns="0" bIns="45700" anchor="t" anchorCtr="0">
            <a:normAutofit/>
          </a:bodyPr>
          <a:lstStyle/>
          <a:p>
            <a:pPr marL="0" lvl="0" indent="0" algn="l" rtl="0">
              <a:lnSpc>
                <a:spcPct val="100000"/>
              </a:lnSpc>
              <a:spcBef>
                <a:spcPts val="0"/>
              </a:spcBef>
              <a:spcAft>
                <a:spcPts val="0"/>
              </a:spcAft>
              <a:buSzPts val="2400"/>
              <a:buNone/>
            </a:pPr>
            <a:r>
              <a:rPr lang="en-IN"/>
              <a:t>Limitations</a:t>
            </a:r>
            <a:endParaRPr/>
          </a:p>
        </p:txBody>
      </p:sp>
      <p:sp>
        <p:nvSpPr>
          <p:cNvPr id="210" name="Google Shape;210;g3f502f38a39_2_92"/>
          <p:cNvSpPr txBox="1">
            <a:spLocks noGrp="1"/>
          </p:cNvSpPr>
          <p:nvPr>
            <p:ph type="body" idx="1"/>
          </p:nvPr>
        </p:nvSpPr>
        <p:spPr>
          <a:xfrm>
            <a:off x="395700" y="3753504"/>
            <a:ext cx="11284400" cy="2509200"/>
          </a:xfrm>
          <a:prstGeom prst="rect">
            <a:avLst/>
          </a:prstGeom>
          <a:noFill/>
          <a:ln>
            <a:noFill/>
          </a:ln>
        </p:spPr>
        <p:txBody>
          <a:bodyPr spcFirstLastPara="1" wrap="square" lIns="91425" tIns="45700" rIns="91425" bIns="45700" anchor="t" anchorCtr="0">
            <a:normAutofit fontScale="85000" lnSpcReduction="10000"/>
          </a:bodyPr>
          <a:lstStyle/>
          <a:p>
            <a:pPr marL="0" lvl="0" indent="0" algn="l" rtl="0">
              <a:lnSpc>
                <a:spcPct val="115000"/>
              </a:lnSpc>
              <a:spcBef>
                <a:spcPts val="0"/>
              </a:spcBef>
              <a:spcAft>
                <a:spcPts val="0"/>
              </a:spcAft>
              <a:buSzPct val="112745"/>
              <a:buNone/>
            </a:pPr>
            <a:r>
              <a:rPr lang="en-IN" sz="2400">
                <a:solidFill>
                  <a:srgbClr val="595959"/>
                </a:solidFill>
                <a:latin typeface="Arial"/>
                <a:ea typeface="Arial"/>
                <a:cs typeface="Arial"/>
                <a:sym typeface="Arial"/>
              </a:rPr>
              <a:t>&gt;&gt; this data is purely artificial the results should be interpreted keeping that in mind. In the original data we might get counter intuitive or even statistically insignificant results.</a:t>
            </a:r>
            <a:endParaRPr sz="2400">
              <a:solidFill>
                <a:srgbClr val="595959"/>
              </a:solidFill>
              <a:latin typeface="Arial"/>
              <a:ea typeface="Arial"/>
              <a:cs typeface="Arial"/>
              <a:sym typeface="Arial"/>
            </a:endParaRPr>
          </a:p>
          <a:p>
            <a:pPr marL="0" lvl="0" indent="0" algn="l" rtl="0">
              <a:lnSpc>
                <a:spcPct val="115000"/>
              </a:lnSpc>
              <a:spcBef>
                <a:spcPts val="1600"/>
              </a:spcBef>
              <a:spcAft>
                <a:spcPts val="0"/>
              </a:spcAft>
              <a:buClr>
                <a:schemeClr val="dk1"/>
              </a:buClr>
              <a:buSzPct val="62500"/>
              <a:buFont typeface="Arial"/>
              <a:buNone/>
            </a:pPr>
            <a:r>
              <a:rPr lang="en-IN" sz="2400">
                <a:solidFill>
                  <a:srgbClr val="595959"/>
                </a:solidFill>
                <a:latin typeface="Arial"/>
                <a:ea typeface="Arial"/>
                <a:cs typeface="Arial"/>
                <a:sym typeface="Arial"/>
              </a:rPr>
              <a:t>&gt;&gt;the control variables i used are sparse(time fixed effects and location fixed effects). For more robust estimation we need rich controls and a large sample.</a:t>
            </a:r>
            <a:endParaRPr sz="2400">
              <a:solidFill>
                <a:srgbClr val="595959"/>
              </a:solidFill>
              <a:latin typeface="Arial"/>
              <a:ea typeface="Arial"/>
              <a:cs typeface="Arial"/>
              <a:sym typeface="Arial"/>
            </a:endParaRPr>
          </a:p>
          <a:p>
            <a:pPr marL="0" lvl="0" indent="0" algn="l" rtl="0">
              <a:lnSpc>
                <a:spcPct val="115000"/>
              </a:lnSpc>
              <a:spcBef>
                <a:spcPts val="1600"/>
              </a:spcBef>
              <a:spcAft>
                <a:spcPts val="1600"/>
              </a:spcAft>
              <a:buClr>
                <a:schemeClr val="dk1"/>
              </a:buClr>
              <a:buSzPct val="62500"/>
              <a:buFont typeface="Arial"/>
              <a:buNone/>
            </a:pPr>
            <a:r>
              <a:rPr lang="en-IN" sz="2400">
                <a:solidFill>
                  <a:srgbClr val="595959"/>
                </a:solidFill>
                <a:latin typeface="Arial"/>
                <a:ea typeface="Arial"/>
                <a:cs typeface="Arial"/>
                <a:sym typeface="Arial"/>
              </a:rPr>
              <a:t>&gt;&gt;parallel trends assumption not tested. For testing we need at least 2 period pre-treatment data. </a:t>
            </a:r>
            <a:endParaRPr/>
          </a:p>
        </p:txBody>
      </p:sp>
      <p:sp>
        <p:nvSpPr>
          <p:cNvPr id="211" name="Google Shape;211;g3f502f38a39_2_92"/>
          <p:cNvSpPr txBox="1">
            <a:spLocks noGrp="1"/>
          </p:cNvSpPr>
          <p:nvPr>
            <p:ph type="body" idx="2"/>
          </p:nvPr>
        </p:nvSpPr>
        <p:spPr>
          <a:xfrm>
            <a:off x="395707" y="6475388"/>
            <a:ext cx="9740800" cy="383200"/>
          </a:xfrm>
          <a:prstGeom prst="rect">
            <a:avLst/>
          </a:prstGeom>
          <a:noFill/>
          <a:ln>
            <a:noFill/>
          </a:ln>
        </p:spPr>
        <p:txBody>
          <a:bodyPr spcFirstLastPara="1" wrap="square" lIns="0" tIns="45700" rIns="91425" bIns="45700" anchor="ctr" anchorCtr="0">
            <a:noAutofit/>
          </a:bodyPr>
          <a:lstStyle/>
          <a:p>
            <a:pPr marL="0" lvl="0" indent="0" algn="l" rtl="0">
              <a:lnSpc>
                <a:spcPct val="100000"/>
              </a:lnSpc>
              <a:spcBef>
                <a:spcPts val="300"/>
              </a:spcBef>
              <a:spcAft>
                <a:spcPts val="0"/>
              </a:spcAft>
              <a:buSzPts val="900"/>
              <a:buNone/>
            </a:pPr>
            <a:endParaRPr/>
          </a:p>
        </p:txBody>
      </p:sp>
      <p:sp>
        <p:nvSpPr>
          <p:cNvPr id="212" name="Google Shape;212;g3f502f38a39_2_92"/>
          <p:cNvSpPr txBox="1">
            <a:spLocks noGrp="1"/>
          </p:cNvSpPr>
          <p:nvPr>
            <p:ph type="title"/>
          </p:nvPr>
        </p:nvSpPr>
        <p:spPr>
          <a:xfrm>
            <a:off x="395707" y="66395"/>
            <a:ext cx="11284400" cy="794000"/>
          </a:xfrm>
          <a:prstGeom prst="rect">
            <a:avLst/>
          </a:prstGeom>
          <a:noFill/>
          <a:ln>
            <a:noFill/>
          </a:ln>
        </p:spPr>
        <p:txBody>
          <a:bodyPr spcFirstLastPara="1" wrap="square" lIns="0" tIns="45700" rIns="0" bIns="45700" anchor="t" anchorCtr="0">
            <a:normAutofit/>
          </a:bodyPr>
          <a:lstStyle/>
          <a:p>
            <a:pPr marL="0" lvl="0" indent="0" algn="l" rtl="0">
              <a:lnSpc>
                <a:spcPct val="100000"/>
              </a:lnSpc>
              <a:spcBef>
                <a:spcPts val="0"/>
              </a:spcBef>
              <a:spcAft>
                <a:spcPts val="0"/>
              </a:spcAft>
              <a:buSzPts val="2400"/>
              <a:buNone/>
            </a:pPr>
            <a:r>
              <a:rPr lang="en-IN"/>
              <a:t>Policy implications</a:t>
            </a:r>
            <a:endParaRPr/>
          </a:p>
        </p:txBody>
      </p:sp>
      <p:sp>
        <p:nvSpPr>
          <p:cNvPr id="213" name="Google Shape;213;g3f502f38a39_2_92"/>
          <p:cNvSpPr txBox="1"/>
          <p:nvPr/>
        </p:nvSpPr>
        <p:spPr>
          <a:xfrm>
            <a:off x="395700" y="613467"/>
            <a:ext cx="11095200" cy="2688400"/>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2300"/>
              <a:buFont typeface="Arial"/>
              <a:buNone/>
            </a:pPr>
            <a:r>
              <a:rPr lang="en-IN" sz="2300" b="0" i="0" u="none" strike="noStrike" cap="none">
                <a:solidFill>
                  <a:srgbClr val="595959"/>
                </a:solidFill>
                <a:latin typeface="Calibri"/>
                <a:ea typeface="Calibri"/>
                <a:cs typeface="Calibri"/>
                <a:sym typeface="Calibri"/>
              </a:rPr>
              <a:t>&gt;&gt; sequence future routes and stop planning through areas with large concentration of VRU’s as the analysis suggests they are the one who will reap maximum benefits.</a:t>
            </a:r>
            <a:endParaRPr sz="2300" b="0" i="0" u="none" strike="noStrike" cap="none">
              <a:solidFill>
                <a:srgbClr val="595959"/>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595959"/>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300"/>
              <a:buFont typeface="Arial"/>
              <a:buNone/>
            </a:pPr>
            <a:r>
              <a:rPr lang="en-IN" sz="2300" b="0" i="0" u="none" strike="noStrike" cap="none">
                <a:solidFill>
                  <a:srgbClr val="595959"/>
                </a:solidFill>
                <a:latin typeface="Calibri"/>
                <a:ea typeface="Calibri"/>
                <a:cs typeface="Calibri"/>
                <a:sym typeface="Calibri"/>
              </a:rPr>
              <a:t>&gt;&gt; Feeder services or better walking infrastructure to shift more people into the route buffer.</a:t>
            </a:r>
            <a:endParaRPr sz="2300" b="0" i="0" u="none" strike="noStrike" cap="none">
              <a:solidFill>
                <a:srgbClr val="595959"/>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300"/>
              <a:buFont typeface="Arial"/>
              <a:buNone/>
            </a:pPr>
            <a:endParaRPr sz="2300" b="0" i="0" u="none" strike="noStrike" cap="none">
              <a:solidFill>
                <a:srgbClr val="595959"/>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300"/>
              <a:buFont typeface="Arial"/>
              <a:buNone/>
            </a:pPr>
            <a:r>
              <a:rPr lang="en-IN" sz="2300" b="0" i="0" u="none" strike="noStrike" cap="none">
                <a:solidFill>
                  <a:srgbClr val="595959"/>
                </a:solidFill>
                <a:latin typeface="Calibri"/>
                <a:ea typeface="Calibri"/>
                <a:cs typeface="Calibri"/>
                <a:sym typeface="Calibri"/>
              </a:rPr>
              <a:t>&gt;&gt; Frame fares around affordability- targeted fare subsidies for high VI individuals.</a:t>
            </a:r>
            <a:endParaRPr sz="2300" b="0" i="0" u="none" strike="noStrike" cap="none">
              <a:solidFill>
                <a:srgbClr val="595959"/>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g3f502f38a39_2_100"/>
          <p:cNvSpPr txBox="1">
            <a:spLocks noGrp="1"/>
          </p:cNvSpPr>
          <p:nvPr>
            <p:ph type="title"/>
          </p:nvPr>
        </p:nvSpPr>
        <p:spPr>
          <a:xfrm>
            <a:off x="395707" y="194428"/>
            <a:ext cx="11284400" cy="794000"/>
          </a:xfrm>
          <a:prstGeom prst="rect">
            <a:avLst/>
          </a:prstGeom>
          <a:noFill/>
          <a:ln>
            <a:noFill/>
          </a:ln>
        </p:spPr>
        <p:txBody>
          <a:bodyPr spcFirstLastPara="1" wrap="square" lIns="0" tIns="45700" rIns="0" bIns="45700" anchor="t" anchorCtr="0">
            <a:normAutofit/>
          </a:bodyPr>
          <a:lstStyle/>
          <a:p>
            <a:pPr marL="0" lvl="0" indent="0" algn="l" rtl="0">
              <a:lnSpc>
                <a:spcPct val="100000"/>
              </a:lnSpc>
              <a:spcBef>
                <a:spcPts val="0"/>
              </a:spcBef>
              <a:spcAft>
                <a:spcPts val="0"/>
              </a:spcAft>
              <a:buSzPts val="2400"/>
              <a:buNone/>
            </a:pPr>
            <a:r>
              <a:rPr lang="en-IN"/>
              <a:t>Regression results</a:t>
            </a:r>
            <a:endParaRPr/>
          </a:p>
        </p:txBody>
      </p:sp>
      <p:sp>
        <p:nvSpPr>
          <p:cNvPr id="219" name="Google Shape;219;g3f502f38a39_2_100"/>
          <p:cNvSpPr txBox="1">
            <a:spLocks noGrp="1"/>
          </p:cNvSpPr>
          <p:nvPr>
            <p:ph type="body" idx="1"/>
          </p:nvPr>
        </p:nvSpPr>
        <p:spPr>
          <a:xfrm>
            <a:off x="395705" y="988441"/>
            <a:ext cx="11284400" cy="478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500"/>
              </a:spcBef>
              <a:spcAft>
                <a:spcPts val="0"/>
              </a:spcAft>
              <a:buSzPts val="2300"/>
              <a:buNone/>
            </a:pPr>
            <a:r>
              <a:rPr lang="en-IN" sz="1900"/>
              <a:t>I ran two separate specifications one to get the heterogeneous treatment(equity) effect and one to verify the average treatment(no equity) effect. Both were run with only time and location fixed effects as controls. The results are given along with their p-values.</a:t>
            </a:r>
            <a:endParaRPr sz="1900" b="1">
              <a:solidFill>
                <a:schemeClr val="dk1"/>
              </a:solidFill>
            </a:endParaRPr>
          </a:p>
          <a:p>
            <a:pPr marL="0" lvl="0" indent="0" algn="l" rtl="0">
              <a:lnSpc>
                <a:spcPct val="100000"/>
              </a:lnSpc>
              <a:spcBef>
                <a:spcPts val="0"/>
              </a:spcBef>
              <a:spcAft>
                <a:spcPts val="0"/>
              </a:spcAft>
              <a:buSzPts val="2300"/>
              <a:buNone/>
            </a:pPr>
            <a:endParaRPr sz="1900" b="1">
              <a:solidFill>
                <a:schemeClr val="dk1"/>
              </a:solidFill>
            </a:endParaRPr>
          </a:p>
          <a:p>
            <a:pPr marL="0" lvl="0" indent="0" algn="l" rtl="0">
              <a:lnSpc>
                <a:spcPct val="100000"/>
              </a:lnSpc>
              <a:spcBef>
                <a:spcPts val="500"/>
              </a:spcBef>
              <a:spcAft>
                <a:spcPts val="0"/>
              </a:spcAft>
              <a:buSzPts val="2300"/>
              <a:buNone/>
            </a:pPr>
            <a:endParaRPr/>
          </a:p>
        </p:txBody>
      </p:sp>
      <p:sp>
        <p:nvSpPr>
          <p:cNvPr id="220" name="Google Shape;220;g3f502f38a39_2_100"/>
          <p:cNvSpPr txBox="1">
            <a:spLocks noGrp="1"/>
          </p:cNvSpPr>
          <p:nvPr>
            <p:ph type="body" idx="2"/>
          </p:nvPr>
        </p:nvSpPr>
        <p:spPr>
          <a:xfrm>
            <a:off x="395707" y="6475388"/>
            <a:ext cx="9740800" cy="383200"/>
          </a:xfrm>
          <a:prstGeom prst="rect">
            <a:avLst/>
          </a:prstGeom>
          <a:noFill/>
          <a:ln>
            <a:noFill/>
          </a:ln>
        </p:spPr>
        <p:txBody>
          <a:bodyPr spcFirstLastPara="1" wrap="square" lIns="0" tIns="45700" rIns="91425" bIns="45700" anchor="ctr" anchorCtr="0">
            <a:noAutofit/>
          </a:bodyPr>
          <a:lstStyle/>
          <a:p>
            <a:pPr marL="0" lvl="0" indent="0" algn="l" rtl="0">
              <a:lnSpc>
                <a:spcPct val="100000"/>
              </a:lnSpc>
              <a:spcBef>
                <a:spcPts val="300"/>
              </a:spcBef>
              <a:spcAft>
                <a:spcPts val="0"/>
              </a:spcAft>
              <a:buSzPts val="900"/>
              <a:buNone/>
            </a:pPr>
            <a:endParaRPr/>
          </a:p>
        </p:txBody>
      </p:sp>
      <p:graphicFrame>
        <p:nvGraphicFramePr>
          <p:cNvPr id="221" name="Google Shape;221;g3f502f38a39_2_100"/>
          <p:cNvGraphicFramePr/>
          <p:nvPr/>
        </p:nvGraphicFramePr>
        <p:xfrm>
          <a:off x="624600" y="2356033"/>
          <a:ext cx="3912125" cy="3215900"/>
        </p:xfrm>
        <a:graphic>
          <a:graphicData uri="http://schemas.openxmlformats.org/drawingml/2006/table">
            <a:tbl>
              <a:tblPr>
                <a:noFill/>
                <a:tableStyleId>{0860CCE0-F297-41D7-A668-42E0A14AD0CD}</a:tableStyleId>
              </a:tblPr>
              <a:tblGrid>
                <a:gridCol w="1201050">
                  <a:extLst>
                    <a:ext uri="{9D8B030D-6E8A-4147-A177-3AD203B41FA5}">
                      <a16:colId xmlns:a16="http://schemas.microsoft.com/office/drawing/2014/main" val="20000"/>
                    </a:ext>
                  </a:extLst>
                </a:gridCol>
                <a:gridCol w="1182750">
                  <a:extLst>
                    <a:ext uri="{9D8B030D-6E8A-4147-A177-3AD203B41FA5}">
                      <a16:colId xmlns:a16="http://schemas.microsoft.com/office/drawing/2014/main" val="20001"/>
                    </a:ext>
                  </a:extLst>
                </a:gridCol>
                <a:gridCol w="1528325">
                  <a:extLst>
                    <a:ext uri="{9D8B030D-6E8A-4147-A177-3AD203B41FA5}">
                      <a16:colId xmlns:a16="http://schemas.microsoft.com/office/drawing/2014/main" val="20002"/>
                    </a:ext>
                  </a:extLst>
                </a:gridCol>
              </a:tblGrid>
              <a:tr h="514225">
                <a:tc>
                  <a:txBody>
                    <a:bodyPr/>
                    <a:lstStyle/>
                    <a:p>
                      <a:pPr marL="0" marR="0" lvl="0" indent="0" algn="l" rtl="0">
                        <a:lnSpc>
                          <a:spcPct val="100000"/>
                        </a:lnSpc>
                        <a:spcBef>
                          <a:spcPts val="0"/>
                        </a:spcBef>
                        <a:spcAft>
                          <a:spcPts val="0"/>
                        </a:spcAft>
                        <a:buClr>
                          <a:srgbClr val="000000"/>
                        </a:buClr>
                        <a:buSzPts val="1600"/>
                        <a:buFont typeface="Arial"/>
                        <a:buNone/>
                      </a:pPr>
                      <a:r>
                        <a:rPr lang="en-IN" sz="1600" b="1" u="none" strike="noStrike" cap="none"/>
                        <a:t>term</a:t>
                      </a:r>
                      <a:endParaRPr sz="1600" b="1"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B8D4F0"/>
                    </a:solidFill>
                  </a:tcPr>
                </a:tc>
                <a:tc>
                  <a:txBody>
                    <a:bodyPr/>
                    <a:lstStyle/>
                    <a:p>
                      <a:pPr marL="0" marR="0" lvl="0" indent="0" algn="l" rtl="0">
                        <a:lnSpc>
                          <a:spcPct val="100000"/>
                        </a:lnSpc>
                        <a:spcBef>
                          <a:spcPts val="0"/>
                        </a:spcBef>
                        <a:spcAft>
                          <a:spcPts val="0"/>
                        </a:spcAft>
                        <a:buClr>
                          <a:srgbClr val="000000"/>
                        </a:buClr>
                        <a:buSzPts val="1900"/>
                        <a:buFont typeface="Arial"/>
                        <a:buNone/>
                      </a:pPr>
                      <a:r>
                        <a:rPr lang="en-IN" sz="1900" b="1" u="none" strike="noStrike" cap="none"/>
                        <a:t>coef.</a:t>
                      </a:r>
                      <a:endParaRPr sz="1900" b="1"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B8D4F0"/>
                    </a:solidFill>
                  </a:tcPr>
                </a:tc>
                <a:tc>
                  <a:txBody>
                    <a:bodyPr/>
                    <a:lstStyle/>
                    <a:p>
                      <a:pPr marL="0" marR="0" lvl="0" indent="0" algn="l" rtl="0">
                        <a:lnSpc>
                          <a:spcPct val="100000"/>
                        </a:lnSpc>
                        <a:spcBef>
                          <a:spcPts val="0"/>
                        </a:spcBef>
                        <a:spcAft>
                          <a:spcPts val="0"/>
                        </a:spcAft>
                        <a:buClr>
                          <a:srgbClr val="000000"/>
                        </a:buClr>
                        <a:buSzPts val="1900"/>
                        <a:buFont typeface="Arial"/>
                        <a:buNone/>
                      </a:pPr>
                      <a:r>
                        <a:rPr lang="en-IN" sz="1900" b="1" u="none" strike="noStrike" cap="none"/>
                        <a:t>p_values</a:t>
                      </a:r>
                      <a:endParaRPr sz="1900" b="1"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B8D4F0"/>
                    </a:solidFill>
                  </a:tcPr>
                </a:tc>
                <a:extLst>
                  <a:ext uri="{0D108BD9-81ED-4DB2-BD59-A6C34878D82A}">
                    <a16:rowId xmlns:a16="http://schemas.microsoft.com/office/drawing/2014/main" val="10000"/>
                  </a:ext>
                </a:extLst>
              </a:tr>
              <a:tr h="549100">
                <a:tc>
                  <a:txBody>
                    <a:bodyPr/>
                    <a:lstStyle/>
                    <a:p>
                      <a:pPr marL="0" marR="0" lvl="0" indent="0" algn="l" rtl="0">
                        <a:lnSpc>
                          <a:spcPct val="100000"/>
                        </a:lnSpc>
                        <a:spcBef>
                          <a:spcPts val="0"/>
                        </a:spcBef>
                        <a:spcAft>
                          <a:spcPts val="0"/>
                        </a:spcAft>
                        <a:buClr>
                          <a:srgbClr val="000000"/>
                        </a:buClr>
                        <a:buSzPts val="1900"/>
                        <a:buFont typeface="Arial"/>
                        <a:buNone/>
                      </a:pPr>
                      <a:r>
                        <a:rPr lang="en-IN" sz="1900" u="none" strike="noStrike" cap="none"/>
                        <a:t>intercept</a:t>
                      </a:r>
                      <a:endParaRPr sz="1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r>
                        <a:rPr lang="en-IN" sz="1900" u="none" strike="noStrike" cap="none"/>
                        <a:t>215.62</a:t>
                      </a:r>
                      <a:endParaRPr sz="1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r>
                        <a:rPr lang="en-IN" sz="1900" u="none" strike="noStrike" cap="none"/>
                        <a:t>&lt;0.001</a:t>
                      </a:r>
                      <a:endParaRPr sz="1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90025">
                <a:tc>
                  <a:txBody>
                    <a:bodyPr/>
                    <a:lstStyle/>
                    <a:p>
                      <a:pPr marL="0" marR="0" lvl="0" indent="0" algn="l" rtl="0">
                        <a:lnSpc>
                          <a:spcPct val="100000"/>
                        </a:lnSpc>
                        <a:spcBef>
                          <a:spcPts val="0"/>
                        </a:spcBef>
                        <a:spcAft>
                          <a:spcPts val="0"/>
                        </a:spcAft>
                        <a:buClr>
                          <a:srgbClr val="000000"/>
                        </a:buClr>
                        <a:buSzPts val="1900"/>
                        <a:buFont typeface="Arial"/>
                        <a:buNone/>
                      </a:pPr>
                      <a:r>
                        <a:rPr lang="en-IN" sz="1900" u="none" strike="noStrike" cap="none"/>
                        <a:t>treated</a:t>
                      </a:r>
                      <a:endParaRPr sz="1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r>
                        <a:rPr lang="en-IN" sz="1900" u="none" strike="noStrike" cap="none"/>
                        <a:t>78.28</a:t>
                      </a:r>
                      <a:endParaRPr sz="1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r>
                        <a:rPr lang="en-IN" sz="1900" u="none" strike="noStrike" cap="none"/>
                        <a:t>0.012</a:t>
                      </a:r>
                      <a:endParaRPr sz="1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55025">
                <a:tc>
                  <a:txBody>
                    <a:bodyPr/>
                    <a:lstStyle/>
                    <a:p>
                      <a:pPr marL="0" marR="0" lvl="0" indent="0" algn="l" rtl="0">
                        <a:lnSpc>
                          <a:spcPct val="100000"/>
                        </a:lnSpc>
                        <a:spcBef>
                          <a:spcPts val="0"/>
                        </a:spcBef>
                        <a:spcAft>
                          <a:spcPts val="0"/>
                        </a:spcAft>
                        <a:buClr>
                          <a:srgbClr val="000000"/>
                        </a:buClr>
                        <a:buSzPts val="1900"/>
                        <a:buFont typeface="Arial"/>
                        <a:buNone/>
                      </a:pPr>
                      <a:r>
                        <a:rPr lang="en-IN" sz="1900" u="none" strike="noStrike" cap="none"/>
                        <a:t>DID</a:t>
                      </a:r>
                      <a:endParaRPr sz="1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r>
                        <a:rPr lang="en-IN" sz="1900" u="none" strike="noStrike" cap="none"/>
                        <a:t>-8.08</a:t>
                      </a:r>
                      <a:endParaRPr sz="1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r>
                        <a:rPr lang="en-IN" sz="1900" u="none" strike="noStrike" cap="none"/>
                        <a:t>0.854</a:t>
                      </a:r>
                      <a:endParaRPr sz="1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98400">
                <a:tc>
                  <a:txBody>
                    <a:bodyPr/>
                    <a:lstStyle/>
                    <a:p>
                      <a:pPr marL="0" marR="0" lvl="0" indent="0" algn="l" rtl="0">
                        <a:lnSpc>
                          <a:spcPct val="100000"/>
                        </a:lnSpc>
                        <a:spcBef>
                          <a:spcPts val="0"/>
                        </a:spcBef>
                        <a:spcAft>
                          <a:spcPts val="0"/>
                        </a:spcAft>
                        <a:buClr>
                          <a:srgbClr val="000000"/>
                        </a:buClr>
                        <a:buSzPts val="1900"/>
                        <a:buFont typeface="Arial"/>
                        <a:buNone/>
                      </a:pPr>
                      <a:r>
                        <a:rPr lang="en-IN" sz="1900" u="none" strike="noStrike" cap="none"/>
                        <a:t>VI*DID</a:t>
                      </a:r>
                      <a:endParaRPr sz="1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r>
                        <a:rPr lang="en-IN" sz="1900" u="none" strike="noStrike" cap="none"/>
                        <a:t>-333.16</a:t>
                      </a:r>
                      <a:endParaRPr sz="1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r>
                        <a:rPr lang="en-IN" sz="1900" u="none" strike="noStrike" cap="none"/>
                        <a:t>&lt;0.001</a:t>
                      </a:r>
                      <a:endParaRPr sz="1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70925">
                <a:tc>
                  <a:txBody>
                    <a:bodyPr/>
                    <a:lstStyle/>
                    <a:p>
                      <a:pPr marL="0" marR="0" lvl="0" indent="0" algn="l" rtl="0">
                        <a:lnSpc>
                          <a:spcPct val="100000"/>
                        </a:lnSpc>
                        <a:spcBef>
                          <a:spcPts val="0"/>
                        </a:spcBef>
                        <a:spcAft>
                          <a:spcPts val="0"/>
                        </a:spcAft>
                        <a:buClr>
                          <a:srgbClr val="000000"/>
                        </a:buClr>
                        <a:buSzPts val="1900"/>
                        <a:buFont typeface="Arial"/>
                        <a:buNone/>
                      </a:pPr>
                      <a:r>
                        <a:rPr lang="en-IN" sz="1900" u="none" strike="noStrike" cap="none"/>
                        <a:t>VI</a:t>
                      </a:r>
                      <a:endParaRPr sz="1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r>
                        <a:rPr lang="en-IN" sz="1900" u="none" strike="noStrike" cap="none"/>
                        <a:t>140.6</a:t>
                      </a:r>
                      <a:endParaRPr sz="1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900"/>
                        <a:buFont typeface="Arial"/>
                        <a:buNone/>
                      </a:pPr>
                      <a:r>
                        <a:rPr lang="en-IN" sz="1900" u="none" strike="noStrike" cap="none"/>
                        <a:t>0.027</a:t>
                      </a:r>
                      <a:endParaRPr sz="1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222" name="Google Shape;222;g3f502f38a39_2_100"/>
          <p:cNvGraphicFramePr/>
          <p:nvPr/>
        </p:nvGraphicFramePr>
        <p:xfrm>
          <a:off x="6545940" y="2356027"/>
          <a:ext cx="4370850" cy="2451070"/>
        </p:xfrm>
        <a:graphic>
          <a:graphicData uri="http://schemas.openxmlformats.org/drawingml/2006/table">
            <a:tbl>
              <a:tblPr>
                <a:noFill/>
                <a:tableStyleId>{A65E06BE-108E-464A-A335-A020800443A8}</a:tableStyleId>
              </a:tblPr>
              <a:tblGrid>
                <a:gridCol w="1585250">
                  <a:extLst>
                    <a:ext uri="{9D8B030D-6E8A-4147-A177-3AD203B41FA5}">
                      <a16:colId xmlns:a16="http://schemas.microsoft.com/office/drawing/2014/main" val="20000"/>
                    </a:ext>
                  </a:extLst>
                </a:gridCol>
                <a:gridCol w="1576650">
                  <a:extLst>
                    <a:ext uri="{9D8B030D-6E8A-4147-A177-3AD203B41FA5}">
                      <a16:colId xmlns:a16="http://schemas.microsoft.com/office/drawing/2014/main" val="20001"/>
                    </a:ext>
                  </a:extLst>
                </a:gridCol>
                <a:gridCol w="1208950">
                  <a:extLst>
                    <a:ext uri="{9D8B030D-6E8A-4147-A177-3AD203B41FA5}">
                      <a16:colId xmlns:a16="http://schemas.microsoft.com/office/drawing/2014/main" val="20002"/>
                    </a:ext>
                  </a:extLst>
                </a:gridCol>
              </a:tblGrid>
              <a:tr h="528250">
                <a:tc>
                  <a:txBody>
                    <a:bodyPr/>
                    <a:lstStyle/>
                    <a:p>
                      <a:pPr marL="0" marR="0" lvl="0" indent="0" algn="ctr" rtl="0">
                        <a:lnSpc>
                          <a:spcPct val="100000"/>
                        </a:lnSpc>
                        <a:spcBef>
                          <a:spcPts val="0"/>
                        </a:spcBef>
                        <a:spcAft>
                          <a:spcPts val="0"/>
                        </a:spcAft>
                        <a:buClr>
                          <a:srgbClr val="FFFFFF"/>
                        </a:buClr>
                        <a:buSzPts val="1200"/>
                        <a:buFont typeface="Calibri"/>
                        <a:buNone/>
                      </a:pPr>
                      <a:r>
                        <a:rPr lang="en-IN" sz="1900" b="1" u="none" strike="noStrike" cap="none">
                          <a:solidFill>
                            <a:schemeClr val="dk1"/>
                          </a:solidFill>
                        </a:rPr>
                        <a:t>term</a:t>
                      </a:r>
                      <a:endParaRPr sz="1900" u="none" strike="noStrike" cap="none">
                        <a:solidFill>
                          <a:schemeClr val="dk1"/>
                        </a:solidFill>
                      </a:endParaRPr>
                    </a:p>
                  </a:txBody>
                  <a:tcPr marL="91475" marR="91475"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B8D4F0"/>
                    </a:solidFill>
                  </a:tcPr>
                </a:tc>
                <a:tc>
                  <a:txBody>
                    <a:bodyPr/>
                    <a:lstStyle/>
                    <a:p>
                      <a:pPr marL="0" marR="0" lvl="0" indent="0" algn="l" rtl="0">
                        <a:lnSpc>
                          <a:spcPct val="100000"/>
                        </a:lnSpc>
                        <a:spcBef>
                          <a:spcPts val="0"/>
                        </a:spcBef>
                        <a:spcAft>
                          <a:spcPts val="0"/>
                        </a:spcAft>
                        <a:buClr>
                          <a:srgbClr val="FFFFFF"/>
                        </a:buClr>
                        <a:buSzPts val="1200"/>
                        <a:buFont typeface="Calibri"/>
                        <a:buNone/>
                      </a:pPr>
                      <a:r>
                        <a:rPr lang="en-IN" sz="1900" b="1" u="none" strike="noStrike" cap="none">
                          <a:solidFill>
                            <a:schemeClr val="dk1"/>
                          </a:solidFill>
                        </a:rPr>
                        <a:t>coef.</a:t>
                      </a:r>
                      <a:endParaRPr sz="1900" u="none" strike="noStrike" cap="none">
                        <a:solidFill>
                          <a:schemeClr val="dk1"/>
                        </a:solidFill>
                      </a:endParaRPr>
                    </a:p>
                  </a:txBody>
                  <a:tcPr marL="91475" marR="91475"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B8D4F0"/>
                    </a:solidFill>
                  </a:tcPr>
                </a:tc>
                <a:tc>
                  <a:txBody>
                    <a:bodyPr/>
                    <a:lstStyle/>
                    <a:p>
                      <a:pPr marL="0" marR="0" lvl="0" indent="0" algn="ctr" rtl="0">
                        <a:lnSpc>
                          <a:spcPct val="100000"/>
                        </a:lnSpc>
                        <a:spcBef>
                          <a:spcPts val="0"/>
                        </a:spcBef>
                        <a:spcAft>
                          <a:spcPts val="0"/>
                        </a:spcAft>
                        <a:buClr>
                          <a:srgbClr val="FFFFFF"/>
                        </a:buClr>
                        <a:buSzPts val="1200"/>
                        <a:buFont typeface="Calibri"/>
                        <a:buNone/>
                      </a:pPr>
                      <a:r>
                        <a:rPr lang="en-IN" sz="1900" b="1" u="none" strike="noStrike" cap="none">
                          <a:solidFill>
                            <a:schemeClr val="dk1"/>
                          </a:solidFill>
                        </a:rPr>
                        <a:t>p_values</a:t>
                      </a:r>
                      <a:endParaRPr sz="1900" u="none" strike="noStrike" cap="none">
                        <a:solidFill>
                          <a:schemeClr val="dk1"/>
                        </a:solidFill>
                      </a:endParaRPr>
                    </a:p>
                  </a:txBody>
                  <a:tcPr marL="91475" marR="91475"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B8D4F0"/>
                    </a:solidFill>
                  </a:tcPr>
                </a:tc>
                <a:extLst>
                  <a:ext uri="{0D108BD9-81ED-4DB2-BD59-A6C34878D82A}">
                    <a16:rowId xmlns:a16="http://schemas.microsoft.com/office/drawing/2014/main" val="10000"/>
                  </a:ext>
                </a:extLst>
              </a:tr>
              <a:tr h="593500">
                <a:tc>
                  <a:txBody>
                    <a:bodyPr/>
                    <a:lstStyle/>
                    <a:p>
                      <a:pPr marL="0" marR="0" lvl="0" indent="0" algn="l" rtl="0">
                        <a:lnSpc>
                          <a:spcPct val="100000"/>
                        </a:lnSpc>
                        <a:spcBef>
                          <a:spcPts val="0"/>
                        </a:spcBef>
                        <a:spcAft>
                          <a:spcPts val="0"/>
                        </a:spcAft>
                        <a:buClr>
                          <a:srgbClr val="1E293B"/>
                        </a:buClr>
                        <a:buSzPts val="1200"/>
                        <a:buFont typeface="Calibri"/>
                        <a:buNone/>
                      </a:pPr>
                      <a:r>
                        <a:rPr lang="en-IN" sz="1900" u="none" strike="noStrike" cap="none">
                          <a:solidFill>
                            <a:srgbClr val="1E293B"/>
                          </a:solidFill>
                        </a:rPr>
                        <a:t>Intercept</a:t>
                      </a:r>
                      <a:endParaRPr sz="1900" u="none" strike="noStrike" cap="none"/>
                    </a:p>
                  </a:txBody>
                  <a:tcPr marL="91475" marR="91475"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1E293B"/>
                        </a:buClr>
                        <a:buSzPts val="1200"/>
                        <a:buFont typeface="Calibri"/>
                        <a:buNone/>
                      </a:pPr>
                      <a:r>
                        <a:rPr lang="en-IN" sz="1900" u="none" strike="noStrike" cap="none">
                          <a:solidFill>
                            <a:srgbClr val="1E293B"/>
                          </a:solidFill>
                        </a:rPr>
                        <a:t>262.35</a:t>
                      </a:r>
                      <a:endParaRPr sz="1900" u="none" strike="noStrike" cap="none"/>
                    </a:p>
                  </a:txBody>
                  <a:tcPr marL="91475" marR="91475"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1E293B"/>
                        </a:buClr>
                        <a:buSzPts val="1200"/>
                        <a:buFont typeface="Calibri"/>
                        <a:buNone/>
                      </a:pPr>
                      <a:r>
                        <a:rPr lang="en-IN" sz="1900" u="none" strike="noStrike" cap="none">
                          <a:solidFill>
                            <a:srgbClr val="1E293B"/>
                          </a:solidFill>
                        </a:rPr>
                        <a:t>&lt;0.001</a:t>
                      </a:r>
                      <a:endParaRPr sz="1900" u="none" strike="noStrike" cap="none"/>
                    </a:p>
                  </a:txBody>
                  <a:tcPr marL="91475" marR="91475"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93500">
                <a:tc>
                  <a:txBody>
                    <a:bodyPr/>
                    <a:lstStyle/>
                    <a:p>
                      <a:pPr marL="0" marR="0" lvl="0" indent="0" algn="l" rtl="0">
                        <a:lnSpc>
                          <a:spcPct val="100000"/>
                        </a:lnSpc>
                        <a:spcBef>
                          <a:spcPts val="0"/>
                        </a:spcBef>
                        <a:spcAft>
                          <a:spcPts val="0"/>
                        </a:spcAft>
                        <a:buClr>
                          <a:srgbClr val="1E293B"/>
                        </a:buClr>
                        <a:buSzPts val="1200"/>
                        <a:buFont typeface="Calibri"/>
                        <a:buNone/>
                      </a:pPr>
                      <a:r>
                        <a:rPr lang="en-IN" sz="1900" u="none" strike="noStrike" cap="none">
                          <a:solidFill>
                            <a:srgbClr val="1E293B"/>
                          </a:solidFill>
                        </a:rPr>
                        <a:t>Treated</a:t>
                      </a:r>
                      <a:endParaRPr sz="1900" u="none" strike="noStrike" cap="none"/>
                    </a:p>
                  </a:txBody>
                  <a:tcPr marL="91475" marR="91475"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1E293B"/>
                        </a:buClr>
                        <a:buSzPts val="1200"/>
                        <a:buFont typeface="Calibri"/>
                        <a:buNone/>
                      </a:pPr>
                      <a:r>
                        <a:rPr lang="en-IN" sz="1900" u="none" strike="noStrike" cap="none">
                          <a:solidFill>
                            <a:srgbClr val="1E293B"/>
                          </a:solidFill>
                        </a:rPr>
                        <a:t>79.00</a:t>
                      </a:r>
                      <a:endParaRPr sz="1900" u="none" strike="noStrike" cap="none"/>
                    </a:p>
                  </a:txBody>
                  <a:tcPr marL="91475" marR="91475"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1E293B"/>
                        </a:buClr>
                        <a:buSzPts val="1200"/>
                        <a:buFont typeface="Calibri"/>
                        <a:buNone/>
                      </a:pPr>
                      <a:r>
                        <a:rPr lang="en-IN" sz="1900" u="none" strike="noStrike" cap="none">
                          <a:solidFill>
                            <a:srgbClr val="1E293B"/>
                          </a:solidFill>
                        </a:rPr>
                        <a:t>0.011</a:t>
                      </a:r>
                      <a:endParaRPr sz="1900" u="none" strike="noStrike" cap="none"/>
                    </a:p>
                  </a:txBody>
                  <a:tcPr marL="91475" marR="91475"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93500">
                <a:tc>
                  <a:txBody>
                    <a:bodyPr/>
                    <a:lstStyle/>
                    <a:p>
                      <a:pPr marL="0" marR="0" lvl="0" indent="0" algn="l" rtl="0">
                        <a:lnSpc>
                          <a:spcPct val="100000"/>
                        </a:lnSpc>
                        <a:spcBef>
                          <a:spcPts val="0"/>
                        </a:spcBef>
                        <a:spcAft>
                          <a:spcPts val="0"/>
                        </a:spcAft>
                        <a:buClr>
                          <a:srgbClr val="16324F"/>
                        </a:buClr>
                        <a:buSzPts val="1200"/>
                        <a:buFont typeface="Calibri"/>
                        <a:buNone/>
                      </a:pPr>
                      <a:r>
                        <a:rPr lang="en-IN" sz="1900" u="none" strike="noStrike" cap="none">
                          <a:solidFill>
                            <a:srgbClr val="16324F"/>
                          </a:solidFill>
                        </a:rPr>
                        <a:t>DiD (ATT)</a:t>
                      </a:r>
                      <a:endParaRPr sz="1900" u="none" strike="noStrike" cap="none"/>
                    </a:p>
                  </a:txBody>
                  <a:tcPr marL="91475" marR="91475"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16324F"/>
                        </a:buClr>
                        <a:buSzPts val="1200"/>
                        <a:buFont typeface="Calibri"/>
                        <a:buNone/>
                      </a:pPr>
                      <a:r>
                        <a:rPr lang="en-IN" sz="1900" u="none" strike="noStrike" cap="none">
                          <a:solidFill>
                            <a:srgbClr val="16324F"/>
                          </a:solidFill>
                        </a:rPr>
                        <a:t>−121.85</a:t>
                      </a:r>
                      <a:endParaRPr sz="1900" u="none" strike="noStrike" cap="none"/>
                    </a:p>
                  </a:txBody>
                  <a:tcPr marL="91475" marR="91475"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16324F"/>
                        </a:buClr>
                        <a:buSzPts val="1200"/>
                        <a:buFont typeface="Calibri"/>
                        <a:buNone/>
                      </a:pPr>
                      <a:r>
                        <a:rPr lang="en-IN" sz="1900" u="none" strike="noStrike" cap="none">
                          <a:solidFill>
                            <a:srgbClr val="16324F"/>
                          </a:solidFill>
                        </a:rPr>
                        <a:t>&lt;0.001</a:t>
                      </a:r>
                      <a:endParaRPr sz="1900" u="none" strike="noStrike" cap="none"/>
                    </a:p>
                  </a:txBody>
                  <a:tcPr marL="91475" marR="91475"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23" name="Google Shape;223;g3f502f38a39_2_100"/>
          <p:cNvSpPr txBox="1"/>
          <p:nvPr/>
        </p:nvSpPr>
        <p:spPr>
          <a:xfrm>
            <a:off x="6545933" y="1822433"/>
            <a:ext cx="5274000" cy="533600"/>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IN" sz="1900" b="1" i="0" u="none" strike="noStrike" cap="none">
                <a:solidFill>
                  <a:schemeClr val="dk1"/>
                </a:solidFill>
                <a:latin typeface="Calibri"/>
                <a:ea typeface="Calibri"/>
                <a:cs typeface="Calibri"/>
                <a:sym typeface="Calibri"/>
              </a:rPr>
              <a:t>Without VI</a:t>
            </a:r>
            <a:endParaRPr sz="1900" b="1" i="0" u="none" strike="noStrike" cap="none">
              <a:solidFill>
                <a:schemeClr val="dk1"/>
              </a:solidFill>
              <a:latin typeface="Calibri"/>
              <a:ea typeface="Calibri"/>
              <a:cs typeface="Calibri"/>
              <a:sym typeface="Calibri"/>
            </a:endParaRPr>
          </a:p>
        </p:txBody>
      </p:sp>
      <p:sp>
        <p:nvSpPr>
          <p:cNvPr id="224" name="Google Shape;224;g3f502f38a39_2_100"/>
          <p:cNvSpPr txBox="1"/>
          <p:nvPr/>
        </p:nvSpPr>
        <p:spPr>
          <a:xfrm>
            <a:off x="587967" y="1897433"/>
            <a:ext cx="5274000" cy="533600"/>
          </a:xfrm>
          <a:prstGeom prst="rect">
            <a:avLst/>
          </a:prstGeom>
          <a:noFill/>
          <a:ln>
            <a:noFill/>
          </a:ln>
        </p:spPr>
        <p:txBody>
          <a:bodyPr spcFirstLastPara="1" wrap="square" lIns="121900" tIns="121900" rIns="121900" bIns="121900" anchor="t" anchorCtr="0">
            <a:spAutoFit/>
          </a:bodyPr>
          <a:lstStyle/>
          <a:p>
            <a:pPr marL="0" marR="0" lvl="0" indent="0" algn="l" rtl="0">
              <a:lnSpc>
                <a:spcPct val="100000"/>
              </a:lnSpc>
              <a:spcBef>
                <a:spcPts val="0"/>
              </a:spcBef>
              <a:spcAft>
                <a:spcPts val="0"/>
              </a:spcAft>
              <a:buClr>
                <a:srgbClr val="000000"/>
              </a:buClr>
              <a:buSzPts val="1900"/>
              <a:buFont typeface="Arial"/>
              <a:buNone/>
            </a:pPr>
            <a:r>
              <a:rPr lang="en-IN" sz="1900" b="1" i="0" u="none" strike="noStrike" cap="none">
                <a:solidFill>
                  <a:schemeClr val="dk1"/>
                </a:solidFill>
                <a:latin typeface="Calibri"/>
                <a:ea typeface="Calibri"/>
                <a:cs typeface="Calibri"/>
                <a:sym typeface="Calibri"/>
              </a:rPr>
              <a:t>With VI</a:t>
            </a:r>
            <a:endParaRPr sz="1900" b="1"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6">
          <a:extLst>
            <a:ext uri="{FF2B5EF4-FFF2-40B4-BE49-F238E27FC236}">
              <a16:creationId xmlns:a16="http://schemas.microsoft.com/office/drawing/2014/main" id="{AABAE8C2-B019-9F5B-E280-5DE5F78C5EAB}"/>
            </a:ext>
          </a:extLst>
        </p:cNvPr>
        <p:cNvGrpSpPr/>
        <p:nvPr/>
      </p:nvGrpSpPr>
      <p:grpSpPr>
        <a:xfrm>
          <a:off x="0" y="0"/>
          <a:ext cx="0" cy="0"/>
          <a:chOff x="0" y="0"/>
          <a:chExt cx="0" cy="0"/>
        </a:xfrm>
      </p:grpSpPr>
      <p:sp>
        <p:nvSpPr>
          <p:cNvPr id="377" name="Google Shape;377;g3f556ffc7f3_3_0">
            <a:extLst>
              <a:ext uri="{FF2B5EF4-FFF2-40B4-BE49-F238E27FC236}">
                <a16:creationId xmlns:a16="http://schemas.microsoft.com/office/drawing/2014/main" id="{56A1829F-5174-7D5B-A165-EA645C4988C6}"/>
              </a:ext>
            </a:extLst>
          </p:cNvPr>
          <p:cNvSpPr txBox="1">
            <a:spLocks noGrp="1"/>
          </p:cNvSpPr>
          <p:nvPr>
            <p:ph type="title"/>
          </p:nvPr>
        </p:nvSpPr>
        <p:spPr>
          <a:xfrm>
            <a:off x="256032" y="225653"/>
            <a:ext cx="11284500" cy="433500"/>
          </a:xfrm>
          <a:prstGeom prst="rect">
            <a:avLst/>
          </a:prstGeom>
          <a:noFill/>
          <a:ln>
            <a:noFill/>
          </a:ln>
        </p:spPr>
        <p:txBody>
          <a:bodyPr spcFirstLastPara="1" wrap="square" lIns="0" tIns="45700" rIns="0" bIns="45700" anchor="t" anchorCtr="0">
            <a:normAutofit fontScale="90000"/>
          </a:bodyPr>
          <a:lstStyle/>
          <a:p>
            <a:pPr marL="0" lvl="0" indent="0" algn="l" rtl="0">
              <a:lnSpc>
                <a:spcPct val="100000"/>
              </a:lnSpc>
              <a:spcBef>
                <a:spcPts val="0"/>
              </a:spcBef>
              <a:spcAft>
                <a:spcPts val="0"/>
              </a:spcAft>
              <a:buClr>
                <a:schemeClr val="accent1"/>
              </a:buClr>
              <a:buSzPts val="2400"/>
              <a:buFont typeface="Calibri"/>
              <a:buNone/>
            </a:pPr>
            <a:r>
              <a:rPr lang="en-IN" dirty="0"/>
              <a:t>SVI(VI) – Social Vulnerability Index</a:t>
            </a:r>
            <a:endParaRPr sz="1600" b="0" dirty="0">
              <a:solidFill>
                <a:srgbClr val="009CD8"/>
              </a:solidFill>
            </a:endParaRPr>
          </a:p>
        </p:txBody>
      </p:sp>
      <p:sp>
        <p:nvSpPr>
          <p:cNvPr id="378" name="Google Shape;378;g3f556ffc7f3_3_0">
            <a:extLst>
              <a:ext uri="{FF2B5EF4-FFF2-40B4-BE49-F238E27FC236}">
                <a16:creationId xmlns:a16="http://schemas.microsoft.com/office/drawing/2014/main" id="{F1CED117-7CFD-B0E9-EF4A-A88F06F4B82F}"/>
              </a:ext>
            </a:extLst>
          </p:cNvPr>
          <p:cNvSpPr txBox="1"/>
          <p:nvPr/>
        </p:nvSpPr>
        <p:spPr>
          <a:xfrm>
            <a:off x="-276585" y="6235395"/>
            <a:ext cx="773100" cy="3651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600" b="0" i="0" u="none" strike="noStrike" cap="none">
                <a:solidFill>
                  <a:srgbClr val="888888"/>
                </a:solidFill>
                <a:latin typeface="Calibri"/>
                <a:ea typeface="Calibri"/>
                <a:cs typeface="Calibri"/>
                <a:sym typeface="Calibri"/>
              </a:rPr>
              <a:t>9</a:t>
            </a:fld>
            <a:r>
              <a:rPr lang="en-IN" sz="1600" b="0" i="0" u="none" strike="noStrike" cap="none">
                <a:solidFill>
                  <a:srgbClr val="888888"/>
                </a:solidFill>
                <a:latin typeface="Calibri"/>
                <a:ea typeface="Calibri"/>
                <a:cs typeface="Calibri"/>
                <a:sym typeface="Calibri"/>
              </a:rPr>
              <a:t>|</a:t>
            </a:r>
            <a:endParaRPr sz="1600" b="0" i="0" u="none" strike="noStrike" cap="none">
              <a:solidFill>
                <a:srgbClr val="888888"/>
              </a:solidFill>
              <a:latin typeface="Calibri"/>
              <a:ea typeface="Calibri"/>
              <a:cs typeface="Calibri"/>
              <a:sym typeface="Calibri"/>
            </a:endParaRPr>
          </a:p>
        </p:txBody>
      </p:sp>
      <p:graphicFrame>
        <p:nvGraphicFramePr>
          <p:cNvPr id="4" name="Table 3">
            <a:extLst>
              <a:ext uri="{FF2B5EF4-FFF2-40B4-BE49-F238E27FC236}">
                <a16:creationId xmlns:a16="http://schemas.microsoft.com/office/drawing/2014/main" id="{C68F34CE-6D92-E61E-C378-5E433E6D4AC0}"/>
              </a:ext>
            </a:extLst>
          </p:cNvPr>
          <p:cNvGraphicFramePr>
            <a:graphicFrameLocks noGrp="1"/>
          </p:cNvGraphicFramePr>
          <p:nvPr>
            <p:extLst>
              <p:ext uri="{D42A27DB-BD31-4B8C-83A1-F6EECF244321}">
                <p14:modId xmlns:p14="http://schemas.microsoft.com/office/powerpoint/2010/main" val="1373476176"/>
              </p:ext>
            </p:extLst>
          </p:nvPr>
        </p:nvGraphicFramePr>
        <p:xfrm>
          <a:off x="256032" y="963229"/>
          <a:ext cx="7042478" cy="1524000"/>
        </p:xfrm>
        <a:graphic>
          <a:graphicData uri="http://schemas.openxmlformats.org/drawingml/2006/table">
            <a:tbl>
              <a:tblPr>
                <a:tableStyleId>{A65E06BE-108E-464A-A335-A020800443A8}</a:tableStyleId>
              </a:tblPr>
              <a:tblGrid>
                <a:gridCol w="3521239">
                  <a:extLst>
                    <a:ext uri="{9D8B030D-6E8A-4147-A177-3AD203B41FA5}">
                      <a16:colId xmlns:a16="http://schemas.microsoft.com/office/drawing/2014/main" val="2418055009"/>
                    </a:ext>
                  </a:extLst>
                </a:gridCol>
                <a:gridCol w="3521239">
                  <a:extLst>
                    <a:ext uri="{9D8B030D-6E8A-4147-A177-3AD203B41FA5}">
                      <a16:colId xmlns:a16="http://schemas.microsoft.com/office/drawing/2014/main" val="1329797093"/>
                    </a:ext>
                  </a:extLst>
                </a:gridCol>
              </a:tblGrid>
              <a:tr h="304800">
                <a:tc>
                  <a:txBody>
                    <a:bodyPr/>
                    <a:lstStyle/>
                    <a:p>
                      <a:pPr>
                        <a:buNone/>
                      </a:pPr>
                      <a:r>
                        <a:rPr lang="en-US" sz="1400"/>
                        <a:t>Ward-level SVI</a:t>
                      </a:r>
                    </a:p>
                  </a:txBody>
                  <a:tcPr anchor="ctr"/>
                </a:tc>
                <a:tc>
                  <a:txBody>
                    <a:bodyPr/>
                    <a:lstStyle/>
                    <a:p>
                      <a:pPr>
                        <a:buNone/>
                      </a:pPr>
                      <a:r>
                        <a:rPr lang="en-US" sz="1400"/>
                        <a:t>Individual-level SVI – BBUS</a:t>
                      </a:r>
                    </a:p>
                  </a:txBody>
                  <a:tcPr anchor="ctr"/>
                </a:tc>
                <a:extLst>
                  <a:ext uri="{0D108BD9-81ED-4DB2-BD59-A6C34878D82A}">
                    <a16:rowId xmlns:a16="http://schemas.microsoft.com/office/drawing/2014/main" val="2817230490"/>
                  </a:ext>
                </a:extLst>
              </a:tr>
              <a:tr h="304800">
                <a:tc>
                  <a:txBody>
                    <a:bodyPr/>
                    <a:lstStyle/>
                    <a:p>
                      <a:pPr>
                        <a:buNone/>
                      </a:pPr>
                      <a:r>
                        <a:rPr lang="en-US" sz="1400"/>
                        <a:t>One SVI for each ward/area</a:t>
                      </a:r>
                    </a:p>
                  </a:txBody>
                  <a:tcPr anchor="ctr"/>
                </a:tc>
                <a:tc>
                  <a:txBody>
                    <a:bodyPr/>
                    <a:lstStyle/>
                    <a:p>
                      <a:pPr>
                        <a:buNone/>
                      </a:pPr>
                      <a:r>
                        <a:rPr lang="en-US" sz="1400"/>
                        <a:t>One SVI for each survey respondent</a:t>
                      </a:r>
                    </a:p>
                  </a:txBody>
                  <a:tcPr anchor="ctr"/>
                </a:tc>
                <a:extLst>
                  <a:ext uri="{0D108BD9-81ED-4DB2-BD59-A6C34878D82A}">
                    <a16:rowId xmlns:a16="http://schemas.microsoft.com/office/drawing/2014/main" val="2498305701"/>
                  </a:ext>
                </a:extLst>
              </a:tr>
              <a:tr h="304800">
                <a:tc>
                  <a:txBody>
                    <a:bodyPr/>
                    <a:lstStyle/>
                    <a:p>
                      <a:pPr>
                        <a:buNone/>
                      </a:pPr>
                      <a:r>
                        <a:rPr lang="en-US" sz="1400" dirty="0"/>
                        <a:t>Uses aggregated area characteristics</a:t>
                      </a:r>
                    </a:p>
                  </a:txBody>
                  <a:tcPr anchor="ctr"/>
                </a:tc>
                <a:tc>
                  <a:txBody>
                    <a:bodyPr/>
                    <a:lstStyle/>
                    <a:p>
                      <a:pPr>
                        <a:buNone/>
                      </a:pPr>
                      <a:r>
                        <a:rPr lang="en-US" sz="1400"/>
                        <a:t>Uses individual/household characteristics</a:t>
                      </a:r>
                    </a:p>
                  </a:txBody>
                  <a:tcPr anchor="ctr"/>
                </a:tc>
                <a:extLst>
                  <a:ext uri="{0D108BD9-81ED-4DB2-BD59-A6C34878D82A}">
                    <a16:rowId xmlns:a16="http://schemas.microsoft.com/office/drawing/2014/main" val="2139056383"/>
                  </a:ext>
                </a:extLst>
              </a:tr>
              <a:tr h="304800">
                <a:tc>
                  <a:txBody>
                    <a:bodyPr/>
                    <a:lstStyle/>
                    <a:p>
                      <a:pPr>
                        <a:buNone/>
                      </a:pPr>
                      <a:r>
                        <a:rPr lang="en-US" sz="1400"/>
                        <a:t>Used by Sharma &amp; Patil (2021)</a:t>
                      </a:r>
                    </a:p>
                  </a:txBody>
                  <a:tcPr anchor="ctr"/>
                </a:tc>
                <a:tc>
                  <a:txBody>
                    <a:bodyPr/>
                    <a:lstStyle/>
                    <a:p>
                      <a:pPr>
                        <a:buNone/>
                      </a:pPr>
                      <a:r>
                        <a:rPr lang="en-US" sz="1400"/>
                        <a:t>Proposed adaptation for BBUS</a:t>
                      </a:r>
                    </a:p>
                  </a:txBody>
                  <a:tcPr anchor="ctr"/>
                </a:tc>
                <a:extLst>
                  <a:ext uri="{0D108BD9-81ED-4DB2-BD59-A6C34878D82A}">
                    <a16:rowId xmlns:a16="http://schemas.microsoft.com/office/drawing/2014/main" val="4130838928"/>
                  </a:ext>
                </a:extLst>
              </a:tr>
              <a:tr h="304800">
                <a:tc>
                  <a:txBody>
                    <a:bodyPr/>
                    <a:lstStyle/>
                    <a:p>
                      <a:pPr>
                        <a:buNone/>
                      </a:pPr>
                      <a:r>
                        <a:rPr lang="en-US" sz="1400"/>
                        <a:t>Identifies vulnerable areas</a:t>
                      </a:r>
                    </a:p>
                  </a:txBody>
                  <a:tcPr anchor="ctr"/>
                </a:tc>
                <a:tc>
                  <a:txBody>
                    <a:bodyPr/>
                    <a:lstStyle/>
                    <a:p>
                      <a:pPr>
                        <a:buNone/>
                      </a:pPr>
                      <a:r>
                        <a:rPr lang="en-US" sz="1400" dirty="0"/>
                        <a:t>Identifies vulnerable individuals</a:t>
                      </a:r>
                    </a:p>
                  </a:txBody>
                  <a:tcPr anchor="ctr"/>
                </a:tc>
                <a:extLst>
                  <a:ext uri="{0D108BD9-81ED-4DB2-BD59-A6C34878D82A}">
                    <a16:rowId xmlns:a16="http://schemas.microsoft.com/office/drawing/2014/main" val="316065508"/>
                  </a:ext>
                </a:extLst>
              </a:tr>
            </a:tbl>
          </a:graphicData>
        </a:graphic>
      </p:graphicFrame>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A15FD7F-6B9D-8EC9-5B27-5440A7E3FD93}"/>
                  </a:ext>
                </a:extLst>
              </p:cNvPr>
              <p:cNvSpPr txBox="1"/>
              <p:nvPr/>
            </p:nvSpPr>
            <p:spPr>
              <a:xfrm>
                <a:off x="256032" y="2791305"/>
                <a:ext cx="7507013" cy="1348703"/>
              </a:xfrm>
              <a:prstGeom prst="rect">
                <a:avLst/>
              </a:prstGeom>
              <a:noFill/>
            </p:spPr>
            <p:txBody>
              <a:bodyPr wrap="square">
                <a:spAutoFit/>
              </a:bodyPr>
              <a:lstStyle/>
              <a:p>
                <a:r>
                  <a:rPr lang="en-US" dirty="0"/>
                  <a:t>For BBUS, individual-level SVI is more relevant because socioeconomic outcomes are measured for each respondent.</a:t>
                </a:r>
              </a:p>
              <a:p>
                <a14:m>
                  <m:oMathPara xmlns:m="http://schemas.openxmlformats.org/officeDocument/2006/math">
                    <m:oMath>
                      <m:r>
                        <a:rPr lang="en-US" i="1"/>
                        <m:t>𝑆𝑉</m:t>
                      </m:r>
                      <m:sSub>
                        <m:sSubPr>
                          <m:ctrlPr>
                            <a:rPr lang="en-US" i="1"/>
                          </m:ctrlPr>
                        </m:sSubPr>
                        <m:e>
                          <m:r>
                            <a:rPr lang="en-US" i="1"/>
                            <m:t>𝐼</m:t>
                          </m:r>
                        </m:e>
                        <m:sub>
                          <m:r>
                            <a:rPr lang="en-US" i="1"/>
                            <m:t>𝑖</m:t>
                          </m:r>
                        </m:sub>
                      </m:sSub>
                      <m:r>
                        <a:rPr lang="en-US"/>
                        <m:t>=</m:t>
                      </m:r>
                      <m:nary>
                        <m:naryPr>
                          <m:chr m:val="∑"/>
                          <m:limLoc m:val="undOvr"/>
                          <m:ctrlPr>
                            <a:rPr lang="en-US" i="1"/>
                          </m:ctrlPr>
                        </m:naryPr>
                        <m:sub>
                          <m:r>
                            <a:rPr lang="en-US" i="1"/>
                            <m:t>𝑘</m:t>
                          </m:r>
                          <m:r>
                            <a:rPr lang="en-US"/>
                            <m:t>=1</m:t>
                          </m:r>
                        </m:sub>
                        <m:sup>
                          <m:r>
                            <a:rPr lang="en-US" i="1"/>
                            <m:t>𝐾</m:t>
                          </m:r>
                        </m:sup>
                        <m:e>
                          <m:sSub>
                            <m:sSubPr>
                              <m:ctrlPr>
                                <a:rPr lang="en-US" i="1"/>
                              </m:ctrlPr>
                            </m:sSubPr>
                            <m:e>
                              <m:r>
                                <a:rPr lang="en-US" i="1"/>
                                <m:t>𝑤</m:t>
                              </m:r>
                            </m:e>
                            <m:sub>
                              <m:r>
                                <a:rPr lang="en-US" i="1"/>
                                <m:t>𝑘</m:t>
                              </m:r>
                            </m:sub>
                          </m:sSub>
                        </m:e>
                      </m:nary>
                      <m:sSub>
                        <m:sSubPr>
                          <m:ctrlPr>
                            <a:rPr lang="en-US" i="1"/>
                          </m:ctrlPr>
                        </m:sSubPr>
                        <m:e>
                          <m:r>
                            <a:rPr lang="en-US" i="1"/>
                            <m:t>𝑋</m:t>
                          </m:r>
                        </m:e>
                        <m:sub>
                          <m:r>
                            <a:rPr lang="en-US" i="1"/>
                            <m:t>𝑖𝑘</m:t>
                          </m:r>
                        </m:sub>
                      </m:sSub>
                    </m:oMath>
                  </m:oMathPara>
                </a14:m>
                <a:endParaRPr lang="en-US" dirty="0"/>
              </a:p>
              <a:p>
                <a:r>
                  <a:rPr lang="en-US" dirty="0"/>
                  <a:t>where </a:t>
                </a:r>
                <a14:m>
                  <m:oMath xmlns:m="http://schemas.openxmlformats.org/officeDocument/2006/math">
                    <m:sSub>
                      <m:sSubPr>
                        <m:ctrlPr>
                          <a:rPr lang="en-US" i="1"/>
                        </m:ctrlPr>
                      </m:sSubPr>
                      <m:e>
                        <m:r>
                          <a:rPr lang="en-US" i="1"/>
                          <m:t>𝑤</m:t>
                        </m:r>
                      </m:e>
                      <m:sub>
                        <m:r>
                          <a:rPr lang="en-US" i="1"/>
                          <m:t>𝑘</m:t>
                        </m:r>
                      </m:sub>
                    </m:sSub>
                  </m:oMath>
                </a14:m>
                <a:r>
                  <a:rPr lang="en-US" dirty="0"/>
                  <a:t>= PCA-derived weight and </a:t>
                </a:r>
                <a14:m>
                  <m:oMath xmlns:m="http://schemas.openxmlformats.org/officeDocument/2006/math">
                    <m:sSub>
                      <m:sSubPr>
                        <m:ctrlPr>
                          <a:rPr lang="en-US" i="1"/>
                        </m:ctrlPr>
                      </m:sSubPr>
                      <m:e>
                        <m:r>
                          <a:rPr lang="en-US" i="1"/>
                          <m:t>𝑋</m:t>
                        </m:r>
                      </m:e>
                      <m:sub>
                        <m:r>
                          <a:rPr lang="en-US" i="1"/>
                          <m:t>𝑖𝑘</m:t>
                        </m:r>
                      </m:sub>
                    </m:sSub>
                  </m:oMath>
                </a14:m>
                <a:r>
                  <a:rPr lang="en-US" dirty="0"/>
                  <a:t>= vulnerability indicator.</a:t>
                </a:r>
              </a:p>
            </p:txBody>
          </p:sp>
        </mc:Choice>
        <mc:Fallback>
          <p:sp>
            <p:nvSpPr>
              <p:cNvPr id="6" name="TextBox 5">
                <a:extLst>
                  <a:ext uri="{FF2B5EF4-FFF2-40B4-BE49-F238E27FC236}">
                    <a16:creationId xmlns:a16="http://schemas.microsoft.com/office/drawing/2014/main" id="{3A15FD7F-6B9D-8EC9-5B27-5440A7E3FD93}"/>
                  </a:ext>
                </a:extLst>
              </p:cNvPr>
              <p:cNvSpPr txBox="1">
                <a:spLocks noRot="1" noChangeAspect="1" noMove="1" noResize="1" noEditPoints="1" noAdjustHandles="1" noChangeArrowheads="1" noChangeShapeType="1" noTextEdit="1"/>
              </p:cNvSpPr>
              <p:nvPr/>
            </p:nvSpPr>
            <p:spPr>
              <a:xfrm>
                <a:off x="256032" y="2791305"/>
                <a:ext cx="7507013" cy="1348703"/>
              </a:xfrm>
              <a:prstGeom prst="rect">
                <a:avLst/>
              </a:prstGeom>
              <a:blipFill>
                <a:blip r:embed="rId3"/>
                <a:stretch>
                  <a:fillRect l="-338" t="-15888" b="-61682"/>
                </a:stretch>
              </a:blipFill>
            </p:spPr>
            <p:txBody>
              <a:bodyPr/>
              <a:lstStyle/>
              <a:p>
                <a:r>
                  <a:rPr lang="en-US">
                    <a:noFill/>
                  </a:rPr>
                  <a:t> </a:t>
                </a:r>
              </a:p>
            </p:txBody>
          </p:sp>
        </mc:Fallback>
      </mc:AlternateContent>
    </p:spTree>
    <p:extLst>
      <p:ext uri="{BB962C8B-B14F-4D97-AF65-F5344CB8AC3E}">
        <p14:creationId xmlns:p14="http://schemas.microsoft.com/office/powerpoint/2010/main" val="3371821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6">
          <a:extLst>
            <a:ext uri="{FF2B5EF4-FFF2-40B4-BE49-F238E27FC236}">
              <a16:creationId xmlns:a16="http://schemas.microsoft.com/office/drawing/2014/main" id="{1AC80AD6-ADC1-767B-94DD-B587448FB481}"/>
            </a:ext>
          </a:extLst>
        </p:cNvPr>
        <p:cNvGrpSpPr/>
        <p:nvPr/>
      </p:nvGrpSpPr>
      <p:grpSpPr>
        <a:xfrm>
          <a:off x="0" y="0"/>
          <a:ext cx="0" cy="0"/>
          <a:chOff x="0" y="0"/>
          <a:chExt cx="0" cy="0"/>
        </a:xfrm>
      </p:grpSpPr>
      <p:sp>
        <p:nvSpPr>
          <p:cNvPr id="377" name="Google Shape;377;g3f556ffc7f3_3_0">
            <a:extLst>
              <a:ext uri="{FF2B5EF4-FFF2-40B4-BE49-F238E27FC236}">
                <a16:creationId xmlns:a16="http://schemas.microsoft.com/office/drawing/2014/main" id="{C5D1AEED-6914-EFBA-8869-B48242002B5A}"/>
              </a:ext>
            </a:extLst>
          </p:cNvPr>
          <p:cNvSpPr txBox="1">
            <a:spLocks noGrp="1"/>
          </p:cNvSpPr>
          <p:nvPr>
            <p:ph type="title"/>
          </p:nvPr>
        </p:nvSpPr>
        <p:spPr>
          <a:xfrm>
            <a:off x="256032" y="225653"/>
            <a:ext cx="11284500" cy="433500"/>
          </a:xfrm>
          <a:prstGeom prst="rect">
            <a:avLst/>
          </a:prstGeom>
          <a:noFill/>
          <a:ln>
            <a:noFill/>
          </a:ln>
        </p:spPr>
        <p:txBody>
          <a:bodyPr spcFirstLastPara="1" wrap="square" lIns="0" tIns="45700" rIns="0" bIns="45700" anchor="t" anchorCtr="0">
            <a:normAutofit fontScale="90000"/>
          </a:bodyPr>
          <a:lstStyle/>
          <a:p>
            <a:pPr marL="0" lvl="0" indent="0" algn="l" rtl="0">
              <a:lnSpc>
                <a:spcPct val="100000"/>
              </a:lnSpc>
              <a:spcBef>
                <a:spcPts val="0"/>
              </a:spcBef>
              <a:spcAft>
                <a:spcPts val="0"/>
              </a:spcAft>
              <a:buClr>
                <a:schemeClr val="accent1"/>
              </a:buClr>
              <a:buSzPts val="2400"/>
              <a:buFont typeface="Calibri"/>
              <a:buNone/>
            </a:pPr>
            <a:r>
              <a:rPr lang="en-IN" dirty="0"/>
              <a:t>SVI(VI) – Social Vulnerability Index</a:t>
            </a:r>
            <a:endParaRPr sz="1600" b="0" dirty="0">
              <a:solidFill>
                <a:srgbClr val="009CD8"/>
              </a:solidFill>
            </a:endParaRPr>
          </a:p>
        </p:txBody>
      </p:sp>
      <p:sp>
        <p:nvSpPr>
          <p:cNvPr id="378" name="Google Shape;378;g3f556ffc7f3_3_0">
            <a:extLst>
              <a:ext uri="{FF2B5EF4-FFF2-40B4-BE49-F238E27FC236}">
                <a16:creationId xmlns:a16="http://schemas.microsoft.com/office/drawing/2014/main" id="{2AF51E6E-F604-1A2F-8115-2E49A757EB37}"/>
              </a:ext>
            </a:extLst>
          </p:cNvPr>
          <p:cNvSpPr txBox="1"/>
          <p:nvPr/>
        </p:nvSpPr>
        <p:spPr>
          <a:xfrm>
            <a:off x="-276585" y="6235395"/>
            <a:ext cx="773100" cy="3651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600" b="0" i="0" u="none" strike="noStrike" cap="none">
                <a:solidFill>
                  <a:srgbClr val="888888"/>
                </a:solidFill>
                <a:latin typeface="Calibri"/>
                <a:ea typeface="Calibri"/>
                <a:cs typeface="Calibri"/>
                <a:sym typeface="Calibri"/>
              </a:rPr>
              <a:t>10</a:t>
            </a:fld>
            <a:r>
              <a:rPr lang="en-IN" sz="1600" b="0" i="0" u="none" strike="noStrike" cap="none">
                <a:solidFill>
                  <a:srgbClr val="888888"/>
                </a:solidFill>
                <a:latin typeface="Calibri"/>
                <a:ea typeface="Calibri"/>
                <a:cs typeface="Calibri"/>
                <a:sym typeface="Calibri"/>
              </a:rPr>
              <a:t>|</a:t>
            </a:r>
            <a:endParaRPr sz="1600" b="0" i="0" u="none" strike="noStrike" cap="none">
              <a:solidFill>
                <a:srgbClr val="888888"/>
              </a:solidFill>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A6CAA86F-C389-7E2D-6A32-E8FFAC7D6B13}"/>
                  </a:ext>
                </a:extLst>
              </p:cNvPr>
              <p:cNvSpPr txBox="1"/>
              <p:nvPr/>
            </p:nvSpPr>
            <p:spPr>
              <a:xfrm>
                <a:off x="401922" y="1079568"/>
                <a:ext cx="7859209" cy="3768211"/>
              </a:xfrm>
              <a:prstGeom prst="rect">
                <a:avLst/>
              </a:prstGeom>
              <a:noFill/>
            </p:spPr>
            <p:txBody>
              <a:bodyPr wrap="square">
                <a:spAutoFit/>
              </a:bodyPr>
              <a:lstStyle/>
              <a:p>
                <a:pPr>
                  <a:buNone/>
                </a:pPr>
                <a:r>
                  <a:rPr lang="en-US" b="1" dirty="0">
                    <a:effectLst/>
                    <a:latin typeface="Arial" panose="020B0604020202020204" pitchFamily="34" charset="0"/>
                    <a:cs typeface="Arial" panose="020B0604020202020204" pitchFamily="34" charset="0"/>
                  </a:rPr>
                  <a:t>City-Level Social Vulnerability Index (SVI)</a:t>
                </a:r>
                <a:endParaRPr lang="en-US" dirty="0">
                  <a:effectLst/>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effectLst/>
                    <a:latin typeface="Arial" panose="020B0604020202020204" pitchFamily="34" charset="0"/>
                    <a:cs typeface="Arial" panose="020B0604020202020204" pitchFamily="34" charset="0"/>
                  </a:rPr>
                  <a:t>Pool baseline data of all 6 cities (6,000 respondents).</a:t>
                </a:r>
              </a:p>
              <a:p>
                <a:pPr marL="342900" lvl="0" indent="-342900">
                  <a:buFont typeface="Arial" panose="020B0604020202020204" pitchFamily="34" charset="0"/>
                  <a:buChar char="•"/>
                </a:pPr>
                <a:r>
                  <a:rPr lang="en-US" dirty="0">
                    <a:effectLst/>
                    <a:latin typeface="Arial" panose="020B0604020202020204" pitchFamily="34" charset="0"/>
                    <a:cs typeface="Arial" panose="020B0604020202020204" pitchFamily="34" charset="0"/>
                  </a:rPr>
                  <a:t>Use 4 indicators: Low Income, No Private Vehicle, Disability, Elderly (</a:t>
                </a:r>
                <a14:m>
                  <m:oMath xmlns:m="http://schemas.openxmlformats.org/officeDocument/2006/math">
                    <m:r>
                      <a:rPr lang="en-US" smtClean="0">
                        <a:latin typeface="Cambria Math" panose="02040503050406030204" pitchFamily="18" charset="0"/>
                      </a:rPr>
                      <m:t>≥</m:t>
                    </m:r>
                  </m:oMath>
                </a14:m>
                <a:r>
                  <a:rPr lang="en-US" dirty="0">
                    <a:effectLst/>
                    <a:latin typeface="Arial" panose="020B0604020202020204" pitchFamily="34" charset="0"/>
                    <a:cs typeface="Arial" panose="020B0604020202020204" pitchFamily="34" charset="0"/>
                  </a:rPr>
                  <a:t>60).</a:t>
                </a:r>
              </a:p>
              <a:p>
                <a:pPr marL="342900" lvl="0" indent="-342900">
                  <a:buFont typeface="Arial" panose="020B0604020202020204" pitchFamily="34" charset="0"/>
                  <a:buChar char="•"/>
                </a:pPr>
                <a:r>
                  <a:rPr lang="en-US" dirty="0">
                    <a:effectLst/>
                    <a:latin typeface="Arial" panose="020B0604020202020204" pitchFamily="34" charset="0"/>
                    <a:cs typeface="Arial" panose="020B0604020202020204" pitchFamily="34" charset="0"/>
                  </a:rPr>
                  <a:t>Apply PCA on 6,000 respondents </a:t>
                </a:r>
                <a14:m>
                  <m:oMath xmlns:m="http://schemas.openxmlformats.org/officeDocument/2006/math">
                    <m:r>
                      <a:rPr lang="en-US" smtClean="0">
                        <a:latin typeface="Cambria Math" panose="02040503050406030204" pitchFamily="18" charset="0"/>
                      </a:rPr>
                      <m:t>→</m:t>
                    </m:r>
                  </m:oMath>
                </a14:m>
                <a:r>
                  <a:rPr lang="en-US" dirty="0">
                    <a:effectLst/>
                    <a:latin typeface="Arial" panose="020B0604020202020204" pitchFamily="34" charset="0"/>
                    <a:cs typeface="Arial" panose="020B0604020202020204" pitchFamily="34" charset="0"/>
                  </a:rPr>
                  <a:t>obtain common weights.</a:t>
                </a:r>
              </a:p>
              <a:p>
                <a:pPr marL="342900" lvl="0" indent="-342900">
                  <a:buFont typeface="Arial" panose="020B0604020202020204" pitchFamily="34" charset="0"/>
                  <a:buChar char="•"/>
                </a:pPr>
                <a:endParaRPr lang="en-US" dirty="0">
                  <a:effectLst/>
                  <a:latin typeface="Arial" panose="020B0604020202020204" pitchFamily="34" charset="0"/>
                  <a:cs typeface="Arial" panose="020B0604020202020204" pitchFamily="34" charset="0"/>
                </a:endParaRPr>
              </a:p>
              <a:p>
                <a:pPr lvl="0"/>
                <a:r>
                  <a:rPr lang="en-US" dirty="0">
                    <a:effectLst/>
                    <a:latin typeface="Arial" panose="020B0604020202020204" pitchFamily="34" charset="0"/>
                    <a:cs typeface="Arial" panose="020B0604020202020204" pitchFamily="34" charset="0"/>
                  </a:rPr>
                  <a:t>Calculate individual SVI using the common weights:</a:t>
                </a:r>
              </a:p>
              <a:p>
                <a:pPr>
                  <a:buNone/>
                </a:pPr>
                <a14:m>
                  <m:oMathPara xmlns:m="http://schemas.openxmlformats.org/officeDocument/2006/math">
                    <m:oMath>
                      <m:r>
                        <a:rPr lang="en-US" i="1" smtClean="0">
                          <a:latin typeface="Cambria Math" panose="02040503050406030204" pitchFamily="18" charset="0"/>
                        </a:rPr>
                        <m:t>𝑆𝑉</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m:t>
                          </m:r>
                        </m:sub>
                      </m:sSub>
                      <m:r>
                        <a:rPr lang="en-US" i="0">
                          <a:latin typeface="Cambria Math" panose="02040503050406030204" pitchFamily="18" charset="0"/>
                        </a:rPr>
                        <m:t>=</m:t>
                      </m:r>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𝑘</m:t>
                          </m:r>
                          <m:r>
                            <a:rPr lang="en-US" i="0">
                              <a:latin typeface="Cambria Math" panose="02040503050406030204" pitchFamily="18" charset="0"/>
                            </a:rPr>
                            <m:t>=1</m:t>
                          </m:r>
                        </m:sub>
                        <m:sup>
                          <m:r>
                            <a:rPr lang="en-US" i="0">
                              <a:latin typeface="Cambria Math" panose="02040503050406030204" pitchFamily="18" charset="0"/>
                            </a:rPr>
                            <m:t>4</m:t>
                          </m:r>
                        </m:sup>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𝑘</m:t>
                              </m:r>
                            </m:sub>
                          </m:sSub>
                        </m:e>
                      </m:nary>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𝑖𝑘</m:t>
                          </m:r>
                        </m:sub>
                      </m:sSub>
                    </m:oMath>
                  </m:oMathPara>
                </a14:m>
                <a:endParaRPr lang="en-US" dirty="0">
                  <a:effectLst/>
                  <a:latin typeface="Arial" panose="020B0604020202020204" pitchFamily="34" charset="0"/>
                  <a:cs typeface="Arial" panose="020B0604020202020204" pitchFamily="34" charset="0"/>
                </a:endParaRPr>
              </a:p>
              <a:p>
                <a:pPr>
                  <a:buNone/>
                </a:pPr>
                <a:endParaRPr lang="en-US" dirty="0">
                  <a:effectLst/>
                  <a:latin typeface="Arial" panose="020B0604020202020204" pitchFamily="34" charset="0"/>
                  <a:cs typeface="Arial" panose="020B0604020202020204" pitchFamily="34" charset="0"/>
                </a:endParaRPr>
              </a:p>
              <a:p>
                <a:pPr lvl="0"/>
                <a:r>
                  <a:rPr lang="en-US" dirty="0">
                    <a:effectLst/>
                    <a:latin typeface="Arial" panose="020B0604020202020204" pitchFamily="34" charset="0"/>
                    <a:cs typeface="Arial" panose="020B0604020202020204" pitchFamily="34" charset="0"/>
                  </a:rPr>
                  <a:t>For each city, average the SVI of only its 1,000 respondents:</a:t>
                </a:r>
              </a:p>
              <a:p>
                <a:pPr>
                  <a:buNone/>
                </a:pPr>
                <a14:m>
                  <m:oMathPara xmlns:m="http://schemas.openxmlformats.org/officeDocument/2006/math">
                    <m:oMath>
                      <m:borderBox>
                        <m:borderBoxPr>
                          <m:ctrlPr>
                            <a:rPr lang="en-US" i="1">
                              <a:latin typeface="Cambria Math" panose="02040503050406030204" pitchFamily="18" charset="0"/>
                            </a:rPr>
                          </m:ctrlPr>
                        </m:borderBoxPr>
                        <m:e>
                          <m:r>
                            <a:rPr lang="en-US" i="1">
                              <a:latin typeface="Cambria Math" panose="02040503050406030204" pitchFamily="18" charset="0"/>
                            </a:rPr>
                            <m:t>𝑆𝑉</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𝑐</m:t>
                              </m:r>
                            </m:sub>
                          </m:sSub>
                          <m:r>
                            <a:rPr lang="en-US" i="0">
                              <a:latin typeface="Cambria Math" panose="02040503050406030204" pitchFamily="18" charset="0"/>
                            </a:rPr>
                            <m:t>=</m:t>
                          </m:r>
                          <m:f>
                            <m:fPr>
                              <m:ctrlPr>
                                <a:rPr lang="en-US" i="0">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1000</m:t>
                              </m:r>
                            </m:den>
                          </m:f>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𝑖</m:t>
                              </m:r>
                              <m:r>
                                <a:rPr lang="en-US" i="0">
                                  <a:latin typeface="Cambria Math" panose="02040503050406030204" pitchFamily="18" charset="0"/>
                                </a:rPr>
                                <m:t>=1</m:t>
                              </m:r>
                            </m:sub>
                            <m:sup>
                              <m:r>
                                <a:rPr lang="en-US" i="0">
                                  <a:latin typeface="Cambria Math" panose="02040503050406030204" pitchFamily="18" charset="0"/>
                                </a:rPr>
                                <m:t>1000</m:t>
                              </m:r>
                            </m:sup>
                            <m:e>
                              <m:r>
                                <a:rPr lang="en-US" i="1">
                                  <a:latin typeface="Cambria Math" panose="02040503050406030204" pitchFamily="18" charset="0"/>
                                </a:rPr>
                                <m:t>𝑆</m:t>
                              </m:r>
                            </m:e>
                          </m:nary>
                          <m:r>
                            <a:rPr lang="en-US" i="1">
                              <a:latin typeface="Cambria Math" panose="02040503050406030204" pitchFamily="18" charset="0"/>
                            </a:rPr>
                            <m:t>𝑉</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m:t>
                              </m:r>
                            </m:sub>
                          </m:sSub>
                        </m:e>
                      </m:borderBox>
                    </m:oMath>
                  </m:oMathPara>
                </a14:m>
                <a:endParaRPr lang="en-US" dirty="0">
                  <a:effectLst/>
                  <a:latin typeface="Arial" panose="020B0604020202020204" pitchFamily="34" charset="0"/>
                  <a:cs typeface="Arial" panose="020B0604020202020204" pitchFamily="34" charset="0"/>
                </a:endParaRPr>
              </a:p>
              <a:p>
                <a:pPr>
                  <a:buNone/>
                </a:pPr>
                <a:endParaRPr lang="en-US" dirty="0">
                  <a:effectLst/>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effectLst/>
                    <a:latin typeface="Arial" panose="020B0604020202020204" pitchFamily="34" charset="0"/>
                    <a:cs typeface="Arial" panose="020B0604020202020204" pitchFamily="34" charset="0"/>
                  </a:rPr>
                  <a:t>Output </a:t>
                </a:r>
                <a14:m>
                  <m:oMath xmlns:m="http://schemas.openxmlformats.org/officeDocument/2006/math">
                    <m:r>
                      <a:rPr lang="en-US" smtClean="0">
                        <a:latin typeface="Cambria Math" panose="02040503050406030204" pitchFamily="18" charset="0"/>
                      </a:rPr>
                      <m:t>→</m:t>
                    </m:r>
                  </m:oMath>
                </a14:m>
                <a:r>
                  <a:rPr lang="en-US" dirty="0">
                    <a:effectLst/>
                    <a:latin typeface="Arial" panose="020B0604020202020204" pitchFamily="34" charset="0"/>
                    <a:cs typeface="Arial" panose="020B0604020202020204" pitchFamily="34" charset="0"/>
                  </a:rPr>
                  <a:t>6 city-level SVI values.</a:t>
                </a:r>
              </a:p>
              <a:p>
                <a:pPr marL="342900" lvl="0" indent="-342900">
                  <a:buFont typeface="Arial" panose="020B0604020202020204" pitchFamily="34" charset="0"/>
                  <a:buChar char="•"/>
                </a:pPr>
                <a:r>
                  <a:rPr lang="en-US" dirty="0">
                    <a:effectLst/>
                    <a:latin typeface="Arial" panose="020B0604020202020204" pitchFamily="34" charset="0"/>
                    <a:cs typeface="Arial" panose="020B0604020202020204" pitchFamily="34" charset="0"/>
                  </a:rPr>
                  <a:t>Higher SVI </a:t>
                </a:r>
                <a14:m>
                  <m:oMath xmlns:m="http://schemas.openxmlformats.org/officeDocument/2006/math">
                    <m:r>
                      <a:rPr lang="en-US" smtClean="0">
                        <a:latin typeface="Cambria Math" panose="02040503050406030204" pitchFamily="18" charset="0"/>
                      </a:rPr>
                      <m:t>→</m:t>
                    </m:r>
                  </m:oMath>
                </a14:m>
                <a:r>
                  <a:rPr lang="en-US" dirty="0">
                    <a:effectLst/>
                    <a:latin typeface="Arial" panose="020B0604020202020204" pitchFamily="34" charset="0"/>
                    <a:cs typeface="Arial" panose="020B0604020202020204" pitchFamily="34" charset="0"/>
                  </a:rPr>
                  <a:t>Higher social vulnerability.</a:t>
                </a:r>
              </a:p>
            </p:txBody>
          </p:sp>
        </mc:Choice>
        <mc:Fallback>
          <p:sp>
            <p:nvSpPr>
              <p:cNvPr id="7" name="TextBox 6">
                <a:extLst>
                  <a:ext uri="{FF2B5EF4-FFF2-40B4-BE49-F238E27FC236}">
                    <a16:creationId xmlns:a16="http://schemas.microsoft.com/office/drawing/2014/main" id="{A6CAA86F-C389-7E2D-6A32-E8FFAC7D6B13}"/>
                  </a:ext>
                </a:extLst>
              </p:cNvPr>
              <p:cNvSpPr txBox="1">
                <a:spLocks noRot="1" noChangeAspect="1" noMove="1" noResize="1" noEditPoints="1" noAdjustHandles="1" noChangeArrowheads="1" noChangeShapeType="1" noTextEdit="1"/>
              </p:cNvSpPr>
              <p:nvPr/>
            </p:nvSpPr>
            <p:spPr>
              <a:xfrm>
                <a:off x="401922" y="1079568"/>
                <a:ext cx="7859209" cy="3768211"/>
              </a:xfrm>
              <a:prstGeom prst="rect">
                <a:avLst/>
              </a:prstGeom>
              <a:blipFill>
                <a:blip r:embed="rId3"/>
                <a:stretch>
                  <a:fillRect l="-161" b="-9060"/>
                </a:stretch>
              </a:blipFill>
            </p:spPr>
            <p:txBody>
              <a:bodyPr/>
              <a:lstStyle/>
              <a:p>
                <a:r>
                  <a:rPr lang="en-US">
                    <a:noFill/>
                  </a:rPr>
                  <a:t> </a:t>
                </a:r>
              </a:p>
            </p:txBody>
          </p:sp>
        </mc:Fallback>
      </mc:AlternateContent>
    </p:spTree>
    <p:extLst>
      <p:ext uri="{BB962C8B-B14F-4D97-AF65-F5344CB8AC3E}">
        <p14:creationId xmlns:p14="http://schemas.microsoft.com/office/powerpoint/2010/main" val="1002574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6">
          <a:extLst>
            <a:ext uri="{FF2B5EF4-FFF2-40B4-BE49-F238E27FC236}">
              <a16:creationId xmlns:a16="http://schemas.microsoft.com/office/drawing/2014/main" id="{3A42104B-D90A-D471-6099-76CCA302C6D1}"/>
            </a:ext>
          </a:extLst>
        </p:cNvPr>
        <p:cNvGrpSpPr/>
        <p:nvPr/>
      </p:nvGrpSpPr>
      <p:grpSpPr>
        <a:xfrm>
          <a:off x="0" y="0"/>
          <a:ext cx="0" cy="0"/>
          <a:chOff x="0" y="0"/>
          <a:chExt cx="0" cy="0"/>
        </a:xfrm>
      </p:grpSpPr>
      <p:sp>
        <p:nvSpPr>
          <p:cNvPr id="377" name="Google Shape;377;g3f556ffc7f3_3_0">
            <a:extLst>
              <a:ext uri="{FF2B5EF4-FFF2-40B4-BE49-F238E27FC236}">
                <a16:creationId xmlns:a16="http://schemas.microsoft.com/office/drawing/2014/main" id="{5FA3E867-D0FB-DDA3-C609-9F71F7BF74B9}"/>
              </a:ext>
            </a:extLst>
          </p:cNvPr>
          <p:cNvSpPr txBox="1">
            <a:spLocks noGrp="1"/>
          </p:cNvSpPr>
          <p:nvPr>
            <p:ph type="title"/>
          </p:nvPr>
        </p:nvSpPr>
        <p:spPr>
          <a:xfrm>
            <a:off x="256032" y="225653"/>
            <a:ext cx="11284500" cy="433500"/>
          </a:xfrm>
          <a:prstGeom prst="rect">
            <a:avLst/>
          </a:prstGeom>
          <a:noFill/>
          <a:ln>
            <a:noFill/>
          </a:ln>
        </p:spPr>
        <p:txBody>
          <a:bodyPr spcFirstLastPara="1" wrap="square" lIns="0" tIns="45700" rIns="0" bIns="45700" anchor="t" anchorCtr="0">
            <a:normAutofit fontScale="90000"/>
          </a:bodyPr>
          <a:lstStyle/>
          <a:p>
            <a:pPr marL="0" lvl="0" indent="0" algn="l" rtl="0">
              <a:lnSpc>
                <a:spcPct val="100000"/>
              </a:lnSpc>
              <a:spcBef>
                <a:spcPts val="0"/>
              </a:spcBef>
              <a:spcAft>
                <a:spcPts val="0"/>
              </a:spcAft>
              <a:buClr>
                <a:schemeClr val="accent1"/>
              </a:buClr>
              <a:buSzPts val="2400"/>
              <a:buFont typeface="Calibri"/>
              <a:buNone/>
            </a:pPr>
            <a:r>
              <a:rPr lang="en-IN"/>
              <a:t>Expected Outputs from M1:City A</a:t>
            </a:r>
            <a:endParaRPr sz="1600" b="0">
              <a:solidFill>
                <a:srgbClr val="009CD8"/>
              </a:solidFill>
            </a:endParaRPr>
          </a:p>
        </p:txBody>
      </p:sp>
      <p:sp>
        <p:nvSpPr>
          <p:cNvPr id="378" name="Google Shape;378;g3f556ffc7f3_3_0">
            <a:extLst>
              <a:ext uri="{FF2B5EF4-FFF2-40B4-BE49-F238E27FC236}">
                <a16:creationId xmlns:a16="http://schemas.microsoft.com/office/drawing/2014/main" id="{500464EA-EEC4-5F31-15DA-C79B91E2079E}"/>
              </a:ext>
            </a:extLst>
          </p:cNvPr>
          <p:cNvSpPr txBox="1"/>
          <p:nvPr/>
        </p:nvSpPr>
        <p:spPr>
          <a:xfrm>
            <a:off x="-276585" y="6235395"/>
            <a:ext cx="773100" cy="3651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600" b="0" i="0" u="none" strike="noStrike" cap="none">
                <a:solidFill>
                  <a:srgbClr val="888888"/>
                </a:solidFill>
                <a:latin typeface="Calibri"/>
                <a:ea typeface="Calibri"/>
                <a:cs typeface="Calibri"/>
                <a:sym typeface="Calibri"/>
              </a:rPr>
              <a:t>11</a:t>
            </a:fld>
            <a:r>
              <a:rPr lang="en-IN" sz="1600" b="0" i="0" u="none" strike="noStrike" cap="none">
                <a:solidFill>
                  <a:srgbClr val="888888"/>
                </a:solidFill>
                <a:latin typeface="Calibri"/>
                <a:ea typeface="Calibri"/>
                <a:cs typeface="Calibri"/>
                <a:sym typeface="Calibri"/>
              </a:rPr>
              <a:t>|</a:t>
            </a:r>
            <a:endParaRPr sz="1600" b="0" i="0" u="none" strike="noStrike" cap="none">
              <a:solidFill>
                <a:srgbClr val="888888"/>
              </a:solidFill>
              <a:latin typeface="Calibri"/>
              <a:ea typeface="Calibri"/>
              <a:cs typeface="Calibri"/>
              <a:sym typeface="Calibri"/>
            </a:endParaRPr>
          </a:p>
        </p:txBody>
      </p:sp>
      <p:sp>
        <p:nvSpPr>
          <p:cNvPr id="379" name="Google Shape;379;g3f556ffc7f3_3_0">
            <a:extLst>
              <a:ext uri="{FF2B5EF4-FFF2-40B4-BE49-F238E27FC236}">
                <a16:creationId xmlns:a16="http://schemas.microsoft.com/office/drawing/2014/main" id="{869F6E33-3C40-ED83-1B6A-00FBCBC8C869}"/>
              </a:ext>
            </a:extLst>
          </p:cNvPr>
          <p:cNvSpPr txBox="1"/>
          <p:nvPr/>
        </p:nvSpPr>
        <p:spPr>
          <a:xfrm>
            <a:off x="399696" y="853677"/>
            <a:ext cx="9551100" cy="4399500"/>
          </a:xfrm>
          <a:prstGeom prst="rect">
            <a:avLst/>
          </a:prstGeom>
          <a:blipFill rotWithShape="1">
            <a:blip r:embed="rId3">
              <a:alphaModFix/>
            </a:blip>
            <a:stretch>
              <a:fillRect l="-400" t="-5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IN" sz="1400" b="0" i="0" u="none" strike="noStrike" cap="none" dirty="0">
                <a:latin typeface="Arial"/>
                <a:ea typeface="Arial"/>
                <a:cs typeface="Arial"/>
                <a:sym typeface="Arial"/>
              </a:rPr>
              <a:t> </a:t>
            </a:r>
            <a:endParaRPr dirty="0"/>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3EDA950E-7F70-CB86-7AFF-B9280909F416}"/>
                  </a:ext>
                </a:extLst>
              </p:cNvPr>
              <p:cNvSpPr txBox="1"/>
              <p:nvPr/>
            </p:nvSpPr>
            <p:spPr>
              <a:xfrm>
                <a:off x="4892265" y="4458344"/>
                <a:ext cx="6237888" cy="1589666"/>
              </a:xfrm>
              <a:prstGeom prst="rect">
                <a:avLst/>
              </a:prstGeom>
              <a:noFill/>
            </p:spPr>
            <p:txBody>
              <a:bodyPr wrap="square">
                <a:spAutoFit/>
              </a:bodyPr>
              <a:lstStyle/>
              <a:p>
                <a:pPr>
                  <a:buNone/>
                </a:pPr>
                <a:r>
                  <a:rPr lang="en-US" sz="800" b="1" dirty="0">
                    <a:effectLst/>
                    <a:latin typeface="Arial" panose="020B0604020202020204" pitchFamily="34" charset="0"/>
                    <a:cs typeface="Arial" panose="020B0604020202020204" pitchFamily="34" charset="0"/>
                  </a:rPr>
                  <a:t>Note – Construction of Vulnerability Index (VI) for Type-A Cities</a:t>
                </a:r>
                <a:endParaRPr lang="en-US" sz="800" dirty="0">
                  <a:effectLst/>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sz="800" dirty="0">
                    <a:effectLst/>
                    <a:latin typeface="Arial" panose="020B0604020202020204" pitchFamily="34" charset="0"/>
                    <a:cs typeface="Arial" panose="020B0604020202020204" pitchFamily="34" charset="0"/>
                  </a:rPr>
                  <a:t>Combine respondents from all </a:t>
                </a:r>
                <a:r>
                  <a:rPr lang="en-US" sz="800" b="1" dirty="0">
                    <a:effectLst/>
                    <a:latin typeface="Arial" panose="020B0604020202020204" pitchFamily="34" charset="0"/>
                    <a:cs typeface="Arial" panose="020B0604020202020204" pitchFamily="34" charset="0"/>
                  </a:rPr>
                  <a:t>3 Type-A cities</a:t>
                </a:r>
                <a:r>
                  <a:rPr lang="en-US" sz="800" dirty="0">
                    <a:effectLst/>
                    <a:latin typeface="Arial" panose="020B0604020202020204" pitchFamily="34" charset="0"/>
                    <a:cs typeface="Arial" panose="020B0604020202020204" pitchFamily="34" charset="0"/>
                  </a:rPr>
                  <a:t> (e.g., 1,000 per city </a:t>
                </a:r>
                <a14:m>
                  <m:oMath xmlns:m="http://schemas.openxmlformats.org/officeDocument/2006/math">
                    <m:r>
                      <a:rPr lang="en-US" sz="800" smtClean="0">
                        <a:latin typeface="Cambria Math" panose="02040503050406030204" pitchFamily="18" charset="0"/>
                      </a:rPr>
                      <m:t>→</m:t>
                    </m:r>
                  </m:oMath>
                </a14:m>
                <a:r>
                  <a:rPr lang="en-US" sz="800" b="1" dirty="0">
                    <a:effectLst/>
                    <a:latin typeface="Arial" panose="020B0604020202020204" pitchFamily="34" charset="0"/>
                    <a:cs typeface="Arial" panose="020B0604020202020204" pitchFamily="34" charset="0"/>
                  </a:rPr>
                  <a:t>3,000 respondents</a:t>
                </a:r>
                <a:r>
                  <a:rPr lang="en-US" sz="800" dirty="0">
                    <a:effectLst/>
                    <a:latin typeface="Arial" panose="020B0604020202020204" pitchFamily="34" charset="0"/>
                    <a:cs typeface="Arial" panose="020B0604020202020204" pitchFamily="34" charset="0"/>
                  </a:rPr>
                  <a:t>).</a:t>
                </a:r>
              </a:p>
              <a:p>
                <a:pPr marL="342900" lvl="0" indent="-342900">
                  <a:buFont typeface="Arial" panose="020B0604020202020204" pitchFamily="34" charset="0"/>
                  <a:buChar char="•"/>
                </a:pPr>
                <a:r>
                  <a:rPr lang="en-US" sz="800" dirty="0">
                    <a:effectLst/>
                    <a:latin typeface="Arial" panose="020B0604020202020204" pitchFamily="34" charset="0"/>
                    <a:cs typeface="Arial" panose="020B0604020202020204" pitchFamily="34" charset="0"/>
                  </a:rPr>
                  <a:t>Use the same </a:t>
                </a:r>
                <a:r>
                  <a:rPr lang="en-US" sz="800" b="1" dirty="0">
                    <a:effectLst/>
                    <a:latin typeface="Arial" panose="020B0604020202020204" pitchFamily="34" charset="0"/>
                    <a:cs typeface="Arial" panose="020B0604020202020204" pitchFamily="34" charset="0"/>
                  </a:rPr>
                  <a:t>4 vulnerability variables</a:t>
                </a:r>
                <a:r>
                  <a:rPr lang="en-US" sz="800" dirty="0">
                    <a:effectLst/>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n-US" sz="800" dirty="0">
                    <a:effectLst/>
                    <a:latin typeface="Arial" panose="020B0604020202020204" pitchFamily="34" charset="0"/>
                    <a:cs typeface="Arial" panose="020B0604020202020204" pitchFamily="34" charset="0"/>
                  </a:rPr>
                  <a:t>Low income</a:t>
                </a:r>
              </a:p>
              <a:p>
                <a:pPr marL="742950" lvl="1" indent="-285750">
                  <a:buFont typeface="Arial" panose="020B0604020202020204" pitchFamily="34" charset="0"/>
                  <a:buChar char="•"/>
                </a:pPr>
                <a:r>
                  <a:rPr lang="en-US" sz="800" dirty="0">
                    <a:effectLst/>
                    <a:latin typeface="Arial" panose="020B0604020202020204" pitchFamily="34" charset="0"/>
                    <a:cs typeface="Arial" panose="020B0604020202020204" pitchFamily="34" charset="0"/>
                  </a:rPr>
                  <a:t>No private vehicle</a:t>
                </a:r>
              </a:p>
              <a:p>
                <a:pPr marL="742950" lvl="1" indent="-285750">
                  <a:buFont typeface="Arial" panose="020B0604020202020204" pitchFamily="34" charset="0"/>
                  <a:buChar char="•"/>
                </a:pPr>
                <a:r>
                  <a:rPr lang="en-US" sz="800" dirty="0">
                    <a:effectLst/>
                    <a:latin typeface="Arial" panose="020B0604020202020204" pitchFamily="34" charset="0"/>
                    <a:cs typeface="Arial" panose="020B0604020202020204" pitchFamily="34" charset="0"/>
                  </a:rPr>
                  <a:t>Disability</a:t>
                </a:r>
              </a:p>
              <a:p>
                <a:pPr marL="742950" lvl="1" indent="-285750">
                  <a:buFont typeface="Arial" panose="020B0604020202020204" pitchFamily="34" charset="0"/>
                  <a:buChar char="•"/>
                </a:pPr>
                <a:r>
                  <a:rPr lang="en-US" sz="800" dirty="0">
                    <a:effectLst/>
                    <a:latin typeface="Arial" panose="020B0604020202020204" pitchFamily="34" charset="0"/>
                    <a:cs typeface="Arial" panose="020B0604020202020204" pitchFamily="34" charset="0"/>
                  </a:rPr>
                  <a:t>Elderly (</a:t>
                </a:r>
                <a14:m>
                  <m:oMath xmlns:m="http://schemas.openxmlformats.org/officeDocument/2006/math">
                    <m:r>
                      <a:rPr lang="en-US" sz="800" smtClean="0">
                        <a:latin typeface="Cambria Math" panose="02040503050406030204" pitchFamily="18" charset="0"/>
                      </a:rPr>
                      <m:t>≥</m:t>
                    </m:r>
                  </m:oMath>
                </a14:m>
                <a:r>
                  <a:rPr lang="en-US" sz="800" dirty="0">
                    <a:effectLst/>
                    <a:latin typeface="Arial" panose="020B0604020202020204" pitchFamily="34" charset="0"/>
                    <a:cs typeface="Arial" panose="020B0604020202020204" pitchFamily="34" charset="0"/>
                  </a:rPr>
                  <a:t>60 years)</a:t>
                </a:r>
              </a:p>
              <a:p>
                <a:pPr marL="342900" lvl="0" indent="-342900">
                  <a:buFont typeface="Arial" panose="020B0604020202020204" pitchFamily="34" charset="0"/>
                  <a:buChar char="•"/>
                </a:pPr>
                <a:r>
                  <a:rPr lang="en-US" sz="800" dirty="0">
                    <a:effectLst/>
                    <a:latin typeface="Arial" panose="020B0604020202020204" pitchFamily="34" charset="0"/>
                    <a:cs typeface="Arial" panose="020B0604020202020204" pitchFamily="34" charset="0"/>
                  </a:rPr>
                  <a:t>Apply </a:t>
                </a:r>
                <a:r>
                  <a:rPr lang="en-US" sz="800" b="1" dirty="0">
                    <a:effectLst/>
                    <a:latin typeface="Arial" panose="020B0604020202020204" pitchFamily="34" charset="0"/>
                    <a:cs typeface="Arial" panose="020B0604020202020204" pitchFamily="34" charset="0"/>
                  </a:rPr>
                  <a:t>PCA to the pooled 3,000 respondents</a:t>
                </a:r>
                <a:r>
                  <a:rPr lang="en-US" sz="800" dirty="0">
                    <a:effectLst/>
                    <a:latin typeface="Arial" panose="020B0604020202020204" pitchFamily="34" charset="0"/>
                    <a:cs typeface="Arial" panose="020B0604020202020204" pitchFamily="34" charset="0"/>
                  </a:rPr>
                  <a:t> to obtain </a:t>
                </a:r>
                <a:r>
                  <a:rPr lang="en-US" sz="800" b="1" dirty="0">
                    <a:effectLst/>
                    <a:latin typeface="Arial" panose="020B0604020202020204" pitchFamily="34" charset="0"/>
                    <a:cs typeface="Arial" panose="020B0604020202020204" pitchFamily="34" charset="0"/>
                  </a:rPr>
                  <a:t>one common set of four weights</a:t>
                </a:r>
                <a:r>
                  <a:rPr lang="en-US" sz="800" dirty="0">
                    <a:effectLst/>
                    <a:latin typeface="Arial" panose="020B0604020202020204" pitchFamily="34" charset="0"/>
                    <a:cs typeface="Arial" panose="020B0604020202020204" pitchFamily="34" charset="0"/>
                  </a:rPr>
                  <a:t> (</a:t>
                </a:r>
                <a14:m>
                  <m:oMath xmlns:m="http://schemas.openxmlformats.org/officeDocument/2006/math">
                    <m:sSub>
                      <m:sSubPr>
                        <m:ctrlPr>
                          <a:rPr lang="en-US" sz="800" i="1">
                            <a:latin typeface="Cambria Math" panose="02040503050406030204" pitchFamily="18" charset="0"/>
                          </a:rPr>
                        </m:ctrlPr>
                      </m:sSubPr>
                      <m:e>
                        <m:r>
                          <a:rPr lang="en-US" sz="800" i="1">
                            <a:latin typeface="Cambria Math" panose="02040503050406030204" pitchFamily="18" charset="0"/>
                          </a:rPr>
                          <m:t>𝑤</m:t>
                        </m:r>
                      </m:e>
                      <m:sub>
                        <m:r>
                          <a:rPr lang="en-US" sz="800" i="0">
                            <a:latin typeface="Cambria Math" panose="02040503050406030204" pitchFamily="18" charset="0"/>
                          </a:rPr>
                          <m:t>1</m:t>
                        </m:r>
                      </m:sub>
                    </m:sSub>
                    <m:r>
                      <a:rPr lang="en-US" sz="800" i="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𝑤</m:t>
                        </m:r>
                      </m:e>
                      <m:sub>
                        <m:r>
                          <a:rPr lang="en-US" sz="800" i="0">
                            <a:latin typeface="Cambria Math" panose="02040503050406030204" pitchFamily="18" charset="0"/>
                          </a:rPr>
                          <m:t>2</m:t>
                        </m:r>
                      </m:sub>
                    </m:sSub>
                    <m:r>
                      <a:rPr lang="en-US" sz="800" i="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𝑤</m:t>
                        </m:r>
                      </m:e>
                      <m:sub>
                        <m:r>
                          <a:rPr lang="en-US" sz="800" i="0">
                            <a:latin typeface="Cambria Math" panose="02040503050406030204" pitchFamily="18" charset="0"/>
                          </a:rPr>
                          <m:t>3</m:t>
                        </m:r>
                      </m:sub>
                    </m:sSub>
                    <m:r>
                      <a:rPr lang="en-US" sz="800" i="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𝑤</m:t>
                        </m:r>
                      </m:e>
                      <m:sub>
                        <m:r>
                          <a:rPr lang="en-US" sz="800" i="0">
                            <a:latin typeface="Cambria Math" panose="02040503050406030204" pitchFamily="18" charset="0"/>
                          </a:rPr>
                          <m:t>4</m:t>
                        </m:r>
                      </m:sub>
                    </m:sSub>
                  </m:oMath>
                </a14:m>
                <a:r>
                  <a:rPr lang="en-US" sz="800" dirty="0">
                    <a:effectLst/>
                    <a:latin typeface="Arial" panose="020B0604020202020204" pitchFamily="34" charset="0"/>
                    <a:cs typeface="Arial" panose="020B0604020202020204" pitchFamily="34" charset="0"/>
                  </a:rPr>
                  <a:t>).</a:t>
                </a:r>
              </a:p>
              <a:p>
                <a:pPr marL="342900" lvl="0" indent="-342900">
                  <a:buFont typeface="Arial" panose="020B0604020202020204" pitchFamily="34" charset="0"/>
                  <a:buChar char="•"/>
                </a:pPr>
                <a:r>
                  <a:rPr lang="en-US" sz="800" dirty="0">
                    <a:effectLst/>
                    <a:latin typeface="Arial" panose="020B0604020202020204" pitchFamily="34" charset="0"/>
                    <a:cs typeface="Arial" panose="020B0604020202020204" pitchFamily="34" charset="0"/>
                  </a:rPr>
                  <a:t>Use these </a:t>
                </a:r>
                <a:r>
                  <a:rPr lang="en-US" sz="800" b="1" dirty="0">
                    <a:effectLst/>
                    <a:latin typeface="Arial" panose="020B0604020202020204" pitchFamily="34" charset="0"/>
                    <a:cs typeface="Arial" panose="020B0604020202020204" pitchFamily="34" charset="0"/>
                  </a:rPr>
                  <a:t>same four weights</a:t>
                </a:r>
                <a:r>
                  <a:rPr lang="en-US" sz="800" dirty="0">
                    <a:effectLst/>
                    <a:latin typeface="Arial" panose="020B0604020202020204" pitchFamily="34" charset="0"/>
                    <a:cs typeface="Arial" panose="020B0604020202020204" pitchFamily="34" charset="0"/>
                  </a:rPr>
                  <a:t> for all three cities:</a:t>
                </a:r>
              </a:p>
              <a:p>
                <a:pPr>
                  <a:buNone/>
                </a:pPr>
                <a14:m>
                  <m:oMathPara xmlns:m="http://schemas.openxmlformats.org/officeDocument/2006/math">
                    <m:oMath>
                      <m:r>
                        <a:rPr lang="en-US" sz="800" i="1" smtClean="0">
                          <a:latin typeface="Cambria Math" panose="02040503050406030204" pitchFamily="18" charset="0"/>
                        </a:rPr>
                        <m:t>𝑉</m:t>
                      </m:r>
                      <m:sSub>
                        <m:sSubPr>
                          <m:ctrlPr>
                            <a:rPr lang="en-US" sz="800" i="1">
                              <a:latin typeface="Cambria Math" panose="02040503050406030204" pitchFamily="18" charset="0"/>
                            </a:rPr>
                          </m:ctrlPr>
                        </m:sSubPr>
                        <m:e>
                          <m:r>
                            <a:rPr lang="en-US" sz="800" i="1">
                              <a:latin typeface="Cambria Math" panose="02040503050406030204" pitchFamily="18" charset="0"/>
                            </a:rPr>
                            <m:t>𝐼</m:t>
                          </m:r>
                        </m:e>
                        <m:sub>
                          <m:r>
                            <a:rPr lang="en-US" sz="800" i="1">
                              <a:latin typeface="Cambria Math" panose="02040503050406030204" pitchFamily="18" charset="0"/>
                            </a:rPr>
                            <m:t>𝑖𝑗</m:t>
                          </m:r>
                        </m:sub>
                      </m:sSub>
                      <m:r>
                        <a:rPr lang="en-US" sz="800" i="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𝑤</m:t>
                          </m:r>
                        </m:e>
                        <m:sub>
                          <m:r>
                            <a:rPr lang="en-US" sz="800" i="0">
                              <a:latin typeface="Cambria Math" panose="02040503050406030204" pitchFamily="18" charset="0"/>
                            </a:rPr>
                            <m:t>1</m:t>
                          </m:r>
                        </m:sub>
                      </m:sSub>
                      <m:r>
                        <a:rPr lang="en-US" sz="800" i="1">
                          <a:latin typeface="Cambria Math" panose="02040503050406030204" pitchFamily="18" charset="0"/>
                        </a:rPr>
                        <m:t>𝐼𝑛𝑐𝑜𝑚</m:t>
                      </m:r>
                      <m:sSub>
                        <m:sSubPr>
                          <m:ctrlPr>
                            <a:rPr lang="en-US" sz="800" i="1">
                              <a:latin typeface="Cambria Math" panose="02040503050406030204" pitchFamily="18" charset="0"/>
                            </a:rPr>
                          </m:ctrlPr>
                        </m:sSubPr>
                        <m:e>
                          <m:r>
                            <a:rPr lang="en-US" sz="800" i="1">
                              <a:latin typeface="Cambria Math" panose="02040503050406030204" pitchFamily="18" charset="0"/>
                            </a:rPr>
                            <m:t>𝑒</m:t>
                          </m:r>
                        </m:e>
                        <m:sub>
                          <m:r>
                            <a:rPr lang="en-US" sz="800" i="1">
                              <a:latin typeface="Cambria Math" panose="02040503050406030204" pitchFamily="18" charset="0"/>
                            </a:rPr>
                            <m:t>𝑖𝑗</m:t>
                          </m:r>
                        </m:sub>
                      </m:sSub>
                      <m:r>
                        <a:rPr lang="en-US" sz="800" i="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𝑤</m:t>
                          </m:r>
                        </m:e>
                        <m:sub>
                          <m:r>
                            <a:rPr lang="en-US" sz="800" i="0">
                              <a:latin typeface="Cambria Math" panose="02040503050406030204" pitchFamily="18" charset="0"/>
                            </a:rPr>
                            <m:t>2</m:t>
                          </m:r>
                        </m:sub>
                      </m:sSub>
                      <m:r>
                        <a:rPr lang="en-US" sz="800" i="1">
                          <a:latin typeface="Cambria Math" panose="02040503050406030204" pitchFamily="18" charset="0"/>
                        </a:rPr>
                        <m:t>𝑁𝑜𝑉𝑒ℎ𝑖𝑐𝑙</m:t>
                      </m:r>
                      <m:sSub>
                        <m:sSubPr>
                          <m:ctrlPr>
                            <a:rPr lang="en-US" sz="800" i="1">
                              <a:latin typeface="Cambria Math" panose="02040503050406030204" pitchFamily="18" charset="0"/>
                            </a:rPr>
                          </m:ctrlPr>
                        </m:sSubPr>
                        <m:e>
                          <m:r>
                            <a:rPr lang="en-US" sz="800" i="1">
                              <a:latin typeface="Cambria Math" panose="02040503050406030204" pitchFamily="18" charset="0"/>
                            </a:rPr>
                            <m:t>𝑒</m:t>
                          </m:r>
                        </m:e>
                        <m:sub>
                          <m:r>
                            <a:rPr lang="en-US" sz="800" i="1">
                              <a:latin typeface="Cambria Math" panose="02040503050406030204" pitchFamily="18" charset="0"/>
                            </a:rPr>
                            <m:t>𝑖𝑗</m:t>
                          </m:r>
                        </m:sub>
                      </m:sSub>
                      <m:r>
                        <a:rPr lang="en-US" sz="800" i="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𝑤</m:t>
                          </m:r>
                        </m:e>
                        <m:sub>
                          <m:r>
                            <a:rPr lang="en-US" sz="800" i="0">
                              <a:latin typeface="Cambria Math" panose="02040503050406030204" pitchFamily="18" charset="0"/>
                            </a:rPr>
                            <m:t>3</m:t>
                          </m:r>
                        </m:sub>
                      </m:sSub>
                      <m:r>
                        <a:rPr lang="en-US" sz="800" i="1">
                          <a:latin typeface="Cambria Math" panose="02040503050406030204" pitchFamily="18" charset="0"/>
                        </a:rPr>
                        <m:t>𝐷𝑖𝑠𝑎𝑏𝑖𝑙𝑖𝑡</m:t>
                      </m:r>
                      <m:sSub>
                        <m:sSubPr>
                          <m:ctrlPr>
                            <a:rPr lang="en-US" sz="800" i="1">
                              <a:latin typeface="Cambria Math" panose="02040503050406030204" pitchFamily="18" charset="0"/>
                            </a:rPr>
                          </m:ctrlPr>
                        </m:sSubPr>
                        <m:e>
                          <m:r>
                            <a:rPr lang="en-US" sz="800" i="1">
                              <a:latin typeface="Cambria Math" panose="02040503050406030204" pitchFamily="18" charset="0"/>
                            </a:rPr>
                            <m:t>𝑦</m:t>
                          </m:r>
                        </m:e>
                        <m:sub>
                          <m:r>
                            <a:rPr lang="en-US" sz="800" i="1">
                              <a:latin typeface="Cambria Math" panose="02040503050406030204" pitchFamily="18" charset="0"/>
                            </a:rPr>
                            <m:t>𝑖𝑗</m:t>
                          </m:r>
                        </m:sub>
                      </m:sSub>
                      <m:r>
                        <a:rPr lang="en-US" sz="800" i="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𝑤</m:t>
                          </m:r>
                        </m:e>
                        <m:sub>
                          <m:r>
                            <a:rPr lang="en-US" sz="800" i="0">
                              <a:latin typeface="Cambria Math" panose="02040503050406030204" pitchFamily="18" charset="0"/>
                            </a:rPr>
                            <m:t>4</m:t>
                          </m:r>
                        </m:sub>
                      </m:sSub>
                      <m:r>
                        <a:rPr lang="en-US" sz="800" i="1">
                          <a:latin typeface="Cambria Math" panose="02040503050406030204" pitchFamily="18" charset="0"/>
                        </a:rPr>
                        <m:t>𝐸𝑙𝑑𝑒𝑟𝑙</m:t>
                      </m:r>
                      <m:sSub>
                        <m:sSubPr>
                          <m:ctrlPr>
                            <a:rPr lang="en-US" sz="800" i="1">
                              <a:latin typeface="Cambria Math" panose="02040503050406030204" pitchFamily="18" charset="0"/>
                            </a:rPr>
                          </m:ctrlPr>
                        </m:sSubPr>
                        <m:e>
                          <m:r>
                            <a:rPr lang="en-US" sz="800" i="1">
                              <a:latin typeface="Cambria Math" panose="02040503050406030204" pitchFamily="18" charset="0"/>
                            </a:rPr>
                            <m:t>𝑦</m:t>
                          </m:r>
                        </m:e>
                        <m:sub>
                          <m:r>
                            <a:rPr lang="en-US" sz="800" i="1">
                              <a:latin typeface="Cambria Math" panose="02040503050406030204" pitchFamily="18" charset="0"/>
                            </a:rPr>
                            <m:t>𝑖𝑗</m:t>
                          </m:r>
                        </m:sub>
                      </m:sSub>
                    </m:oMath>
                  </m:oMathPara>
                </a14:m>
                <a:endParaRPr lang="en-US" sz="800" dirty="0">
                  <a:effectLst/>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sz="800" dirty="0">
                    <a:effectLst/>
                    <a:latin typeface="Arial" panose="020B0604020202020204" pitchFamily="34" charset="0"/>
                    <a:cs typeface="Arial" panose="020B0604020202020204" pitchFamily="34" charset="0"/>
                  </a:rPr>
                  <a:t>Calculate a separate </a:t>
                </a:r>
                <a14:m>
                  <m:oMath xmlns:m="http://schemas.openxmlformats.org/officeDocument/2006/math">
                    <m:r>
                      <a:rPr lang="en-US" sz="800" i="1" smtClean="0">
                        <a:latin typeface="Cambria Math" panose="02040503050406030204" pitchFamily="18" charset="0"/>
                      </a:rPr>
                      <m:t>𝑉</m:t>
                    </m:r>
                    <m:sSub>
                      <m:sSubPr>
                        <m:ctrlPr>
                          <a:rPr lang="en-US" sz="800" i="1">
                            <a:latin typeface="Cambria Math" panose="02040503050406030204" pitchFamily="18" charset="0"/>
                          </a:rPr>
                        </m:ctrlPr>
                      </m:sSubPr>
                      <m:e>
                        <m:r>
                          <a:rPr lang="en-US" sz="800" i="1">
                            <a:latin typeface="Cambria Math" panose="02040503050406030204" pitchFamily="18" charset="0"/>
                          </a:rPr>
                          <m:t>𝐼</m:t>
                        </m:r>
                      </m:e>
                      <m:sub>
                        <m:r>
                          <a:rPr lang="en-US" sz="800" i="1">
                            <a:latin typeface="Cambria Math" panose="02040503050406030204" pitchFamily="18" charset="0"/>
                          </a:rPr>
                          <m:t>𝑖𝑗</m:t>
                        </m:r>
                      </m:sub>
                    </m:sSub>
                  </m:oMath>
                </a14:m>
                <a:r>
                  <a:rPr lang="en-US" sz="800" dirty="0">
                    <a:effectLst/>
                    <a:latin typeface="Arial" panose="020B0604020202020204" pitchFamily="34" charset="0"/>
                    <a:cs typeface="Arial" panose="020B0604020202020204" pitchFamily="34" charset="0"/>
                  </a:rPr>
                  <a:t>for each of the 3,000 respondents.</a:t>
                </a:r>
              </a:p>
              <a:p>
                <a:pPr marL="342900" lvl="0" indent="-342900">
                  <a:buFont typeface="Arial" panose="020B0604020202020204" pitchFamily="34" charset="0"/>
                  <a:buChar char="•"/>
                </a:pPr>
                <a:r>
                  <a:rPr lang="en-US" sz="800" dirty="0">
                    <a:effectLst/>
                    <a:latin typeface="Arial" panose="020B0604020202020204" pitchFamily="34" charset="0"/>
                    <a:cs typeface="Arial" panose="020B0604020202020204" pitchFamily="34" charset="0"/>
                  </a:rPr>
                  <a:t>Thus, </a:t>
                </a:r>
                <a:r>
                  <a:rPr lang="en-US" sz="800" b="1" dirty="0">
                    <a:effectLst/>
                    <a:latin typeface="Arial" panose="020B0604020202020204" pitchFamily="34" charset="0"/>
                    <a:cs typeface="Arial" panose="020B0604020202020204" pitchFamily="34" charset="0"/>
                  </a:rPr>
                  <a:t>PCA weights are common across the three cities</a:t>
                </a:r>
                <a:r>
                  <a:rPr lang="en-US" sz="800" dirty="0">
                    <a:effectLst/>
                    <a:latin typeface="Arial" panose="020B0604020202020204" pitchFamily="34" charset="0"/>
                    <a:cs typeface="Arial" panose="020B0604020202020204" pitchFamily="34" charset="0"/>
                  </a:rPr>
                  <a:t>, while every respondent has their own VI value.</a:t>
                </a:r>
              </a:p>
            </p:txBody>
          </p:sp>
        </mc:Choice>
        <mc:Fallback>
          <p:sp>
            <p:nvSpPr>
              <p:cNvPr id="3" name="TextBox 2">
                <a:extLst>
                  <a:ext uri="{FF2B5EF4-FFF2-40B4-BE49-F238E27FC236}">
                    <a16:creationId xmlns:a16="http://schemas.microsoft.com/office/drawing/2014/main" id="{3EDA950E-7F70-CB86-7AFF-B9280909F416}"/>
                  </a:ext>
                </a:extLst>
              </p:cNvPr>
              <p:cNvSpPr txBox="1">
                <a:spLocks noRot="1" noChangeAspect="1" noMove="1" noResize="1" noEditPoints="1" noAdjustHandles="1" noChangeArrowheads="1" noChangeShapeType="1" noTextEdit="1"/>
              </p:cNvSpPr>
              <p:nvPr/>
            </p:nvSpPr>
            <p:spPr>
              <a:xfrm>
                <a:off x="4892265" y="4458344"/>
                <a:ext cx="6237888" cy="1589666"/>
              </a:xfrm>
              <a:prstGeom prst="rect">
                <a:avLst/>
              </a:prstGeom>
              <a:blipFill>
                <a:blip r:embed="rId4"/>
                <a:stretch>
                  <a:fillRect b="-787"/>
                </a:stretch>
              </a:blipFill>
            </p:spPr>
            <p:txBody>
              <a:bodyPr/>
              <a:lstStyle/>
              <a:p>
                <a:r>
                  <a:rPr lang="en-US">
                    <a:noFill/>
                  </a:rPr>
                  <a:t> </a:t>
                </a:r>
              </a:p>
            </p:txBody>
          </p:sp>
        </mc:Fallback>
      </mc:AlternateContent>
    </p:spTree>
    <p:extLst>
      <p:ext uri="{BB962C8B-B14F-4D97-AF65-F5344CB8AC3E}">
        <p14:creationId xmlns:p14="http://schemas.microsoft.com/office/powerpoint/2010/main" val="2989436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4">
          <a:extLst>
            <a:ext uri="{FF2B5EF4-FFF2-40B4-BE49-F238E27FC236}">
              <a16:creationId xmlns:a16="http://schemas.microsoft.com/office/drawing/2014/main" id="{DD49060A-63A1-F231-C3FB-4741D58D11F6}"/>
            </a:ext>
          </a:extLst>
        </p:cNvPr>
        <p:cNvGrpSpPr/>
        <p:nvPr/>
      </p:nvGrpSpPr>
      <p:grpSpPr>
        <a:xfrm>
          <a:off x="0" y="0"/>
          <a:ext cx="0" cy="0"/>
          <a:chOff x="0" y="0"/>
          <a:chExt cx="0" cy="0"/>
        </a:xfrm>
      </p:grpSpPr>
      <p:sp>
        <p:nvSpPr>
          <p:cNvPr id="385" name="Google Shape;385;g3f556ffc7f3_3_7">
            <a:extLst>
              <a:ext uri="{FF2B5EF4-FFF2-40B4-BE49-F238E27FC236}">
                <a16:creationId xmlns:a16="http://schemas.microsoft.com/office/drawing/2014/main" id="{FC6ACBC7-818D-6CBE-A481-A84E050DAE3A}"/>
              </a:ext>
            </a:extLst>
          </p:cNvPr>
          <p:cNvSpPr txBox="1">
            <a:spLocks noGrp="1"/>
          </p:cNvSpPr>
          <p:nvPr>
            <p:ph type="title"/>
          </p:nvPr>
        </p:nvSpPr>
        <p:spPr>
          <a:xfrm>
            <a:off x="256032" y="225653"/>
            <a:ext cx="11284500" cy="433500"/>
          </a:xfrm>
          <a:prstGeom prst="rect">
            <a:avLst/>
          </a:prstGeom>
          <a:noFill/>
          <a:ln>
            <a:noFill/>
          </a:ln>
        </p:spPr>
        <p:txBody>
          <a:bodyPr spcFirstLastPara="1" wrap="square" lIns="0" tIns="45700" rIns="0" bIns="45700" anchor="t" anchorCtr="0">
            <a:normAutofit fontScale="90000"/>
          </a:bodyPr>
          <a:lstStyle/>
          <a:p>
            <a:pPr marL="0" lvl="0" indent="0" algn="l" rtl="0">
              <a:lnSpc>
                <a:spcPct val="100000"/>
              </a:lnSpc>
              <a:spcBef>
                <a:spcPts val="0"/>
              </a:spcBef>
              <a:spcAft>
                <a:spcPts val="0"/>
              </a:spcAft>
              <a:buClr>
                <a:schemeClr val="accent1"/>
              </a:buClr>
              <a:buSzPts val="2400"/>
              <a:buFont typeface="Calibri"/>
              <a:buNone/>
            </a:pPr>
            <a:r>
              <a:rPr lang="en-IN"/>
              <a:t>Expected Outputs from M2: City B</a:t>
            </a:r>
            <a:endParaRPr sz="1600" b="0">
              <a:solidFill>
                <a:srgbClr val="009CD8"/>
              </a:solidFill>
            </a:endParaRPr>
          </a:p>
        </p:txBody>
      </p:sp>
      <p:sp>
        <p:nvSpPr>
          <p:cNvPr id="386" name="Google Shape;386;g3f556ffc7f3_3_7">
            <a:extLst>
              <a:ext uri="{FF2B5EF4-FFF2-40B4-BE49-F238E27FC236}">
                <a16:creationId xmlns:a16="http://schemas.microsoft.com/office/drawing/2014/main" id="{D119BF96-BFE5-7D96-D90D-A99BBB1B886F}"/>
              </a:ext>
            </a:extLst>
          </p:cNvPr>
          <p:cNvSpPr txBox="1"/>
          <p:nvPr/>
        </p:nvSpPr>
        <p:spPr>
          <a:xfrm>
            <a:off x="-276585" y="6235395"/>
            <a:ext cx="773100" cy="3651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600" b="0" i="0" u="none" strike="noStrike" cap="none">
                <a:solidFill>
                  <a:srgbClr val="888888"/>
                </a:solidFill>
                <a:latin typeface="Calibri"/>
                <a:ea typeface="Calibri"/>
                <a:cs typeface="Calibri"/>
                <a:sym typeface="Calibri"/>
              </a:rPr>
              <a:t>12</a:t>
            </a:fld>
            <a:r>
              <a:rPr lang="en-IN" sz="1600" b="0" i="0" u="none" strike="noStrike" cap="none">
                <a:solidFill>
                  <a:srgbClr val="888888"/>
                </a:solidFill>
                <a:latin typeface="Calibri"/>
                <a:ea typeface="Calibri"/>
                <a:cs typeface="Calibri"/>
                <a:sym typeface="Calibri"/>
              </a:rPr>
              <a:t>|</a:t>
            </a:r>
            <a:endParaRPr sz="1600" b="0" i="0" u="none" strike="noStrike" cap="none">
              <a:solidFill>
                <a:srgbClr val="888888"/>
              </a:solidFill>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96D19F76-8955-8445-49B0-6ABED051A4B3}"/>
                  </a:ext>
                </a:extLst>
              </p:cNvPr>
              <p:cNvSpPr txBox="1"/>
              <p:nvPr/>
            </p:nvSpPr>
            <p:spPr>
              <a:xfrm>
                <a:off x="256032" y="746547"/>
                <a:ext cx="8322635" cy="424039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City B: New bus-service cities</a:t>
                </a:r>
              </a:p>
              <a:p>
                <a:r>
                  <a:rPr lang="en-US" b="1" dirty="0">
                    <a:latin typeface="Arial" panose="020B0604020202020204" pitchFamily="34" charset="0"/>
                    <a:cs typeface="Arial" panose="020B0604020202020204" pitchFamily="34" charset="0"/>
                  </a:rPr>
                  <a:t>Difference-in-Differences with vulnerability interaction</a:t>
                </a:r>
              </a:p>
              <a:p>
                <a:endParaRPr lang="en-US" dirty="0">
                  <a:latin typeface="Arial" panose="020B0604020202020204" pitchFamily="34" charset="0"/>
                  <a:cs typeface="Arial" panose="020B0604020202020204" pitchFamily="34" charset="0"/>
                </a:endParaRPr>
              </a:p>
              <a:p>
                <a:pPr/>
                <a14:m>
                  <m:oMathPara xmlns:m="http://schemas.openxmlformats.org/officeDocument/2006/math">
                    <m:oMath>
                      <m:borderBox>
                        <m:borderBoxPr>
                          <m:ctrlPr>
                            <a:rPr lang="en-US" i="1">
                              <a:latin typeface="Cambria Math" panose="02040503050406030204" pitchFamily="18" charset="0"/>
                            </a:rPr>
                          </m:ctrlPr>
                        </m:borderBoxPr>
                        <m:e>
                          <m:eqArr>
                            <m:eqArrPr>
                              <m:ctrlPr>
                                <a:rPr lang="en-US" i="1">
                                  <a:latin typeface="Cambria Math" panose="02040503050406030204" pitchFamily="18" charset="0"/>
                                </a:rPr>
                              </m:ctrlPr>
                            </m:eqArrP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𝑖𝑗𝑡</m:t>
                                  </m:r>
                                </m:sub>
                              </m:sSub>
                              <m:r>
                                <a:rPr lang="en-US">
                                  <a:latin typeface="Cambria Math" panose="02040503050406030204" pitchFamily="18" charset="0"/>
                                </a:rPr>
                                <m:t>=&amp;</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a:latin typeface="Cambria Math" panose="02040503050406030204" pitchFamily="18" charset="0"/>
                                    </a:rPr>
                                    <m:t>0</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a:latin typeface="Cambria Math" panose="02040503050406030204" pitchFamily="18" charset="0"/>
                                    </a:rPr>
                                    <m:t>1</m:t>
                                  </m:r>
                                </m:sub>
                              </m:sSub>
                              <m:r>
                                <a:rPr lang="en-US" i="1">
                                  <a:latin typeface="Cambria Math" panose="02040503050406030204" pitchFamily="18" charset="0"/>
                                </a:rPr>
                                <m:t>𝐵𝑢𝑠𝐴𝑐𝑐𝑒𝑠</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𝑖𝑗</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a:latin typeface="Cambria Math" panose="02040503050406030204" pitchFamily="18" charset="0"/>
                                    </a:rPr>
                                    <m:t>2</m:t>
                                  </m:r>
                                </m:sub>
                              </m:sSub>
                              <m:r>
                                <a:rPr lang="en-US" i="1">
                                  <a:latin typeface="Cambria Math" panose="02040503050406030204" pitchFamily="18" charset="0"/>
                                </a:rPr>
                                <m:t>𝑃𝑜𝑠</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𝑡</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a:latin typeface="Cambria Math" panose="02040503050406030204" pitchFamily="18" charset="0"/>
                                    </a:rPr>
                                    <m:t>3</m:t>
                                  </m:r>
                                </m:sub>
                              </m:sSub>
                              <m:r>
                                <a:rPr lang="en-US" i="1">
                                  <a:latin typeface="Cambria Math" panose="02040503050406030204" pitchFamily="18" charset="0"/>
                                </a:rPr>
                                <m:t>𝑉</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𝑖𝑗</m:t>
                                  </m:r>
                                </m:sub>
                              </m:sSub>
                            </m:e>
                            <m:e>
                              <m:r>
                                <a:rPr lang="en-US">
                                  <a:latin typeface="Cambria Math" panose="02040503050406030204" pitchFamily="18" charset="0"/>
                                </a:rPr>
                                <m:t>&amp;+</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a:latin typeface="Cambria Math" panose="02040503050406030204" pitchFamily="18" charset="0"/>
                                    </a:rPr>
                                    <m:t>4</m:t>
                                  </m:r>
                                </m:sub>
                              </m:sSub>
                              <m:d>
                                <m:dPr>
                                  <m:ctrlPr>
                                    <a:rPr lang="en-US" i="1">
                                      <a:latin typeface="Cambria Math" panose="02040503050406030204" pitchFamily="18" charset="0"/>
                                    </a:rPr>
                                  </m:ctrlPr>
                                </m:dPr>
                                <m:e>
                                  <m:r>
                                    <a:rPr lang="en-US" i="1">
                                      <a:latin typeface="Cambria Math" panose="02040503050406030204" pitchFamily="18" charset="0"/>
                                    </a:rPr>
                                    <m:t>𝐵𝑢𝑠𝐴𝑐𝑐𝑒𝑠</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𝑖𝑗</m:t>
                                      </m:r>
                                    </m:sub>
                                  </m:sSub>
                                  <m:r>
                                    <a:rPr lang="en-US">
                                      <a:latin typeface="Cambria Math" panose="02040503050406030204" pitchFamily="18" charset="0"/>
                                    </a:rPr>
                                    <m:t>×</m:t>
                                  </m:r>
                                  <m:r>
                                    <a:rPr lang="en-US" i="1">
                                      <a:latin typeface="Cambria Math" panose="02040503050406030204" pitchFamily="18" charset="0"/>
                                    </a:rPr>
                                    <m:t>𝑃𝑜𝑠</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𝑡</m:t>
                                      </m:r>
                                    </m:sub>
                                  </m:sSub>
                                </m:e>
                              </m:d>
                            </m:e>
                            <m:e>
                              <m:r>
                                <a:rPr lang="en-US">
                                  <a:latin typeface="Cambria Math" panose="02040503050406030204" pitchFamily="18" charset="0"/>
                                </a:rPr>
                                <m:t>&amp;+</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a:latin typeface="Cambria Math" panose="02040503050406030204" pitchFamily="18" charset="0"/>
                                    </a:rPr>
                                    <m:t>5</m:t>
                                  </m:r>
                                </m:sub>
                              </m:sSub>
                              <m:d>
                                <m:dPr>
                                  <m:ctrlPr>
                                    <a:rPr lang="en-US" i="1">
                                      <a:latin typeface="Cambria Math" panose="02040503050406030204" pitchFamily="18" charset="0"/>
                                    </a:rPr>
                                  </m:ctrlPr>
                                </m:dPr>
                                <m:e>
                                  <m:r>
                                    <a:rPr lang="en-US" i="1">
                                      <a:latin typeface="Cambria Math" panose="02040503050406030204" pitchFamily="18" charset="0"/>
                                    </a:rPr>
                                    <m:t>𝐵𝑢𝑠𝐴𝑐𝑐𝑒𝑠</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𝑖𝑗</m:t>
                                      </m:r>
                                    </m:sub>
                                  </m:sSub>
                                  <m:r>
                                    <a:rPr lang="en-US">
                                      <a:latin typeface="Cambria Math" panose="02040503050406030204" pitchFamily="18" charset="0"/>
                                    </a:rPr>
                                    <m:t>×</m:t>
                                  </m:r>
                                  <m:r>
                                    <a:rPr lang="en-US" i="1">
                                      <a:latin typeface="Cambria Math" panose="02040503050406030204" pitchFamily="18" charset="0"/>
                                    </a:rPr>
                                    <m:t>𝑉</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𝑖𝑗</m:t>
                                      </m:r>
                                    </m:sub>
                                  </m:sSub>
                                </m:e>
                              </m:d>
                            </m:e>
                            <m:e>
                              <m:r>
                                <a:rPr lang="en-US">
                                  <a:latin typeface="Cambria Math" panose="02040503050406030204" pitchFamily="18" charset="0"/>
                                </a:rPr>
                                <m:t>&amp;+</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a:latin typeface="Cambria Math" panose="02040503050406030204" pitchFamily="18" charset="0"/>
                                    </a:rPr>
                                    <m:t>6</m:t>
                                  </m:r>
                                </m:sub>
                              </m:sSub>
                              <m:d>
                                <m:dPr>
                                  <m:ctrlPr>
                                    <a:rPr lang="en-US" i="1">
                                      <a:latin typeface="Cambria Math" panose="02040503050406030204" pitchFamily="18" charset="0"/>
                                    </a:rPr>
                                  </m:ctrlPr>
                                </m:dPr>
                                <m:e>
                                  <m:r>
                                    <a:rPr lang="en-US" i="1">
                                      <a:latin typeface="Cambria Math" panose="02040503050406030204" pitchFamily="18" charset="0"/>
                                    </a:rPr>
                                    <m:t>𝑃𝑜𝑠</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𝑡</m:t>
                                      </m:r>
                                    </m:sub>
                                  </m:sSub>
                                  <m:r>
                                    <a:rPr lang="en-US">
                                      <a:latin typeface="Cambria Math" panose="02040503050406030204" pitchFamily="18" charset="0"/>
                                    </a:rPr>
                                    <m:t>×</m:t>
                                  </m:r>
                                  <m:r>
                                    <a:rPr lang="en-US" i="1">
                                      <a:latin typeface="Cambria Math" panose="02040503050406030204" pitchFamily="18" charset="0"/>
                                    </a:rPr>
                                    <m:t>𝑉</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𝑖𝑗</m:t>
                                      </m:r>
                                    </m:sub>
                                  </m:sSub>
                                </m:e>
                              </m:d>
                            </m:e>
                            <m:e>
                              <m:r>
                                <a:rPr lang="en-US">
                                  <a:latin typeface="Cambria Math" panose="02040503050406030204" pitchFamily="18" charset="0"/>
                                </a:rPr>
                                <m:t>&amp;+</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a:latin typeface="Cambria Math" panose="02040503050406030204" pitchFamily="18" charset="0"/>
                                    </a:rPr>
                                    <m:t>7</m:t>
                                  </m:r>
                                </m:sub>
                              </m:sSub>
                              <m:d>
                                <m:dPr>
                                  <m:ctrlPr>
                                    <a:rPr lang="en-US" i="1">
                                      <a:latin typeface="Cambria Math" panose="02040503050406030204" pitchFamily="18" charset="0"/>
                                    </a:rPr>
                                  </m:ctrlPr>
                                </m:dPr>
                                <m:e>
                                  <m:r>
                                    <a:rPr lang="en-US" i="1">
                                      <a:latin typeface="Cambria Math" panose="02040503050406030204" pitchFamily="18" charset="0"/>
                                    </a:rPr>
                                    <m:t>𝐵𝑢𝑠𝐴𝑐𝑐𝑒𝑠</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𝑖𝑗</m:t>
                                      </m:r>
                                    </m:sub>
                                  </m:sSub>
                                  <m:r>
                                    <a:rPr lang="en-US">
                                      <a:latin typeface="Cambria Math" panose="02040503050406030204" pitchFamily="18" charset="0"/>
                                    </a:rPr>
                                    <m:t>×</m:t>
                                  </m:r>
                                  <m:r>
                                    <a:rPr lang="en-US" i="1">
                                      <a:latin typeface="Cambria Math" panose="02040503050406030204" pitchFamily="18" charset="0"/>
                                    </a:rPr>
                                    <m:t>𝑃𝑜𝑠</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𝑡</m:t>
                                      </m:r>
                                    </m:sub>
                                  </m:sSub>
                                  <m:r>
                                    <a:rPr lang="en-US">
                                      <a:latin typeface="Cambria Math" panose="02040503050406030204" pitchFamily="18" charset="0"/>
                                    </a:rPr>
                                    <m:t>×</m:t>
                                  </m:r>
                                  <m:r>
                                    <a:rPr lang="en-US" i="1">
                                      <a:latin typeface="Cambria Math" panose="02040503050406030204" pitchFamily="18" charset="0"/>
                                    </a:rPr>
                                    <m:t>𝑉</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𝑖𝑗</m:t>
                                      </m:r>
                                    </m:sub>
                                  </m:sSub>
                                </m:e>
                              </m:d>
                            </m:e>
                            <m:e>
                              <m:r>
                                <a:rPr lang="en-US">
                                  <a:latin typeface="Cambria Math" panose="02040503050406030204" pitchFamily="18" charset="0"/>
                                </a:rPr>
                                <m:t>&amp;+</m:t>
                              </m:r>
                              <m:sSup>
                                <m:sSupPr>
                                  <m:ctrlPr>
                                    <a:rPr lang="en-US" b="1" i="1">
                                      <a:latin typeface="Cambria Math" panose="02040503050406030204" pitchFamily="18" charset="0"/>
                                    </a:rPr>
                                  </m:ctrlPr>
                                </m:sSupPr>
                                <m:e>
                                  <m:r>
                                    <a:rPr lang="en-US" b="1" i="1">
                                      <a:latin typeface="Cambria Math" panose="02040503050406030204" pitchFamily="18" charset="0"/>
                                    </a:rPr>
                                    <m:t>𝜽</m:t>
                                  </m:r>
                                </m:e>
                                <m:sup>
                                  <m:r>
                                    <a:rPr lang="en-US">
                                      <a:latin typeface="Cambria Math" panose="02040503050406030204" pitchFamily="18" charset="0"/>
                                    </a:rPr>
                                    <m:t>′</m:t>
                                  </m:r>
                                </m:sup>
                              </m:sSup>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𝑖𝑗𝑡</m:t>
                                  </m:r>
                                </m:sub>
                              </m:sSub>
                              <m:r>
                                <a:rPr lang="en-US">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𝜹</m:t>
                                  </m:r>
                                </m:e>
                                <m:sup>
                                  <m:r>
                                    <a:rPr lang="en-US">
                                      <a:latin typeface="Cambria Math" panose="02040503050406030204" pitchFamily="18" charset="0"/>
                                    </a:rPr>
                                    <m:t>′</m:t>
                                  </m:r>
                                </m:sup>
                              </m:sSup>
                              <m:sSub>
                                <m:sSubPr>
                                  <m:ctrlPr>
                                    <a:rPr lang="en-US">
                                      <a:latin typeface="Cambria Math" panose="02040503050406030204" pitchFamily="18" charset="0"/>
                                    </a:rPr>
                                  </m:ctrlPr>
                                </m:sSubPr>
                                <m:e>
                                  <m:r>
                                    <m:rPr>
                                      <m:sty m:val="p"/>
                                    </m:rPr>
                                    <a:rPr lang="en-US">
                                      <a:latin typeface="Cambria Math" panose="02040503050406030204" pitchFamily="18" charset="0"/>
                                    </a:rPr>
                                    <m:t>Γ</m:t>
                                  </m:r>
                                </m:e>
                                <m:sub>
                                  <m:r>
                                    <a:rPr lang="en-US" i="1">
                                      <a:latin typeface="Cambria Math" panose="02040503050406030204" pitchFamily="18" charset="0"/>
                                    </a:rPr>
                                    <m:t>𝑗</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𝑗</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𝑖𝑗𝑡</m:t>
                                  </m:r>
                                </m:sub>
                              </m:sSub>
                            </m:e>
                          </m:eqArr>
                        </m:e>
                      </m:borderBox>
                    </m:oMath>
                  </m:oMathPara>
                </a14:m>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Where:</a:t>
                </a:r>
              </a:p>
              <a:p>
                <a:pPr/>
                <a14:m>
                  <m:oMathPara xmlns:m="http://schemas.openxmlformats.org/officeDocument/2006/math">
                    <m:oMath>
                      <m:r>
                        <a:rPr lang="en-US" i="1">
                          <a:latin typeface="Cambria Math" panose="02040503050406030204" pitchFamily="18" charset="0"/>
                        </a:rPr>
                        <m:t>𝐵𝑢𝑠𝐴𝑐𝑐𝑒𝑠</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𝑖𝑗</m:t>
                          </m:r>
                        </m:sub>
                      </m:sSub>
                      <m:r>
                        <a:rPr lang="en-US">
                          <a:latin typeface="Cambria Math" panose="02040503050406030204" pitchFamily="18" charset="0"/>
                        </a:rPr>
                        <m:t>=</m:t>
                      </m:r>
                      <m:d>
                        <m:dPr>
                          <m:begChr m:val="{"/>
                          <m:endChr m:val=""/>
                          <m:ctrlPr>
                            <a:rPr lang="en-US" i="1">
                              <a:latin typeface="Cambria Math" panose="02040503050406030204" pitchFamily="18" charset="0"/>
                            </a:rPr>
                          </m:ctrlPr>
                        </m:dPr>
                        <m:e>
                          <m:m>
                            <m:mPr>
                              <m:plcHide m:val="on"/>
                              <m:mcs>
                                <m:mc>
                                  <m:mcPr>
                                    <m:count m:val="2"/>
                                    <m:mcJc m:val="center"/>
                                  </m:mcPr>
                                </m:mc>
                              </m:mcs>
                              <m:ctrlPr>
                                <a:rPr lang="en-US" i="1">
                                  <a:latin typeface="Cambria Math" panose="02040503050406030204" pitchFamily="18" charset="0"/>
                                </a:rPr>
                              </m:ctrlPr>
                            </m:mPr>
                            <m:mr>
                              <m:e>
                                <m:r>
                                  <a:rPr lang="en-US">
                                    <a:latin typeface="Cambria Math" panose="02040503050406030204" pitchFamily="18" charset="0"/>
                                  </a:rPr>
                                  <m:t>1,</m:t>
                                </m:r>
                              </m:e>
                              <m:e>
                                <m:r>
                                  <m:rPr>
                                    <m:nor/>
                                  </m:rPr>
                                  <a:rPr lang="en-US" i="0">
                                    <a:latin typeface="Arial" panose="020B0604020202020204" pitchFamily="34" charset="0"/>
                                    <a:cs typeface="Arial" panose="020B0604020202020204" pitchFamily="34" charset="0"/>
                                  </a:rPr>
                                  <m:t>respondent belongs to the bus−access/treatment area</m:t>
                                </m:r>
                              </m:e>
                            </m:mr>
                            <m:mr>
                              <m:e>
                                <m:r>
                                  <a:rPr lang="en-US">
                                    <a:latin typeface="Cambria Math" panose="02040503050406030204" pitchFamily="18" charset="0"/>
                                  </a:rPr>
                                  <m:t>0,</m:t>
                                </m:r>
                              </m:e>
                              <m:e>
                                <m:r>
                                  <m:rPr>
                                    <m:nor/>
                                  </m:rPr>
                                  <a:rPr lang="en-US" i="0">
                                    <a:latin typeface="Arial" panose="020B0604020202020204" pitchFamily="34" charset="0"/>
                                    <a:cs typeface="Arial" panose="020B0604020202020204" pitchFamily="34" charset="0"/>
                                  </a:rPr>
                                  <m:t>respondent belongs to the control area</m:t>
                                </m:r>
                              </m:e>
                            </m:mr>
                          </m:m>
                        </m:e>
                      </m:d>
                    </m:oMath>
                  </m:oMathPara>
                </a14:m>
                <a:endParaRPr lang="en-US" dirty="0">
                  <a:latin typeface="Arial" panose="020B0604020202020204" pitchFamily="34" charset="0"/>
                  <a:cs typeface="Arial" panose="020B0604020202020204" pitchFamily="34" charset="0"/>
                </a:endParaRPr>
              </a:p>
              <a:p>
                <a:pPr/>
                <a:endParaRPr lang="en-US" dirty="0">
                  <a:latin typeface="Arial" panose="020B0604020202020204" pitchFamily="34" charset="0"/>
                  <a:cs typeface="Arial" panose="020B0604020202020204" pitchFamily="34" charset="0"/>
                </a:endParaRPr>
              </a:p>
              <a:p>
                <a:pPr/>
                <a14:m>
                  <m:oMathPara xmlns:m="http://schemas.openxmlformats.org/officeDocument/2006/math">
                    <m:oMath>
                      <m:r>
                        <a:rPr lang="en-US" i="1">
                          <a:latin typeface="Cambria Math" panose="02040503050406030204" pitchFamily="18" charset="0"/>
                        </a:rPr>
                        <m:t>𝑃𝑜𝑠</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𝑡</m:t>
                          </m:r>
                        </m:sub>
                      </m:sSub>
                      <m:r>
                        <a:rPr lang="en-US">
                          <a:latin typeface="Cambria Math" panose="02040503050406030204" pitchFamily="18" charset="0"/>
                        </a:rPr>
                        <m:t>=</m:t>
                      </m:r>
                      <m:d>
                        <m:dPr>
                          <m:begChr m:val="{"/>
                          <m:endChr m:val=""/>
                          <m:ctrlPr>
                            <a:rPr lang="en-US" i="1">
                              <a:latin typeface="Cambria Math" panose="02040503050406030204" pitchFamily="18" charset="0"/>
                            </a:rPr>
                          </m:ctrlPr>
                        </m:dPr>
                        <m:e>
                          <m:m>
                            <m:mPr>
                              <m:plcHide m:val="on"/>
                              <m:mcs>
                                <m:mc>
                                  <m:mcPr>
                                    <m:count m:val="2"/>
                                    <m:mcJc m:val="center"/>
                                  </m:mcPr>
                                </m:mc>
                              </m:mcs>
                              <m:ctrlPr>
                                <a:rPr lang="en-US" i="1">
                                  <a:latin typeface="Cambria Math" panose="02040503050406030204" pitchFamily="18" charset="0"/>
                                </a:rPr>
                              </m:ctrlPr>
                            </m:mPr>
                            <m:mr>
                              <m:e>
                                <m:r>
                                  <a:rPr lang="en-US">
                                    <a:latin typeface="Cambria Math" panose="02040503050406030204" pitchFamily="18" charset="0"/>
                                  </a:rPr>
                                  <m:t>0,</m:t>
                                </m:r>
                              </m:e>
                              <m:e>
                                <m:r>
                                  <m:rPr>
                                    <m:nor/>
                                  </m:rPr>
                                  <a:rPr lang="en-US" i="0">
                                    <a:latin typeface="Arial" panose="020B0604020202020204" pitchFamily="34" charset="0"/>
                                    <a:cs typeface="Arial" panose="020B0604020202020204" pitchFamily="34" charset="0"/>
                                  </a:rPr>
                                  <m:t>before bus introduction</m:t>
                                </m:r>
                              </m:e>
                            </m:mr>
                            <m:mr>
                              <m:e>
                                <m:r>
                                  <a:rPr lang="en-US">
                                    <a:latin typeface="Cambria Math" panose="02040503050406030204" pitchFamily="18" charset="0"/>
                                  </a:rPr>
                                  <m:t>1,</m:t>
                                </m:r>
                              </m:e>
                              <m:e>
                                <m:r>
                                  <m:rPr>
                                    <m:nor/>
                                  </m:rPr>
                                  <a:rPr lang="en-US" i="0">
                                    <a:latin typeface="Arial" panose="020B0604020202020204" pitchFamily="34" charset="0"/>
                                    <a:cs typeface="Arial" panose="020B0604020202020204" pitchFamily="34" charset="0"/>
                                  </a:rPr>
                                  <m:t>after bus introduction</m:t>
                                </m:r>
                              </m:e>
                            </m:mr>
                          </m:m>
                        </m:e>
                      </m:d>
                    </m:oMath>
                  </m:oMathPara>
                </a14:m>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mc:Choice>
        <mc:Fallback>
          <p:sp>
            <p:nvSpPr>
              <p:cNvPr id="3" name="TextBox 2">
                <a:extLst>
                  <a:ext uri="{FF2B5EF4-FFF2-40B4-BE49-F238E27FC236}">
                    <a16:creationId xmlns:a16="http://schemas.microsoft.com/office/drawing/2014/main" id="{96D19F76-8955-8445-49B0-6ABED051A4B3}"/>
                  </a:ext>
                </a:extLst>
              </p:cNvPr>
              <p:cNvSpPr txBox="1">
                <a:spLocks noRot="1" noChangeAspect="1" noMove="1" noResize="1" noEditPoints="1" noAdjustHandles="1" noChangeArrowheads="1" noChangeShapeType="1" noTextEdit="1"/>
              </p:cNvSpPr>
              <p:nvPr/>
            </p:nvSpPr>
            <p:spPr>
              <a:xfrm>
                <a:off x="256032" y="746547"/>
                <a:ext cx="8322635" cy="4240392"/>
              </a:xfrm>
              <a:prstGeom prst="rect">
                <a:avLst/>
              </a:prstGeom>
              <a:blipFill>
                <a:blip r:embed="rId3"/>
                <a:stretch>
                  <a:fillRect l="-305" b="-2955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D958BA8-099D-EA48-D603-6D2CB6BABC35}"/>
                  </a:ext>
                </a:extLst>
              </p:cNvPr>
              <p:cNvSpPr txBox="1"/>
              <p:nvPr/>
            </p:nvSpPr>
            <p:spPr>
              <a:xfrm>
                <a:off x="5459723" y="4723176"/>
                <a:ext cx="6237888" cy="1589666"/>
              </a:xfrm>
              <a:prstGeom prst="rect">
                <a:avLst/>
              </a:prstGeom>
              <a:noFill/>
            </p:spPr>
            <p:txBody>
              <a:bodyPr wrap="square">
                <a:spAutoFit/>
              </a:bodyPr>
              <a:lstStyle/>
              <a:p>
                <a:pPr>
                  <a:buNone/>
                </a:pPr>
                <a:r>
                  <a:rPr lang="en-US" sz="800" b="1" dirty="0">
                    <a:effectLst/>
                    <a:latin typeface="Arial" panose="020B0604020202020204" pitchFamily="34" charset="0"/>
                    <a:cs typeface="Arial" panose="020B0604020202020204" pitchFamily="34" charset="0"/>
                  </a:rPr>
                  <a:t>Note – Construction of Vulnerability Index (VI) for Type-B Cities</a:t>
                </a:r>
                <a:endParaRPr lang="en-US" sz="800" dirty="0">
                  <a:effectLst/>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sz="800" dirty="0">
                    <a:effectLst/>
                    <a:latin typeface="Arial" panose="020B0604020202020204" pitchFamily="34" charset="0"/>
                    <a:cs typeface="Arial" panose="020B0604020202020204" pitchFamily="34" charset="0"/>
                  </a:rPr>
                  <a:t>Combine respondents from all </a:t>
                </a:r>
                <a:r>
                  <a:rPr lang="en-US" sz="800" b="1" dirty="0">
                    <a:effectLst/>
                    <a:latin typeface="Arial" panose="020B0604020202020204" pitchFamily="34" charset="0"/>
                    <a:cs typeface="Arial" panose="020B0604020202020204" pitchFamily="34" charset="0"/>
                  </a:rPr>
                  <a:t>3 Type-B cities</a:t>
                </a:r>
                <a:r>
                  <a:rPr lang="en-US" sz="800" dirty="0">
                    <a:effectLst/>
                    <a:latin typeface="Arial" panose="020B0604020202020204" pitchFamily="34" charset="0"/>
                    <a:cs typeface="Arial" panose="020B0604020202020204" pitchFamily="34" charset="0"/>
                  </a:rPr>
                  <a:t> (e.g., 1,000 per city </a:t>
                </a:r>
                <a14:m>
                  <m:oMath xmlns:m="http://schemas.openxmlformats.org/officeDocument/2006/math">
                    <m:r>
                      <a:rPr lang="en-US" sz="800" smtClean="0">
                        <a:latin typeface="Cambria Math" panose="02040503050406030204" pitchFamily="18" charset="0"/>
                      </a:rPr>
                      <m:t>→</m:t>
                    </m:r>
                  </m:oMath>
                </a14:m>
                <a:r>
                  <a:rPr lang="en-US" sz="800" b="1" dirty="0">
                    <a:effectLst/>
                    <a:latin typeface="Arial" panose="020B0604020202020204" pitchFamily="34" charset="0"/>
                    <a:cs typeface="Arial" panose="020B0604020202020204" pitchFamily="34" charset="0"/>
                  </a:rPr>
                  <a:t>3,000 respondents</a:t>
                </a:r>
                <a:r>
                  <a:rPr lang="en-US" sz="800" dirty="0">
                    <a:effectLst/>
                    <a:latin typeface="Arial" panose="020B0604020202020204" pitchFamily="34" charset="0"/>
                    <a:cs typeface="Arial" panose="020B0604020202020204" pitchFamily="34" charset="0"/>
                  </a:rPr>
                  <a:t>).</a:t>
                </a:r>
              </a:p>
              <a:p>
                <a:pPr marL="342900" lvl="0" indent="-342900">
                  <a:buFont typeface="Arial" panose="020B0604020202020204" pitchFamily="34" charset="0"/>
                  <a:buChar char="•"/>
                </a:pPr>
                <a:r>
                  <a:rPr lang="en-US" sz="800" dirty="0">
                    <a:effectLst/>
                    <a:latin typeface="Arial" panose="020B0604020202020204" pitchFamily="34" charset="0"/>
                    <a:cs typeface="Arial" panose="020B0604020202020204" pitchFamily="34" charset="0"/>
                  </a:rPr>
                  <a:t>Use the same </a:t>
                </a:r>
                <a:r>
                  <a:rPr lang="en-US" sz="800" b="1" dirty="0">
                    <a:effectLst/>
                    <a:latin typeface="Arial" panose="020B0604020202020204" pitchFamily="34" charset="0"/>
                    <a:cs typeface="Arial" panose="020B0604020202020204" pitchFamily="34" charset="0"/>
                  </a:rPr>
                  <a:t>4 vulnerability variables</a:t>
                </a:r>
                <a:r>
                  <a:rPr lang="en-US" sz="800" dirty="0">
                    <a:effectLst/>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n-US" sz="800" dirty="0">
                    <a:effectLst/>
                    <a:latin typeface="Arial" panose="020B0604020202020204" pitchFamily="34" charset="0"/>
                    <a:cs typeface="Arial" panose="020B0604020202020204" pitchFamily="34" charset="0"/>
                  </a:rPr>
                  <a:t>Low income</a:t>
                </a:r>
              </a:p>
              <a:p>
                <a:pPr marL="742950" lvl="1" indent="-285750">
                  <a:buFont typeface="Arial" panose="020B0604020202020204" pitchFamily="34" charset="0"/>
                  <a:buChar char="•"/>
                </a:pPr>
                <a:r>
                  <a:rPr lang="en-US" sz="800" dirty="0">
                    <a:effectLst/>
                    <a:latin typeface="Arial" panose="020B0604020202020204" pitchFamily="34" charset="0"/>
                    <a:cs typeface="Arial" panose="020B0604020202020204" pitchFamily="34" charset="0"/>
                  </a:rPr>
                  <a:t>No private vehicle</a:t>
                </a:r>
              </a:p>
              <a:p>
                <a:pPr marL="742950" lvl="1" indent="-285750">
                  <a:buFont typeface="Arial" panose="020B0604020202020204" pitchFamily="34" charset="0"/>
                  <a:buChar char="•"/>
                </a:pPr>
                <a:r>
                  <a:rPr lang="en-US" sz="800" dirty="0">
                    <a:effectLst/>
                    <a:latin typeface="Arial" panose="020B0604020202020204" pitchFamily="34" charset="0"/>
                    <a:cs typeface="Arial" panose="020B0604020202020204" pitchFamily="34" charset="0"/>
                  </a:rPr>
                  <a:t>Disability</a:t>
                </a:r>
              </a:p>
              <a:p>
                <a:pPr marL="742950" lvl="1" indent="-285750">
                  <a:buFont typeface="Arial" panose="020B0604020202020204" pitchFamily="34" charset="0"/>
                  <a:buChar char="•"/>
                </a:pPr>
                <a:r>
                  <a:rPr lang="en-US" sz="800" dirty="0">
                    <a:effectLst/>
                    <a:latin typeface="Arial" panose="020B0604020202020204" pitchFamily="34" charset="0"/>
                    <a:cs typeface="Arial" panose="020B0604020202020204" pitchFamily="34" charset="0"/>
                  </a:rPr>
                  <a:t>Elderly (</a:t>
                </a:r>
                <a14:m>
                  <m:oMath xmlns:m="http://schemas.openxmlformats.org/officeDocument/2006/math">
                    <m:r>
                      <a:rPr lang="en-US" sz="800" smtClean="0">
                        <a:latin typeface="Cambria Math" panose="02040503050406030204" pitchFamily="18" charset="0"/>
                      </a:rPr>
                      <m:t>≥</m:t>
                    </m:r>
                  </m:oMath>
                </a14:m>
                <a:r>
                  <a:rPr lang="en-US" sz="800" dirty="0">
                    <a:effectLst/>
                    <a:latin typeface="Arial" panose="020B0604020202020204" pitchFamily="34" charset="0"/>
                    <a:cs typeface="Arial" panose="020B0604020202020204" pitchFamily="34" charset="0"/>
                  </a:rPr>
                  <a:t>60 years)</a:t>
                </a:r>
              </a:p>
              <a:p>
                <a:pPr marL="342900" lvl="0" indent="-342900">
                  <a:buFont typeface="Arial" panose="020B0604020202020204" pitchFamily="34" charset="0"/>
                  <a:buChar char="•"/>
                </a:pPr>
                <a:r>
                  <a:rPr lang="en-US" sz="800" dirty="0">
                    <a:effectLst/>
                    <a:latin typeface="Arial" panose="020B0604020202020204" pitchFamily="34" charset="0"/>
                    <a:cs typeface="Arial" panose="020B0604020202020204" pitchFamily="34" charset="0"/>
                  </a:rPr>
                  <a:t>Apply </a:t>
                </a:r>
                <a:r>
                  <a:rPr lang="en-US" sz="800" b="1" dirty="0">
                    <a:effectLst/>
                    <a:latin typeface="Arial" panose="020B0604020202020204" pitchFamily="34" charset="0"/>
                    <a:cs typeface="Arial" panose="020B0604020202020204" pitchFamily="34" charset="0"/>
                  </a:rPr>
                  <a:t>PCA to the pooled 3,000 respondents</a:t>
                </a:r>
                <a:r>
                  <a:rPr lang="en-US" sz="800" dirty="0">
                    <a:effectLst/>
                    <a:latin typeface="Arial" panose="020B0604020202020204" pitchFamily="34" charset="0"/>
                    <a:cs typeface="Arial" panose="020B0604020202020204" pitchFamily="34" charset="0"/>
                  </a:rPr>
                  <a:t> to obtain </a:t>
                </a:r>
                <a:r>
                  <a:rPr lang="en-US" sz="800" b="1" dirty="0">
                    <a:effectLst/>
                    <a:latin typeface="Arial" panose="020B0604020202020204" pitchFamily="34" charset="0"/>
                    <a:cs typeface="Arial" panose="020B0604020202020204" pitchFamily="34" charset="0"/>
                  </a:rPr>
                  <a:t>one common set of four weights</a:t>
                </a:r>
                <a:r>
                  <a:rPr lang="en-US" sz="800" dirty="0">
                    <a:effectLst/>
                    <a:latin typeface="Arial" panose="020B0604020202020204" pitchFamily="34" charset="0"/>
                    <a:cs typeface="Arial" panose="020B0604020202020204" pitchFamily="34" charset="0"/>
                  </a:rPr>
                  <a:t> (</a:t>
                </a:r>
                <a14:m>
                  <m:oMath xmlns:m="http://schemas.openxmlformats.org/officeDocument/2006/math">
                    <m:sSub>
                      <m:sSubPr>
                        <m:ctrlPr>
                          <a:rPr lang="en-US" sz="800" i="1">
                            <a:latin typeface="Cambria Math" panose="02040503050406030204" pitchFamily="18" charset="0"/>
                          </a:rPr>
                        </m:ctrlPr>
                      </m:sSubPr>
                      <m:e>
                        <m:r>
                          <a:rPr lang="en-US" sz="800" i="1">
                            <a:latin typeface="Cambria Math" panose="02040503050406030204" pitchFamily="18" charset="0"/>
                          </a:rPr>
                          <m:t>𝑤</m:t>
                        </m:r>
                      </m:e>
                      <m:sub>
                        <m:r>
                          <a:rPr lang="en-US" sz="800" i="0">
                            <a:latin typeface="Cambria Math" panose="02040503050406030204" pitchFamily="18" charset="0"/>
                          </a:rPr>
                          <m:t>1</m:t>
                        </m:r>
                      </m:sub>
                    </m:sSub>
                    <m:r>
                      <a:rPr lang="en-US" sz="800" i="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𝑤</m:t>
                        </m:r>
                      </m:e>
                      <m:sub>
                        <m:r>
                          <a:rPr lang="en-US" sz="800" i="0">
                            <a:latin typeface="Cambria Math" panose="02040503050406030204" pitchFamily="18" charset="0"/>
                          </a:rPr>
                          <m:t>2</m:t>
                        </m:r>
                      </m:sub>
                    </m:sSub>
                    <m:r>
                      <a:rPr lang="en-US" sz="800" i="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𝑤</m:t>
                        </m:r>
                      </m:e>
                      <m:sub>
                        <m:r>
                          <a:rPr lang="en-US" sz="800" i="0">
                            <a:latin typeface="Cambria Math" panose="02040503050406030204" pitchFamily="18" charset="0"/>
                          </a:rPr>
                          <m:t>3</m:t>
                        </m:r>
                      </m:sub>
                    </m:sSub>
                    <m:r>
                      <a:rPr lang="en-US" sz="800" i="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𝑤</m:t>
                        </m:r>
                      </m:e>
                      <m:sub>
                        <m:r>
                          <a:rPr lang="en-US" sz="800" i="0">
                            <a:latin typeface="Cambria Math" panose="02040503050406030204" pitchFamily="18" charset="0"/>
                          </a:rPr>
                          <m:t>4</m:t>
                        </m:r>
                      </m:sub>
                    </m:sSub>
                  </m:oMath>
                </a14:m>
                <a:r>
                  <a:rPr lang="en-US" sz="800" dirty="0">
                    <a:effectLst/>
                    <a:latin typeface="Arial" panose="020B0604020202020204" pitchFamily="34" charset="0"/>
                    <a:cs typeface="Arial" panose="020B0604020202020204" pitchFamily="34" charset="0"/>
                  </a:rPr>
                  <a:t>).</a:t>
                </a:r>
              </a:p>
              <a:p>
                <a:pPr marL="342900" lvl="0" indent="-342900">
                  <a:buFont typeface="Arial" panose="020B0604020202020204" pitchFamily="34" charset="0"/>
                  <a:buChar char="•"/>
                </a:pPr>
                <a:r>
                  <a:rPr lang="en-US" sz="800" dirty="0">
                    <a:effectLst/>
                    <a:latin typeface="Arial" panose="020B0604020202020204" pitchFamily="34" charset="0"/>
                    <a:cs typeface="Arial" panose="020B0604020202020204" pitchFamily="34" charset="0"/>
                  </a:rPr>
                  <a:t>Use these </a:t>
                </a:r>
                <a:r>
                  <a:rPr lang="en-US" sz="800" b="1" dirty="0">
                    <a:effectLst/>
                    <a:latin typeface="Arial" panose="020B0604020202020204" pitchFamily="34" charset="0"/>
                    <a:cs typeface="Arial" panose="020B0604020202020204" pitchFamily="34" charset="0"/>
                  </a:rPr>
                  <a:t>same four weights</a:t>
                </a:r>
                <a:r>
                  <a:rPr lang="en-US" sz="800" dirty="0">
                    <a:effectLst/>
                    <a:latin typeface="Arial" panose="020B0604020202020204" pitchFamily="34" charset="0"/>
                    <a:cs typeface="Arial" panose="020B0604020202020204" pitchFamily="34" charset="0"/>
                  </a:rPr>
                  <a:t> for all three cities:</a:t>
                </a:r>
              </a:p>
              <a:p>
                <a:pPr>
                  <a:buNone/>
                </a:pPr>
                <a14:m>
                  <m:oMathPara xmlns:m="http://schemas.openxmlformats.org/officeDocument/2006/math">
                    <m:oMath>
                      <m:r>
                        <a:rPr lang="en-US" sz="800" i="1" smtClean="0">
                          <a:latin typeface="Cambria Math" panose="02040503050406030204" pitchFamily="18" charset="0"/>
                        </a:rPr>
                        <m:t>𝑉</m:t>
                      </m:r>
                      <m:sSub>
                        <m:sSubPr>
                          <m:ctrlPr>
                            <a:rPr lang="en-US" sz="800" i="1">
                              <a:latin typeface="Cambria Math" panose="02040503050406030204" pitchFamily="18" charset="0"/>
                            </a:rPr>
                          </m:ctrlPr>
                        </m:sSubPr>
                        <m:e>
                          <m:r>
                            <a:rPr lang="en-US" sz="800" i="1">
                              <a:latin typeface="Cambria Math" panose="02040503050406030204" pitchFamily="18" charset="0"/>
                            </a:rPr>
                            <m:t>𝐼</m:t>
                          </m:r>
                        </m:e>
                        <m:sub>
                          <m:r>
                            <a:rPr lang="en-US" sz="800" i="1">
                              <a:latin typeface="Cambria Math" panose="02040503050406030204" pitchFamily="18" charset="0"/>
                            </a:rPr>
                            <m:t>𝑖𝑗</m:t>
                          </m:r>
                        </m:sub>
                      </m:sSub>
                      <m:r>
                        <a:rPr lang="en-US" sz="800" i="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𝑤</m:t>
                          </m:r>
                        </m:e>
                        <m:sub>
                          <m:r>
                            <a:rPr lang="en-US" sz="800" i="0">
                              <a:latin typeface="Cambria Math" panose="02040503050406030204" pitchFamily="18" charset="0"/>
                            </a:rPr>
                            <m:t>1</m:t>
                          </m:r>
                        </m:sub>
                      </m:sSub>
                      <m:r>
                        <a:rPr lang="en-US" sz="800" i="1">
                          <a:latin typeface="Cambria Math" panose="02040503050406030204" pitchFamily="18" charset="0"/>
                        </a:rPr>
                        <m:t>𝐼𝑛𝑐𝑜𝑚</m:t>
                      </m:r>
                      <m:sSub>
                        <m:sSubPr>
                          <m:ctrlPr>
                            <a:rPr lang="en-US" sz="800" i="1">
                              <a:latin typeface="Cambria Math" panose="02040503050406030204" pitchFamily="18" charset="0"/>
                            </a:rPr>
                          </m:ctrlPr>
                        </m:sSubPr>
                        <m:e>
                          <m:r>
                            <a:rPr lang="en-US" sz="800" i="1">
                              <a:latin typeface="Cambria Math" panose="02040503050406030204" pitchFamily="18" charset="0"/>
                            </a:rPr>
                            <m:t>𝑒</m:t>
                          </m:r>
                        </m:e>
                        <m:sub>
                          <m:r>
                            <a:rPr lang="en-US" sz="800" i="1">
                              <a:latin typeface="Cambria Math" panose="02040503050406030204" pitchFamily="18" charset="0"/>
                            </a:rPr>
                            <m:t>𝑖𝑗</m:t>
                          </m:r>
                        </m:sub>
                      </m:sSub>
                      <m:r>
                        <a:rPr lang="en-US" sz="800" i="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𝑤</m:t>
                          </m:r>
                        </m:e>
                        <m:sub>
                          <m:r>
                            <a:rPr lang="en-US" sz="800" i="0">
                              <a:latin typeface="Cambria Math" panose="02040503050406030204" pitchFamily="18" charset="0"/>
                            </a:rPr>
                            <m:t>2</m:t>
                          </m:r>
                        </m:sub>
                      </m:sSub>
                      <m:r>
                        <a:rPr lang="en-US" sz="800" i="1">
                          <a:latin typeface="Cambria Math" panose="02040503050406030204" pitchFamily="18" charset="0"/>
                        </a:rPr>
                        <m:t>𝑁𝑜𝑉𝑒ℎ𝑖𝑐𝑙</m:t>
                      </m:r>
                      <m:sSub>
                        <m:sSubPr>
                          <m:ctrlPr>
                            <a:rPr lang="en-US" sz="800" i="1">
                              <a:latin typeface="Cambria Math" panose="02040503050406030204" pitchFamily="18" charset="0"/>
                            </a:rPr>
                          </m:ctrlPr>
                        </m:sSubPr>
                        <m:e>
                          <m:r>
                            <a:rPr lang="en-US" sz="800" i="1">
                              <a:latin typeface="Cambria Math" panose="02040503050406030204" pitchFamily="18" charset="0"/>
                            </a:rPr>
                            <m:t>𝑒</m:t>
                          </m:r>
                        </m:e>
                        <m:sub>
                          <m:r>
                            <a:rPr lang="en-US" sz="800" i="1">
                              <a:latin typeface="Cambria Math" panose="02040503050406030204" pitchFamily="18" charset="0"/>
                            </a:rPr>
                            <m:t>𝑖𝑗</m:t>
                          </m:r>
                        </m:sub>
                      </m:sSub>
                      <m:r>
                        <a:rPr lang="en-US" sz="800" i="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𝑤</m:t>
                          </m:r>
                        </m:e>
                        <m:sub>
                          <m:r>
                            <a:rPr lang="en-US" sz="800" i="0">
                              <a:latin typeface="Cambria Math" panose="02040503050406030204" pitchFamily="18" charset="0"/>
                            </a:rPr>
                            <m:t>3</m:t>
                          </m:r>
                        </m:sub>
                      </m:sSub>
                      <m:r>
                        <a:rPr lang="en-US" sz="800" i="1">
                          <a:latin typeface="Cambria Math" panose="02040503050406030204" pitchFamily="18" charset="0"/>
                        </a:rPr>
                        <m:t>𝐷𝑖𝑠𝑎𝑏𝑖𝑙𝑖𝑡</m:t>
                      </m:r>
                      <m:sSub>
                        <m:sSubPr>
                          <m:ctrlPr>
                            <a:rPr lang="en-US" sz="800" i="1">
                              <a:latin typeface="Cambria Math" panose="02040503050406030204" pitchFamily="18" charset="0"/>
                            </a:rPr>
                          </m:ctrlPr>
                        </m:sSubPr>
                        <m:e>
                          <m:r>
                            <a:rPr lang="en-US" sz="800" i="1">
                              <a:latin typeface="Cambria Math" panose="02040503050406030204" pitchFamily="18" charset="0"/>
                            </a:rPr>
                            <m:t>𝑦</m:t>
                          </m:r>
                        </m:e>
                        <m:sub>
                          <m:r>
                            <a:rPr lang="en-US" sz="800" i="1">
                              <a:latin typeface="Cambria Math" panose="02040503050406030204" pitchFamily="18" charset="0"/>
                            </a:rPr>
                            <m:t>𝑖𝑗</m:t>
                          </m:r>
                        </m:sub>
                      </m:sSub>
                      <m:r>
                        <a:rPr lang="en-US" sz="800" i="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𝑤</m:t>
                          </m:r>
                        </m:e>
                        <m:sub>
                          <m:r>
                            <a:rPr lang="en-US" sz="800" i="0">
                              <a:latin typeface="Cambria Math" panose="02040503050406030204" pitchFamily="18" charset="0"/>
                            </a:rPr>
                            <m:t>4</m:t>
                          </m:r>
                        </m:sub>
                      </m:sSub>
                      <m:r>
                        <a:rPr lang="en-US" sz="800" i="1">
                          <a:latin typeface="Cambria Math" panose="02040503050406030204" pitchFamily="18" charset="0"/>
                        </a:rPr>
                        <m:t>𝐸𝑙𝑑𝑒𝑟𝑙</m:t>
                      </m:r>
                      <m:sSub>
                        <m:sSubPr>
                          <m:ctrlPr>
                            <a:rPr lang="en-US" sz="800" i="1">
                              <a:latin typeface="Cambria Math" panose="02040503050406030204" pitchFamily="18" charset="0"/>
                            </a:rPr>
                          </m:ctrlPr>
                        </m:sSubPr>
                        <m:e>
                          <m:r>
                            <a:rPr lang="en-US" sz="800" i="1">
                              <a:latin typeface="Cambria Math" panose="02040503050406030204" pitchFamily="18" charset="0"/>
                            </a:rPr>
                            <m:t>𝑦</m:t>
                          </m:r>
                        </m:e>
                        <m:sub>
                          <m:r>
                            <a:rPr lang="en-US" sz="800" i="1">
                              <a:latin typeface="Cambria Math" panose="02040503050406030204" pitchFamily="18" charset="0"/>
                            </a:rPr>
                            <m:t>𝑖𝑗</m:t>
                          </m:r>
                        </m:sub>
                      </m:sSub>
                    </m:oMath>
                  </m:oMathPara>
                </a14:m>
                <a:endParaRPr lang="en-US" sz="800" dirty="0">
                  <a:effectLst/>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sz="800" dirty="0">
                    <a:effectLst/>
                    <a:latin typeface="Arial" panose="020B0604020202020204" pitchFamily="34" charset="0"/>
                    <a:cs typeface="Arial" panose="020B0604020202020204" pitchFamily="34" charset="0"/>
                  </a:rPr>
                  <a:t>Calculate a separate </a:t>
                </a:r>
                <a14:m>
                  <m:oMath xmlns:m="http://schemas.openxmlformats.org/officeDocument/2006/math">
                    <m:r>
                      <a:rPr lang="en-US" sz="800" i="1" smtClean="0">
                        <a:latin typeface="Cambria Math" panose="02040503050406030204" pitchFamily="18" charset="0"/>
                      </a:rPr>
                      <m:t>𝑉</m:t>
                    </m:r>
                    <m:sSub>
                      <m:sSubPr>
                        <m:ctrlPr>
                          <a:rPr lang="en-US" sz="800" i="1">
                            <a:latin typeface="Cambria Math" panose="02040503050406030204" pitchFamily="18" charset="0"/>
                          </a:rPr>
                        </m:ctrlPr>
                      </m:sSubPr>
                      <m:e>
                        <m:r>
                          <a:rPr lang="en-US" sz="800" i="1">
                            <a:latin typeface="Cambria Math" panose="02040503050406030204" pitchFamily="18" charset="0"/>
                          </a:rPr>
                          <m:t>𝐼</m:t>
                        </m:r>
                      </m:e>
                      <m:sub>
                        <m:r>
                          <a:rPr lang="en-US" sz="800" i="1">
                            <a:latin typeface="Cambria Math" panose="02040503050406030204" pitchFamily="18" charset="0"/>
                          </a:rPr>
                          <m:t>𝑖𝑗</m:t>
                        </m:r>
                      </m:sub>
                    </m:sSub>
                  </m:oMath>
                </a14:m>
                <a:r>
                  <a:rPr lang="en-US" sz="800" dirty="0">
                    <a:effectLst/>
                    <a:latin typeface="Arial" panose="020B0604020202020204" pitchFamily="34" charset="0"/>
                    <a:cs typeface="Arial" panose="020B0604020202020204" pitchFamily="34" charset="0"/>
                  </a:rPr>
                  <a:t>for each of the 3,000 respondents.</a:t>
                </a:r>
              </a:p>
              <a:p>
                <a:pPr marL="342900" lvl="0" indent="-342900">
                  <a:buFont typeface="Arial" panose="020B0604020202020204" pitchFamily="34" charset="0"/>
                  <a:buChar char="•"/>
                </a:pPr>
                <a:r>
                  <a:rPr lang="en-US" sz="800" dirty="0">
                    <a:effectLst/>
                    <a:latin typeface="Arial" panose="020B0604020202020204" pitchFamily="34" charset="0"/>
                    <a:cs typeface="Arial" panose="020B0604020202020204" pitchFamily="34" charset="0"/>
                  </a:rPr>
                  <a:t>Thus, </a:t>
                </a:r>
                <a:r>
                  <a:rPr lang="en-US" sz="800" b="1" dirty="0">
                    <a:effectLst/>
                    <a:latin typeface="Arial" panose="020B0604020202020204" pitchFamily="34" charset="0"/>
                    <a:cs typeface="Arial" panose="020B0604020202020204" pitchFamily="34" charset="0"/>
                  </a:rPr>
                  <a:t>PCA weights are common across the three cities</a:t>
                </a:r>
                <a:r>
                  <a:rPr lang="en-US" sz="800" dirty="0">
                    <a:effectLst/>
                    <a:latin typeface="Arial" panose="020B0604020202020204" pitchFamily="34" charset="0"/>
                    <a:cs typeface="Arial" panose="020B0604020202020204" pitchFamily="34" charset="0"/>
                  </a:rPr>
                  <a:t>, while every respondent has their own VI value.</a:t>
                </a:r>
              </a:p>
            </p:txBody>
          </p:sp>
        </mc:Choice>
        <mc:Fallback>
          <p:sp>
            <p:nvSpPr>
              <p:cNvPr id="4" name="TextBox 3">
                <a:extLst>
                  <a:ext uri="{FF2B5EF4-FFF2-40B4-BE49-F238E27FC236}">
                    <a16:creationId xmlns:a16="http://schemas.microsoft.com/office/drawing/2014/main" id="{4D958BA8-099D-EA48-D603-6D2CB6BABC35}"/>
                  </a:ext>
                </a:extLst>
              </p:cNvPr>
              <p:cNvSpPr txBox="1">
                <a:spLocks noRot="1" noChangeAspect="1" noMove="1" noResize="1" noEditPoints="1" noAdjustHandles="1" noChangeArrowheads="1" noChangeShapeType="1" noTextEdit="1"/>
              </p:cNvSpPr>
              <p:nvPr/>
            </p:nvSpPr>
            <p:spPr>
              <a:xfrm>
                <a:off x="5459723" y="4723176"/>
                <a:ext cx="6237888" cy="1589666"/>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01357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4">
          <a:extLst>
            <a:ext uri="{FF2B5EF4-FFF2-40B4-BE49-F238E27FC236}">
              <a16:creationId xmlns:a16="http://schemas.microsoft.com/office/drawing/2014/main" id="{258F483B-3C95-CEC1-9128-5619276AC55A}"/>
            </a:ext>
          </a:extLst>
        </p:cNvPr>
        <p:cNvGrpSpPr/>
        <p:nvPr/>
      </p:nvGrpSpPr>
      <p:grpSpPr>
        <a:xfrm>
          <a:off x="0" y="0"/>
          <a:ext cx="0" cy="0"/>
          <a:chOff x="0" y="0"/>
          <a:chExt cx="0" cy="0"/>
        </a:xfrm>
      </p:grpSpPr>
      <p:sp>
        <p:nvSpPr>
          <p:cNvPr id="385" name="Google Shape;385;g3f556ffc7f3_3_7">
            <a:extLst>
              <a:ext uri="{FF2B5EF4-FFF2-40B4-BE49-F238E27FC236}">
                <a16:creationId xmlns:a16="http://schemas.microsoft.com/office/drawing/2014/main" id="{6218D7C2-C2B5-61F5-B8F7-9F2F9686A408}"/>
              </a:ext>
            </a:extLst>
          </p:cNvPr>
          <p:cNvSpPr txBox="1">
            <a:spLocks noGrp="1"/>
          </p:cNvSpPr>
          <p:nvPr>
            <p:ph type="title"/>
          </p:nvPr>
        </p:nvSpPr>
        <p:spPr>
          <a:xfrm>
            <a:off x="256032" y="225653"/>
            <a:ext cx="11284500" cy="433500"/>
          </a:xfrm>
          <a:prstGeom prst="rect">
            <a:avLst/>
          </a:prstGeom>
          <a:noFill/>
          <a:ln>
            <a:noFill/>
          </a:ln>
        </p:spPr>
        <p:txBody>
          <a:bodyPr spcFirstLastPara="1" wrap="square" lIns="0" tIns="45700" rIns="0" bIns="45700" anchor="t" anchorCtr="0">
            <a:normAutofit fontScale="90000"/>
          </a:bodyPr>
          <a:lstStyle/>
          <a:p>
            <a:pPr marL="0" lvl="0" indent="0" algn="l" rtl="0">
              <a:lnSpc>
                <a:spcPct val="100000"/>
              </a:lnSpc>
              <a:spcBef>
                <a:spcPts val="0"/>
              </a:spcBef>
              <a:spcAft>
                <a:spcPts val="0"/>
              </a:spcAft>
              <a:buClr>
                <a:schemeClr val="accent1"/>
              </a:buClr>
              <a:buSzPts val="2400"/>
              <a:buFont typeface="Calibri"/>
              <a:buNone/>
            </a:pPr>
            <a:r>
              <a:rPr lang="en-IN" dirty="0"/>
              <a:t>Expected Outputs from M1: </a:t>
            </a:r>
            <a:endParaRPr sz="1600" b="0" dirty="0">
              <a:solidFill>
                <a:srgbClr val="009CD8"/>
              </a:solidFill>
            </a:endParaRPr>
          </a:p>
        </p:txBody>
      </p:sp>
      <p:sp>
        <p:nvSpPr>
          <p:cNvPr id="386" name="Google Shape;386;g3f556ffc7f3_3_7">
            <a:extLst>
              <a:ext uri="{FF2B5EF4-FFF2-40B4-BE49-F238E27FC236}">
                <a16:creationId xmlns:a16="http://schemas.microsoft.com/office/drawing/2014/main" id="{C9F9B056-BC89-5FA6-986D-B7DD319883E2}"/>
              </a:ext>
            </a:extLst>
          </p:cNvPr>
          <p:cNvSpPr txBox="1"/>
          <p:nvPr/>
        </p:nvSpPr>
        <p:spPr>
          <a:xfrm>
            <a:off x="-276585" y="6235395"/>
            <a:ext cx="773100" cy="3651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600" b="0" i="0" u="none" strike="noStrike" cap="none">
                <a:solidFill>
                  <a:srgbClr val="888888"/>
                </a:solidFill>
                <a:latin typeface="Calibri"/>
                <a:ea typeface="Calibri"/>
                <a:cs typeface="Calibri"/>
                <a:sym typeface="Calibri"/>
              </a:rPr>
              <a:t>13</a:t>
            </a:fld>
            <a:r>
              <a:rPr lang="en-IN" sz="1600" b="0" i="0" u="none" strike="noStrike" cap="none">
                <a:solidFill>
                  <a:srgbClr val="888888"/>
                </a:solidFill>
                <a:latin typeface="Calibri"/>
                <a:ea typeface="Calibri"/>
                <a:cs typeface="Calibri"/>
                <a:sym typeface="Calibri"/>
              </a:rPr>
              <a:t>|</a:t>
            </a:r>
            <a:endParaRPr sz="1600" b="0" i="0" u="none" strike="noStrike" cap="none">
              <a:solidFill>
                <a:srgbClr val="888888"/>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93BEA83-2694-7104-7B1A-47D762F0D8B4}"/>
                  </a:ext>
                </a:extLst>
              </p:cNvPr>
              <p:cNvSpPr txBox="1"/>
              <p:nvPr/>
            </p:nvSpPr>
            <p:spPr>
              <a:xfrm>
                <a:off x="277298" y="867698"/>
                <a:ext cx="9460319" cy="5847883"/>
              </a:xfrm>
              <a:prstGeom prst="rect">
                <a:avLst/>
              </a:prstGeom>
              <a:noFill/>
            </p:spPr>
            <p:txBody>
              <a:bodyPr wrap="square">
                <a:spAutoFit/>
              </a:bodyPr>
              <a:lstStyle/>
              <a:p>
                <a:pPr>
                  <a:buNone/>
                </a:pPr>
                <a:r>
                  <a:rPr lang="en-US" b="1" dirty="0"/>
                  <a:t>Entire equation for the slide</a:t>
                </a:r>
              </a:p>
              <a:p>
                <a:pPr>
                  <a:buNone/>
                </a:pPr>
                <a14:m>
                  <m:oMathPara xmlns:m="http://schemas.openxmlformats.org/officeDocument/2006/math">
                    <m:oMath>
                      <m:borderBox>
                        <m:borderBoxPr>
                          <m:ctrlPr>
                            <a:rPr lang="en-US" i="1">
                              <a:latin typeface="Cambria Math" panose="02040503050406030204" pitchFamily="18" charset="0"/>
                            </a:rPr>
                          </m:ctrlPr>
                        </m:borderBoxPr>
                        <m:e>
                          <m:sSub>
                            <m:sSubPr>
                              <m:ctrlPr>
                                <a:rPr lang="en-US" i="1">
                                  <a:latin typeface="Cambria Math" panose="02040503050406030204" pitchFamily="18" charset="0"/>
                                </a:rPr>
                              </m:ctrlPr>
                            </m:sSubPr>
                            <m:e>
                              <m:r>
                                <a:rPr lang="en-US" i="1">
                                  <a:latin typeface="Cambria Math" panose="02040503050406030204" pitchFamily="18" charset="0"/>
                                </a:rPr>
                                <m:t>𝐵</m:t>
                              </m:r>
                            </m:e>
                            <m:sub>
                              <m:r>
                                <m:rPr>
                                  <m:nor/>
                                </m:rPr>
                                <a:rPr lang="en-US" b="0" i="0">
                                  <a:latin typeface="Cambria Math" panose="02040503050406030204" pitchFamily="18" charset="0"/>
                                </a:rPr>
                                <m:t>annual</m:t>
                              </m:r>
                            </m:sub>
                          </m:sSub>
                          <m:r>
                            <a:rPr lang="en-US" b="0" i="0">
                              <a:latin typeface="Cambria Math" panose="02040503050406030204" pitchFamily="18" charset="0"/>
                            </a:rPr>
                            <m:t>=</m:t>
                          </m:r>
                          <m:d>
                            <m:dPr>
                              <m:begChr m:val="["/>
                              <m:endChr m:val="]"/>
                              <m:ctrlPr>
                                <a:rPr lang="en-US" b="0" i="1">
                                  <a:latin typeface="Cambria Math" panose="02040503050406030204" pitchFamily="18" charset="0"/>
                                </a:rPr>
                              </m:ctrlPr>
                            </m:dPr>
                            <m:e>
                              <m:nary>
                                <m:naryPr>
                                  <m:chr m:val="∑"/>
                                  <m:grow m:val="on"/>
                                  <m:supHide m:val="on"/>
                                  <m:ctrlPr>
                                    <a:rPr lang="en-US" b="0" i="1">
                                      <a:latin typeface="Cambria Math" panose="02040503050406030204" pitchFamily="18" charset="0"/>
                                    </a:rPr>
                                  </m:ctrlPr>
                                </m:naryPr>
                                <m:sub>
                                  <m:r>
                                    <a:rPr lang="en-US" b="0" i="1">
                                      <a:latin typeface="Cambria Math" panose="02040503050406030204" pitchFamily="18" charset="0"/>
                                    </a:rPr>
                                    <m:t>𝑚</m:t>
                                  </m:r>
                                </m:sub>
                                <m:sup/>
                                <m:e>
                                  <m:d>
                                    <m:dPr>
                                      <m:ctrlPr>
                                        <a:rPr lang="en-US" b="0" i="1">
                                          <a:latin typeface="Cambria Math" panose="02040503050406030204" pitchFamily="18" charset="0"/>
                                        </a:rPr>
                                      </m:ctrlPr>
                                    </m:dPr>
                                    <m:e>
                                      <m:f>
                                        <m:fPr>
                                          <m:ctrlPr>
                                            <a:rPr lang="en-US" b="0" i="1">
                                              <a:latin typeface="Cambria Math" panose="02040503050406030204" pitchFamily="18" charset="0"/>
                                            </a:rPr>
                                          </m:ctrlPr>
                                        </m:fPr>
                                        <m:num>
                                          <m:r>
                                            <a:rPr lang="en-US" b="0" i="1">
                                              <a:latin typeface="Cambria Math" panose="02040503050406030204" pitchFamily="18" charset="0"/>
                                            </a:rPr>
                                            <m:t>𝑅</m:t>
                                          </m:r>
                                          <m:r>
                                            <a:rPr lang="en-US" b="0" i="0">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𝑑</m:t>
                                              </m:r>
                                            </m:e>
                                            <m:sub>
                                              <m:r>
                                                <a:rPr lang="en-US" b="0" i="1">
                                                  <a:latin typeface="Cambria Math" panose="02040503050406030204" pitchFamily="18" charset="0"/>
                                                </a:rPr>
                                                <m:t>𝑚</m:t>
                                              </m:r>
                                            </m:sub>
                                          </m:sSub>
                                        </m:num>
                                        <m:den>
                                          <m:sSub>
                                            <m:sSubPr>
                                              <m:ctrlPr>
                                                <a:rPr lang="en-US" b="0" i="1">
                                                  <a:latin typeface="Cambria Math" panose="02040503050406030204" pitchFamily="18" charset="0"/>
                                                </a:rPr>
                                              </m:ctrlPr>
                                            </m:sSubPr>
                                            <m:e>
                                              <m:r>
                                                <a:rPr lang="en-US" b="0" i="1">
                                                  <a:latin typeface="Cambria Math" panose="02040503050406030204" pitchFamily="18" charset="0"/>
                                                </a:rPr>
                                                <m:t>𝑂</m:t>
                                              </m:r>
                                            </m:e>
                                            <m:sub>
                                              <m:r>
                                                <a:rPr lang="en-US" b="0" i="1">
                                                  <a:latin typeface="Cambria Math" panose="02040503050406030204" pitchFamily="18" charset="0"/>
                                                </a:rPr>
                                                <m:t>𝑚</m:t>
                                              </m:r>
                                            </m:sub>
                                          </m:sSub>
                                        </m:den>
                                      </m:f>
                                      <m:r>
                                        <a:rPr lang="en-US" b="0" i="0">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𝐿</m:t>
                                          </m:r>
                                        </m:e>
                                        <m:sub>
                                          <m:r>
                                            <a:rPr lang="en-US" b="0" i="1">
                                              <a:latin typeface="Cambria Math" panose="02040503050406030204" pitchFamily="18" charset="0"/>
                                            </a:rPr>
                                            <m:t>𝑚</m:t>
                                          </m:r>
                                        </m:sub>
                                      </m:sSub>
                                      <m:r>
                                        <a:rPr lang="en-US" b="0" i="0">
                                          <a:latin typeface="Cambria Math" panose="02040503050406030204" pitchFamily="18" charset="0"/>
                                        </a:rPr>
                                        <m:t>×</m:t>
                                      </m:r>
                                      <m:r>
                                        <a:rPr lang="en-US" b="0" i="1">
                                          <a:latin typeface="Cambria Math" panose="02040503050406030204" pitchFamily="18" charset="0"/>
                                        </a:rPr>
                                        <m:t>𝑃𝐶</m:t>
                                      </m:r>
                                      <m:sSub>
                                        <m:sSubPr>
                                          <m:ctrlPr>
                                            <a:rPr lang="en-US" b="0" i="1">
                                              <a:latin typeface="Cambria Math" panose="02040503050406030204" pitchFamily="18" charset="0"/>
                                            </a:rPr>
                                          </m:ctrlPr>
                                        </m:sSubPr>
                                        <m:e>
                                          <m:r>
                                            <a:rPr lang="en-US" b="0" i="1">
                                              <a:latin typeface="Cambria Math" panose="02040503050406030204" pitchFamily="18" charset="0"/>
                                            </a:rPr>
                                            <m:t>𝑈</m:t>
                                          </m:r>
                                        </m:e>
                                        <m:sub>
                                          <m:r>
                                            <a:rPr lang="en-US" b="0" i="1">
                                              <a:latin typeface="Cambria Math" panose="02040503050406030204" pitchFamily="18" charset="0"/>
                                            </a:rPr>
                                            <m:t>𝑚</m:t>
                                          </m:r>
                                        </m:sub>
                                      </m:sSub>
                                    </m:e>
                                  </m:d>
                                </m:e>
                              </m:nary>
                              <m:r>
                                <a:rPr lang="en-US" b="0" i="0">
                                  <a:latin typeface="Cambria Math" panose="02040503050406030204" pitchFamily="18" charset="0"/>
                                </a:rPr>
                                <m:t>−</m:t>
                              </m:r>
                              <m:d>
                                <m:dPr>
                                  <m:ctrlPr>
                                    <a:rPr lang="en-US" b="0" i="1">
                                      <a:latin typeface="Cambria Math" panose="02040503050406030204" pitchFamily="18" charset="0"/>
                                    </a:rPr>
                                  </m:ctrlPr>
                                </m:dPr>
                                <m:e>
                                  <m:r>
                                    <a:rPr lang="en-US" b="0" i="1">
                                      <a:latin typeface="Cambria Math" panose="02040503050406030204" pitchFamily="18" charset="0"/>
                                    </a:rPr>
                                    <m:t>𝑉𝐾</m:t>
                                  </m:r>
                                  <m:sSub>
                                    <m:sSubPr>
                                      <m:ctrlPr>
                                        <a:rPr lang="en-US" b="0" i="1">
                                          <a:latin typeface="Cambria Math" panose="02040503050406030204" pitchFamily="18" charset="0"/>
                                        </a:rPr>
                                      </m:ctrlPr>
                                    </m:sSubPr>
                                    <m:e>
                                      <m:r>
                                        <a:rPr lang="en-US" b="0" i="1">
                                          <a:latin typeface="Cambria Math" panose="02040503050406030204" pitchFamily="18" charset="0"/>
                                        </a:rPr>
                                        <m:t>𝑇</m:t>
                                      </m:r>
                                    </m:e>
                                    <m:sub>
                                      <m:r>
                                        <m:rPr>
                                          <m:nor/>
                                        </m:rPr>
                                        <a:rPr lang="en-US" b="0" i="0">
                                          <a:latin typeface="Cambria Math" panose="02040503050406030204" pitchFamily="18" charset="0"/>
                                        </a:rPr>
                                        <m:t>bus</m:t>
                                      </m:r>
                                    </m:sub>
                                  </m:sSub>
                                  <m:r>
                                    <a:rPr lang="en-US" b="0" i="0">
                                      <a:latin typeface="Cambria Math" panose="02040503050406030204" pitchFamily="18" charset="0"/>
                                    </a:rPr>
                                    <m:t>×</m:t>
                                  </m:r>
                                  <m:r>
                                    <a:rPr lang="en-US" b="0" i="1">
                                      <a:latin typeface="Cambria Math" panose="02040503050406030204" pitchFamily="18" charset="0"/>
                                    </a:rPr>
                                    <m:t>𝑃𝐶</m:t>
                                  </m:r>
                                  <m:sSub>
                                    <m:sSubPr>
                                      <m:ctrlPr>
                                        <a:rPr lang="en-US" b="0" i="1">
                                          <a:latin typeface="Cambria Math" panose="02040503050406030204" pitchFamily="18" charset="0"/>
                                        </a:rPr>
                                      </m:ctrlPr>
                                    </m:sSubPr>
                                    <m:e>
                                      <m:r>
                                        <a:rPr lang="en-US" b="0" i="1">
                                          <a:latin typeface="Cambria Math" panose="02040503050406030204" pitchFamily="18" charset="0"/>
                                        </a:rPr>
                                        <m:t>𝑈</m:t>
                                      </m:r>
                                    </m:e>
                                    <m:sub>
                                      <m:r>
                                        <m:rPr>
                                          <m:nor/>
                                        </m:rPr>
                                        <a:rPr lang="en-US" b="0" i="0">
                                          <a:latin typeface="Cambria Math" panose="02040503050406030204" pitchFamily="18" charset="0"/>
                                        </a:rPr>
                                        <m:t>bus</m:t>
                                      </m:r>
                                    </m:sub>
                                  </m:sSub>
                                </m:e>
                              </m:d>
                            </m:e>
                          </m:d>
                          <m:r>
                            <a:rPr lang="en-US" b="0" i="0">
                              <a:latin typeface="Cambria Math" panose="02040503050406030204" pitchFamily="18" charset="0"/>
                            </a:rPr>
                            <m:t>×</m:t>
                          </m:r>
                          <m:r>
                            <a:rPr lang="en-US" b="0" i="1">
                              <a:latin typeface="Cambria Math" panose="02040503050406030204" pitchFamily="18" charset="0"/>
                            </a:rPr>
                            <m:t>𝑀𝐸𝐶𝐶</m:t>
                          </m:r>
                          <m:r>
                            <a:rPr lang="en-US" b="0" i="0">
                              <a:latin typeface="Cambria Math" panose="02040503050406030204" pitchFamily="18" charset="0"/>
                            </a:rPr>
                            <m:t>×</m:t>
                          </m:r>
                          <m:r>
                            <a:rPr lang="en-US" b="0" i="1">
                              <a:latin typeface="Cambria Math" panose="02040503050406030204" pitchFamily="18" charset="0"/>
                            </a:rPr>
                            <m:t>𝐷</m:t>
                          </m:r>
                        </m:e>
                      </m:borderBox>
                    </m:oMath>
                  </m:oMathPara>
                </a14:m>
                <a:endParaRPr lang="en-US" b="0" dirty="0"/>
              </a:p>
              <a:p>
                <a:pPr>
                  <a:buNone/>
                </a:pPr>
                <a:endParaRPr lang="en-US" b="0" dirty="0"/>
              </a:p>
              <a:p>
                <a:pPr>
                  <a:buNone/>
                </a:pPr>
                <a:r>
                  <a:rPr lang="en-US" b="1" dirty="0"/>
                  <a:t>Meaning of each term</a:t>
                </a:r>
              </a:p>
              <a:p>
                <a:pPr marL="342900" lvl="0" indent="-34290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𝐵</m:t>
                        </m:r>
                      </m:e>
                      <m:sub>
                        <m:r>
                          <m:rPr>
                            <m:nor/>
                          </m:rPr>
                          <a:rPr lang="en-US" b="0" i="0">
                            <a:latin typeface="Cambria Math" panose="02040503050406030204" pitchFamily="18" charset="0"/>
                          </a:rPr>
                          <m:t>annual</m:t>
                        </m:r>
                      </m:sub>
                    </m:sSub>
                  </m:oMath>
                </a14:m>
                <a:r>
                  <a:rPr lang="en-US" dirty="0"/>
                  <a:t>= annual decongestion benefit, ₹/year </a:t>
                </a:r>
              </a:p>
              <a:p>
                <a:pPr marL="342900" lvl="0" indent="-342900">
                  <a:buFont typeface="Arial" panose="020B0604020202020204" pitchFamily="34" charset="0"/>
                  <a:buChar char="•"/>
                </a:pPr>
                <a14:m>
                  <m:oMath xmlns:m="http://schemas.openxmlformats.org/officeDocument/2006/math">
                    <m:r>
                      <a:rPr lang="en-US" i="1">
                        <a:latin typeface="Cambria Math" panose="02040503050406030204" pitchFamily="18" charset="0"/>
                      </a:rPr>
                      <m:t>𝑅</m:t>
                    </m:r>
                  </m:oMath>
                </a14:m>
                <a:r>
                  <a:rPr lang="en-US" dirty="0"/>
                  <a:t>= total daily bus ridership </a:t>
                </a:r>
              </a:p>
              <a:p>
                <a:pPr marL="342900" lvl="0" indent="-34290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𝑚</m:t>
                        </m:r>
                      </m:sub>
                    </m:sSub>
                  </m:oMath>
                </a14:m>
                <a:r>
                  <a:rPr lang="en-US" dirty="0"/>
                  <a:t>= proportion of bus passengers shifted from mode </a:t>
                </a:r>
                <a14:m>
                  <m:oMath xmlns:m="http://schemas.openxmlformats.org/officeDocument/2006/math">
                    <m:r>
                      <a:rPr lang="en-US" i="1">
                        <a:latin typeface="Cambria Math" panose="02040503050406030204" pitchFamily="18" charset="0"/>
                      </a:rPr>
                      <m:t>𝑚</m:t>
                    </m:r>
                  </m:oMath>
                </a14:m>
                <a:endParaRPr lang="en-US" dirty="0"/>
              </a:p>
              <a:p>
                <a:pPr marL="342900" lvl="0" indent="-342900">
                  <a:buFont typeface="Arial" panose="020B0604020202020204" pitchFamily="34" charset="0"/>
                  <a:buChar char="•"/>
                </a:pPr>
                <a14:m>
                  <m:oMath xmlns:m="http://schemas.openxmlformats.org/officeDocument/2006/math">
                    <m:r>
                      <a:rPr lang="en-US" i="1">
                        <a:latin typeface="Cambria Math" panose="02040503050406030204" pitchFamily="18" charset="0"/>
                      </a:rPr>
                      <m:t>𝑚</m:t>
                    </m:r>
                  </m:oMath>
                </a14:m>
                <a:r>
                  <a:rPr lang="en-US" dirty="0"/>
                  <a:t>= car, two-wheeler, auto-rickshaw, taxi, etc. </a:t>
                </a:r>
              </a:p>
              <a:p>
                <a:pPr marL="342900" lvl="0" indent="-34290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𝑚</m:t>
                        </m:r>
                      </m:sub>
                    </m:sSub>
                  </m:oMath>
                </a14:m>
                <a:r>
                  <a:rPr lang="en-US" dirty="0"/>
                  <a:t>= average occupancy of mode </a:t>
                </a:r>
                <a14:m>
                  <m:oMath xmlns:m="http://schemas.openxmlformats.org/officeDocument/2006/math">
                    <m:r>
                      <a:rPr lang="en-US" i="1">
                        <a:latin typeface="Cambria Math" panose="02040503050406030204" pitchFamily="18" charset="0"/>
                      </a:rPr>
                      <m:t>𝑚</m:t>
                    </m:r>
                  </m:oMath>
                </a14:m>
                <a:r>
                  <a:rPr lang="en-US" dirty="0"/>
                  <a:t>, persons/vehicle </a:t>
                </a:r>
              </a:p>
              <a:p>
                <a:pPr marL="342900" lvl="0" indent="-34290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𝑚</m:t>
                        </m:r>
                      </m:sub>
                    </m:sSub>
                  </m:oMath>
                </a14:m>
                <a:r>
                  <a:rPr lang="en-US" dirty="0"/>
                  <a:t>= average trip length for mode </a:t>
                </a:r>
                <a14:m>
                  <m:oMath xmlns:m="http://schemas.openxmlformats.org/officeDocument/2006/math">
                    <m:r>
                      <a:rPr lang="en-US" i="1">
                        <a:latin typeface="Cambria Math" panose="02040503050406030204" pitchFamily="18" charset="0"/>
                      </a:rPr>
                      <m:t>𝑚</m:t>
                    </m:r>
                  </m:oMath>
                </a14:m>
                <a:r>
                  <a:rPr lang="en-US" dirty="0"/>
                  <a:t>, km </a:t>
                </a:r>
              </a:p>
              <a:p>
                <a:pPr marL="342900" lvl="0" indent="-342900">
                  <a:buFont typeface="Arial" panose="020B0604020202020204" pitchFamily="34" charset="0"/>
                  <a:buChar char="•"/>
                </a:pPr>
                <a14:m>
                  <m:oMath xmlns:m="http://schemas.openxmlformats.org/officeDocument/2006/math">
                    <m:r>
                      <a:rPr lang="en-US" i="1">
                        <a:latin typeface="Cambria Math" panose="02040503050406030204" pitchFamily="18" charset="0"/>
                      </a:rPr>
                      <m:t>𝑃𝐶</m:t>
                    </m:r>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𝑚</m:t>
                        </m:r>
                      </m:sub>
                    </m:sSub>
                  </m:oMath>
                </a14:m>
                <a:r>
                  <a:rPr lang="en-US" dirty="0"/>
                  <a:t>= Passenger Car Unit factor for mode </a:t>
                </a:r>
                <a14:m>
                  <m:oMath xmlns:m="http://schemas.openxmlformats.org/officeDocument/2006/math">
                    <m:r>
                      <a:rPr lang="en-US" i="1">
                        <a:latin typeface="Cambria Math" panose="02040503050406030204" pitchFamily="18" charset="0"/>
                      </a:rPr>
                      <m:t>𝑚</m:t>
                    </m:r>
                  </m:oMath>
                </a14:m>
                <a:endParaRPr lang="en-US" dirty="0"/>
              </a:p>
              <a:p>
                <a:pPr marL="342900" lvl="0" indent="-342900">
                  <a:buFont typeface="Arial" panose="020B0604020202020204" pitchFamily="34" charset="0"/>
                  <a:buChar char="•"/>
                </a:pPr>
                <a14:m>
                  <m:oMath xmlns:m="http://schemas.openxmlformats.org/officeDocument/2006/math">
                    <m:r>
                      <a:rPr lang="en-US" i="1">
                        <a:latin typeface="Cambria Math" panose="02040503050406030204" pitchFamily="18" charset="0"/>
                      </a:rPr>
                      <m:t>𝑉𝐾</m:t>
                    </m:r>
                    <m:sSub>
                      <m:sSubPr>
                        <m:ctrlPr>
                          <a:rPr lang="en-US" i="1">
                            <a:latin typeface="Cambria Math" panose="02040503050406030204" pitchFamily="18" charset="0"/>
                          </a:rPr>
                        </m:ctrlPr>
                      </m:sSubPr>
                      <m:e>
                        <m:r>
                          <a:rPr lang="en-US" i="1">
                            <a:latin typeface="Cambria Math" panose="02040503050406030204" pitchFamily="18" charset="0"/>
                          </a:rPr>
                          <m:t>𝑇</m:t>
                        </m:r>
                      </m:e>
                      <m:sub>
                        <m:r>
                          <m:rPr>
                            <m:nor/>
                          </m:rPr>
                          <a:rPr lang="en-US" b="0" i="0">
                            <a:latin typeface="Cambria Math" panose="02040503050406030204" pitchFamily="18" charset="0"/>
                          </a:rPr>
                          <m:t>bus</m:t>
                        </m:r>
                      </m:sub>
                    </m:sSub>
                  </m:oMath>
                </a14:m>
                <a:r>
                  <a:rPr lang="en-US" dirty="0"/>
                  <a:t>= total bus </a:t>
                </a:r>
                <a:r>
                  <a:rPr lang="en-US" dirty="0" err="1"/>
                  <a:t>kilometres</a:t>
                </a:r>
                <a:r>
                  <a:rPr lang="en-US" dirty="0"/>
                  <a:t> operated per day </a:t>
                </a:r>
              </a:p>
              <a:p>
                <a:pPr marL="342900" lvl="0" indent="-342900">
                  <a:buFont typeface="Arial" panose="020B0604020202020204" pitchFamily="34" charset="0"/>
                  <a:buChar char="•"/>
                </a:pPr>
                <a14:m>
                  <m:oMath xmlns:m="http://schemas.openxmlformats.org/officeDocument/2006/math">
                    <m:r>
                      <a:rPr lang="en-US" i="1">
                        <a:latin typeface="Cambria Math" panose="02040503050406030204" pitchFamily="18" charset="0"/>
                      </a:rPr>
                      <m:t>𝑃𝐶</m:t>
                    </m:r>
                    <m:sSub>
                      <m:sSubPr>
                        <m:ctrlPr>
                          <a:rPr lang="en-US" i="1">
                            <a:latin typeface="Cambria Math" panose="02040503050406030204" pitchFamily="18" charset="0"/>
                          </a:rPr>
                        </m:ctrlPr>
                      </m:sSubPr>
                      <m:e>
                        <m:r>
                          <a:rPr lang="en-US" i="1">
                            <a:latin typeface="Cambria Math" panose="02040503050406030204" pitchFamily="18" charset="0"/>
                          </a:rPr>
                          <m:t>𝑈</m:t>
                        </m:r>
                      </m:e>
                      <m:sub>
                        <m:r>
                          <m:rPr>
                            <m:nor/>
                          </m:rPr>
                          <a:rPr lang="en-US" b="0" i="0">
                            <a:latin typeface="Cambria Math" panose="02040503050406030204" pitchFamily="18" charset="0"/>
                          </a:rPr>
                          <m:t>bus</m:t>
                        </m:r>
                      </m:sub>
                    </m:sSub>
                  </m:oMath>
                </a14:m>
                <a:r>
                  <a:rPr lang="en-US" dirty="0"/>
                  <a:t>= Passenger Car Unit factor for buses </a:t>
                </a:r>
              </a:p>
              <a:p>
                <a:pPr marL="342900" lvl="0" indent="-342900">
                  <a:buFont typeface="Arial" panose="020B0604020202020204" pitchFamily="34" charset="0"/>
                  <a:buChar char="•"/>
                </a:pPr>
                <a14:m>
                  <m:oMath xmlns:m="http://schemas.openxmlformats.org/officeDocument/2006/math">
                    <m:r>
                      <a:rPr lang="en-US" i="1">
                        <a:latin typeface="Cambria Math" panose="02040503050406030204" pitchFamily="18" charset="0"/>
                      </a:rPr>
                      <m:t>𝑀𝐸𝐶𝐶</m:t>
                    </m:r>
                  </m:oMath>
                </a14:m>
                <a:r>
                  <a:rPr lang="en-US" dirty="0"/>
                  <a:t>= Marginal External Congestion Cost, ₹/PCU-km </a:t>
                </a:r>
              </a:p>
              <a:p>
                <a:pPr marL="342900" lvl="0" indent="-342900">
                  <a:buFont typeface="Arial" panose="020B0604020202020204" pitchFamily="34" charset="0"/>
                  <a:buChar char="•"/>
                </a:pPr>
                <a14:m>
                  <m:oMath xmlns:m="http://schemas.openxmlformats.org/officeDocument/2006/math">
                    <m:r>
                      <a:rPr lang="en-US" i="1">
                        <a:latin typeface="Cambria Math" panose="02040503050406030204" pitchFamily="18" charset="0"/>
                      </a:rPr>
                      <m:t>𝐷</m:t>
                    </m:r>
                  </m:oMath>
                </a14:m>
                <a:r>
                  <a:rPr lang="en-US" dirty="0"/>
                  <a:t>= bus operating days per year </a:t>
                </a:r>
              </a:p>
              <a:p>
                <a:pPr marL="342900" lvl="0" indent="-342900">
                  <a:buFont typeface="Arial" panose="020B0604020202020204" pitchFamily="34" charset="0"/>
                  <a:buChar char="•"/>
                </a:pP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m:t>
                        </m:r>
                      </m:e>
                      <m:sub>
                        <m:r>
                          <m:rPr>
                            <m:sty m:val="p"/>
                          </m:rPr>
                          <a:rPr lang="en-US" b="0" i="1" smtClean="0">
                            <a:latin typeface="Cambria Math" panose="02040503050406030204" pitchFamily="18" charset="0"/>
                          </a:rPr>
                          <m:t>m</m:t>
                        </m:r>
                      </m:sub>
                    </m:sSub>
                  </m:oMath>
                </a14:m>
                <a:r>
                  <a:rPr lang="en-US" dirty="0"/>
                  <a:t>= calculate separately for car, two-wheeler, auto, etc., and add them </a:t>
                </a:r>
              </a:p>
              <a:p>
                <a:pPr marL="342900" lvl="0" indent="-342900">
                  <a:buFont typeface="Arial" panose="020B0604020202020204" pitchFamily="34" charset="0"/>
                  <a:buChar char="•"/>
                </a:pPr>
                <a:endParaRPr lang="en-US" dirty="0"/>
              </a:p>
              <a:p>
                <a:pPr>
                  <a:buNone/>
                </a:pPr>
                <a:r>
                  <a:rPr lang="en-US" b="1" dirty="0"/>
                  <a:t>Slide-friendly wording</a:t>
                </a:r>
              </a:p>
              <a:p>
                <a:pPr>
                  <a:buNone/>
                </a:pPr>
                <a14:m>
                  <m:oMathPara xmlns:m="http://schemas.openxmlformats.org/officeDocument/2006/math">
                    <m:oMath>
                      <m:borderBox>
                        <m:borderBoxPr>
                          <m:ctrlPr>
                            <a:rPr lang="en-US" b="0" i="0"/>
                          </m:ctrlPr>
                        </m:borderBoxPr>
                        <m:e>
                          <m:r>
                            <m:rPr>
                              <m:nor/>
                            </m:rPr>
                            <a:rPr lang="en-US" b="0" i="0"/>
                            <m:t>Annual Decongestion Benefit</m:t>
                          </m:r>
                          <m:r>
                            <a:rPr lang="en-US" b="0" i="0">
                              <a:latin typeface="Cambria Math" panose="02040503050406030204" pitchFamily="18" charset="0"/>
                            </a:rPr>
                            <m:t>=</m:t>
                          </m:r>
                          <m:d>
                            <m:dPr>
                              <m:begChr m:val="["/>
                              <m:endChr m:val="]"/>
                              <m:ctrlPr>
                                <a:rPr lang="en-US" b="0" i="0">
                                  <a:latin typeface="Cambria Math" panose="02040503050406030204" pitchFamily="18" charset="0"/>
                                </a:rPr>
                              </m:ctrlPr>
                            </m:dPr>
                            <m:e>
                              <m:r>
                                <m:rPr>
                                  <m:nor/>
                                </m:rPr>
                                <a:rPr lang="en-US" b="0" i="0">
                                  <a:latin typeface="Cambria Math" panose="02040503050406030204" pitchFamily="18" charset="0"/>
                                </a:rPr>
                                <m:t>Private PCU−km Avoided</m:t>
                              </m:r>
                              <m:r>
                                <a:rPr lang="en-US" b="0" i="0">
                                  <a:latin typeface="Cambria Math" panose="02040503050406030204" pitchFamily="18" charset="0"/>
                                </a:rPr>
                                <m:t>−</m:t>
                              </m:r>
                              <m:r>
                                <m:rPr>
                                  <m:nor/>
                                </m:rPr>
                                <a:rPr lang="en-US" b="0" i="0">
                                  <a:latin typeface="Cambria Math" panose="02040503050406030204" pitchFamily="18" charset="0"/>
                                </a:rPr>
                                <m:t>Bus PCU−km Operated</m:t>
                              </m:r>
                            </m:e>
                          </m:d>
                          <m:r>
                            <a:rPr lang="en-US" b="0" i="0">
                              <a:latin typeface="Cambria Math" panose="02040503050406030204" pitchFamily="18" charset="0"/>
                            </a:rPr>
                            <m:t>×</m:t>
                          </m:r>
                          <m:r>
                            <a:rPr lang="en-US" b="0" i="1">
                              <a:latin typeface="Cambria Math" panose="02040503050406030204" pitchFamily="18" charset="0"/>
                            </a:rPr>
                            <m:t>𝑀𝐸𝐶𝐶</m:t>
                          </m:r>
                          <m:r>
                            <a:rPr lang="en-US" b="0" i="0">
                              <a:latin typeface="Cambria Math" panose="02040503050406030204" pitchFamily="18" charset="0"/>
                            </a:rPr>
                            <m:t>×</m:t>
                          </m:r>
                          <m:r>
                            <m:rPr>
                              <m:nor/>
                            </m:rPr>
                            <a:rPr lang="en-US" b="0" i="0">
                              <a:latin typeface="Cambria Math" panose="02040503050406030204" pitchFamily="18" charset="0"/>
                            </a:rPr>
                            <m:t>Operating Days</m:t>
                          </m:r>
                        </m:e>
                      </m:borderBox>
                    </m:oMath>
                  </m:oMathPara>
                </a14:m>
                <a:endParaRPr lang="en-US" b="0" dirty="0"/>
              </a:p>
              <a:p>
                <a:pPr>
                  <a:buNone/>
                </a:pPr>
                <a:endParaRPr lang="en-US" dirty="0"/>
              </a:p>
              <a:p>
                <a:pPr>
                  <a:buNone/>
                </a:pPr>
                <a:r>
                  <a:rPr lang="en-US" dirty="0"/>
                  <a:t>This expands the four calculation stages presented in the Model 1 decongestion framework. </a:t>
                </a:r>
              </a:p>
              <a:p>
                <a:pPr>
                  <a:buNone/>
                </a:pPr>
                <a:br>
                  <a:rPr lang="en-US" dirty="0"/>
                </a:br>
                <a:endParaRPr lang="en-US" dirty="0"/>
              </a:p>
            </p:txBody>
          </p:sp>
        </mc:Choice>
        <mc:Fallback xmlns="">
          <p:sp>
            <p:nvSpPr>
              <p:cNvPr id="3" name="TextBox 2">
                <a:extLst>
                  <a:ext uri="{FF2B5EF4-FFF2-40B4-BE49-F238E27FC236}">
                    <a16:creationId xmlns:a16="http://schemas.microsoft.com/office/drawing/2014/main" id="{5423BB1D-7B92-C47B-B789-B0228332EBF2}"/>
                  </a:ext>
                </a:extLst>
              </p:cNvPr>
              <p:cNvSpPr txBox="1">
                <a:spLocks noRot="1" noChangeAspect="1" noMove="1" noResize="1" noEditPoints="1" noAdjustHandles="1" noChangeArrowheads="1" noChangeShapeType="1" noTextEdit="1"/>
              </p:cNvSpPr>
              <p:nvPr/>
            </p:nvSpPr>
            <p:spPr>
              <a:xfrm>
                <a:off x="277298" y="867698"/>
                <a:ext cx="9460319" cy="5847883"/>
              </a:xfrm>
              <a:prstGeom prst="rect">
                <a:avLst/>
              </a:prstGeom>
              <a:blipFill>
                <a:blip r:embed="rId3"/>
                <a:stretch>
                  <a:fillRect l="-134" t="-14100"/>
                </a:stretch>
              </a:blipFill>
            </p:spPr>
            <p:txBody>
              <a:bodyPr/>
              <a:lstStyle/>
              <a:p>
                <a:r>
                  <a:rPr lang="en-US">
                    <a:noFill/>
                  </a:rPr>
                  <a:t> </a:t>
                </a:r>
              </a:p>
            </p:txBody>
          </p:sp>
        </mc:Fallback>
      </mc:AlternateContent>
    </p:spTree>
    <p:extLst>
      <p:ext uri="{BB962C8B-B14F-4D97-AF65-F5344CB8AC3E}">
        <p14:creationId xmlns:p14="http://schemas.microsoft.com/office/powerpoint/2010/main" val="22145248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g3f8175270f4_5_1"/>
          <p:cNvSpPr txBox="1">
            <a:spLocks noGrp="1"/>
          </p:cNvSpPr>
          <p:nvPr>
            <p:ph type="title"/>
          </p:nvPr>
        </p:nvSpPr>
        <p:spPr>
          <a:xfrm>
            <a:off x="256032" y="225653"/>
            <a:ext cx="11284500" cy="465463"/>
          </a:xfrm>
          <a:prstGeom prst="rect">
            <a:avLst/>
          </a:prstGeom>
          <a:noFill/>
          <a:ln>
            <a:noFill/>
          </a:ln>
        </p:spPr>
        <p:txBody>
          <a:bodyPr spcFirstLastPara="1" wrap="square" lIns="0" tIns="45700" rIns="0" bIns="45700" anchor="t" anchorCtr="0">
            <a:normAutofit/>
          </a:bodyPr>
          <a:lstStyle/>
          <a:p>
            <a:pPr marL="0" lvl="0" indent="0" algn="l" rtl="0">
              <a:lnSpc>
                <a:spcPct val="100000"/>
              </a:lnSpc>
              <a:spcBef>
                <a:spcPts val="0"/>
              </a:spcBef>
              <a:spcAft>
                <a:spcPts val="0"/>
              </a:spcAft>
              <a:buClr>
                <a:schemeClr val="accent1"/>
              </a:buClr>
              <a:buSzPts val="2400"/>
              <a:buFont typeface="Calibri"/>
              <a:buNone/>
            </a:pPr>
            <a:r>
              <a:rPr lang="en-IN"/>
              <a:t>Expected Outputs from M2: Active Travel</a:t>
            </a:r>
            <a:endParaRPr sz="1600" b="0">
              <a:solidFill>
                <a:srgbClr val="009CD8"/>
              </a:solidFill>
            </a:endParaRPr>
          </a:p>
        </p:txBody>
      </p:sp>
      <p:sp>
        <p:nvSpPr>
          <p:cNvPr id="230" name="Google Shape;230;g3f8175270f4_5_1"/>
          <p:cNvSpPr txBox="1"/>
          <p:nvPr/>
        </p:nvSpPr>
        <p:spPr>
          <a:xfrm>
            <a:off x="-276585" y="6235395"/>
            <a:ext cx="773100" cy="3651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600" b="0" i="0" u="none" strike="noStrike" cap="none">
                <a:solidFill>
                  <a:srgbClr val="888888"/>
                </a:solidFill>
                <a:latin typeface="Calibri"/>
                <a:ea typeface="Calibri"/>
                <a:cs typeface="Calibri"/>
                <a:sym typeface="Calibri"/>
              </a:rPr>
              <a:t>14</a:t>
            </a:fld>
            <a:r>
              <a:rPr lang="en-IN" sz="1600" b="0" i="0" u="none" strike="noStrike" cap="none">
                <a:solidFill>
                  <a:srgbClr val="888888"/>
                </a:solidFill>
                <a:latin typeface="Calibri"/>
                <a:ea typeface="Calibri"/>
                <a:cs typeface="Calibri"/>
                <a:sym typeface="Calibri"/>
              </a:rPr>
              <a:t>|</a:t>
            </a:r>
            <a:endParaRPr sz="1600" b="0" i="0" u="none" strike="noStrike" cap="none">
              <a:solidFill>
                <a:srgbClr val="888888"/>
              </a:solidFill>
              <a:latin typeface="Calibri"/>
              <a:ea typeface="Calibri"/>
              <a:cs typeface="Calibri"/>
              <a:sym typeface="Calibri"/>
            </a:endParaRPr>
          </a:p>
        </p:txBody>
      </p:sp>
      <p:sp>
        <p:nvSpPr>
          <p:cNvPr id="231" name="Google Shape;231;g3f8175270f4_5_1"/>
          <p:cNvSpPr txBox="1"/>
          <p:nvPr/>
        </p:nvSpPr>
        <p:spPr>
          <a:xfrm>
            <a:off x="256032" y="853677"/>
            <a:ext cx="6235994" cy="2328073"/>
          </a:xfrm>
          <a:prstGeom prst="rect">
            <a:avLst/>
          </a:prstGeom>
          <a:blipFill rotWithShape="1">
            <a:blip r:embed="rId3">
              <a:alphaModFix/>
            </a:blip>
            <a:stretch>
              <a:fillRect l="-610" t="-1087" b="-217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IN" sz="1400" b="0" i="0" u="none" strike="noStrike" cap="none">
                <a:latin typeface="Arial"/>
                <a:ea typeface="Arial"/>
                <a:cs typeface="Arial"/>
                <a:sym typeface="Arial"/>
              </a:rPr>
              <a:t> </a:t>
            </a:r>
            <a:endParaRPr/>
          </a:p>
        </p:txBody>
      </p:sp>
      <p:sp>
        <p:nvSpPr>
          <p:cNvPr id="232" name="Google Shape;232;g3f8175270f4_5_1"/>
          <p:cNvSpPr txBox="1"/>
          <p:nvPr/>
        </p:nvSpPr>
        <p:spPr>
          <a:xfrm>
            <a:off x="5737412" y="1727416"/>
            <a:ext cx="6235994" cy="4402424"/>
          </a:xfrm>
          <a:prstGeom prst="rect">
            <a:avLst/>
          </a:prstGeom>
          <a:blipFill rotWithShape="1">
            <a:blip r:embed="rId4">
              <a:alphaModFix/>
            </a:blip>
            <a:stretch>
              <a:fillRect l="-407" b="-862"/>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IN" sz="1400" b="0" i="0" u="none" strike="noStrike" cap="none">
                <a:latin typeface="Arial"/>
                <a:ea typeface="Arial"/>
                <a:cs typeface="Arial"/>
                <a:sym typeface="Arial"/>
              </a:rPr>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g3f81e6d3204_0_0"/>
          <p:cNvPicPr preferRelativeResize="0"/>
          <p:nvPr/>
        </p:nvPicPr>
        <p:blipFill rotWithShape="1">
          <a:blip r:embed="rId3">
            <a:alphaModFix/>
          </a:blip>
          <a:srcRect/>
          <a:stretch/>
        </p:blipFill>
        <p:spPr>
          <a:xfrm>
            <a:off x="2198281" y="938791"/>
            <a:ext cx="7795437" cy="498041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pic>
        <p:nvPicPr>
          <p:cNvPr id="242" name="Google Shape;242;p2"/>
          <p:cNvPicPr preferRelativeResize="0"/>
          <p:nvPr/>
        </p:nvPicPr>
        <p:blipFill rotWithShape="1">
          <a:blip r:embed="rId3">
            <a:alphaModFix/>
          </a:blip>
          <a:srcRect/>
          <a:stretch/>
        </p:blipFill>
        <p:spPr>
          <a:xfrm>
            <a:off x="1924493" y="747317"/>
            <a:ext cx="8343014" cy="536336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47" name="Google Shape;247;p3"/>
          <p:cNvPicPr preferRelativeResize="0"/>
          <p:nvPr/>
        </p:nvPicPr>
        <p:blipFill rotWithShape="1">
          <a:blip r:embed="rId3">
            <a:alphaModFix/>
          </a:blip>
          <a:srcRect/>
          <a:stretch/>
        </p:blipFill>
        <p:spPr>
          <a:xfrm>
            <a:off x="1438940" y="744279"/>
            <a:ext cx="7790120" cy="500793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g3f81e6d3204_0_11"/>
          <p:cNvSpPr txBox="1">
            <a:spLocks noGrp="1"/>
          </p:cNvSpPr>
          <p:nvPr>
            <p:ph type="title"/>
          </p:nvPr>
        </p:nvSpPr>
        <p:spPr>
          <a:xfrm>
            <a:off x="256032" y="225653"/>
            <a:ext cx="11284500" cy="433566"/>
          </a:xfrm>
          <a:prstGeom prst="rect">
            <a:avLst/>
          </a:prstGeom>
          <a:noFill/>
          <a:ln>
            <a:noFill/>
          </a:ln>
        </p:spPr>
        <p:txBody>
          <a:bodyPr spcFirstLastPara="1" wrap="square" lIns="0" tIns="45700" rIns="0" bIns="45700" anchor="t" anchorCtr="0">
            <a:normAutofit fontScale="90000"/>
          </a:bodyPr>
          <a:lstStyle/>
          <a:p>
            <a:pPr marL="0" lvl="0" indent="0" algn="l" rtl="0">
              <a:lnSpc>
                <a:spcPct val="100000"/>
              </a:lnSpc>
              <a:spcBef>
                <a:spcPts val="0"/>
              </a:spcBef>
              <a:spcAft>
                <a:spcPts val="0"/>
              </a:spcAft>
              <a:buClr>
                <a:schemeClr val="accent1"/>
              </a:buClr>
              <a:buSzPct val="166667"/>
              <a:buFont typeface="Calibri"/>
              <a:buNone/>
            </a:pPr>
            <a:r>
              <a:rPr lang="en-IN"/>
              <a:t>Expected Outputs from M2: Active Travel</a:t>
            </a:r>
            <a:endParaRPr sz="1600" b="0">
              <a:solidFill>
                <a:srgbClr val="009CD8"/>
              </a:solidFill>
            </a:endParaRPr>
          </a:p>
        </p:txBody>
      </p:sp>
      <p:sp>
        <p:nvSpPr>
          <p:cNvPr id="253" name="Google Shape;253;g3f81e6d3204_0_11"/>
          <p:cNvSpPr txBox="1"/>
          <p:nvPr/>
        </p:nvSpPr>
        <p:spPr>
          <a:xfrm>
            <a:off x="-276585" y="6235395"/>
            <a:ext cx="773100" cy="3651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600" b="0" i="0" u="none" strike="noStrike" cap="none">
                <a:solidFill>
                  <a:srgbClr val="888888"/>
                </a:solidFill>
                <a:latin typeface="Calibri"/>
                <a:ea typeface="Calibri"/>
                <a:cs typeface="Calibri"/>
                <a:sym typeface="Calibri"/>
              </a:rPr>
              <a:t>18</a:t>
            </a:fld>
            <a:r>
              <a:rPr lang="en-IN" sz="1600" b="0" i="0" u="none" strike="noStrike" cap="none">
                <a:solidFill>
                  <a:srgbClr val="888888"/>
                </a:solidFill>
                <a:latin typeface="Calibri"/>
                <a:ea typeface="Calibri"/>
                <a:cs typeface="Calibri"/>
                <a:sym typeface="Calibri"/>
              </a:rPr>
              <a:t>|</a:t>
            </a:r>
            <a:endParaRPr sz="1600" b="0" i="0" u="none" strike="noStrike" cap="none">
              <a:solidFill>
                <a:srgbClr val="888888"/>
              </a:solidFill>
              <a:latin typeface="Calibri"/>
              <a:ea typeface="Calibri"/>
              <a:cs typeface="Calibri"/>
              <a:sym typeface="Calibri"/>
            </a:endParaRPr>
          </a:p>
        </p:txBody>
      </p:sp>
      <p:sp>
        <p:nvSpPr>
          <p:cNvPr id="254" name="Google Shape;254;g3f81e6d3204_0_11"/>
          <p:cNvSpPr txBox="1"/>
          <p:nvPr/>
        </p:nvSpPr>
        <p:spPr>
          <a:xfrm>
            <a:off x="418642" y="1123260"/>
            <a:ext cx="10168568" cy="1108509"/>
          </a:xfrm>
          <a:prstGeom prst="rect">
            <a:avLst/>
          </a:prstGeom>
          <a:blipFill rotWithShape="1">
            <a:blip r:embed="rId3">
              <a:alphaModFix/>
            </a:blip>
            <a:stretch>
              <a:fillRect t="-2273" b="-4545"/>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IN" sz="1400" b="0" i="0" u="none" strike="noStrike" cap="none" dirty="0">
                <a:latin typeface="Arial"/>
                <a:ea typeface="Arial"/>
                <a:cs typeface="Arial"/>
                <a:sym typeface="Arial"/>
              </a:rPr>
              <a:t> </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4"/>
          <p:cNvSpPr txBox="1">
            <a:spLocks noGrp="1"/>
          </p:cNvSpPr>
          <p:nvPr>
            <p:ph type="title"/>
          </p:nvPr>
        </p:nvSpPr>
        <p:spPr>
          <a:xfrm>
            <a:off x="256032" y="225653"/>
            <a:ext cx="11284500" cy="433566"/>
          </a:xfrm>
          <a:prstGeom prst="rect">
            <a:avLst/>
          </a:prstGeom>
          <a:noFill/>
          <a:ln>
            <a:noFill/>
          </a:ln>
        </p:spPr>
        <p:txBody>
          <a:bodyPr spcFirstLastPara="1" wrap="square" lIns="0" tIns="45700" rIns="0" bIns="45700" anchor="t" anchorCtr="0">
            <a:normAutofit fontScale="90000"/>
          </a:bodyPr>
          <a:lstStyle/>
          <a:p>
            <a:pPr marL="0" lvl="0" indent="0" algn="l" rtl="0">
              <a:lnSpc>
                <a:spcPct val="100000"/>
              </a:lnSpc>
              <a:spcBef>
                <a:spcPts val="0"/>
              </a:spcBef>
              <a:spcAft>
                <a:spcPts val="0"/>
              </a:spcAft>
              <a:buClr>
                <a:schemeClr val="accent1"/>
              </a:buClr>
              <a:buSzPct val="166667"/>
              <a:buFont typeface="Calibri"/>
              <a:buNone/>
            </a:pPr>
            <a:r>
              <a:rPr lang="en-IN"/>
              <a:t>Expected Outputs from M2: Active Travel</a:t>
            </a:r>
            <a:endParaRPr sz="1600" b="0">
              <a:solidFill>
                <a:srgbClr val="009CD8"/>
              </a:solidFill>
            </a:endParaRPr>
          </a:p>
        </p:txBody>
      </p:sp>
      <p:sp>
        <p:nvSpPr>
          <p:cNvPr id="260" name="Google Shape;260;p4"/>
          <p:cNvSpPr txBox="1"/>
          <p:nvPr/>
        </p:nvSpPr>
        <p:spPr>
          <a:xfrm>
            <a:off x="-276585" y="6235395"/>
            <a:ext cx="773100" cy="3651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600" b="0" i="0" u="none" strike="noStrike" cap="none">
                <a:solidFill>
                  <a:srgbClr val="888888"/>
                </a:solidFill>
                <a:latin typeface="Calibri"/>
                <a:ea typeface="Calibri"/>
                <a:cs typeface="Calibri"/>
                <a:sym typeface="Calibri"/>
              </a:rPr>
              <a:t>19</a:t>
            </a:fld>
            <a:r>
              <a:rPr lang="en-IN" sz="1600" b="0" i="0" u="none" strike="noStrike" cap="none">
                <a:solidFill>
                  <a:srgbClr val="888888"/>
                </a:solidFill>
                <a:latin typeface="Calibri"/>
                <a:ea typeface="Calibri"/>
                <a:cs typeface="Calibri"/>
                <a:sym typeface="Calibri"/>
              </a:rPr>
              <a:t>|</a:t>
            </a:r>
            <a:endParaRPr sz="1600" b="0" i="0" u="none" strike="noStrike" cap="none">
              <a:solidFill>
                <a:srgbClr val="888888"/>
              </a:solidFill>
              <a:latin typeface="Calibri"/>
              <a:ea typeface="Calibri"/>
              <a:cs typeface="Calibri"/>
              <a:sym typeface="Calibri"/>
            </a:endParaRPr>
          </a:p>
        </p:txBody>
      </p:sp>
      <p:graphicFrame>
        <p:nvGraphicFramePr>
          <p:cNvPr id="261" name="Google Shape;261;p4"/>
          <p:cNvGraphicFramePr/>
          <p:nvPr/>
        </p:nvGraphicFramePr>
        <p:xfrm>
          <a:off x="453749" y="961241"/>
          <a:ext cx="11284475" cy="4910775"/>
        </p:xfrm>
        <a:graphic>
          <a:graphicData uri="http://schemas.openxmlformats.org/drawingml/2006/table">
            <a:tbl>
              <a:tblPr>
                <a:noFill/>
                <a:tableStyleId>{CE8E0634-9335-4D7C-9B2C-971118863D71}</a:tableStyleId>
              </a:tblPr>
              <a:tblGrid>
                <a:gridCol w="2478875">
                  <a:extLst>
                    <a:ext uri="{9D8B030D-6E8A-4147-A177-3AD203B41FA5}">
                      <a16:colId xmlns:a16="http://schemas.microsoft.com/office/drawing/2014/main" val="20000"/>
                    </a:ext>
                  </a:extLst>
                </a:gridCol>
                <a:gridCol w="1763050">
                  <a:extLst>
                    <a:ext uri="{9D8B030D-6E8A-4147-A177-3AD203B41FA5}">
                      <a16:colId xmlns:a16="http://schemas.microsoft.com/office/drawing/2014/main" val="20001"/>
                    </a:ext>
                  </a:extLst>
                </a:gridCol>
                <a:gridCol w="4367825">
                  <a:extLst>
                    <a:ext uri="{9D8B030D-6E8A-4147-A177-3AD203B41FA5}">
                      <a16:colId xmlns:a16="http://schemas.microsoft.com/office/drawing/2014/main" val="20002"/>
                    </a:ext>
                  </a:extLst>
                </a:gridCol>
                <a:gridCol w="1740300">
                  <a:extLst>
                    <a:ext uri="{9D8B030D-6E8A-4147-A177-3AD203B41FA5}">
                      <a16:colId xmlns:a16="http://schemas.microsoft.com/office/drawing/2014/main" val="20003"/>
                    </a:ext>
                  </a:extLst>
                </a:gridCol>
                <a:gridCol w="934425">
                  <a:extLst>
                    <a:ext uri="{9D8B030D-6E8A-4147-A177-3AD203B41FA5}">
                      <a16:colId xmlns:a16="http://schemas.microsoft.com/office/drawing/2014/main" val="20004"/>
                    </a:ext>
                  </a:extLst>
                </a:gridCol>
              </a:tblGrid>
              <a:tr h="471475">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dirty="0">
                          <a:latin typeface="Calibri"/>
                          <a:ea typeface="Calibri"/>
                          <a:cs typeface="Calibri"/>
                          <a:sym typeface="Calibri"/>
                        </a:rPr>
                        <a:t>Variable</a:t>
                      </a:r>
                      <a:endParaRPr dirty="0"/>
                    </a:p>
                  </a:txBody>
                  <a:tcPr marL="87700" marR="87700" marT="43850" marB="438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4EEFE"/>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Calibri"/>
                          <a:ea typeface="Calibri"/>
                          <a:cs typeface="Calibri"/>
                          <a:sym typeface="Calibri"/>
                        </a:rPr>
                        <a:t>Variable category</a:t>
                      </a:r>
                      <a:endParaRPr/>
                    </a:p>
                  </a:txBody>
                  <a:tcPr marL="87700" marR="87700" marT="43850" marB="438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4EEFE"/>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Calibri"/>
                          <a:ea typeface="Calibri"/>
                          <a:cs typeface="Calibri"/>
                          <a:sym typeface="Calibri"/>
                        </a:rPr>
                        <a:t>Base/reference category</a:t>
                      </a:r>
                      <a:endParaRPr/>
                    </a:p>
                  </a:txBody>
                  <a:tcPr marL="87700" marR="87700" marT="43850" marB="438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4EEFE"/>
                    </a:solidFill>
                  </a:tcP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1" u="none" strike="noStrike" cap="none">
                          <a:latin typeface="Calibri"/>
                          <a:ea typeface="Calibri"/>
                          <a:cs typeface="Calibri"/>
                          <a:sym typeface="Calibri"/>
                        </a:rPr>
                        <a:t>Coefficient (metres)</a:t>
                      </a:r>
                      <a:endParaRPr/>
                    </a:p>
                  </a:txBody>
                  <a:tcPr marL="87700" marR="87700" marT="43850" marB="438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4EEFE"/>
                    </a:solidFill>
                  </a:tcP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1" u="none" strike="noStrike" cap="none">
                          <a:latin typeface="Calibri"/>
                          <a:ea typeface="Calibri"/>
                          <a:cs typeface="Calibri"/>
                          <a:sym typeface="Calibri"/>
                        </a:rPr>
                        <a:t>p-value</a:t>
                      </a:r>
                      <a:endParaRPr/>
                    </a:p>
                  </a:txBody>
                  <a:tcPr marL="87700" marR="87700" marT="43850" marB="4385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4EEFE"/>
                    </a:solidFill>
                  </a:tcPr>
                </a:tc>
                <a:extLst>
                  <a:ext uri="{0D108BD9-81ED-4DB2-BD59-A6C34878D82A}">
                    <a16:rowId xmlns:a16="http://schemas.microsoft.com/office/drawing/2014/main" val="10000"/>
                  </a:ext>
                </a:extLst>
              </a:tr>
              <a:tr h="383500">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Mode: Rickshaw</a:t>
                      </a:r>
                      <a:endParaRPr/>
                    </a:p>
                  </a:txBody>
                  <a:tcPr marL="87700" marR="87700" marT="43850" marB="4385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Binary</a:t>
                      </a:r>
                      <a:endParaRPr/>
                    </a:p>
                  </a:txBody>
                  <a:tcPr marL="87700" marR="87700" marT="43850" marB="4385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Two Wheeler</a:t>
                      </a:r>
                      <a:endParaRPr/>
                    </a:p>
                  </a:txBody>
                  <a:tcPr marL="87700" marR="87700" marT="43850" marB="43850" anchor="ctr">
                    <a:lnT w="12700" cap="flat" cmpd="sng">
                      <a:solidFill>
                        <a:schemeClr val="dk1"/>
                      </a:solidFill>
                      <a:prstDash val="solid"/>
                      <a:round/>
                      <a:headEnd type="none" w="sm" len="sm"/>
                      <a:tailEnd type="none" w="sm" len="sm"/>
                    </a:lnT>
                  </a:tcP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+179.02</a:t>
                      </a:r>
                      <a:endParaRPr/>
                    </a:p>
                  </a:txBody>
                  <a:tcPr marL="87700" marR="87700" marT="43850" marB="43850" anchor="ctr">
                    <a:lnT w="12700" cap="flat" cmpd="sng">
                      <a:solidFill>
                        <a:schemeClr val="dk1"/>
                      </a:solidFill>
                      <a:prstDash val="solid"/>
                      <a:round/>
                      <a:headEnd type="none" w="sm" len="sm"/>
                      <a:tailEnd type="none" w="sm" len="sm"/>
                    </a:lnT>
                  </a:tcP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&lt;0.001</a:t>
                      </a:r>
                      <a:endParaRPr/>
                    </a:p>
                  </a:txBody>
                  <a:tcPr marL="87700" marR="87700" marT="43850" marB="4385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1"/>
                  </a:ext>
                </a:extLst>
              </a:tr>
              <a:tr h="398175">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Age</a:t>
                      </a:r>
                      <a:endParaRPr/>
                    </a:p>
                  </a:txBody>
                  <a:tcPr marL="87700" marR="87700" marT="43850" marB="43850"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Continuous</a:t>
                      </a:r>
                      <a:endParaRPr/>
                    </a:p>
                  </a:txBody>
                  <a:tcPr marL="87700" marR="87700" marT="43850" marB="43850"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Not applicable; one-year increase</a:t>
                      </a:r>
                      <a:endParaRPr/>
                    </a:p>
                  </a:txBody>
                  <a:tcPr marL="87700" marR="87700" marT="43850" marB="43850" anchor="ct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−1.31</a:t>
                      </a:r>
                      <a:endParaRPr/>
                    </a:p>
                  </a:txBody>
                  <a:tcPr marL="87700" marR="87700" marT="43850" marB="43850" anchor="ct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0.092</a:t>
                      </a:r>
                      <a:endParaRPr/>
                    </a:p>
                  </a:txBody>
                  <a:tcPr marL="87700" marR="87700" marT="43850" marB="43850" anchor="ctr"/>
                </a:tc>
                <a:extLst>
                  <a:ext uri="{0D108BD9-81ED-4DB2-BD59-A6C34878D82A}">
                    <a16:rowId xmlns:a16="http://schemas.microsoft.com/office/drawing/2014/main" val="10002"/>
                  </a:ext>
                </a:extLst>
              </a:tr>
              <a:tr h="359150">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Gender: Male</a:t>
                      </a:r>
                      <a:endParaRPr/>
                    </a:p>
                  </a:txBody>
                  <a:tcPr marL="87700" marR="87700" marT="43850" marB="43850"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Binary</a:t>
                      </a:r>
                      <a:endParaRPr/>
                    </a:p>
                  </a:txBody>
                  <a:tcPr marL="87700" marR="87700" marT="43850" marB="43850"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Female</a:t>
                      </a:r>
                      <a:endParaRPr/>
                    </a:p>
                  </a:txBody>
                  <a:tcPr marL="87700" marR="87700" marT="43850" marB="43850" anchor="ct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−0.31</a:t>
                      </a:r>
                      <a:endParaRPr/>
                    </a:p>
                  </a:txBody>
                  <a:tcPr marL="87700" marR="87700" marT="43850" marB="43850" anchor="ct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0.990</a:t>
                      </a:r>
                      <a:endParaRPr/>
                    </a:p>
                  </a:txBody>
                  <a:tcPr marL="87700" marR="87700" marT="43850" marB="43850" anchor="ctr"/>
                </a:tc>
                <a:extLst>
                  <a:ext uri="{0D108BD9-81ED-4DB2-BD59-A6C34878D82A}">
                    <a16:rowId xmlns:a16="http://schemas.microsoft.com/office/drawing/2014/main" val="10003"/>
                  </a:ext>
                </a:extLst>
              </a:tr>
              <a:tr h="341525">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Purpose: Work</a:t>
                      </a:r>
                      <a:endParaRPr/>
                    </a:p>
                  </a:txBody>
                  <a:tcPr marL="87700" marR="87700" marT="43850" marB="43850"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Binary</a:t>
                      </a:r>
                      <a:endParaRPr/>
                    </a:p>
                  </a:txBody>
                  <a:tcPr marL="87700" marR="87700" marT="43850" marB="43850"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Other purpose</a:t>
                      </a:r>
                      <a:endParaRPr/>
                    </a:p>
                  </a:txBody>
                  <a:tcPr marL="87700" marR="87700" marT="43850" marB="43850" anchor="ct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−1.14</a:t>
                      </a:r>
                      <a:endParaRPr/>
                    </a:p>
                  </a:txBody>
                  <a:tcPr marL="87700" marR="87700" marT="43850" marB="43850" anchor="ct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0.965</a:t>
                      </a:r>
                      <a:endParaRPr/>
                    </a:p>
                  </a:txBody>
                  <a:tcPr marL="87700" marR="87700" marT="43850" marB="43850" anchor="ctr"/>
                </a:tc>
                <a:extLst>
                  <a:ext uri="{0D108BD9-81ED-4DB2-BD59-A6C34878D82A}">
                    <a16:rowId xmlns:a16="http://schemas.microsoft.com/office/drawing/2014/main" val="10004"/>
                  </a:ext>
                </a:extLst>
              </a:tr>
              <a:tr h="352550">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OD time: Short</a:t>
                      </a:r>
                      <a:endParaRPr/>
                    </a:p>
                  </a:txBody>
                  <a:tcPr marL="87700" marR="87700" marT="43850" marB="43850"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Binary</a:t>
                      </a:r>
                      <a:endParaRPr/>
                    </a:p>
                  </a:txBody>
                  <a:tcPr marL="87700" marR="87700" marT="43850" marB="43850"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Long: &gt;10 min</a:t>
                      </a:r>
                      <a:endParaRPr/>
                    </a:p>
                  </a:txBody>
                  <a:tcPr marL="87700" marR="87700" marT="43850" marB="43850" anchor="ct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+8.25</a:t>
                      </a:r>
                      <a:endParaRPr/>
                    </a:p>
                  </a:txBody>
                  <a:tcPr marL="87700" marR="87700" marT="43850" marB="43850" anchor="ct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0.744</a:t>
                      </a:r>
                      <a:endParaRPr/>
                    </a:p>
                  </a:txBody>
                  <a:tcPr marL="87700" marR="87700" marT="43850" marB="43850" anchor="ctr"/>
                </a:tc>
                <a:extLst>
                  <a:ext uri="{0D108BD9-81ED-4DB2-BD59-A6C34878D82A}">
                    <a16:rowId xmlns:a16="http://schemas.microsoft.com/office/drawing/2014/main" val="10005"/>
                  </a:ext>
                </a:extLst>
              </a:tr>
              <a:tr h="352550">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OD fare: Low</a:t>
                      </a:r>
                      <a:endParaRPr/>
                    </a:p>
                  </a:txBody>
                  <a:tcPr marL="87700" marR="87700" marT="43850" marB="43850"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Binary</a:t>
                      </a:r>
                      <a:endParaRPr/>
                    </a:p>
                  </a:txBody>
                  <a:tcPr marL="87700" marR="87700" marT="43850" marB="43850"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High: &gt;₹10</a:t>
                      </a:r>
                      <a:endParaRPr/>
                    </a:p>
                  </a:txBody>
                  <a:tcPr marL="87700" marR="87700" marT="43850" marB="43850" anchor="ct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−32.32</a:t>
                      </a:r>
                      <a:endParaRPr/>
                    </a:p>
                  </a:txBody>
                  <a:tcPr marL="87700" marR="87700" marT="43850" marB="43850" anchor="ct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0.317</a:t>
                      </a:r>
                      <a:endParaRPr/>
                    </a:p>
                  </a:txBody>
                  <a:tcPr marL="87700" marR="87700" marT="43850" marB="43850" anchor="ctr"/>
                </a:tc>
                <a:extLst>
                  <a:ext uri="{0D108BD9-81ED-4DB2-BD59-A6C34878D82A}">
                    <a16:rowId xmlns:a16="http://schemas.microsoft.com/office/drawing/2014/main" val="10006"/>
                  </a:ext>
                </a:extLst>
              </a:tr>
              <a:tr h="374575">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OD distance: Short</a:t>
                      </a:r>
                      <a:endParaRPr/>
                    </a:p>
                  </a:txBody>
                  <a:tcPr marL="87700" marR="87700" marT="43850" marB="43850"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Binary</a:t>
                      </a:r>
                      <a:endParaRPr/>
                    </a:p>
                  </a:txBody>
                  <a:tcPr marL="87700" marR="87700" marT="43850" marB="43850"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Long: &gt;5 km</a:t>
                      </a:r>
                      <a:endParaRPr/>
                    </a:p>
                  </a:txBody>
                  <a:tcPr marL="87700" marR="87700" marT="43850" marB="43850" anchor="ct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−22.79</a:t>
                      </a:r>
                      <a:endParaRPr/>
                    </a:p>
                  </a:txBody>
                  <a:tcPr marL="87700" marR="87700" marT="43850" marB="43850" anchor="ct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0.328</a:t>
                      </a:r>
                      <a:endParaRPr/>
                    </a:p>
                  </a:txBody>
                  <a:tcPr marL="87700" marR="87700" marT="43850" marB="43850" anchor="ctr"/>
                </a:tc>
                <a:extLst>
                  <a:ext uri="{0D108BD9-81ED-4DB2-BD59-A6C34878D82A}">
                    <a16:rowId xmlns:a16="http://schemas.microsoft.com/office/drawing/2014/main" val="10007"/>
                  </a:ext>
                </a:extLst>
              </a:tr>
              <a:tr h="352550">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Weekly trips: High</a:t>
                      </a:r>
                      <a:endParaRPr/>
                    </a:p>
                  </a:txBody>
                  <a:tcPr marL="87700" marR="87700" marT="43850" marB="43850"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Binary</a:t>
                      </a:r>
                      <a:endParaRPr/>
                    </a:p>
                  </a:txBody>
                  <a:tcPr marL="87700" marR="87700" marT="43850" marB="43850"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Low: &lt;5 trips/week</a:t>
                      </a:r>
                      <a:endParaRPr/>
                    </a:p>
                  </a:txBody>
                  <a:tcPr marL="87700" marR="87700" marT="43850" marB="43850" anchor="ct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−51.64</a:t>
                      </a:r>
                      <a:endParaRPr/>
                    </a:p>
                  </a:txBody>
                  <a:tcPr marL="87700" marR="87700" marT="43850" marB="43850" anchor="ct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0.031</a:t>
                      </a:r>
                      <a:endParaRPr/>
                    </a:p>
                  </a:txBody>
                  <a:tcPr marL="87700" marR="87700" marT="43850" marB="43850" anchor="ctr"/>
                </a:tc>
                <a:extLst>
                  <a:ext uri="{0D108BD9-81ED-4DB2-BD59-A6C34878D82A}">
                    <a16:rowId xmlns:a16="http://schemas.microsoft.com/office/drawing/2014/main" val="10008"/>
                  </a:ext>
                </a:extLst>
              </a:tr>
              <a:tr h="471475">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Two-wheeler ownership: Yes</a:t>
                      </a:r>
                      <a:endParaRPr/>
                    </a:p>
                  </a:txBody>
                  <a:tcPr marL="87700" marR="87700" marT="43850" marB="43850"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Binary</a:t>
                      </a:r>
                      <a:endParaRPr/>
                    </a:p>
                  </a:txBody>
                  <a:tcPr marL="87700" marR="87700" marT="43850" marB="43850"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No two-wheeler owned</a:t>
                      </a:r>
                      <a:endParaRPr/>
                    </a:p>
                  </a:txBody>
                  <a:tcPr marL="87700" marR="87700" marT="43850" marB="43850" anchor="ct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+43.72</a:t>
                      </a:r>
                      <a:endParaRPr/>
                    </a:p>
                  </a:txBody>
                  <a:tcPr marL="87700" marR="87700" marT="43850" marB="43850" anchor="ct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0.089</a:t>
                      </a:r>
                      <a:endParaRPr/>
                    </a:p>
                  </a:txBody>
                  <a:tcPr marL="87700" marR="87700" marT="43850" marB="43850" anchor="ctr"/>
                </a:tc>
                <a:extLst>
                  <a:ext uri="{0D108BD9-81ED-4DB2-BD59-A6C34878D82A}">
                    <a16:rowId xmlns:a16="http://schemas.microsoft.com/office/drawing/2014/main" val="10009"/>
                  </a:ext>
                </a:extLst>
              </a:tr>
              <a:tr h="471475">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Four-wheeler ownership: Yes</a:t>
                      </a:r>
                      <a:endParaRPr/>
                    </a:p>
                  </a:txBody>
                  <a:tcPr marL="87700" marR="87700" marT="43850" marB="43850"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Binary</a:t>
                      </a:r>
                      <a:endParaRPr/>
                    </a:p>
                  </a:txBody>
                  <a:tcPr marL="87700" marR="87700" marT="43850" marB="43850"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No four-wheeler owned</a:t>
                      </a:r>
                      <a:endParaRPr/>
                    </a:p>
                  </a:txBody>
                  <a:tcPr marL="87700" marR="87700" marT="43850" marB="43850" anchor="ct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+24.72</a:t>
                      </a:r>
                      <a:endParaRPr/>
                    </a:p>
                  </a:txBody>
                  <a:tcPr marL="87700" marR="87700" marT="43850" marB="43850" anchor="ct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0.351</a:t>
                      </a:r>
                      <a:endParaRPr/>
                    </a:p>
                  </a:txBody>
                  <a:tcPr marL="87700" marR="87700" marT="43850" marB="43850" anchor="ctr"/>
                </a:tc>
                <a:extLst>
                  <a:ext uri="{0D108BD9-81ED-4DB2-BD59-A6C34878D82A}">
                    <a16:rowId xmlns:a16="http://schemas.microsoft.com/office/drawing/2014/main" val="10010"/>
                  </a:ext>
                </a:extLst>
              </a:tr>
              <a:tr h="581775">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Constant</a:t>
                      </a:r>
                      <a:endParaRPr/>
                    </a:p>
                  </a:txBody>
                  <a:tcPr marL="87700" marR="87700" marT="43850" marB="43850"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a:t>
                      </a:r>
                      <a:endParaRPr/>
                    </a:p>
                  </a:txBody>
                  <a:tcPr marL="87700" marR="87700" marT="43850" marB="43850" anchor="ct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Respondent belonging to all base categories, with age = 0</a:t>
                      </a:r>
                      <a:endParaRPr/>
                    </a:p>
                  </a:txBody>
                  <a:tcPr marL="87700" marR="87700" marT="43850" marB="43850" anchor="ct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a:latin typeface="Calibri"/>
                          <a:ea typeface="Calibri"/>
                          <a:cs typeface="Calibri"/>
                          <a:sym typeface="Calibri"/>
                        </a:rPr>
                        <a:t>91.14</a:t>
                      </a:r>
                      <a:endParaRPr/>
                    </a:p>
                  </a:txBody>
                  <a:tcPr marL="87700" marR="87700" marT="43850" marB="43850" anchor="ctr"/>
                </a:tc>
                <a:tc>
                  <a:txBody>
                    <a:bodyPr/>
                    <a:lstStyle/>
                    <a:p>
                      <a:pPr marL="0" marR="0" lvl="0" indent="0" algn="r" rtl="0">
                        <a:lnSpc>
                          <a:spcPct val="100000"/>
                        </a:lnSpc>
                        <a:spcBef>
                          <a:spcPts val="0"/>
                        </a:spcBef>
                        <a:spcAft>
                          <a:spcPts val="0"/>
                        </a:spcAft>
                        <a:buClr>
                          <a:srgbClr val="000000"/>
                        </a:buClr>
                        <a:buSzPts val="1400"/>
                        <a:buFont typeface="Arial"/>
                        <a:buNone/>
                      </a:pPr>
                      <a:r>
                        <a:rPr lang="en-IN" sz="1400" b="0" u="none" strike="noStrike" cap="none" dirty="0">
                          <a:latin typeface="Calibri"/>
                          <a:ea typeface="Calibri"/>
                          <a:cs typeface="Calibri"/>
                          <a:sym typeface="Calibri"/>
                        </a:rPr>
                        <a:t>0.120</a:t>
                      </a:r>
                      <a:endParaRPr dirty="0"/>
                    </a:p>
                  </a:txBody>
                  <a:tcPr marL="87700" marR="87700" marT="43850" marB="43850" anchor="ctr"/>
                </a:tc>
                <a:extLst>
                  <a:ext uri="{0D108BD9-81ED-4DB2-BD59-A6C34878D82A}">
                    <a16:rowId xmlns:a16="http://schemas.microsoft.com/office/drawing/2014/main" val="10011"/>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1">
          <a:extLst>
            <a:ext uri="{FF2B5EF4-FFF2-40B4-BE49-F238E27FC236}">
              <a16:creationId xmlns:a16="http://schemas.microsoft.com/office/drawing/2014/main" id="{1220775A-1AC4-61D4-917E-A714CC0F98F9}"/>
            </a:ext>
          </a:extLst>
        </p:cNvPr>
        <p:cNvGrpSpPr/>
        <p:nvPr/>
      </p:nvGrpSpPr>
      <p:grpSpPr>
        <a:xfrm>
          <a:off x="0" y="0"/>
          <a:ext cx="0" cy="0"/>
          <a:chOff x="0" y="0"/>
          <a:chExt cx="0" cy="0"/>
        </a:xfrm>
      </p:grpSpPr>
      <p:sp>
        <p:nvSpPr>
          <p:cNvPr id="252" name="Google Shape;252;g3f81e6d3204_0_11">
            <a:extLst>
              <a:ext uri="{FF2B5EF4-FFF2-40B4-BE49-F238E27FC236}">
                <a16:creationId xmlns:a16="http://schemas.microsoft.com/office/drawing/2014/main" id="{B9F86550-08B6-1331-0786-31495324CC26}"/>
              </a:ext>
            </a:extLst>
          </p:cNvPr>
          <p:cNvSpPr txBox="1">
            <a:spLocks noGrp="1"/>
          </p:cNvSpPr>
          <p:nvPr>
            <p:ph type="title"/>
          </p:nvPr>
        </p:nvSpPr>
        <p:spPr>
          <a:xfrm>
            <a:off x="256032" y="225653"/>
            <a:ext cx="11284500" cy="433566"/>
          </a:xfrm>
          <a:prstGeom prst="rect">
            <a:avLst/>
          </a:prstGeom>
          <a:noFill/>
          <a:ln>
            <a:noFill/>
          </a:ln>
        </p:spPr>
        <p:txBody>
          <a:bodyPr spcFirstLastPara="1" wrap="square" lIns="0" tIns="45700" rIns="0" bIns="45700" anchor="t" anchorCtr="0">
            <a:normAutofit fontScale="90000"/>
          </a:bodyPr>
          <a:lstStyle/>
          <a:p>
            <a:pPr marL="0" lvl="0" indent="0" algn="l" rtl="0">
              <a:lnSpc>
                <a:spcPct val="100000"/>
              </a:lnSpc>
              <a:spcBef>
                <a:spcPts val="0"/>
              </a:spcBef>
              <a:spcAft>
                <a:spcPts val="0"/>
              </a:spcAft>
              <a:buClr>
                <a:schemeClr val="accent1"/>
              </a:buClr>
              <a:buSzPct val="166667"/>
              <a:buFont typeface="Calibri"/>
              <a:buNone/>
            </a:pPr>
            <a:r>
              <a:rPr lang="en-IN" dirty="0"/>
              <a:t>Expected Outputs from M2: Assumption for bus deployment</a:t>
            </a:r>
            <a:endParaRPr sz="1600" b="0" dirty="0">
              <a:solidFill>
                <a:srgbClr val="009CD8"/>
              </a:solidFill>
            </a:endParaRPr>
          </a:p>
        </p:txBody>
      </p:sp>
      <p:sp>
        <p:nvSpPr>
          <p:cNvPr id="253" name="Google Shape;253;g3f81e6d3204_0_11">
            <a:extLst>
              <a:ext uri="{FF2B5EF4-FFF2-40B4-BE49-F238E27FC236}">
                <a16:creationId xmlns:a16="http://schemas.microsoft.com/office/drawing/2014/main" id="{79E174A7-DA25-B426-B136-F95CC5762650}"/>
              </a:ext>
            </a:extLst>
          </p:cNvPr>
          <p:cNvSpPr txBox="1"/>
          <p:nvPr/>
        </p:nvSpPr>
        <p:spPr>
          <a:xfrm>
            <a:off x="-276585" y="6235395"/>
            <a:ext cx="773100" cy="3651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600" b="0" i="0" u="none" strike="noStrike" cap="none">
                <a:solidFill>
                  <a:srgbClr val="888888"/>
                </a:solidFill>
                <a:latin typeface="Calibri"/>
                <a:ea typeface="Calibri"/>
                <a:cs typeface="Calibri"/>
                <a:sym typeface="Calibri"/>
              </a:rPr>
              <a:t>20</a:t>
            </a:fld>
            <a:r>
              <a:rPr lang="en-IN" sz="1600" b="0" i="0" u="none" strike="noStrike" cap="none">
                <a:solidFill>
                  <a:srgbClr val="888888"/>
                </a:solidFill>
                <a:latin typeface="Calibri"/>
                <a:ea typeface="Calibri"/>
                <a:cs typeface="Calibri"/>
                <a:sym typeface="Calibri"/>
              </a:rPr>
              <a:t>|</a:t>
            </a:r>
            <a:endParaRPr sz="1600" b="0" i="0" u="none" strike="noStrike" cap="none">
              <a:solidFill>
                <a:srgbClr val="888888"/>
              </a:solidFill>
              <a:latin typeface="Calibri"/>
              <a:ea typeface="Calibri"/>
              <a:cs typeface="Calibri"/>
              <a:sym typeface="Calibri"/>
            </a:endParaRPr>
          </a:p>
        </p:txBody>
      </p:sp>
      <p:sp>
        <p:nvSpPr>
          <p:cNvPr id="3" name="TextBox 2">
            <a:extLst>
              <a:ext uri="{FF2B5EF4-FFF2-40B4-BE49-F238E27FC236}">
                <a16:creationId xmlns:a16="http://schemas.microsoft.com/office/drawing/2014/main" id="{353ED77D-5EB8-2D41-E5CF-E3DCDB29E7CD}"/>
              </a:ext>
            </a:extLst>
          </p:cNvPr>
          <p:cNvSpPr txBox="1"/>
          <p:nvPr/>
        </p:nvSpPr>
        <p:spPr>
          <a:xfrm>
            <a:off x="256032" y="723484"/>
            <a:ext cx="11599270" cy="3139321"/>
          </a:xfrm>
          <a:prstGeom prst="rect">
            <a:avLst/>
          </a:prstGeom>
          <a:noFill/>
        </p:spPr>
        <p:txBody>
          <a:bodyPr wrap="square">
            <a:spAutoFit/>
          </a:bodyPr>
          <a:lstStyle/>
          <a:p>
            <a:pPr marL="342900" lvl="0" indent="-342900">
              <a:buFont typeface="Arial" panose="020B0604020202020204" pitchFamily="34" charset="0"/>
              <a:buChar char="•"/>
            </a:pPr>
            <a:r>
              <a:rPr lang="en-US" sz="1800" dirty="0">
                <a:latin typeface="Calibri" panose="020F0502020204030204" pitchFamily="34" charset="0"/>
                <a:cs typeface="Calibri" panose="020F0502020204030204" pitchFamily="34" charset="0"/>
              </a:rPr>
              <a:t>30% of Two Wheeler riders shift to bus (fixed %, not data-driven)</a:t>
            </a:r>
          </a:p>
          <a:p>
            <a:pPr marL="342900" lvl="0" indent="-342900">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en-US" sz="1800" dirty="0">
                <a:latin typeface="Calibri" panose="020F0502020204030204" pitchFamily="34" charset="0"/>
                <a:cs typeface="Calibri" panose="020F0502020204030204" pitchFamily="34" charset="0"/>
              </a:rPr>
              <a:t>50% of Rickshaw riders shift to bus (fixed %, not data-driven)</a:t>
            </a:r>
          </a:p>
          <a:p>
            <a:pPr marL="342900" lvl="0" indent="-342900">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en-US" sz="1800" dirty="0">
                <a:latin typeface="Calibri" panose="020F0502020204030204" pitchFamily="34" charset="0"/>
                <a:cs typeface="Calibri" panose="020F0502020204030204" pitchFamily="34" charset="0"/>
              </a:rPr>
              <a:t>Who shifts is chosen randomly, not by likelihood of switching</a:t>
            </a:r>
          </a:p>
          <a:p>
            <a:pPr marL="342900" lvl="0" indent="-342900">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en-US" sz="1800" dirty="0">
                <a:latin typeface="Calibri" panose="020F0502020204030204" pitchFamily="34" charset="0"/>
                <a:cs typeface="Calibri" panose="020F0502020204030204" pitchFamily="34" charset="0"/>
              </a:rPr>
              <a:t>All shifted riders assigned the same bus access/egress distance: 177.8m (average of shifted riders' old-mode distance)</a:t>
            </a:r>
          </a:p>
          <a:p>
            <a:pPr marL="342900" lvl="0" indent="-342900">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en-US" sz="1800" dirty="0">
                <a:latin typeface="Calibri" panose="020F0502020204030204" pitchFamily="34" charset="0"/>
                <a:cs typeface="Calibri" panose="020F0502020204030204" pitchFamily="34" charset="0"/>
              </a:rPr>
              <a:t>Bus fare assigned via fixed distance-based slab table, not actual fare paid</a:t>
            </a:r>
          </a:p>
          <a:p>
            <a:pPr marL="342900" lvl="0" indent="-342900">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en-US" sz="1800" dirty="0">
                <a:latin typeface="Calibri" panose="020F0502020204030204" pitchFamily="34" charset="0"/>
                <a:cs typeface="Calibri" panose="020F0502020204030204" pitchFamily="34" charset="0"/>
              </a:rPr>
              <a:t>Non-shifted riders keep their real, unchanged access/egress and fare values</a:t>
            </a:r>
          </a:p>
        </p:txBody>
      </p:sp>
    </p:spTree>
    <p:extLst>
      <p:ext uri="{BB962C8B-B14F-4D97-AF65-F5344CB8AC3E}">
        <p14:creationId xmlns:p14="http://schemas.microsoft.com/office/powerpoint/2010/main" val="4252201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8">
          <a:extLst>
            <a:ext uri="{FF2B5EF4-FFF2-40B4-BE49-F238E27FC236}">
              <a16:creationId xmlns:a16="http://schemas.microsoft.com/office/drawing/2014/main" id="{9BC36028-5595-F37C-380D-6169F7488373}"/>
            </a:ext>
          </a:extLst>
        </p:cNvPr>
        <p:cNvGrpSpPr/>
        <p:nvPr/>
      </p:nvGrpSpPr>
      <p:grpSpPr>
        <a:xfrm>
          <a:off x="0" y="0"/>
          <a:ext cx="0" cy="0"/>
          <a:chOff x="0" y="0"/>
          <a:chExt cx="0" cy="0"/>
        </a:xfrm>
      </p:grpSpPr>
      <p:sp>
        <p:nvSpPr>
          <p:cNvPr id="259" name="Google Shape;259;p4">
            <a:extLst>
              <a:ext uri="{FF2B5EF4-FFF2-40B4-BE49-F238E27FC236}">
                <a16:creationId xmlns:a16="http://schemas.microsoft.com/office/drawing/2014/main" id="{2E939734-8270-7646-E155-049FEA271849}"/>
              </a:ext>
            </a:extLst>
          </p:cNvPr>
          <p:cNvSpPr txBox="1">
            <a:spLocks noGrp="1"/>
          </p:cNvSpPr>
          <p:nvPr>
            <p:ph type="title"/>
          </p:nvPr>
        </p:nvSpPr>
        <p:spPr>
          <a:xfrm>
            <a:off x="256032" y="225653"/>
            <a:ext cx="11284500" cy="433566"/>
          </a:xfrm>
          <a:prstGeom prst="rect">
            <a:avLst/>
          </a:prstGeom>
          <a:noFill/>
          <a:ln>
            <a:noFill/>
          </a:ln>
        </p:spPr>
        <p:txBody>
          <a:bodyPr spcFirstLastPara="1" wrap="square" lIns="0" tIns="45700" rIns="0" bIns="45700" anchor="t" anchorCtr="0">
            <a:normAutofit fontScale="90000"/>
          </a:bodyPr>
          <a:lstStyle/>
          <a:p>
            <a:pPr lvl="0">
              <a:buSzPct val="166667"/>
            </a:pPr>
            <a:r>
              <a:rPr lang="en-IN" dirty="0"/>
              <a:t>Expected Outputs from M2: </a:t>
            </a:r>
            <a:r>
              <a:rPr lang="en-US" dirty="0"/>
              <a:t>AFTER Bus Deployment model results</a:t>
            </a:r>
            <a:endParaRPr sz="1600" b="0" dirty="0">
              <a:solidFill>
                <a:srgbClr val="009CD8"/>
              </a:solidFill>
            </a:endParaRPr>
          </a:p>
        </p:txBody>
      </p:sp>
      <p:sp>
        <p:nvSpPr>
          <p:cNvPr id="260" name="Google Shape;260;p4">
            <a:extLst>
              <a:ext uri="{FF2B5EF4-FFF2-40B4-BE49-F238E27FC236}">
                <a16:creationId xmlns:a16="http://schemas.microsoft.com/office/drawing/2014/main" id="{2F7E8BAB-E985-269C-8191-F15F6F162E99}"/>
              </a:ext>
            </a:extLst>
          </p:cNvPr>
          <p:cNvSpPr txBox="1"/>
          <p:nvPr/>
        </p:nvSpPr>
        <p:spPr>
          <a:xfrm>
            <a:off x="-276585" y="6235395"/>
            <a:ext cx="773100" cy="3651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600" b="0" i="0" u="none" strike="noStrike" cap="none">
                <a:solidFill>
                  <a:srgbClr val="888888"/>
                </a:solidFill>
                <a:latin typeface="Calibri"/>
                <a:ea typeface="Calibri"/>
                <a:cs typeface="Calibri"/>
                <a:sym typeface="Calibri"/>
              </a:rPr>
              <a:t>21</a:t>
            </a:fld>
            <a:r>
              <a:rPr lang="en-IN" sz="1600" b="0" i="0" u="none" strike="noStrike" cap="none">
                <a:solidFill>
                  <a:srgbClr val="888888"/>
                </a:solidFill>
                <a:latin typeface="Calibri"/>
                <a:ea typeface="Calibri"/>
                <a:cs typeface="Calibri"/>
                <a:sym typeface="Calibri"/>
              </a:rPr>
              <a:t>|</a:t>
            </a:r>
            <a:endParaRPr sz="1600" b="0" i="0" u="none" strike="noStrike" cap="none">
              <a:solidFill>
                <a:srgbClr val="888888"/>
              </a:solidFill>
              <a:latin typeface="Calibri"/>
              <a:ea typeface="Calibri"/>
              <a:cs typeface="Calibri"/>
              <a:sym typeface="Calibri"/>
            </a:endParaRPr>
          </a:p>
        </p:txBody>
      </p:sp>
      <p:graphicFrame>
        <p:nvGraphicFramePr>
          <p:cNvPr id="261" name="Google Shape;261;p4">
            <a:extLst>
              <a:ext uri="{FF2B5EF4-FFF2-40B4-BE49-F238E27FC236}">
                <a16:creationId xmlns:a16="http://schemas.microsoft.com/office/drawing/2014/main" id="{3B988DD7-AC44-5511-641B-8F278800F10D}"/>
              </a:ext>
            </a:extLst>
          </p:cNvPr>
          <p:cNvGraphicFramePr/>
          <p:nvPr>
            <p:extLst>
              <p:ext uri="{D42A27DB-BD31-4B8C-83A1-F6EECF244321}">
                <p14:modId xmlns:p14="http://schemas.microsoft.com/office/powerpoint/2010/main" val="1202878740"/>
              </p:ext>
            </p:extLst>
          </p:nvPr>
        </p:nvGraphicFramePr>
        <p:xfrm>
          <a:off x="453749" y="961241"/>
          <a:ext cx="11284475" cy="4910775"/>
        </p:xfrm>
        <a:graphic>
          <a:graphicData uri="http://schemas.openxmlformats.org/drawingml/2006/table">
            <a:tbl>
              <a:tblPr>
                <a:noFill/>
                <a:tableStyleId>{CE8E0634-9335-4D7C-9B2C-971118863D71}</a:tableStyleId>
              </a:tblPr>
              <a:tblGrid>
                <a:gridCol w="2478875">
                  <a:extLst>
                    <a:ext uri="{9D8B030D-6E8A-4147-A177-3AD203B41FA5}">
                      <a16:colId xmlns:a16="http://schemas.microsoft.com/office/drawing/2014/main" val="20000"/>
                    </a:ext>
                  </a:extLst>
                </a:gridCol>
                <a:gridCol w="1763050">
                  <a:extLst>
                    <a:ext uri="{9D8B030D-6E8A-4147-A177-3AD203B41FA5}">
                      <a16:colId xmlns:a16="http://schemas.microsoft.com/office/drawing/2014/main" val="20001"/>
                    </a:ext>
                  </a:extLst>
                </a:gridCol>
                <a:gridCol w="4367825">
                  <a:extLst>
                    <a:ext uri="{9D8B030D-6E8A-4147-A177-3AD203B41FA5}">
                      <a16:colId xmlns:a16="http://schemas.microsoft.com/office/drawing/2014/main" val="20002"/>
                    </a:ext>
                  </a:extLst>
                </a:gridCol>
                <a:gridCol w="1740300">
                  <a:extLst>
                    <a:ext uri="{9D8B030D-6E8A-4147-A177-3AD203B41FA5}">
                      <a16:colId xmlns:a16="http://schemas.microsoft.com/office/drawing/2014/main" val="20003"/>
                    </a:ext>
                  </a:extLst>
                </a:gridCol>
                <a:gridCol w="934425">
                  <a:extLst>
                    <a:ext uri="{9D8B030D-6E8A-4147-A177-3AD203B41FA5}">
                      <a16:colId xmlns:a16="http://schemas.microsoft.com/office/drawing/2014/main" val="20004"/>
                    </a:ext>
                  </a:extLst>
                </a:gridCol>
              </a:tblGrid>
              <a:tr h="471475">
                <a:tc>
                  <a:txBody>
                    <a:bodyPr/>
                    <a:lstStyle/>
                    <a:p>
                      <a:pPr>
                        <a:buNone/>
                      </a:pPr>
                      <a:r>
                        <a:rPr lang="en-US" dirty="0">
                          <a:latin typeface="Calibri" panose="020F0502020204030204" pitchFamily="34" charset="0"/>
                          <a:cs typeface="Calibri" panose="020F0502020204030204" pitchFamily="34" charset="0"/>
                        </a:rPr>
                        <a:t>Variable</a:t>
                      </a:r>
                    </a:p>
                  </a:txBody>
                  <a:tcPr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4EEFE"/>
                    </a:solidFill>
                  </a:tcPr>
                </a:tc>
                <a:tc>
                  <a:txBody>
                    <a:bodyPr/>
                    <a:lstStyle/>
                    <a:p>
                      <a:pPr>
                        <a:buNone/>
                      </a:pPr>
                      <a:r>
                        <a:rPr lang="en-US">
                          <a:latin typeface="Calibri" panose="020F0502020204030204" pitchFamily="34" charset="0"/>
                          <a:cs typeface="Calibri" panose="020F0502020204030204" pitchFamily="34" charset="0"/>
                        </a:rPr>
                        <a:t>Variable category</a:t>
                      </a:r>
                    </a:p>
                  </a:txBody>
                  <a:tcPr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4EEFE"/>
                    </a:solidFill>
                  </a:tcPr>
                </a:tc>
                <a:tc>
                  <a:txBody>
                    <a:bodyPr/>
                    <a:lstStyle/>
                    <a:p>
                      <a:pPr>
                        <a:buNone/>
                      </a:pPr>
                      <a:r>
                        <a:rPr lang="en-US">
                          <a:latin typeface="Calibri" panose="020F0502020204030204" pitchFamily="34" charset="0"/>
                          <a:cs typeface="Calibri" panose="020F0502020204030204" pitchFamily="34" charset="0"/>
                        </a:rPr>
                        <a:t>Base/reference category</a:t>
                      </a:r>
                    </a:p>
                  </a:txBody>
                  <a:tcPr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4EEFE"/>
                    </a:solidFill>
                  </a:tcPr>
                </a:tc>
                <a:tc>
                  <a:txBody>
                    <a:bodyPr/>
                    <a:lstStyle/>
                    <a:p>
                      <a:pPr>
                        <a:buNone/>
                      </a:pPr>
                      <a:r>
                        <a:rPr lang="en-US">
                          <a:latin typeface="Calibri" panose="020F0502020204030204" pitchFamily="34" charset="0"/>
                          <a:cs typeface="Calibri" panose="020F0502020204030204" pitchFamily="34" charset="0"/>
                        </a:rPr>
                        <a:t>Coefficient (metres)</a:t>
                      </a:r>
                    </a:p>
                  </a:txBody>
                  <a:tcPr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4EEFE"/>
                    </a:solidFill>
                  </a:tcPr>
                </a:tc>
                <a:tc>
                  <a:txBody>
                    <a:bodyPr/>
                    <a:lstStyle/>
                    <a:p>
                      <a:pPr>
                        <a:buNone/>
                      </a:pPr>
                      <a:r>
                        <a:rPr lang="en-US">
                          <a:latin typeface="Calibri" panose="020F0502020204030204" pitchFamily="34" charset="0"/>
                          <a:cs typeface="Calibri" panose="020F0502020204030204" pitchFamily="34" charset="0"/>
                        </a:rPr>
                        <a:t>p-value</a:t>
                      </a:r>
                    </a:p>
                  </a:txBody>
                  <a:tcPr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4EEFE"/>
                    </a:solidFill>
                  </a:tcPr>
                </a:tc>
                <a:extLst>
                  <a:ext uri="{0D108BD9-81ED-4DB2-BD59-A6C34878D82A}">
                    <a16:rowId xmlns:a16="http://schemas.microsoft.com/office/drawing/2014/main" val="10000"/>
                  </a:ext>
                </a:extLst>
              </a:tr>
              <a:tr h="383500">
                <a:tc>
                  <a:txBody>
                    <a:bodyPr/>
                    <a:lstStyle/>
                    <a:p>
                      <a:pPr>
                        <a:buNone/>
                      </a:pPr>
                      <a:r>
                        <a:rPr lang="en-US">
                          <a:latin typeface="Calibri" panose="020F0502020204030204" pitchFamily="34" charset="0"/>
                          <a:cs typeface="Calibri" panose="020F0502020204030204" pitchFamily="34" charset="0"/>
                        </a:rPr>
                        <a:t>Mode: Rickshaw</a:t>
                      </a:r>
                    </a:p>
                  </a:txBody>
                  <a:tcPr anchor="ctr">
                    <a:lnT w="12700" cap="flat" cmpd="sng">
                      <a:solidFill>
                        <a:schemeClr val="dk1"/>
                      </a:solidFill>
                      <a:prstDash val="solid"/>
                      <a:round/>
                      <a:headEnd type="none" w="sm" len="sm"/>
                      <a:tailEnd type="none" w="sm" len="sm"/>
                    </a:lnT>
                  </a:tcPr>
                </a:tc>
                <a:tc>
                  <a:txBody>
                    <a:bodyPr/>
                    <a:lstStyle/>
                    <a:p>
                      <a:pPr>
                        <a:buNone/>
                      </a:pPr>
                      <a:r>
                        <a:rPr lang="en-US">
                          <a:latin typeface="Calibri" panose="020F0502020204030204" pitchFamily="34" charset="0"/>
                          <a:cs typeface="Calibri" panose="020F0502020204030204" pitchFamily="34" charset="0"/>
                        </a:rPr>
                        <a:t>Binary</a:t>
                      </a:r>
                    </a:p>
                  </a:txBody>
                  <a:tcPr anchor="ctr">
                    <a:lnT w="12700" cap="flat" cmpd="sng">
                      <a:solidFill>
                        <a:schemeClr val="dk1"/>
                      </a:solidFill>
                      <a:prstDash val="solid"/>
                      <a:round/>
                      <a:headEnd type="none" w="sm" len="sm"/>
                      <a:tailEnd type="none" w="sm" len="sm"/>
                    </a:lnT>
                  </a:tcPr>
                </a:tc>
                <a:tc>
                  <a:txBody>
                    <a:bodyPr/>
                    <a:lstStyle/>
                    <a:p>
                      <a:pPr>
                        <a:buNone/>
                      </a:pPr>
                      <a:r>
                        <a:rPr lang="en-US">
                          <a:latin typeface="Calibri" panose="020F0502020204030204" pitchFamily="34" charset="0"/>
                          <a:cs typeface="Calibri" panose="020F0502020204030204" pitchFamily="34" charset="0"/>
                        </a:rPr>
                        <a:t>Two Wheeler</a:t>
                      </a:r>
                    </a:p>
                  </a:txBody>
                  <a:tcPr anchor="ctr">
                    <a:lnT w="12700" cap="flat" cmpd="sng">
                      <a:solidFill>
                        <a:schemeClr val="dk1"/>
                      </a:solidFill>
                      <a:prstDash val="solid"/>
                      <a:round/>
                      <a:headEnd type="none" w="sm" len="sm"/>
                      <a:tailEnd type="none" w="sm" len="sm"/>
                    </a:lnT>
                  </a:tcPr>
                </a:tc>
                <a:tc>
                  <a:txBody>
                    <a:bodyPr/>
                    <a:lstStyle/>
                    <a:p>
                      <a:pPr>
                        <a:buNone/>
                      </a:pPr>
                      <a:r>
                        <a:rPr lang="en-US">
                          <a:latin typeface="Calibri" panose="020F0502020204030204" pitchFamily="34" charset="0"/>
                          <a:cs typeface="Calibri" panose="020F0502020204030204" pitchFamily="34" charset="0"/>
                        </a:rPr>
                        <a:t>+180.78</a:t>
                      </a:r>
                    </a:p>
                  </a:txBody>
                  <a:tcPr anchor="ctr">
                    <a:lnT w="12700" cap="flat" cmpd="sng">
                      <a:solidFill>
                        <a:schemeClr val="dk1"/>
                      </a:solidFill>
                      <a:prstDash val="solid"/>
                      <a:round/>
                      <a:headEnd type="none" w="sm" len="sm"/>
                      <a:tailEnd type="none" w="sm" len="sm"/>
                    </a:lnT>
                  </a:tcPr>
                </a:tc>
                <a:tc>
                  <a:txBody>
                    <a:bodyPr/>
                    <a:lstStyle/>
                    <a:p>
                      <a:pPr>
                        <a:buNone/>
                      </a:pPr>
                      <a:r>
                        <a:rPr lang="en-US">
                          <a:latin typeface="Calibri" panose="020F0502020204030204" pitchFamily="34" charset="0"/>
                          <a:cs typeface="Calibri" panose="020F0502020204030204" pitchFamily="34" charset="0"/>
                        </a:rPr>
                        <a:t>&lt;0.001</a:t>
                      </a:r>
                    </a:p>
                  </a:txBody>
                  <a:tcPr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1"/>
                  </a:ext>
                </a:extLst>
              </a:tr>
              <a:tr h="398175">
                <a:tc>
                  <a:txBody>
                    <a:bodyPr/>
                    <a:lstStyle/>
                    <a:p>
                      <a:pPr>
                        <a:buNone/>
                      </a:pPr>
                      <a:r>
                        <a:rPr lang="en-US">
                          <a:latin typeface="Calibri" panose="020F0502020204030204" pitchFamily="34" charset="0"/>
                          <a:cs typeface="Calibri" panose="020F0502020204030204" pitchFamily="34" charset="0"/>
                        </a:rPr>
                        <a:t>Mode: Bus</a:t>
                      </a:r>
                    </a:p>
                  </a:txBody>
                  <a:tcPr anchor="ctr"/>
                </a:tc>
                <a:tc>
                  <a:txBody>
                    <a:bodyPr/>
                    <a:lstStyle/>
                    <a:p>
                      <a:pPr>
                        <a:buNone/>
                      </a:pPr>
                      <a:r>
                        <a:rPr lang="en-US">
                          <a:latin typeface="Calibri" panose="020F0502020204030204" pitchFamily="34" charset="0"/>
                          <a:cs typeface="Calibri" panose="020F0502020204030204" pitchFamily="34" charset="0"/>
                        </a:rPr>
                        <a:t>Binary</a:t>
                      </a:r>
                    </a:p>
                  </a:txBody>
                  <a:tcPr anchor="ctr"/>
                </a:tc>
                <a:tc>
                  <a:txBody>
                    <a:bodyPr/>
                    <a:lstStyle/>
                    <a:p>
                      <a:pPr>
                        <a:buNone/>
                      </a:pPr>
                      <a:r>
                        <a:rPr lang="en-US">
                          <a:latin typeface="Calibri" panose="020F0502020204030204" pitchFamily="34" charset="0"/>
                          <a:cs typeface="Calibri" panose="020F0502020204030204" pitchFamily="34" charset="0"/>
                        </a:rPr>
                        <a:t>Two Wheeler</a:t>
                      </a:r>
                    </a:p>
                  </a:txBody>
                  <a:tcPr anchor="ctr"/>
                </a:tc>
                <a:tc>
                  <a:txBody>
                    <a:bodyPr/>
                    <a:lstStyle/>
                    <a:p>
                      <a:pPr>
                        <a:buNone/>
                      </a:pPr>
                      <a:r>
                        <a:rPr lang="en-US">
                          <a:latin typeface="Calibri" panose="020F0502020204030204" pitchFamily="34" charset="0"/>
                          <a:cs typeface="Calibri" panose="020F0502020204030204" pitchFamily="34" charset="0"/>
                        </a:rPr>
                        <a:t>+165.29</a:t>
                      </a:r>
                    </a:p>
                  </a:txBody>
                  <a:tcPr anchor="ctr"/>
                </a:tc>
                <a:tc>
                  <a:txBody>
                    <a:bodyPr/>
                    <a:lstStyle/>
                    <a:p>
                      <a:pPr>
                        <a:buNone/>
                      </a:pPr>
                      <a:r>
                        <a:rPr lang="en-US">
                          <a:latin typeface="Calibri" panose="020F0502020204030204" pitchFamily="34" charset="0"/>
                          <a:cs typeface="Calibri" panose="020F0502020204030204" pitchFamily="34" charset="0"/>
                        </a:rPr>
                        <a:t>&lt;0.001</a:t>
                      </a:r>
                    </a:p>
                  </a:txBody>
                  <a:tcPr anchor="ctr"/>
                </a:tc>
                <a:extLst>
                  <a:ext uri="{0D108BD9-81ED-4DB2-BD59-A6C34878D82A}">
                    <a16:rowId xmlns:a16="http://schemas.microsoft.com/office/drawing/2014/main" val="10002"/>
                  </a:ext>
                </a:extLst>
              </a:tr>
              <a:tr h="359150">
                <a:tc>
                  <a:txBody>
                    <a:bodyPr/>
                    <a:lstStyle/>
                    <a:p>
                      <a:pPr>
                        <a:buNone/>
                      </a:pPr>
                      <a:r>
                        <a:rPr lang="en-US">
                          <a:latin typeface="Calibri" panose="020F0502020204030204" pitchFamily="34" charset="0"/>
                          <a:cs typeface="Calibri" panose="020F0502020204030204" pitchFamily="34" charset="0"/>
                        </a:rPr>
                        <a:t>Age</a:t>
                      </a:r>
                    </a:p>
                  </a:txBody>
                  <a:tcPr anchor="ctr"/>
                </a:tc>
                <a:tc>
                  <a:txBody>
                    <a:bodyPr/>
                    <a:lstStyle/>
                    <a:p>
                      <a:pPr>
                        <a:buNone/>
                      </a:pPr>
                      <a:r>
                        <a:rPr lang="en-US">
                          <a:latin typeface="Calibri" panose="020F0502020204030204" pitchFamily="34" charset="0"/>
                          <a:cs typeface="Calibri" panose="020F0502020204030204" pitchFamily="34" charset="0"/>
                        </a:rPr>
                        <a:t>Continuous</a:t>
                      </a:r>
                    </a:p>
                  </a:txBody>
                  <a:tcPr anchor="ctr"/>
                </a:tc>
                <a:tc>
                  <a:txBody>
                    <a:bodyPr/>
                    <a:lstStyle/>
                    <a:p>
                      <a:pPr>
                        <a:buNone/>
                      </a:pPr>
                      <a:r>
                        <a:rPr lang="en-US">
                          <a:latin typeface="Calibri" panose="020F0502020204030204" pitchFamily="34" charset="0"/>
                          <a:cs typeface="Calibri" panose="020F0502020204030204" pitchFamily="34" charset="0"/>
                        </a:rPr>
                        <a:t>Not applicable; one-year increase</a:t>
                      </a:r>
                    </a:p>
                  </a:txBody>
                  <a:tcPr anchor="ctr"/>
                </a:tc>
                <a:tc>
                  <a:txBody>
                    <a:bodyPr/>
                    <a:lstStyle/>
                    <a:p>
                      <a:pPr>
                        <a:buNone/>
                      </a:pPr>
                      <a:r>
                        <a:rPr lang="en-US">
                          <a:latin typeface="Calibri" panose="020F0502020204030204" pitchFamily="34" charset="0"/>
                          <a:cs typeface="Calibri" panose="020F0502020204030204" pitchFamily="34" charset="0"/>
                        </a:rPr>
                        <a:t>−1.13</a:t>
                      </a:r>
                    </a:p>
                  </a:txBody>
                  <a:tcPr anchor="ctr"/>
                </a:tc>
                <a:tc>
                  <a:txBody>
                    <a:bodyPr/>
                    <a:lstStyle/>
                    <a:p>
                      <a:pPr>
                        <a:buNone/>
                      </a:pPr>
                      <a:r>
                        <a:rPr lang="en-US">
                          <a:latin typeface="Calibri" panose="020F0502020204030204" pitchFamily="34" charset="0"/>
                          <a:cs typeface="Calibri" panose="020F0502020204030204" pitchFamily="34" charset="0"/>
                        </a:rPr>
                        <a:t>0.033</a:t>
                      </a:r>
                    </a:p>
                  </a:txBody>
                  <a:tcPr anchor="ctr"/>
                </a:tc>
                <a:extLst>
                  <a:ext uri="{0D108BD9-81ED-4DB2-BD59-A6C34878D82A}">
                    <a16:rowId xmlns:a16="http://schemas.microsoft.com/office/drawing/2014/main" val="10003"/>
                  </a:ext>
                </a:extLst>
              </a:tr>
              <a:tr h="341525">
                <a:tc>
                  <a:txBody>
                    <a:bodyPr/>
                    <a:lstStyle/>
                    <a:p>
                      <a:pPr>
                        <a:buNone/>
                      </a:pPr>
                      <a:r>
                        <a:rPr lang="en-US">
                          <a:latin typeface="Calibri" panose="020F0502020204030204" pitchFamily="34" charset="0"/>
                          <a:cs typeface="Calibri" panose="020F0502020204030204" pitchFamily="34" charset="0"/>
                        </a:rPr>
                        <a:t>Gender: Male</a:t>
                      </a:r>
                    </a:p>
                  </a:txBody>
                  <a:tcPr anchor="ctr"/>
                </a:tc>
                <a:tc>
                  <a:txBody>
                    <a:bodyPr/>
                    <a:lstStyle/>
                    <a:p>
                      <a:pPr>
                        <a:buNone/>
                      </a:pPr>
                      <a:r>
                        <a:rPr lang="en-US">
                          <a:latin typeface="Calibri" panose="020F0502020204030204" pitchFamily="34" charset="0"/>
                          <a:cs typeface="Calibri" panose="020F0502020204030204" pitchFamily="34" charset="0"/>
                        </a:rPr>
                        <a:t>Binary</a:t>
                      </a:r>
                    </a:p>
                  </a:txBody>
                  <a:tcPr anchor="ctr"/>
                </a:tc>
                <a:tc>
                  <a:txBody>
                    <a:bodyPr/>
                    <a:lstStyle/>
                    <a:p>
                      <a:pPr>
                        <a:buNone/>
                      </a:pPr>
                      <a:r>
                        <a:rPr lang="en-US">
                          <a:latin typeface="Calibri" panose="020F0502020204030204" pitchFamily="34" charset="0"/>
                          <a:cs typeface="Calibri" panose="020F0502020204030204" pitchFamily="34" charset="0"/>
                        </a:rPr>
                        <a:t>Female</a:t>
                      </a:r>
                    </a:p>
                  </a:txBody>
                  <a:tcPr anchor="ctr"/>
                </a:tc>
                <a:tc>
                  <a:txBody>
                    <a:bodyPr/>
                    <a:lstStyle/>
                    <a:p>
                      <a:pPr>
                        <a:buNone/>
                      </a:pPr>
                      <a:r>
                        <a:rPr lang="en-US">
                          <a:latin typeface="Calibri" panose="020F0502020204030204" pitchFamily="34" charset="0"/>
                          <a:cs typeface="Calibri" panose="020F0502020204030204" pitchFamily="34" charset="0"/>
                        </a:rPr>
                        <a:t>+2.49</a:t>
                      </a:r>
                    </a:p>
                  </a:txBody>
                  <a:tcPr anchor="ctr"/>
                </a:tc>
                <a:tc>
                  <a:txBody>
                    <a:bodyPr/>
                    <a:lstStyle/>
                    <a:p>
                      <a:pPr>
                        <a:buNone/>
                      </a:pPr>
                      <a:r>
                        <a:rPr lang="en-US">
                          <a:latin typeface="Calibri" panose="020F0502020204030204" pitchFamily="34" charset="0"/>
                          <a:cs typeface="Calibri" panose="020F0502020204030204" pitchFamily="34" charset="0"/>
                        </a:rPr>
                        <a:t>0.881</a:t>
                      </a:r>
                    </a:p>
                  </a:txBody>
                  <a:tcPr anchor="ctr"/>
                </a:tc>
                <a:extLst>
                  <a:ext uri="{0D108BD9-81ED-4DB2-BD59-A6C34878D82A}">
                    <a16:rowId xmlns:a16="http://schemas.microsoft.com/office/drawing/2014/main" val="10004"/>
                  </a:ext>
                </a:extLst>
              </a:tr>
              <a:tr h="352550">
                <a:tc>
                  <a:txBody>
                    <a:bodyPr/>
                    <a:lstStyle/>
                    <a:p>
                      <a:pPr>
                        <a:buNone/>
                      </a:pPr>
                      <a:r>
                        <a:rPr lang="en-US">
                          <a:latin typeface="Calibri" panose="020F0502020204030204" pitchFamily="34" charset="0"/>
                          <a:cs typeface="Calibri" panose="020F0502020204030204" pitchFamily="34" charset="0"/>
                        </a:rPr>
                        <a:t>Purpose: Work</a:t>
                      </a:r>
                    </a:p>
                  </a:txBody>
                  <a:tcPr anchor="ctr"/>
                </a:tc>
                <a:tc>
                  <a:txBody>
                    <a:bodyPr/>
                    <a:lstStyle/>
                    <a:p>
                      <a:pPr>
                        <a:buNone/>
                      </a:pPr>
                      <a:r>
                        <a:rPr lang="en-US">
                          <a:latin typeface="Calibri" panose="020F0502020204030204" pitchFamily="34" charset="0"/>
                          <a:cs typeface="Calibri" panose="020F0502020204030204" pitchFamily="34" charset="0"/>
                        </a:rPr>
                        <a:t>Binary</a:t>
                      </a:r>
                    </a:p>
                  </a:txBody>
                  <a:tcPr anchor="ctr"/>
                </a:tc>
                <a:tc>
                  <a:txBody>
                    <a:bodyPr/>
                    <a:lstStyle/>
                    <a:p>
                      <a:pPr>
                        <a:buNone/>
                      </a:pPr>
                      <a:r>
                        <a:rPr lang="en-US">
                          <a:latin typeface="Calibri" panose="020F0502020204030204" pitchFamily="34" charset="0"/>
                          <a:cs typeface="Calibri" panose="020F0502020204030204" pitchFamily="34" charset="0"/>
                        </a:rPr>
                        <a:t>Other purpose</a:t>
                      </a:r>
                    </a:p>
                  </a:txBody>
                  <a:tcPr anchor="ctr"/>
                </a:tc>
                <a:tc>
                  <a:txBody>
                    <a:bodyPr/>
                    <a:lstStyle/>
                    <a:p>
                      <a:pPr>
                        <a:buNone/>
                      </a:pPr>
                      <a:r>
                        <a:rPr lang="en-US">
                          <a:latin typeface="Calibri" panose="020F0502020204030204" pitchFamily="34" charset="0"/>
                          <a:cs typeface="Calibri" panose="020F0502020204030204" pitchFamily="34" charset="0"/>
                        </a:rPr>
                        <a:t>−14.01</a:t>
                      </a:r>
                    </a:p>
                  </a:txBody>
                  <a:tcPr anchor="ctr"/>
                </a:tc>
                <a:tc>
                  <a:txBody>
                    <a:bodyPr/>
                    <a:lstStyle/>
                    <a:p>
                      <a:pPr>
                        <a:buNone/>
                      </a:pPr>
                      <a:r>
                        <a:rPr lang="en-US">
                          <a:latin typeface="Calibri" panose="020F0502020204030204" pitchFamily="34" charset="0"/>
                          <a:cs typeface="Calibri" panose="020F0502020204030204" pitchFamily="34" charset="0"/>
                        </a:rPr>
                        <a:t>0.423</a:t>
                      </a:r>
                    </a:p>
                  </a:txBody>
                  <a:tcPr anchor="ctr"/>
                </a:tc>
                <a:extLst>
                  <a:ext uri="{0D108BD9-81ED-4DB2-BD59-A6C34878D82A}">
                    <a16:rowId xmlns:a16="http://schemas.microsoft.com/office/drawing/2014/main" val="10005"/>
                  </a:ext>
                </a:extLst>
              </a:tr>
              <a:tr h="352550">
                <a:tc>
                  <a:txBody>
                    <a:bodyPr/>
                    <a:lstStyle/>
                    <a:p>
                      <a:pPr>
                        <a:buNone/>
                      </a:pPr>
                      <a:r>
                        <a:rPr lang="en-US">
                          <a:latin typeface="Calibri" panose="020F0502020204030204" pitchFamily="34" charset="0"/>
                          <a:cs typeface="Calibri" panose="020F0502020204030204" pitchFamily="34" charset="0"/>
                        </a:rPr>
                        <a:t>OD time: Short</a:t>
                      </a:r>
                    </a:p>
                  </a:txBody>
                  <a:tcPr anchor="ctr"/>
                </a:tc>
                <a:tc>
                  <a:txBody>
                    <a:bodyPr/>
                    <a:lstStyle/>
                    <a:p>
                      <a:pPr>
                        <a:buNone/>
                      </a:pPr>
                      <a:r>
                        <a:rPr lang="en-US">
                          <a:latin typeface="Calibri" panose="020F0502020204030204" pitchFamily="34" charset="0"/>
                          <a:cs typeface="Calibri" panose="020F0502020204030204" pitchFamily="34" charset="0"/>
                        </a:rPr>
                        <a:t>Binary</a:t>
                      </a:r>
                    </a:p>
                  </a:txBody>
                  <a:tcPr anchor="ctr"/>
                </a:tc>
                <a:tc>
                  <a:txBody>
                    <a:bodyPr/>
                    <a:lstStyle/>
                    <a:p>
                      <a:pPr>
                        <a:buNone/>
                      </a:pPr>
                      <a:r>
                        <a:rPr lang="en-US">
                          <a:latin typeface="Calibri" panose="020F0502020204030204" pitchFamily="34" charset="0"/>
                          <a:cs typeface="Calibri" panose="020F0502020204030204" pitchFamily="34" charset="0"/>
                        </a:rPr>
                        <a:t>Long: &gt;10 min</a:t>
                      </a:r>
                    </a:p>
                  </a:txBody>
                  <a:tcPr anchor="ctr"/>
                </a:tc>
                <a:tc>
                  <a:txBody>
                    <a:bodyPr/>
                    <a:lstStyle/>
                    <a:p>
                      <a:pPr>
                        <a:buNone/>
                      </a:pPr>
                      <a:r>
                        <a:rPr lang="en-US">
                          <a:latin typeface="Calibri" panose="020F0502020204030204" pitchFamily="34" charset="0"/>
                          <a:cs typeface="Calibri" panose="020F0502020204030204" pitchFamily="34" charset="0"/>
                        </a:rPr>
                        <a:t>+4.08</a:t>
                      </a:r>
                    </a:p>
                  </a:txBody>
                  <a:tcPr anchor="ctr"/>
                </a:tc>
                <a:tc>
                  <a:txBody>
                    <a:bodyPr/>
                    <a:lstStyle/>
                    <a:p>
                      <a:pPr>
                        <a:buNone/>
                      </a:pPr>
                      <a:r>
                        <a:rPr lang="en-US">
                          <a:latin typeface="Calibri" panose="020F0502020204030204" pitchFamily="34" charset="0"/>
                          <a:cs typeface="Calibri" panose="020F0502020204030204" pitchFamily="34" charset="0"/>
                        </a:rPr>
                        <a:t>0.809</a:t>
                      </a:r>
                    </a:p>
                  </a:txBody>
                  <a:tcPr anchor="ctr"/>
                </a:tc>
                <a:extLst>
                  <a:ext uri="{0D108BD9-81ED-4DB2-BD59-A6C34878D82A}">
                    <a16:rowId xmlns:a16="http://schemas.microsoft.com/office/drawing/2014/main" val="10006"/>
                  </a:ext>
                </a:extLst>
              </a:tr>
              <a:tr h="374575">
                <a:tc>
                  <a:txBody>
                    <a:bodyPr/>
                    <a:lstStyle/>
                    <a:p>
                      <a:pPr>
                        <a:buNone/>
                      </a:pPr>
                      <a:r>
                        <a:rPr lang="en-US">
                          <a:latin typeface="Calibri" panose="020F0502020204030204" pitchFamily="34" charset="0"/>
                          <a:cs typeface="Calibri" panose="020F0502020204030204" pitchFamily="34" charset="0"/>
                        </a:rPr>
                        <a:t>OD fare: Low</a:t>
                      </a:r>
                    </a:p>
                  </a:txBody>
                  <a:tcPr anchor="ctr"/>
                </a:tc>
                <a:tc>
                  <a:txBody>
                    <a:bodyPr/>
                    <a:lstStyle/>
                    <a:p>
                      <a:pPr>
                        <a:buNone/>
                      </a:pPr>
                      <a:r>
                        <a:rPr lang="en-US">
                          <a:latin typeface="Calibri" panose="020F0502020204030204" pitchFamily="34" charset="0"/>
                          <a:cs typeface="Calibri" panose="020F0502020204030204" pitchFamily="34" charset="0"/>
                        </a:rPr>
                        <a:t>Binary</a:t>
                      </a:r>
                    </a:p>
                  </a:txBody>
                  <a:tcPr anchor="ctr"/>
                </a:tc>
                <a:tc>
                  <a:txBody>
                    <a:bodyPr/>
                    <a:lstStyle/>
                    <a:p>
                      <a:pPr>
                        <a:buNone/>
                      </a:pPr>
                      <a:r>
                        <a:rPr lang="en-US">
                          <a:latin typeface="Calibri" panose="020F0502020204030204" pitchFamily="34" charset="0"/>
                          <a:cs typeface="Calibri" panose="020F0502020204030204" pitchFamily="34" charset="0"/>
                        </a:rPr>
                        <a:t>High: &gt;₹10</a:t>
                      </a:r>
                    </a:p>
                  </a:txBody>
                  <a:tcPr anchor="ctr"/>
                </a:tc>
                <a:tc>
                  <a:txBody>
                    <a:bodyPr/>
                    <a:lstStyle/>
                    <a:p>
                      <a:pPr>
                        <a:buNone/>
                      </a:pPr>
                      <a:r>
                        <a:rPr lang="en-US">
                          <a:latin typeface="Calibri" panose="020F0502020204030204" pitchFamily="34" charset="0"/>
                          <a:cs typeface="Calibri" panose="020F0502020204030204" pitchFamily="34" charset="0"/>
                        </a:rPr>
                        <a:t>−10.33</a:t>
                      </a:r>
                    </a:p>
                  </a:txBody>
                  <a:tcPr anchor="ctr"/>
                </a:tc>
                <a:tc>
                  <a:txBody>
                    <a:bodyPr/>
                    <a:lstStyle/>
                    <a:p>
                      <a:pPr>
                        <a:buNone/>
                      </a:pPr>
                      <a:r>
                        <a:rPr lang="en-US">
                          <a:latin typeface="Calibri" panose="020F0502020204030204" pitchFamily="34" charset="0"/>
                          <a:cs typeface="Calibri" panose="020F0502020204030204" pitchFamily="34" charset="0"/>
                        </a:rPr>
                        <a:t>0.637</a:t>
                      </a:r>
                    </a:p>
                  </a:txBody>
                  <a:tcPr anchor="ctr"/>
                </a:tc>
                <a:extLst>
                  <a:ext uri="{0D108BD9-81ED-4DB2-BD59-A6C34878D82A}">
                    <a16:rowId xmlns:a16="http://schemas.microsoft.com/office/drawing/2014/main" val="10007"/>
                  </a:ext>
                </a:extLst>
              </a:tr>
              <a:tr h="352550">
                <a:tc>
                  <a:txBody>
                    <a:bodyPr/>
                    <a:lstStyle/>
                    <a:p>
                      <a:pPr>
                        <a:buNone/>
                      </a:pPr>
                      <a:r>
                        <a:rPr lang="en-US">
                          <a:latin typeface="Calibri" panose="020F0502020204030204" pitchFamily="34" charset="0"/>
                          <a:cs typeface="Calibri" panose="020F0502020204030204" pitchFamily="34" charset="0"/>
                        </a:rPr>
                        <a:t>OD distance: Short</a:t>
                      </a:r>
                    </a:p>
                  </a:txBody>
                  <a:tcPr anchor="ctr"/>
                </a:tc>
                <a:tc>
                  <a:txBody>
                    <a:bodyPr/>
                    <a:lstStyle/>
                    <a:p>
                      <a:pPr>
                        <a:buNone/>
                      </a:pPr>
                      <a:r>
                        <a:rPr lang="en-US">
                          <a:latin typeface="Calibri" panose="020F0502020204030204" pitchFamily="34" charset="0"/>
                          <a:cs typeface="Calibri" panose="020F0502020204030204" pitchFamily="34" charset="0"/>
                        </a:rPr>
                        <a:t>Binary</a:t>
                      </a:r>
                    </a:p>
                  </a:txBody>
                  <a:tcPr anchor="ctr"/>
                </a:tc>
                <a:tc>
                  <a:txBody>
                    <a:bodyPr/>
                    <a:lstStyle/>
                    <a:p>
                      <a:pPr>
                        <a:buNone/>
                      </a:pPr>
                      <a:r>
                        <a:rPr lang="en-US">
                          <a:latin typeface="Calibri" panose="020F0502020204030204" pitchFamily="34" charset="0"/>
                          <a:cs typeface="Calibri" panose="020F0502020204030204" pitchFamily="34" charset="0"/>
                        </a:rPr>
                        <a:t>Long: &gt;5 km</a:t>
                      </a:r>
                    </a:p>
                  </a:txBody>
                  <a:tcPr anchor="ctr"/>
                </a:tc>
                <a:tc>
                  <a:txBody>
                    <a:bodyPr/>
                    <a:lstStyle/>
                    <a:p>
                      <a:pPr>
                        <a:buNone/>
                      </a:pPr>
                      <a:r>
                        <a:rPr lang="en-US">
                          <a:latin typeface="Calibri" panose="020F0502020204030204" pitchFamily="34" charset="0"/>
                          <a:cs typeface="Calibri" panose="020F0502020204030204" pitchFamily="34" charset="0"/>
                        </a:rPr>
                        <a:t>−13.68</a:t>
                      </a:r>
                    </a:p>
                  </a:txBody>
                  <a:tcPr anchor="ctr"/>
                </a:tc>
                <a:tc>
                  <a:txBody>
                    <a:bodyPr/>
                    <a:lstStyle/>
                    <a:p>
                      <a:pPr>
                        <a:buNone/>
                      </a:pPr>
                      <a:r>
                        <a:rPr lang="en-US">
                          <a:latin typeface="Calibri" panose="020F0502020204030204" pitchFamily="34" charset="0"/>
                          <a:cs typeface="Calibri" panose="020F0502020204030204" pitchFamily="34" charset="0"/>
                        </a:rPr>
                        <a:t>0.439</a:t>
                      </a:r>
                    </a:p>
                  </a:txBody>
                  <a:tcPr anchor="ctr"/>
                </a:tc>
                <a:extLst>
                  <a:ext uri="{0D108BD9-81ED-4DB2-BD59-A6C34878D82A}">
                    <a16:rowId xmlns:a16="http://schemas.microsoft.com/office/drawing/2014/main" val="10008"/>
                  </a:ext>
                </a:extLst>
              </a:tr>
              <a:tr h="471475">
                <a:tc>
                  <a:txBody>
                    <a:bodyPr/>
                    <a:lstStyle/>
                    <a:p>
                      <a:pPr>
                        <a:buNone/>
                      </a:pPr>
                      <a:r>
                        <a:rPr lang="en-US">
                          <a:latin typeface="Calibri" panose="020F0502020204030204" pitchFamily="34" charset="0"/>
                          <a:cs typeface="Calibri" panose="020F0502020204030204" pitchFamily="34" charset="0"/>
                        </a:rPr>
                        <a:t>Weekly trips: High</a:t>
                      </a:r>
                    </a:p>
                  </a:txBody>
                  <a:tcPr anchor="ctr"/>
                </a:tc>
                <a:tc>
                  <a:txBody>
                    <a:bodyPr/>
                    <a:lstStyle/>
                    <a:p>
                      <a:pPr>
                        <a:buNone/>
                      </a:pPr>
                      <a:r>
                        <a:rPr lang="en-US">
                          <a:latin typeface="Calibri" panose="020F0502020204030204" pitchFamily="34" charset="0"/>
                          <a:cs typeface="Calibri" panose="020F0502020204030204" pitchFamily="34" charset="0"/>
                        </a:rPr>
                        <a:t>Binary</a:t>
                      </a:r>
                    </a:p>
                  </a:txBody>
                  <a:tcPr anchor="ctr"/>
                </a:tc>
                <a:tc>
                  <a:txBody>
                    <a:bodyPr/>
                    <a:lstStyle/>
                    <a:p>
                      <a:pPr>
                        <a:buNone/>
                      </a:pPr>
                      <a:r>
                        <a:rPr lang="en-US">
                          <a:latin typeface="Calibri" panose="020F0502020204030204" pitchFamily="34" charset="0"/>
                          <a:cs typeface="Calibri" panose="020F0502020204030204" pitchFamily="34" charset="0"/>
                        </a:rPr>
                        <a:t>Low: &lt;5 trips/week</a:t>
                      </a:r>
                    </a:p>
                  </a:txBody>
                  <a:tcPr anchor="ctr"/>
                </a:tc>
                <a:tc>
                  <a:txBody>
                    <a:bodyPr/>
                    <a:lstStyle/>
                    <a:p>
                      <a:pPr>
                        <a:buNone/>
                      </a:pPr>
                      <a:r>
                        <a:rPr lang="en-US">
                          <a:latin typeface="Calibri" panose="020F0502020204030204" pitchFamily="34" charset="0"/>
                          <a:cs typeface="Calibri" panose="020F0502020204030204" pitchFamily="34" charset="0"/>
                        </a:rPr>
                        <a:t>−48.47</a:t>
                      </a:r>
                    </a:p>
                  </a:txBody>
                  <a:tcPr anchor="ctr"/>
                </a:tc>
                <a:tc>
                  <a:txBody>
                    <a:bodyPr/>
                    <a:lstStyle/>
                    <a:p>
                      <a:pPr>
                        <a:buNone/>
                      </a:pPr>
                      <a:r>
                        <a:rPr lang="en-US">
                          <a:latin typeface="Calibri" panose="020F0502020204030204" pitchFamily="34" charset="0"/>
                          <a:cs typeface="Calibri" panose="020F0502020204030204" pitchFamily="34" charset="0"/>
                        </a:rPr>
                        <a:t>0.003</a:t>
                      </a:r>
                    </a:p>
                  </a:txBody>
                  <a:tcPr anchor="ctr"/>
                </a:tc>
                <a:extLst>
                  <a:ext uri="{0D108BD9-81ED-4DB2-BD59-A6C34878D82A}">
                    <a16:rowId xmlns:a16="http://schemas.microsoft.com/office/drawing/2014/main" val="10009"/>
                  </a:ext>
                </a:extLst>
              </a:tr>
              <a:tr h="471475">
                <a:tc>
                  <a:txBody>
                    <a:bodyPr/>
                    <a:lstStyle/>
                    <a:p>
                      <a:pPr>
                        <a:buNone/>
                      </a:pPr>
                      <a:r>
                        <a:rPr lang="en-US">
                          <a:latin typeface="Calibri" panose="020F0502020204030204" pitchFamily="34" charset="0"/>
                          <a:cs typeface="Calibri" panose="020F0502020204030204" pitchFamily="34" charset="0"/>
                        </a:rPr>
                        <a:t>Two-wheeler ownership: Yes</a:t>
                      </a:r>
                    </a:p>
                  </a:txBody>
                  <a:tcPr anchor="ctr"/>
                </a:tc>
                <a:tc>
                  <a:txBody>
                    <a:bodyPr/>
                    <a:lstStyle/>
                    <a:p>
                      <a:pPr>
                        <a:buNone/>
                      </a:pPr>
                      <a:r>
                        <a:rPr lang="en-US">
                          <a:latin typeface="Calibri" panose="020F0502020204030204" pitchFamily="34" charset="0"/>
                          <a:cs typeface="Calibri" panose="020F0502020204030204" pitchFamily="34" charset="0"/>
                        </a:rPr>
                        <a:t>Binary</a:t>
                      </a:r>
                    </a:p>
                  </a:txBody>
                  <a:tcPr anchor="ctr"/>
                </a:tc>
                <a:tc>
                  <a:txBody>
                    <a:bodyPr/>
                    <a:lstStyle/>
                    <a:p>
                      <a:pPr>
                        <a:buNone/>
                      </a:pPr>
                      <a:r>
                        <a:rPr lang="en-US">
                          <a:latin typeface="Calibri" panose="020F0502020204030204" pitchFamily="34" charset="0"/>
                          <a:cs typeface="Calibri" panose="020F0502020204030204" pitchFamily="34" charset="0"/>
                        </a:rPr>
                        <a:t>No two-wheeler owned</a:t>
                      </a:r>
                    </a:p>
                  </a:txBody>
                  <a:tcPr anchor="ctr"/>
                </a:tc>
                <a:tc>
                  <a:txBody>
                    <a:bodyPr/>
                    <a:lstStyle/>
                    <a:p>
                      <a:pPr>
                        <a:buNone/>
                      </a:pPr>
                      <a:r>
                        <a:rPr lang="en-US">
                          <a:latin typeface="Calibri" panose="020F0502020204030204" pitchFamily="34" charset="0"/>
                          <a:cs typeface="Calibri" panose="020F0502020204030204" pitchFamily="34" charset="0"/>
                        </a:rPr>
                        <a:t>+19.40</a:t>
                      </a:r>
                    </a:p>
                  </a:txBody>
                  <a:tcPr anchor="ctr"/>
                </a:tc>
                <a:tc>
                  <a:txBody>
                    <a:bodyPr/>
                    <a:lstStyle/>
                    <a:p>
                      <a:pPr>
                        <a:buNone/>
                      </a:pPr>
                      <a:r>
                        <a:rPr lang="en-US">
                          <a:latin typeface="Calibri" panose="020F0502020204030204" pitchFamily="34" charset="0"/>
                          <a:cs typeface="Calibri" panose="020F0502020204030204" pitchFamily="34" charset="0"/>
                        </a:rPr>
                        <a:t>0.259</a:t>
                      </a:r>
                    </a:p>
                  </a:txBody>
                  <a:tcPr anchor="ctr"/>
                </a:tc>
                <a:extLst>
                  <a:ext uri="{0D108BD9-81ED-4DB2-BD59-A6C34878D82A}">
                    <a16:rowId xmlns:a16="http://schemas.microsoft.com/office/drawing/2014/main" val="10010"/>
                  </a:ext>
                </a:extLst>
              </a:tr>
              <a:tr h="581775">
                <a:tc>
                  <a:txBody>
                    <a:bodyPr/>
                    <a:lstStyle/>
                    <a:p>
                      <a:pPr>
                        <a:buNone/>
                      </a:pPr>
                      <a:r>
                        <a:rPr lang="en-US">
                          <a:latin typeface="Calibri" panose="020F0502020204030204" pitchFamily="34" charset="0"/>
                          <a:cs typeface="Calibri" panose="020F0502020204030204" pitchFamily="34" charset="0"/>
                        </a:rPr>
                        <a:t>Four-wheeler ownership: Yes</a:t>
                      </a:r>
                    </a:p>
                  </a:txBody>
                  <a:tcPr anchor="ctr"/>
                </a:tc>
                <a:tc>
                  <a:txBody>
                    <a:bodyPr/>
                    <a:lstStyle/>
                    <a:p>
                      <a:pPr>
                        <a:buNone/>
                      </a:pPr>
                      <a:r>
                        <a:rPr lang="en-US">
                          <a:latin typeface="Calibri" panose="020F0502020204030204" pitchFamily="34" charset="0"/>
                          <a:cs typeface="Calibri" panose="020F0502020204030204" pitchFamily="34" charset="0"/>
                        </a:rPr>
                        <a:t>Binary</a:t>
                      </a:r>
                    </a:p>
                  </a:txBody>
                  <a:tcPr anchor="ctr"/>
                </a:tc>
                <a:tc>
                  <a:txBody>
                    <a:bodyPr/>
                    <a:lstStyle/>
                    <a:p>
                      <a:pPr>
                        <a:buNone/>
                      </a:pPr>
                      <a:r>
                        <a:rPr lang="en-US">
                          <a:latin typeface="Calibri" panose="020F0502020204030204" pitchFamily="34" charset="0"/>
                          <a:cs typeface="Calibri" panose="020F0502020204030204" pitchFamily="34" charset="0"/>
                        </a:rPr>
                        <a:t>No four-wheeler owned</a:t>
                      </a:r>
                    </a:p>
                  </a:txBody>
                  <a:tcPr anchor="ctr"/>
                </a:tc>
                <a:tc>
                  <a:txBody>
                    <a:bodyPr/>
                    <a:lstStyle/>
                    <a:p>
                      <a:pPr>
                        <a:buNone/>
                      </a:pPr>
                      <a:r>
                        <a:rPr lang="en-US">
                          <a:latin typeface="Calibri" panose="020F0502020204030204" pitchFamily="34" charset="0"/>
                          <a:cs typeface="Calibri" panose="020F0502020204030204" pitchFamily="34" charset="0"/>
                        </a:rPr>
                        <a:t>+9.50</a:t>
                      </a:r>
                    </a:p>
                  </a:txBody>
                  <a:tcPr anchor="ctr"/>
                </a:tc>
                <a:tc>
                  <a:txBody>
                    <a:bodyPr/>
                    <a:lstStyle/>
                    <a:p>
                      <a:pPr>
                        <a:buNone/>
                      </a:pPr>
                      <a:r>
                        <a:rPr lang="en-US" dirty="0">
                          <a:latin typeface="Calibri" panose="020F0502020204030204" pitchFamily="34" charset="0"/>
                          <a:cs typeface="Calibri" panose="020F0502020204030204" pitchFamily="34" charset="0"/>
                        </a:rPr>
                        <a:t>0.596</a:t>
                      </a:r>
                    </a:p>
                  </a:txBody>
                  <a:tcPr anchor="ct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4179022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5"/>
          <p:cNvSpPr txBox="1">
            <a:spLocks noGrp="1"/>
          </p:cNvSpPr>
          <p:nvPr>
            <p:ph type="title"/>
          </p:nvPr>
        </p:nvSpPr>
        <p:spPr>
          <a:xfrm>
            <a:off x="256032" y="225653"/>
            <a:ext cx="11284500" cy="433566"/>
          </a:xfrm>
          <a:prstGeom prst="rect">
            <a:avLst/>
          </a:prstGeom>
          <a:noFill/>
          <a:ln>
            <a:noFill/>
          </a:ln>
        </p:spPr>
        <p:txBody>
          <a:bodyPr spcFirstLastPara="1" wrap="square" lIns="0" tIns="45700" rIns="0" bIns="45700" anchor="t" anchorCtr="0">
            <a:normAutofit fontScale="90000"/>
          </a:bodyPr>
          <a:lstStyle/>
          <a:p>
            <a:pPr marL="0" lvl="0" indent="0" algn="l" rtl="0">
              <a:lnSpc>
                <a:spcPct val="100000"/>
              </a:lnSpc>
              <a:spcBef>
                <a:spcPts val="0"/>
              </a:spcBef>
              <a:spcAft>
                <a:spcPts val="0"/>
              </a:spcAft>
              <a:buClr>
                <a:schemeClr val="accent1"/>
              </a:buClr>
              <a:buSzPct val="166667"/>
              <a:buFont typeface="Calibri"/>
              <a:buNone/>
            </a:pPr>
            <a:r>
              <a:rPr lang="en-IN"/>
              <a:t>Expected Outputs from M2: Reduction in pollution</a:t>
            </a:r>
            <a:br>
              <a:rPr lang="en-IN"/>
            </a:br>
            <a:endParaRPr sz="1600" b="0">
              <a:solidFill>
                <a:srgbClr val="009CD8"/>
              </a:solidFill>
            </a:endParaRPr>
          </a:p>
        </p:txBody>
      </p:sp>
      <p:sp>
        <p:nvSpPr>
          <p:cNvPr id="267" name="Google Shape;267;p5"/>
          <p:cNvSpPr txBox="1"/>
          <p:nvPr/>
        </p:nvSpPr>
        <p:spPr>
          <a:xfrm>
            <a:off x="-276585" y="6235395"/>
            <a:ext cx="773100" cy="3651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600" b="0" i="0" u="none" strike="noStrike" cap="none">
                <a:solidFill>
                  <a:srgbClr val="888888"/>
                </a:solidFill>
                <a:latin typeface="Calibri"/>
                <a:ea typeface="Calibri"/>
                <a:cs typeface="Calibri"/>
                <a:sym typeface="Calibri"/>
              </a:rPr>
              <a:t>22</a:t>
            </a:fld>
            <a:r>
              <a:rPr lang="en-IN" sz="1600" b="0" i="0" u="none" strike="noStrike" cap="none">
                <a:solidFill>
                  <a:srgbClr val="888888"/>
                </a:solidFill>
                <a:latin typeface="Calibri"/>
                <a:ea typeface="Calibri"/>
                <a:cs typeface="Calibri"/>
                <a:sym typeface="Calibri"/>
              </a:rPr>
              <a:t>|</a:t>
            </a:r>
            <a:endParaRPr sz="1600" b="0" i="0" u="none" strike="noStrike" cap="none">
              <a:solidFill>
                <a:srgbClr val="888888"/>
              </a:solidFill>
              <a:latin typeface="Calibri"/>
              <a:ea typeface="Calibri"/>
              <a:cs typeface="Calibri"/>
              <a:sym typeface="Calibri"/>
            </a:endParaRPr>
          </a:p>
        </p:txBody>
      </p:sp>
      <p:sp>
        <p:nvSpPr>
          <p:cNvPr id="268" name="Google Shape;268;p5"/>
          <p:cNvSpPr/>
          <p:nvPr/>
        </p:nvSpPr>
        <p:spPr>
          <a:xfrm>
            <a:off x="384852" y="659219"/>
            <a:ext cx="1115568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IN" sz="2800" b="1" i="0" u="none" strike="noStrike" cap="none">
                <a:solidFill>
                  <a:srgbClr val="16324F"/>
                </a:solidFill>
                <a:latin typeface="Cambria"/>
                <a:ea typeface="Cambria"/>
                <a:cs typeface="Cambria"/>
                <a:sym typeface="Cambria"/>
              </a:rPr>
              <a:t>What the Mumbai commute study measured</a:t>
            </a:r>
            <a:endParaRPr sz="2800" b="0" i="0" u="none" strike="noStrike" cap="none">
              <a:solidFill>
                <a:srgbClr val="000000"/>
              </a:solidFill>
              <a:latin typeface="Arial"/>
              <a:ea typeface="Arial"/>
              <a:cs typeface="Arial"/>
              <a:sym typeface="Arial"/>
            </a:endParaRPr>
          </a:p>
        </p:txBody>
      </p:sp>
      <p:sp>
        <p:nvSpPr>
          <p:cNvPr id="269" name="Google Shape;269;p5"/>
          <p:cNvSpPr/>
          <p:nvPr/>
        </p:nvSpPr>
        <p:spPr>
          <a:xfrm>
            <a:off x="384852" y="1171283"/>
            <a:ext cx="1115568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b="0" i="1" u="none" strike="noStrike" cap="none">
                <a:solidFill>
                  <a:srgbClr val="64748B"/>
                </a:solidFill>
                <a:latin typeface="Calibri"/>
                <a:ea typeface="Calibri"/>
                <a:cs typeface="Calibri"/>
                <a:sym typeface="Calibri"/>
              </a:rPr>
              <a:t>A peer-reviewed foundation for the pollution &amp; GHG co-benefit model</a:t>
            </a:r>
            <a:endParaRPr sz="1400" b="0" i="0" u="none" strike="noStrike" cap="none">
              <a:solidFill>
                <a:srgbClr val="000000"/>
              </a:solidFill>
              <a:latin typeface="Arial"/>
              <a:ea typeface="Arial"/>
              <a:cs typeface="Arial"/>
              <a:sym typeface="Arial"/>
            </a:endParaRPr>
          </a:p>
        </p:txBody>
      </p:sp>
      <p:sp>
        <p:nvSpPr>
          <p:cNvPr id="270" name="Google Shape;270;p5"/>
          <p:cNvSpPr/>
          <p:nvPr/>
        </p:nvSpPr>
        <p:spPr>
          <a:xfrm>
            <a:off x="384852" y="1692491"/>
            <a:ext cx="5852160" cy="82296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000000"/>
              </a:buClr>
              <a:buSzPts val="1350"/>
              <a:buFont typeface="Arial"/>
              <a:buNone/>
            </a:pPr>
            <a:r>
              <a:rPr lang="en-IN" sz="1350" b="1" i="0" u="none" strike="noStrike" cap="none">
                <a:solidFill>
                  <a:srgbClr val="16324F"/>
                </a:solidFill>
                <a:latin typeface="Calibri"/>
                <a:ea typeface="Calibri"/>
                <a:cs typeface="Calibri"/>
                <a:sym typeface="Calibri"/>
              </a:rPr>
              <a:t>Purpose:  </a:t>
            </a:r>
            <a:r>
              <a:rPr lang="en-IN" sz="1350" b="0" i="0" u="none" strike="noStrike" cap="none">
                <a:solidFill>
                  <a:srgbClr val="1E293B"/>
                </a:solidFill>
                <a:latin typeface="Calibri"/>
                <a:ea typeface="Calibri"/>
                <a:cs typeface="Calibri"/>
                <a:sym typeface="Calibri"/>
              </a:rPr>
              <a:t>Compare air-pollution exposure across common commute modes and estimate inhaled dose for commuters and road-based workers.</a:t>
            </a:r>
            <a:endParaRPr sz="1350" b="0" i="0" u="none" strike="noStrike" cap="none">
              <a:solidFill>
                <a:srgbClr val="000000"/>
              </a:solidFill>
              <a:latin typeface="Arial"/>
              <a:ea typeface="Arial"/>
              <a:cs typeface="Arial"/>
              <a:sym typeface="Arial"/>
            </a:endParaRPr>
          </a:p>
        </p:txBody>
      </p:sp>
      <p:sp>
        <p:nvSpPr>
          <p:cNvPr id="271" name="Google Shape;271;p5"/>
          <p:cNvSpPr/>
          <p:nvPr/>
        </p:nvSpPr>
        <p:spPr>
          <a:xfrm>
            <a:off x="384852" y="2515451"/>
            <a:ext cx="5852160" cy="82296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000000"/>
              </a:buClr>
              <a:buSzPts val="1350"/>
              <a:buFont typeface="Arial"/>
              <a:buNone/>
            </a:pPr>
            <a:r>
              <a:rPr lang="en-IN" sz="1350" b="1" i="0" u="none" strike="noStrike" cap="none">
                <a:solidFill>
                  <a:srgbClr val="16324F"/>
                </a:solidFill>
                <a:latin typeface="Calibri"/>
                <a:ea typeface="Calibri"/>
                <a:cs typeface="Calibri"/>
                <a:sym typeface="Calibri"/>
              </a:rPr>
              <a:t>Design:  </a:t>
            </a:r>
            <a:r>
              <a:rPr lang="en-IN" sz="1350" b="0" i="0" u="none" strike="noStrike" cap="none">
                <a:solidFill>
                  <a:srgbClr val="1E293B"/>
                </a:solidFill>
                <a:latin typeface="Calibri"/>
                <a:ea typeface="Calibri"/>
                <a:cs typeface="Calibri"/>
                <a:sym typeface="Calibri"/>
              </a:rPr>
              <a:t>98 instrumented trips on a fixed 8.5 km Mumbai route across morning, afternoon, and evening periods, paired with an 800-person household survey.</a:t>
            </a:r>
            <a:endParaRPr sz="1350" b="0" i="0" u="none" strike="noStrike" cap="none">
              <a:solidFill>
                <a:srgbClr val="000000"/>
              </a:solidFill>
              <a:latin typeface="Arial"/>
              <a:ea typeface="Arial"/>
              <a:cs typeface="Arial"/>
              <a:sym typeface="Arial"/>
            </a:endParaRPr>
          </a:p>
        </p:txBody>
      </p:sp>
      <p:sp>
        <p:nvSpPr>
          <p:cNvPr id="272" name="Google Shape;272;p5"/>
          <p:cNvSpPr/>
          <p:nvPr/>
        </p:nvSpPr>
        <p:spPr>
          <a:xfrm>
            <a:off x="384852" y="3521291"/>
            <a:ext cx="5852160" cy="2430640"/>
          </a:xfrm>
          <a:prstGeom prst="roundRect">
            <a:avLst>
              <a:gd name="adj" fmla="val 3137"/>
            </a:avLst>
          </a:prstGeom>
          <a:solidFill>
            <a:srgbClr val="FBF3E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3" name="Google Shape;273;p5"/>
          <p:cNvSpPr/>
          <p:nvPr/>
        </p:nvSpPr>
        <p:spPr>
          <a:xfrm>
            <a:off x="613452" y="3704171"/>
            <a:ext cx="53949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IN" sz="1100" b="1" i="0" u="none" strike="noStrike" cap="none">
                <a:solidFill>
                  <a:srgbClr val="16324F"/>
                </a:solidFill>
                <a:latin typeface="Calibri"/>
                <a:ea typeface="Calibri"/>
                <a:cs typeface="Calibri"/>
                <a:sym typeface="Calibri"/>
              </a:rPr>
              <a:t>MODES STUDIED</a:t>
            </a:r>
            <a:endParaRPr sz="1100" b="0" i="0" u="none" strike="noStrike" cap="none">
              <a:solidFill>
                <a:srgbClr val="000000"/>
              </a:solidFill>
              <a:latin typeface="Arial"/>
              <a:ea typeface="Arial"/>
              <a:cs typeface="Arial"/>
              <a:sym typeface="Arial"/>
            </a:endParaRPr>
          </a:p>
        </p:txBody>
      </p:sp>
      <p:sp>
        <p:nvSpPr>
          <p:cNvPr id="274" name="Google Shape;274;p5"/>
          <p:cNvSpPr/>
          <p:nvPr/>
        </p:nvSpPr>
        <p:spPr>
          <a:xfrm>
            <a:off x="613452" y="4069931"/>
            <a:ext cx="2606040" cy="457200"/>
          </a:xfrm>
          <a:prstGeom prst="roundRect">
            <a:avLst>
              <a:gd name="adj" fmla="val 12000"/>
            </a:avLst>
          </a:prstGeom>
          <a:solidFill>
            <a:srgbClr val="FFFFFF"/>
          </a:solidFill>
          <a:ln w="12700" cap="flat" cmpd="sng">
            <a:solidFill>
              <a:srgbClr val="B8D4F0"/>
            </a:solidFill>
            <a:prstDash val="solid"/>
            <a:round/>
            <a:headEnd type="none" w="sm" len="sm"/>
            <a:tailEnd type="none" w="sm" len="sm"/>
          </a:ln>
        </p:spPr>
        <p:txBody>
          <a:bodyPr spcFirstLastPara="1" wrap="square" lIns="0" tIns="127000" rIns="0" bIns="0"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IN" sz="1300" b="0" i="0" u="none" strike="noStrike" cap="none">
                <a:solidFill>
                  <a:srgbClr val="1E293B"/>
                </a:solidFill>
                <a:latin typeface="Calibri"/>
                <a:ea typeface="Calibri"/>
                <a:cs typeface="Calibri"/>
                <a:sym typeface="Calibri"/>
              </a:rPr>
              <a:t>Bus</a:t>
            </a:r>
            <a:endParaRPr sz="1300" b="0" i="0" u="none" strike="noStrike" cap="none">
              <a:solidFill>
                <a:srgbClr val="000000"/>
              </a:solidFill>
              <a:latin typeface="Arial"/>
              <a:ea typeface="Arial"/>
              <a:cs typeface="Arial"/>
              <a:sym typeface="Arial"/>
            </a:endParaRPr>
          </a:p>
        </p:txBody>
      </p:sp>
      <p:sp>
        <p:nvSpPr>
          <p:cNvPr id="275" name="Google Shape;275;p5"/>
          <p:cNvSpPr/>
          <p:nvPr/>
        </p:nvSpPr>
        <p:spPr>
          <a:xfrm>
            <a:off x="3402372" y="4069931"/>
            <a:ext cx="2606040" cy="457200"/>
          </a:xfrm>
          <a:prstGeom prst="roundRect">
            <a:avLst>
              <a:gd name="adj" fmla="val 12000"/>
            </a:avLst>
          </a:prstGeom>
          <a:solidFill>
            <a:srgbClr val="FFFFFF"/>
          </a:solidFill>
          <a:ln w="12700" cap="flat" cmpd="sng">
            <a:solidFill>
              <a:srgbClr val="B8D4F0"/>
            </a:solidFill>
            <a:prstDash val="solid"/>
            <a:round/>
            <a:headEnd type="none" w="sm" len="sm"/>
            <a:tailEnd type="none" w="sm" len="sm"/>
          </a:ln>
        </p:spPr>
        <p:txBody>
          <a:bodyPr spcFirstLastPara="1" wrap="square" lIns="0" tIns="127000" rIns="0" bIns="0"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IN" sz="1300" b="0" i="0" u="none" strike="noStrike" cap="none">
                <a:solidFill>
                  <a:srgbClr val="1E293B"/>
                </a:solidFill>
                <a:latin typeface="Calibri"/>
                <a:ea typeface="Calibri"/>
                <a:cs typeface="Calibri"/>
                <a:sym typeface="Calibri"/>
              </a:rPr>
              <a:t>Car</a:t>
            </a:r>
            <a:endParaRPr sz="1300" b="0" i="0" u="none" strike="noStrike" cap="none">
              <a:solidFill>
                <a:srgbClr val="000000"/>
              </a:solidFill>
              <a:latin typeface="Arial"/>
              <a:ea typeface="Arial"/>
              <a:cs typeface="Arial"/>
              <a:sym typeface="Arial"/>
            </a:endParaRPr>
          </a:p>
        </p:txBody>
      </p:sp>
      <p:sp>
        <p:nvSpPr>
          <p:cNvPr id="276" name="Google Shape;276;p5"/>
          <p:cNvSpPr/>
          <p:nvPr/>
        </p:nvSpPr>
        <p:spPr>
          <a:xfrm>
            <a:off x="613452" y="4636859"/>
            <a:ext cx="2606040" cy="457200"/>
          </a:xfrm>
          <a:prstGeom prst="roundRect">
            <a:avLst>
              <a:gd name="adj" fmla="val 12000"/>
            </a:avLst>
          </a:prstGeom>
          <a:solidFill>
            <a:srgbClr val="FFFFFF"/>
          </a:solidFill>
          <a:ln w="12700" cap="flat" cmpd="sng">
            <a:solidFill>
              <a:srgbClr val="B8D4F0"/>
            </a:solidFill>
            <a:prstDash val="solid"/>
            <a:round/>
            <a:headEnd type="none" w="sm" len="sm"/>
            <a:tailEnd type="none" w="sm" len="sm"/>
          </a:ln>
        </p:spPr>
        <p:txBody>
          <a:bodyPr spcFirstLastPara="1" wrap="square" lIns="0" tIns="127000" rIns="0" bIns="0"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IN" sz="1300" b="0" i="0" u="none" strike="noStrike" cap="none">
                <a:solidFill>
                  <a:srgbClr val="1E293B"/>
                </a:solidFill>
                <a:latin typeface="Calibri"/>
                <a:ea typeface="Calibri"/>
                <a:cs typeface="Calibri"/>
                <a:sym typeface="Calibri"/>
              </a:rPr>
              <a:t>Auto-rickshaw</a:t>
            </a:r>
            <a:endParaRPr sz="1300" b="0" i="0" u="none" strike="noStrike" cap="none">
              <a:solidFill>
                <a:srgbClr val="000000"/>
              </a:solidFill>
              <a:latin typeface="Arial"/>
              <a:ea typeface="Arial"/>
              <a:cs typeface="Arial"/>
              <a:sym typeface="Arial"/>
            </a:endParaRPr>
          </a:p>
        </p:txBody>
      </p:sp>
      <p:sp>
        <p:nvSpPr>
          <p:cNvPr id="277" name="Google Shape;277;p5"/>
          <p:cNvSpPr/>
          <p:nvPr/>
        </p:nvSpPr>
        <p:spPr>
          <a:xfrm>
            <a:off x="3402372" y="4636859"/>
            <a:ext cx="2606040" cy="457200"/>
          </a:xfrm>
          <a:prstGeom prst="roundRect">
            <a:avLst>
              <a:gd name="adj" fmla="val 12000"/>
            </a:avLst>
          </a:prstGeom>
          <a:solidFill>
            <a:srgbClr val="FFFFFF"/>
          </a:solidFill>
          <a:ln w="12700" cap="flat" cmpd="sng">
            <a:solidFill>
              <a:srgbClr val="B8D4F0"/>
            </a:solidFill>
            <a:prstDash val="solid"/>
            <a:round/>
            <a:headEnd type="none" w="sm" len="sm"/>
            <a:tailEnd type="none" w="sm" len="sm"/>
          </a:ln>
        </p:spPr>
        <p:txBody>
          <a:bodyPr spcFirstLastPara="1" wrap="square" lIns="0" tIns="127000" rIns="0" bIns="0"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IN" sz="1300" b="0" i="0" u="none" strike="noStrike" cap="none">
                <a:solidFill>
                  <a:srgbClr val="1E293B"/>
                </a:solidFill>
                <a:latin typeface="Calibri"/>
                <a:ea typeface="Calibri"/>
                <a:cs typeface="Calibri"/>
                <a:sym typeface="Calibri"/>
              </a:rPr>
              <a:t>Motorbike</a:t>
            </a:r>
            <a:endParaRPr sz="1300" b="0" i="0" u="none" strike="noStrike" cap="none">
              <a:solidFill>
                <a:srgbClr val="000000"/>
              </a:solidFill>
              <a:latin typeface="Arial"/>
              <a:ea typeface="Arial"/>
              <a:cs typeface="Arial"/>
              <a:sym typeface="Arial"/>
            </a:endParaRPr>
          </a:p>
        </p:txBody>
      </p:sp>
      <p:sp>
        <p:nvSpPr>
          <p:cNvPr id="278" name="Google Shape;278;p5"/>
          <p:cNvSpPr/>
          <p:nvPr/>
        </p:nvSpPr>
        <p:spPr>
          <a:xfrm>
            <a:off x="613452" y="5203787"/>
            <a:ext cx="2606040" cy="457200"/>
          </a:xfrm>
          <a:prstGeom prst="roundRect">
            <a:avLst>
              <a:gd name="adj" fmla="val 12000"/>
            </a:avLst>
          </a:prstGeom>
          <a:solidFill>
            <a:srgbClr val="FFFFFF"/>
          </a:solidFill>
          <a:ln w="12700" cap="flat" cmpd="sng">
            <a:solidFill>
              <a:srgbClr val="B8D4F0"/>
            </a:solidFill>
            <a:prstDash val="solid"/>
            <a:round/>
            <a:headEnd type="none" w="sm" len="sm"/>
            <a:tailEnd type="none" w="sm" len="sm"/>
          </a:ln>
        </p:spPr>
        <p:txBody>
          <a:bodyPr spcFirstLastPara="1" wrap="square" lIns="0" tIns="127000" rIns="0" bIns="0"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IN" sz="1300" b="0" i="0" u="none" strike="noStrike" cap="none">
                <a:solidFill>
                  <a:srgbClr val="1E293B"/>
                </a:solidFill>
                <a:latin typeface="Calibri"/>
                <a:ea typeface="Calibri"/>
                <a:cs typeface="Calibri"/>
                <a:sym typeface="Calibri"/>
              </a:rPr>
              <a:t>Suburban train</a:t>
            </a:r>
            <a:endParaRPr sz="1300" b="0" i="0" u="none" strike="noStrike" cap="none">
              <a:solidFill>
                <a:srgbClr val="000000"/>
              </a:solidFill>
              <a:latin typeface="Arial"/>
              <a:ea typeface="Arial"/>
              <a:cs typeface="Arial"/>
              <a:sym typeface="Arial"/>
            </a:endParaRPr>
          </a:p>
        </p:txBody>
      </p:sp>
      <p:sp>
        <p:nvSpPr>
          <p:cNvPr id="279" name="Google Shape;279;p5"/>
          <p:cNvSpPr/>
          <p:nvPr/>
        </p:nvSpPr>
        <p:spPr>
          <a:xfrm>
            <a:off x="613452" y="5660987"/>
            <a:ext cx="539496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50"/>
              <a:buFont typeface="Arial"/>
              <a:buNone/>
            </a:pPr>
            <a:r>
              <a:rPr lang="en-IN" sz="1150" b="0" i="1" u="none" strike="noStrike" cap="none">
                <a:solidFill>
                  <a:srgbClr val="64748B"/>
                </a:solidFill>
                <a:latin typeface="Calibri"/>
                <a:ea typeface="Calibri"/>
                <a:cs typeface="Calibri"/>
                <a:sym typeface="Calibri"/>
              </a:rPr>
              <a:t>Pollutants covered: PM₁ • PM₂.₅ • PM₁₀ • CO • TVOC</a:t>
            </a:r>
            <a:endParaRPr sz="1150" b="0" i="0" u="none" strike="noStrike" cap="none">
              <a:solidFill>
                <a:srgbClr val="000000"/>
              </a:solidFill>
              <a:latin typeface="Arial"/>
              <a:ea typeface="Arial"/>
              <a:cs typeface="Arial"/>
              <a:sym typeface="Arial"/>
            </a:endParaRPr>
          </a:p>
        </p:txBody>
      </p:sp>
      <p:sp>
        <p:nvSpPr>
          <p:cNvPr id="280" name="Google Shape;280;p5"/>
          <p:cNvSpPr/>
          <p:nvPr/>
        </p:nvSpPr>
        <p:spPr>
          <a:xfrm>
            <a:off x="6648492" y="1692491"/>
            <a:ext cx="2423160" cy="1234440"/>
          </a:xfrm>
          <a:prstGeom prst="roundRect">
            <a:avLst>
              <a:gd name="adj" fmla="val 5926"/>
            </a:avLst>
          </a:prstGeom>
          <a:solidFill>
            <a:srgbClr val="F7F9FA"/>
          </a:solidFill>
          <a:ln w="12700" cap="flat" cmpd="sng">
            <a:solidFill>
              <a:srgbClr val="B8D4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1" name="Google Shape;281;p5"/>
          <p:cNvSpPr/>
          <p:nvPr/>
        </p:nvSpPr>
        <p:spPr>
          <a:xfrm>
            <a:off x="6648492" y="1829651"/>
            <a:ext cx="2423160" cy="5943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IN" sz="3000" b="1" i="0" u="none" strike="noStrike" cap="none">
                <a:solidFill>
                  <a:srgbClr val="16324F"/>
                </a:solidFill>
                <a:latin typeface="Cambria"/>
                <a:ea typeface="Cambria"/>
                <a:cs typeface="Cambria"/>
                <a:sym typeface="Cambria"/>
              </a:rPr>
              <a:t>98</a:t>
            </a:r>
            <a:endParaRPr sz="3000" b="0" i="0" u="none" strike="noStrike" cap="none">
              <a:solidFill>
                <a:srgbClr val="000000"/>
              </a:solidFill>
              <a:latin typeface="Arial"/>
              <a:ea typeface="Arial"/>
              <a:cs typeface="Arial"/>
              <a:sym typeface="Arial"/>
            </a:endParaRPr>
          </a:p>
        </p:txBody>
      </p:sp>
      <p:sp>
        <p:nvSpPr>
          <p:cNvPr id="282" name="Google Shape;282;p5"/>
          <p:cNvSpPr/>
          <p:nvPr/>
        </p:nvSpPr>
        <p:spPr>
          <a:xfrm>
            <a:off x="6648492" y="2469731"/>
            <a:ext cx="242316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50"/>
              <a:buFont typeface="Arial"/>
              <a:buNone/>
            </a:pPr>
            <a:r>
              <a:rPr lang="en-IN" sz="1150" b="0" i="0" u="none" strike="noStrike" cap="none">
                <a:solidFill>
                  <a:srgbClr val="64748B"/>
                </a:solidFill>
                <a:latin typeface="Calibri"/>
                <a:ea typeface="Calibri"/>
                <a:cs typeface="Calibri"/>
                <a:sym typeface="Calibri"/>
              </a:rPr>
              <a:t>instrumented trips</a:t>
            </a:r>
            <a:endParaRPr sz="1150" b="0" i="0" u="none" strike="noStrike" cap="none">
              <a:solidFill>
                <a:srgbClr val="000000"/>
              </a:solidFill>
              <a:latin typeface="Arial"/>
              <a:ea typeface="Arial"/>
              <a:cs typeface="Arial"/>
              <a:sym typeface="Arial"/>
            </a:endParaRPr>
          </a:p>
        </p:txBody>
      </p:sp>
      <p:sp>
        <p:nvSpPr>
          <p:cNvPr id="283" name="Google Shape;283;p5"/>
          <p:cNvSpPr/>
          <p:nvPr/>
        </p:nvSpPr>
        <p:spPr>
          <a:xfrm>
            <a:off x="9254532" y="1692491"/>
            <a:ext cx="2423160" cy="1234440"/>
          </a:xfrm>
          <a:prstGeom prst="roundRect">
            <a:avLst>
              <a:gd name="adj" fmla="val 5926"/>
            </a:avLst>
          </a:prstGeom>
          <a:solidFill>
            <a:srgbClr val="F7F9FA"/>
          </a:solidFill>
          <a:ln w="12700" cap="flat" cmpd="sng">
            <a:solidFill>
              <a:srgbClr val="B8D4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4" name="Google Shape;284;p5"/>
          <p:cNvSpPr/>
          <p:nvPr/>
        </p:nvSpPr>
        <p:spPr>
          <a:xfrm>
            <a:off x="9254532" y="1829651"/>
            <a:ext cx="2423160" cy="5943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IN" sz="3000" b="1" i="0" u="none" strike="noStrike" cap="none">
                <a:solidFill>
                  <a:srgbClr val="16324F"/>
                </a:solidFill>
                <a:latin typeface="Cambria"/>
                <a:ea typeface="Cambria"/>
                <a:cs typeface="Cambria"/>
                <a:sym typeface="Cambria"/>
              </a:rPr>
              <a:t>8.5 km</a:t>
            </a:r>
            <a:endParaRPr sz="3000" b="0" i="0" u="none" strike="noStrike" cap="none">
              <a:solidFill>
                <a:srgbClr val="000000"/>
              </a:solidFill>
              <a:latin typeface="Arial"/>
              <a:ea typeface="Arial"/>
              <a:cs typeface="Arial"/>
              <a:sym typeface="Arial"/>
            </a:endParaRPr>
          </a:p>
        </p:txBody>
      </p:sp>
      <p:sp>
        <p:nvSpPr>
          <p:cNvPr id="285" name="Google Shape;285;p5"/>
          <p:cNvSpPr/>
          <p:nvPr/>
        </p:nvSpPr>
        <p:spPr>
          <a:xfrm>
            <a:off x="9254532" y="2469731"/>
            <a:ext cx="242316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50"/>
              <a:buFont typeface="Arial"/>
              <a:buNone/>
            </a:pPr>
            <a:r>
              <a:rPr lang="en-IN" sz="1150" b="0" i="0" u="none" strike="noStrike" cap="none">
                <a:solidFill>
                  <a:srgbClr val="64748B"/>
                </a:solidFill>
                <a:latin typeface="Calibri"/>
                <a:ea typeface="Calibri"/>
                <a:cs typeface="Calibri"/>
                <a:sym typeface="Calibri"/>
              </a:rPr>
              <a:t>fixed Mumbai route</a:t>
            </a:r>
            <a:endParaRPr sz="1150" b="0" i="0" u="none" strike="noStrike" cap="none">
              <a:solidFill>
                <a:srgbClr val="000000"/>
              </a:solidFill>
              <a:latin typeface="Arial"/>
              <a:ea typeface="Arial"/>
              <a:cs typeface="Arial"/>
              <a:sym typeface="Arial"/>
            </a:endParaRPr>
          </a:p>
        </p:txBody>
      </p:sp>
      <p:sp>
        <p:nvSpPr>
          <p:cNvPr id="286" name="Google Shape;286;p5"/>
          <p:cNvSpPr/>
          <p:nvPr/>
        </p:nvSpPr>
        <p:spPr>
          <a:xfrm>
            <a:off x="6648492" y="3109811"/>
            <a:ext cx="2423160" cy="1234440"/>
          </a:xfrm>
          <a:prstGeom prst="roundRect">
            <a:avLst>
              <a:gd name="adj" fmla="val 5926"/>
            </a:avLst>
          </a:prstGeom>
          <a:solidFill>
            <a:srgbClr val="F7F9FA"/>
          </a:solidFill>
          <a:ln w="12700" cap="flat" cmpd="sng">
            <a:solidFill>
              <a:srgbClr val="B8D4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7" name="Google Shape;287;p5"/>
          <p:cNvSpPr/>
          <p:nvPr/>
        </p:nvSpPr>
        <p:spPr>
          <a:xfrm>
            <a:off x="6648492" y="3246971"/>
            <a:ext cx="2423160" cy="5943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IN" sz="3000" b="1" i="0" u="none" strike="noStrike" cap="none">
                <a:solidFill>
                  <a:srgbClr val="16324F"/>
                </a:solidFill>
                <a:latin typeface="Cambria"/>
                <a:ea typeface="Cambria"/>
                <a:cs typeface="Cambria"/>
                <a:sym typeface="Cambria"/>
              </a:rPr>
              <a:t>3</a:t>
            </a:r>
            <a:endParaRPr sz="3000" b="0" i="0" u="none" strike="noStrike" cap="none">
              <a:solidFill>
                <a:srgbClr val="000000"/>
              </a:solidFill>
              <a:latin typeface="Arial"/>
              <a:ea typeface="Arial"/>
              <a:cs typeface="Arial"/>
              <a:sym typeface="Arial"/>
            </a:endParaRPr>
          </a:p>
        </p:txBody>
      </p:sp>
      <p:sp>
        <p:nvSpPr>
          <p:cNvPr id="288" name="Google Shape;288;p5"/>
          <p:cNvSpPr/>
          <p:nvPr/>
        </p:nvSpPr>
        <p:spPr>
          <a:xfrm>
            <a:off x="6648492" y="3887051"/>
            <a:ext cx="242316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50"/>
              <a:buFont typeface="Arial"/>
              <a:buNone/>
            </a:pPr>
            <a:r>
              <a:rPr lang="en-IN" sz="1150" b="0" i="0" u="none" strike="noStrike" cap="none">
                <a:solidFill>
                  <a:srgbClr val="64748B"/>
                </a:solidFill>
                <a:latin typeface="Calibri"/>
                <a:ea typeface="Calibri"/>
                <a:cs typeface="Calibri"/>
                <a:sym typeface="Calibri"/>
              </a:rPr>
              <a:t>daily traffic periods</a:t>
            </a:r>
            <a:endParaRPr sz="1150" b="0" i="0" u="none" strike="noStrike" cap="none">
              <a:solidFill>
                <a:srgbClr val="000000"/>
              </a:solidFill>
              <a:latin typeface="Arial"/>
              <a:ea typeface="Arial"/>
              <a:cs typeface="Arial"/>
              <a:sym typeface="Arial"/>
            </a:endParaRPr>
          </a:p>
        </p:txBody>
      </p:sp>
      <p:sp>
        <p:nvSpPr>
          <p:cNvPr id="289" name="Google Shape;289;p5"/>
          <p:cNvSpPr/>
          <p:nvPr/>
        </p:nvSpPr>
        <p:spPr>
          <a:xfrm>
            <a:off x="9254532" y="3109811"/>
            <a:ext cx="2423160" cy="1234440"/>
          </a:xfrm>
          <a:prstGeom prst="roundRect">
            <a:avLst>
              <a:gd name="adj" fmla="val 5926"/>
            </a:avLst>
          </a:prstGeom>
          <a:solidFill>
            <a:srgbClr val="F7F9FA"/>
          </a:solidFill>
          <a:ln w="12700" cap="flat" cmpd="sng">
            <a:solidFill>
              <a:srgbClr val="B8D4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0" name="Google Shape;290;p5"/>
          <p:cNvSpPr/>
          <p:nvPr/>
        </p:nvSpPr>
        <p:spPr>
          <a:xfrm>
            <a:off x="9254532" y="3246971"/>
            <a:ext cx="2423160" cy="5943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IN" sz="3000" b="1" i="0" u="none" strike="noStrike" cap="none">
                <a:solidFill>
                  <a:srgbClr val="16324F"/>
                </a:solidFill>
                <a:latin typeface="Cambria"/>
                <a:ea typeface="Cambria"/>
                <a:cs typeface="Cambria"/>
                <a:sym typeface="Cambria"/>
              </a:rPr>
              <a:t>800</a:t>
            </a:r>
            <a:endParaRPr sz="3000" b="0" i="0" u="none" strike="noStrike" cap="none">
              <a:solidFill>
                <a:srgbClr val="000000"/>
              </a:solidFill>
              <a:latin typeface="Arial"/>
              <a:ea typeface="Arial"/>
              <a:cs typeface="Arial"/>
              <a:sym typeface="Arial"/>
            </a:endParaRPr>
          </a:p>
        </p:txBody>
      </p:sp>
      <p:sp>
        <p:nvSpPr>
          <p:cNvPr id="291" name="Google Shape;291;p5"/>
          <p:cNvSpPr/>
          <p:nvPr/>
        </p:nvSpPr>
        <p:spPr>
          <a:xfrm>
            <a:off x="9254532" y="3887051"/>
            <a:ext cx="242316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150"/>
              <a:buFont typeface="Arial"/>
              <a:buNone/>
            </a:pPr>
            <a:r>
              <a:rPr lang="en-IN" sz="1150" b="0" i="0" u="none" strike="noStrike" cap="none">
                <a:solidFill>
                  <a:srgbClr val="64748B"/>
                </a:solidFill>
                <a:latin typeface="Calibri"/>
                <a:ea typeface="Calibri"/>
                <a:cs typeface="Calibri"/>
                <a:sym typeface="Calibri"/>
              </a:rPr>
              <a:t>survey participants</a:t>
            </a:r>
            <a:endParaRPr sz="1150" b="0" i="0" u="none" strike="noStrike" cap="none">
              <a:solidFill>
                <a:srgbClr val="000000"/>
              </a:solidFill>
              <a:latin typeface="Arial"/>
              <a:ea typeface="Arial"/>
              <a:cs typeface="Arial"/>
              <a:sym typeface="Arial"/>
            </a:endParaRPr>
          </a:p>
        </p:txBody>
      </p:sp>
      <p:sp>
        <p:nvSpPr>
          <p:cNvPr id="292" name="Google Shape;292;p5"/>
          <p:cNvSpPr/>
          <p:nvPr/>
        </p:nvSpPr>
        <p:spPr>
          <a:xfrm>
            <a:off x="6648492" y="4755731"/>
            <a:ext cx="4892040" cy="1097280"/>
          </a:xfrm>
          <a:prstGeom prst="roundRect">
            <a:avLst>
              <a:gd name="adj" fmla="val 6667"/>
            </a:avLst>
          </a:prstGeom>
          <a:solidFill>
            <a:srgbClr val="1632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3" name="Google Shape;293;p5"/>
          <p:cNvSpPr/>
          <p:nvPr/>
        </p:nvSpPr>
        <p:spPr>
          <a:xfrm>
            <a:off x="6922812" y="4892891"/>
            <a:ext cx="4389120" cy="82296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1300"/>
              <a:buFont typeface="Arial"/>
              <a:buNone/>
            </a:pPr>
            <a:r>
              <a:rPr lang="en-IN" sz="1300" b="1" i="0" u="none" strike="noStrike" cap="none">
                <a:solidFill>
                  <a:srgbClr val="FFFFFF"/>
                </a:solidFill>
                <a:latin typeface="Calibri"/>
                <a:ea typeface="Calibri"/>
                <a:cs typeface="Calibri"/>
                <a:sym typeface="Calibri"/>
              </a:rPr>
              <a:t>Key idea:  </a:t>
            </a:r>
            <a:r>
              <a:rPr lang="en-IN" sz="1300" b="0" i="0" u="none" strike="noStrike" cap="none">
                <a:solidFill>
                  <a:srgbClr val="E2E8F0"/>
                </a:solidFill>
                <a:latin typeface="Calibri"/>
                <a:ea typeface="Calibri"/>
                <a:cs typeface="Calibri"/>
                <a:sym typeface="Calibri"/>
              </a:rPr>
              <a:t>exposure is not concentration alone - it also depends on time spent inside that mode.</a:t>
            </a:r>
            <a:endParaRPr sz="1300"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6"/>
          <p:cNvSpPr txBox="1">
            <a:spLocks noGrp="1"/>
          </p:cNvSpPr>
          <p:nvPr>
            <p:ph type="title"/>
          </p:nvPr>
        </p:nvSpPr>
        <p:spPr>
          <a:xfrm>
            <a:off x="256032" y="225653"/>
            <a:ext cx="11284500" cy="433566"/>
          </a:xfrm>
          <a:prstGeom prst="rect">
            <a:avLst/>
          </a:prstGeom>
          <a:noFill/>
          <a:ln>
            <a:noFill/>
          </a:ln>
        </p:spPr>
        <p:txBody>
          <a:bodyPr spcFirstLastPara="1" wrap="square" lIns="0" tIns="45700" rIns="0" bIns="45700" anchor="t" anchorCtr="0">
            <a:normAutofit fontScale="90000"/>
          </a:bodyPr>
          <a:lstStyle/>
          <a:p>
            <a:pPr marL="0" lvl="0" indent="0" algn="l" rtl="0">
              <a:lnSpc>
                <a:spcPct val="100000"/>
              </a:lnSpc>
              <a:spcBef>
                <a:spcPts val="0"/>
              </a:spcBef>
              <a:spcAft>
                <a:spcPts val="0"/>
              </a:spcAft>
              <a:buClr>
                <a:schemeClr val="accent1"/>
              </a:buClr>
              <a:buSzPct val="166667"/>
              <a:buFont typeface="Calibri"/>
              <a:buNone/>
            </a:pPr>
            <a:r>
              <a:rPr lang="en-IN"/>
              <a:t>Expected Outputs from M2: Reduction in pollution</a:t>
            </a:r>
            <a:br>
              <a:rPr lang="en-IN"/>
            </a:br>
            <a:endParaRPr sz="1600" b="0">
              <a:solidFill>
                <a:srgbClr val="009CD8"/>
              </a:solidFill>
            </a:endParaRPr>
          </a:p>
        </p:txBody>
      </p:sp>
      <p:sp>
        <p:nvSpPr>
          <p:cNvPr id="299" name="Google Shape;299;p6"/>
          <p:cNvSpPr txBox="1"/>
          <p:nvPr/>
        </p:nvSpPr>
        <p:spPr>
          <a:xfrm>
            <a:off x="-276585" y="6235395"/>
            <a:ext cx="773100" cy="3651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600" b="0" i="0" u="none" strike="noStrike" cap="none">
                <a:solidFill>
                  <a:srgbClr val="888888"/>
                </a:solidFill>
                <a:latin typeface="Calibri"/>
                <a:ea typeface="Calibri"/>
                <a:cs typeface="Calibri"/>
                <a:sym typeface="Calibri"/>
              </a:rPr>
              <a:t>23</a:t>
            </a:fld>
            <a:r>
              <a:rPr lang="en-IN" sz="1600" b="0" i="0" u="none" strike="noStrike" cap="none">
                <a:solidFill>
                  <a:srgbClr val="888888"/>
                </a:solidFill>
                <a:latin typeface="Calibri"/>
                <a:ea typeface="Calibri"/>
                <a:cs typeface="Calibri"/>
                <a:sym typeface="Calibri"/>
              </a:rPr>
              <a:t>|</a:t>
            </a:r>
            <a:endParaRPr sz="1600" b="0" i="0" u="none" strike="noStrike" cap="none">
              <a:solidFill>
                <a:srgbClr val="888888"/>
              </a:solidFill>
              <a:latin typeface="Calibri"/>
              <a:ea typeface="Calibri"/>
              <a:cs typeface="Calibri"/>
              <a:sym typeface="Calibri"/>
            </a:endParaRPr>
          </a:p>
        </p:txBody>
      </p:sp>
      <p:sp>
        <p:nvSpPr>
          <p:cNvPr id="300" name="Google Shape;300;p6"/>
          <p:cNvSpPr/>
          <p:nvPr/>
        </p:nvSpPr>
        <p:spPr>
          <a:xfrm>
            <a:off x="384852" y="721563"/>
            <a:ext cx="1115568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IN" sz="2800" b="1" i="0" u="none" strike="noStrike" cap="none">
                <a:solidFill>
                  <a:srgbClr val="16324F"/>
                </a:solidFill>
                <a:latin typeface="Cambria"/>
                <a:ea typeface="Cambria"/>
                <a:cs typeface="Cambria"/>
                <a:sym typeface="Cambria"/>
              </a:rPr>
              <a:t>Main pollution-exposure findings</a:t>
            </a:r>
            <a:endParaRPr sz="2800" b="0" i="0" u="none" strike="noStrike" cap="none">
              <a:solidFill>
                <a:srgbClr val="000000"/>
              </a:solidFill>
              <a:latin typeface="Arial"/>
              <a:ea typeface="Arial"/>
              <a:cs typeface="Arial"/>
              <a:sym typeface="Arial"/>
            </a:endParaRPr>
          </a:p>
        </p:txBody>
      </p:sp>
      <p:sp>
        <p:nvSpPr>
          <p:cNvPr id="301" name="Google Shape;301;p6"/>
          <p:cNvSpPr/>
          <p:nvPr/>
        </p:nvSpPr>
        <p:spPr>
          <a:xfrm>
            <a:off x="384852" y="1233627"/>
            <a:ext cx="1115568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b="0" i="1" u="none" strike="noStrike" cap="none">
                <a:solidFill>
                  <a:srgbClr val="64748B"/>
                </a:solidFill>
                <a:latin typeface="Calibri"/>
                <a:ea typeface="Calibri"/>
                <a:cs typeface="Calibri"/>
                <a:sym typeface="Calibri"/>
              </a:rPr>
              <a:t>Which mode drives which pollutant — and why bus riders still lose out</a:t>
            </a:r>
            <a:endParaRPr sz="1400" b="0" i="0" u="none" strike="noStrike" cap="none">
              <a:solidFill>
                <a:srgbClr val="000000"/>
              </a:solidFill>
              <a:latin typeface="Arial"/>
              <a:ea typeface="Arial"/>
              <a:cs typeface="Arial"/>
              <a:sym typeface="Arial"/>
            </a:endParaRPr>
          </a:p>
        </p:txBody>
      </p:sp>
      <p:sp>
        <p:nvSpPr>
          <p:cNvPr id="302" name="Google Shape;302;p6"/>
          <p:cNvSpPr/>
          <p:nvPr/>
        </p:nvSpPr>
        <p:spPr>
          <a:xfrm>
            <a:off x="384852" y="1709115"/>
            <a:ext cx="2606040" cy="1783080"/>
          </a:xfrm>
          <a:prstGeom prst="roundRect">
            <a:avLst>
              <a:gd name="adj" fmla="val 4103"/>
            </a:avLst>
          </a:prstGeom>
          <a:solidFill>
            <a:srgbClr val="F7F9F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3" name="Google Shape;303;p6"/>
          <p:cNvSpPr/>
          <p:nvPr/>
        </p:nvSpPr>
        <p:spPr>
          <a:xfrm>
            <a:off x="567732" y="1891995"/>
            <a:ext cx="411480" cy="411480"/>
          </a:xfrm>
          <a:prstGeom prst="roundRect">
            <a:avLst>
              <a:gd name="adj" fmla="val 111111"/>
            </a:avLst>
          </a:prstGeom>
          <a:solidFill>
            <a:srgbClr val="009CD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4" name="Google Shape;304;p6"/>
          <p:cNvSpPr/>
          <p:nvPr/>
        </p:nvSpPr>
        <p:spPr>
          <a:xfrm>
            <a:off x="567732" y="2440635"/>
            <a:ext cx="224028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IN" sz="1500" b="1" i="0" u="none" strike="noStrike" cap="none">
                <a:solidFill>
                  <a:srgbClr val="16324F"/>
                </a:solidFill>
                <a:latin typeface="Calibri"/>
                <a:ea typeface="Calibri"/>
                <a:cs typeface="Calibri"/>
                <a:sym typeface="Calibri"/>
              </a:rPr>
              <a:t>Auto-rickshaw</a:t>
            </a:r>
            <a:endParaRPr sz="1500" b="0" i="0" u="none" strike="noStrike" cap="none">
              <a:solidFill>
                <a:srgbClr val="000000"/>
              </a:solidFill>
              <a:latin typeface="Arial"/>
              <a:ea typeface="Arial"/>
              <a:cs typeface="Arial"/>
              <a:sym typeface="Arial"/>
            </a:endParaRPr>
          </a:p>
        </p:txBody>
      </p:sp>
      <p:sp>
        <p:nvSpPr>
          <p:cNvPr id="305" name="Google Shape;305;p6"/>
          <p:cNvSpPr/>
          <p:nvPr/>
        </p:nvSpPr>
        <p:spPr>
          <a:xfrm>
            <a:off x="567732" y="2806395"/>
            <a:ext cx="2240280" cy="59436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000000"/>
              </a:buClr>
              <a:buSzPts val="1150"/>
              <a:buFont typeface="Arial"/>
              <a:buNone/>
            </a:pPr>
            <a:r>
              <a:rPr lang="en-IN" sz="1150" b="0" i="0" u="none" strike="noStrike" cap="none">
                <a:solidFill>
                  <a:srgbClr val="1E293B"/>
                </a:solidFill>
                <a:latin typeface="Calibri"/>
                <a:ea typeface="Calibri"/>
                <a:cs typeface="Calibri"/>
                <a:sym typeface="Calibri"/>
              </a:rPr>
              <a:t>Highest particle number; high PM₂.₅ and PM₁₀</a:t>
            </a:r>
            <a:endParaRPr sz="1150" b="0" i="0" u="none" strike="noStrike" cap="none">
              <a:solidFill>
                <a:srgbClr val="000000"/>
              </a:solidFill>
              <a:latin typeface="Arial"/>
              <a:ea typeface="Arial"/>
              <a:cs typeface="Arial"/>
              <a:sym typeface="Arial"/>
            </a:endParaRPr>
          </a:p>
        </p:txBody>
      </p:sp>
      <p:sp>
        <p:nvSpPr>
          <p:cNvPr id="306" name="Google Shape;306;p6"/>
          <p:cNvSpPr/>
          <p:nvPr/>
        </p:nvSpPr>
        <p:spPr>
          <a:xfrm>
            <a:off x="3219492" y="1709115"/>
            <a:ext cx="2606040" cy="1783080"/>
          </a:xfrm>
          <a:prstGeom prst="roundRect">
            <a:avLst>
              <a:gd name="adj" fmla="val 4103"/>
            </a:avLst>
          </a:prstGeom>
          <a:solidFill>
            <a:srgbClr val="F7F9F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7" name="Google Shape;307;p6"/>
          <p:cNvSpPr/>
          <p:nvPr/>
        </p:nvSpPr>
        <p:spPr>
          <a:xfrm>
            <a:off x="3402372" y="1891995"/>
            <a:ext cx="411480" cy="411480"/>
          </a:xfrm>
          <a:prstGeom prst="roundRect">
            <a:avLst>
              <a:gd name="adj" fmla="val 111111"/>
            </a:avLst>
          </a:prstGeom>
          <a:solidFill>
            <a:srgbClr val="86BB3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8" name="Google Shape;308;p6"/>
          <p:cNvSpPr/>
          <p:nvPr/>
        </p:nvSpPr>
        <p:spPr>
          <a:xfrm>
            <a:off x="3402372" y="2440635"/>
            <a:ext cx="224028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IN" sz="1500" b="1" i="0" u="none" strike="noStrike" cap="none">
                <a:solidFill>
                  <a:srgbClr val="16324F"/>
                </a:solidFill>
                <a:latin typeface="Calibri"/>
                <a:ea typeface="Calibri"/>
                <a:cs typeface="Calibri"/>
                <a:sym typeface="Calibri"/>
              </a:rPr>
              <a:t>Car</a:t>
            </a:r>
            <a:endParaRPr sz="1500" b="0" i="0" u="none" strike="noStrike" cap="none">
              <a:solidFill>
                <a:srgbClr val="000000"/>
              </a:solidFill>
              <a:latin typeface="Arial"/>
              <a:ea typeface="Arial"/>
              <a:cs typeface="Arial"/>
              <a:sym typeface="Arial"/>
            </a:endParaRPr>
          </a:p>
        </p:txBody>
      </p:sp>
      <p:sp>
        <p:nvSpPr>
          <p:cNvPr id="309" name="Google Shape;309;p6"/>
          <p:cNvSpPr/>
          <p:nvPr/>
        </p:nvSpPr>
        <p:spPr>
          <a:xfrm>
            <a:off x="3402372" y="2806395"/>
            <a:ext cx="2240280" cy="59436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000000"/>
              </a:buClr>
              <a:buSzPts val="1150"/>
              <a:buFont typeface="Arial"/>
              <a:buNone/>
            </a:pPr>
            <a:r>
              <a:rPr lang="en-IN" sz="1150" b="0" i="0" u="none" strike="noStrike" cap="none">
                <a:solidFill>
                  <a:srgbClr val="1E293B"/>
                </a:solidFill>
                <a:latin typeface="Calibri"/>
                <a:ea typeface="Calibri"/>
                <a:cs typeface="Calibri"/>
                <a:sym typeface="Calibri"/>
              </a:rPr>
              <a:t>Highest TVOC concentration</a:t>
            </a:r>
            <a:endParaRPr sz="1150" b="0" i="0" u="none" strike="noStrike" cap="none">
              <a:solidFill>
                <a:srgbClr val="000000"/>
              </a:solidFill>
              <a:latin typeface="Arial"/>
              <a:ea typeface="Arial"/>
              <a:cs typeface="Arial"/>
              <a:sym typeface="Arial"/>
            </a:endParaRPr>
          </a:p>
        </p:txBody>
      </p:sp>
      <p:sp>
        <p:nvSpPr>
          <p:cNvPr id="310" name="Google Shape;310;p6"/>
          <p:cNvSpPr/>
          <p:nvPr/>
        </p:nvSpPr>
        <p:spPr>
          <a:xfrm>
            <a:off x="6054132" y="1709115"/>
            <a:ext cx="2606040" cy="1783080"/>
          </a:xfrm>
          <a:prstGeom prst="roundRect">
            <a:avLst>
              <a:gd name="adj" fmla="val 4103"/>
            </a:avLst>
          </a:prstGeom>
          <a:solidFill>
            <a:srgbClr val="F7F9F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1" name="Google Shape;311;p6"/>
          <p:cNvSpPr/>
          <p:nvPr/>
        </p:nvSpPr>
        <p:spPr>
          <a:xfrm>
            <a:off x="6237012" y="1891995"/>
            <a:ext cx="411480" cy="411480"/>
          </a:xfrm>
          <a:prstGeom prst="roundRect">
            <a:avLst>
              <a:gd name="adj" fmla="val 111111"/>
            </a:avLst>
          </a:prstGeom>
          <a:solidFill>
            <a:srgbClr val="F1622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2" name="Google Shape;312;p6"/>
          <p:cNvSpPr/>
          <p:nvPr/>
        </p:nvSpPr>
        <p:spPr>
          <a:xfrm>
            <a:off x="6237012" y="2440635"/>
            <a:ext cx="224028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IN" sz="1500" b="1" i="0" u="none" strike="noStrike" cap="none">
                <a:solidFill>
                  <a:srgbClr val="16324F"/>
                </a:solidFill>
                <a:latin typeface="Calibri"/>
                <a:ea typeface="Calibri"/>
                <a:cs typeface="Calibri"/>
                <a:sym typeface="Calibri"/>
              </a:rPr>
              <a:t>Motorbike</a:t>
            </a:r>
            <a:endParaRPr sz="1500" b="0" i="0" u="none" strike="noStrike" cap="none">
              <a:solidFill>
                <a:srgbClr val="000000"/>
              </a:solidFill>
              <a:latin typeface="Arial"/>
              <a:ea typeface="Arial"/>
              <a:cs typeface="Arial"/>
              <a:sym typeface="Arial"/>
            </a:endParaRPr>
          </a:p>
        </p:txBody>
      </p:sp>
      <p:sp>
        <p:nvSpPr>
          <p:cNvPr id="313" name="Google Shape;313;p6"/>
          <p:cNvSpPr/>
          <p:nvPr/>
        </p:nvSpPr>
        <p:spPr>
          <a:xfrm>
            <a:off x="6237012" y="2806395"/>
            <a:ext cx="2240280" cy="59436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000000"/>
              </a:buClr>
              <a:buSzPts val="1150"/>
              <a:buFont typeface="Arial"/>
              <a:buNone/>
            </a:pPr>
            <a:r>
              <a:rPr lang="en-IN" sz="1150" b="0" i="0" u="none" strike="noStrike" cap="none">
                <a:solidFill>
                  <a:srgbClr val="1E293B"/>
                </a:solidFill>
                <a:latin typeface="Calibri"/>
                <a:ea typeface="Calibri"/>
                <a:cs typeface="Calibri"/>
                <a:sym typeface="Calibri"/>
              </a:rPr>
              <a:t>Highest CO concentration</a:t>
            </a:r>
            <a:endParaRPr sz="1150" b="0" i="0" u="none" strike="noStrike" cap="none">
              <a:solidFill>
                <a:srgbClr val="000000"/>
              </a:solidFill>
              <a:latin typeface="Arial"/>
              <a:ea typeface="Arial"/>
              <a:cs typeface="Arial"/>
              <a:sym typeface="Arial"/>
            </a:endParaRPr>
          </a:p>
        </p:txBody>
      </p:sp>
      <p:sp>
        <p:nvSpPr>
          <p:cNvPr id="314" name="Google Shape;314;p6"/>
          <p:cNvSpPr/>
          <p:nvPr/>
        </p:nvSpPr>
        <p:spPr>
          <a:xfrm>
            <a:off x="8888772" y="1709115"/>
            <a:ext cx="2606040" cy="1783080"/>
          </a:xfrm>
          <a:prstGeom prst="roundRect">
            <a:avLst>
              <a:gd name="adj" fmla="val 4103"/>
            </a:avLst>
          </a:prstGeom>
          <a:solidFill>
            <a:srgbClr val="F7F9F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5" name="Google Shape;315;p6"/>
          <p:cNvSpPr/>
          <p:nvPr/>
        </p:nvSpPr>
        <p:spPr>
          <a:xfrm>
            <a:off x="9071652" y="1891995"/>
            <a:ext cx="411480" cy="411480"/>
          </a:xfrm>
          <a:prstGeom prst="roundRect">
            <a:avLst>
              <a:gd name="adj" fmla="val 111111"/>
            </a:avLst>
          </a:prstGeom>
          <a:solidFill>
            <a:srgbClr val="1632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6" name="Google Shape;316;p6"/>
          <p:cNvSpPr/>
          <p:nvPr/>
        </p:nvSpPr>
        <p:spPr>
          <a:xfrm>
            <a:off x="9071652" y="2440635"/>
            <a:ext cx="224028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IN" sz="1500" b="1" i="0" u="none" strike="noStrike" cap="none">
                <a:solidFill>
                  <a:srgbClr val="16324F"/>
                </a:solidFill>
                <a:latin typeface="Calibri"/>
                <a:ea typeface="Calibri"/>
                <a:cs typeface="Calibri"/>
                <a:sym typeface="Calibri"/>
              </a:rPr>
              <a:t>Suburban train</a:t>
            </a:r>
            <a:endParaRPr sz="1500" b="0" i="0" u="none" strike="noStrike" cap="none">
              <a:solidFill>
                <a:srgbClr val="000000"/>
              </a:solidFill>
              <a:latin typeface="Arial"/>
              <a:ea typeface="Arial"/>
              <a:cs typeface="Arial"/>
              <a:sym typeface="Arial"/>
            </a:endParaRPr>
          </a:p>
        </p:txBody>
      </p:sp>
      <p:sp>
        <p:nvSpPr>
          <p:cNvPr id="317" name="Google Shape;317;p6"/>
          <p:cNvSpPr/>
          <p:nvPr/>
        </p:nvSpPr>
        <p:spPr>
          <a:xfrm>
            <a:off x="9071652" y="2806395"/>
            <a:ext cx="2240280" cy="594360"/>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000000"/>
              </a:buClr>
              <a:buSzPts val="1150"/>
              <a:buFont typeface="Arial"/>
              <a:buNone/>
            </a:pPr>
            <a:r>
              <a:rPr lang="en-IN" sz="1150" b="0" i="0" u="none" strike="noStrike" cap="none">
                <a:solidFill>
                  <a:srgbClr val="1E293B"/>
                </a:solidFill>
                <a:latin typeface="Calibri"/>
                <a:ea typeface="Calibri"/>
                <a:cs typeface="Calibri"/>
                <a:sym typeface="Calibri"/>
              </a:rPr>
              <a:t>Lowest overall exposure among studied modes</a:t>
            </a:r>
            <a:endParaRPr sz="1150" b="0" i="0" u="none" strike="noStrike" cap="none">
              <a:solidFill>
                <a:srgbClr val="000000"/>
              </a:solidFill>
              <a:latin typeface="Arial"/>
              <a:ea typeface="Arial"/>
              <a:cs typeface="Arial"/>
              <a:sym typeface="Arial"/>
            </a:endParaRPr>
          </a:p>
        </p:txBody>
      </p:sp>
      <p:sp>
        <p:nvSpPr>
          <p:cNvPr id="318" name="Google Shape;318;p6"/>
          <p:cNvSpPr/>
          <p:nvPr/>
        </p:nvSpPr>
        <p:spPr>
          <a:xfrm>
            <a:off x="384852" y="3766515"/>
            <a:ext cx="11155680" cy="731520"/>
          </a:xfrm>
          <a:prstGeom prst="roundRect">
            <a:avLst>
              <a:gd name="adj" fmla="val 5926"/>
            </a:avLst>
          </a:prstGeom>
          <a:solidFill>
            <a:srgbClr val="FBF3E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9" name="Google Shape;319;p6"/>
          <p:cNvSpPr/>
          <p:nvPr/>
        </p:nvSpPr>
        <p:spPr>
          <a:xfrm>
            <a:off x="659172" y="3931107"/>
            <a:ext cx="10607040" cy="472798"/>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000000"/>
              </a:buClr>
              <a:buSzPts val="1300"/>
              <a:buFont typeface="Arial"/>
              <a:buNone/>
            </a:pPr>
            <a:r>
              <a:rPr lang="en-IN" sz="1300" b="1" i="0" u="none" strike="noStrike" cap="none">
                <a:solidFill>
                  <a:srgbClr val="16324F"/>
                </a:solidFill>
                <a:latin typeface="Calibri"/>
                <a:ea typeface="Calibri"/>
                <a:cs typeface="Calibri"/>
                <a:sym typeface="Calibri"/>
              </a:rPr>
              <a:t>Why the bus result matters:  </a:t>
            </a:r>
            <a:r>
              <a:rPr lang="en-IN" sz="1300" b="0" i="0" u="none" strike="noStrike" cap="none">
                <a:solidFill>
                  <a:srgbClr val="1E293B"/>
                </a:solidFill>
                <a:latin typeface="Calibri"/>
                <a:ea typeface="Calibri"/>
                <a:cs typeface="Calibri"/>
                <a:sym typeface="Calibri"/>
              </a:rPr>
              <a:t>buses had lower pollutant concentrations than most road modes, but bus users still accumulated a high inhaled dose - trips ran ~1.2x longer due to congestion and slower speeds. </a:t>
            </a:r>
            <a:endParaRPr sz="1300" b="0" i="0" u="none" strike="noStrike" cap="none">
              <a:solidFill>
                <a:srgbClr val="000000"/>
              </a:solidFill>
              <a:latin typeface="Arial"/>
              <a:ea typeface="Arial"/>
              <a:cs typeface="Arial"/>
              <a:sym typeface="Arial"/>
            </a:endParaRPr>
          </a:p>
        </p:txBody>
      </p:sp>
      <p:sp>
        <p:nvSpPr>
          <p:cNvPr id="320" name="Google Shape;320;p6"/>
          <p:cNvSpPr/>
          <p:nvPr/>
        </p:nvSpPr>
        <p:spPr>
          <a:xfrm>
            <a:off x="384852" y="4685487"/>
            <a:ext cx="11155680" cy="768096"/>
          </a:xfrm>
          <a:prstGeom prst="roundRect">
            <a:avLst>
              <a:gd name="adj" fmla="val 6957"/>
            </a:avLst>
          </a:prstGeom>
          <a:solidFill>
            <a:srgbClr val="1632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1" name="Google Shape;321;p6"/>
          <p:cNvSpPr/>
          <p:nvPr/>
        </p:nvSpPr>
        <p:spPr>
          <a:xfrm>
            <a:off x="651468" y="4791584"/>
            <a:ext cx="4572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IN" sz="1050" b="1" i="0" u="none" strike="noStrike" cap="none">
                <a:solidFill>
                  <a:srgbClr val="B8D4F0"/>
                </a:solidFill>
                <a:latin typeface="Calibri"/>
                <a:ea typeface="Calibri"/>
                <a:cs typeface="Calibri"/>
                <a:sym typeface="Calibri"/>
              </a:rPr>
              <a:t>EXPOSURE SHARE BY GROUP</a:t>
            </a:r>
            <a:endParaRPr sz="1050" b="0" i="0" u="none" strike="noStrike" cap="none">
              <a:solidFill>
                <a:srgbClr val="000000"/>
              </a:solidFill>
              <a:latin typeface="Arial"/>
              <a:ea typeface="Arial"/>
              <a:cs typeface="Arial"/>
              <a:sym typeface="Arial"/>
            </a:endParaRPr>
          </a:p>
        </p:txBody>
      </p:sp>
      <p:sp>
        <p:nvSpPr>
          <p:cNvPr id="322" name="Google Shape;322;p6"/>
          <p:cNvSpPr/>
          <p:nvPr/>
        </p:nvSpPr>
        <p:spPr>
          <a:xfrm>
            <a:off x="659172" y="5123873"/>
            <a:ext cx="10607040" cy="27432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000000"/>
              </a:buClr>
              <a:buSzPts val="1300"/>
              <a:buFont typeface="Arial"/>
              <a:buNone/>
            </a:pPr>
            <a:r>
              <a:rPr lang="en-IN" sz="1300" b="1" i="0" u="none" strike="noStrike" cap="none">
                <a:solidFill>
                  <a:srgbClr val="FFFFFF"/>
                </a:solidFill>
                <a:latin typeface="Calibri"/>
                <a:ea typeface="Calibri"/>
                <a:cs typeface="Calibri"/>
                <a:sym typeface="Calibri"/>
              </a:rPr>
              <a:t>Office commuters:  </a:t>
            </a:r>
            <a:r>
              <a:rPr lang="en-IN" sz="1300" b="0" i="0" u="none" strike="noStrike" cap="none">
                <a:solidFill>
                  <a:srgbClr val="E2E8F0"/>
                </a:solidFill>
                <a:latin typeface="Calibri"/>
                <a:ea typeface="Calibri"/>
                <a:cs typeface="Calibri"/>
                <a:sym typeface="Calibri"/>
              </a:rPr>
              <a:t>~25–30% of daily dose occurs during work-related travel.   </a:t>
            </a:r>
            <a:r>
              <a:rPr lang="en-IN" sz="1300" b="1" i="0" u="none" strike="noStrike" cap="none">
                <a:solidFill>
                  <a:srgbClr val="FFFFFF"/>
                </a:solidFill>
                <a:latin typeface="Calibri"/>
                <a:ea typeface="Calibri"/>
                <a:cs typeface="Calibri"/>
                <a:sym typeface="Calibri"/>
              </a:rPr>
              <a:t>Road-based workers:  </a:t>
            </a:r>
            <a:r>
              <a:rPr lang="en-IN" sz="1300" b="0" i="0" u="none" strike="noStrike" cap="none">
                <a:solidFill>
                  <a:srgbClr val="E2E8F0"/>
                </a:solidFill>
                <a:latin typeface="Calibri"/>
                <a:ea typeface="Calibri"/>
                <a:cs typeface="Calibri"/>
                <a:sym typeface="Calibri"/>
              </a:rPr>
              <a:t>~90% of daily dose occurs during work hours.</a:t>
            </a:r>
            <a:endParaRPr sz="13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7"/>
          <p:cNvSpPr txBox="1">
            <a:spLocks noGrp="1"/>
          </p:cNvSpPr>
          <p:nvPr>
            <p:ph type="title"/>
          </p:nvPr>
        </p:nvSpPr>
        <p:spPr>
          <a:xfrm>
            <a:off x="256032" y="225653"/>
            <a:ext cx="11284500" cy="433566"/>
          </a:xfrm>
          <a:prstGeom prst="rect">
            <a:avLst/>
          </a:prstGeom>
          <a:noFill/>
          <a:ln>
            <a:noFill/>
          </a:ln>
        </p:spPr>
        <p:txBody>
          <a:bodyPr spcFirstLastPara="1" wrap="square" lIns="0" tIns="45700" rIns="0" bIns="45700" anchor="t" anchorCtr="0">
            <a:normAutofit fontScale="90000"/>
          </a:bodyPr>
          <a:lstStyle/>
          <a:p>
            <a:pPr marL="0" lvl="0" indent="0" algn="l" rtl="0">
              <a:lnSpc>
                <a:spcPct val="100000"/>
              </a:lnSpc>
              <a:spcBef>
                <a:spcPts val="0"/>
              </a:spcBef>
              <a:spcAft>
                <a:spcPts val="0"/>
              </a:spcAft>
              <a:buClr>
                <a:schemeClr val="accent1"/>
              </a:buClr>
              <a:buSzPct val="166667"/>
              <a:buFont typeface="Calibri"/>
              <a:buNone/>
            </a:pPr>
            <a:r>
              <a:rPr lang="en-IN"/>
              <a:t>Expected Outputs from M2: Reduction in pollution</a:t>
            </a:r>
            <a:br>
              <a:rPr lang="en-IN"/>
            </a:br>
            <a:endParaRPr sz="1600" b="0">
              <a:solidFill>
                <a:srgbClr val="009CD8"/>
              </a:solidFill>
            </a:endParaRPr>
          </a:p>
        </p:txBody>
      </p:sp>
      <p:sp>
        <p:nvSpPr>
          <p:cNvPr id="328" name="Google Shape;328;p7"/>
          <p:cNvSpPr txBox="1"/>
          <p:nvPr/>
        </p:nvSpPr>
        <p:spPr>
          <a:xfrm>
            <a:off x="-276585" y="6235395"/>
            <a:ext cx="773100" cy="3651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600" b="0" i="0" u="none" strike="noStrike" cap="none">
                <a:solidFill>
                  <a:srgbClr val="888888"/>
                </a:solidFill>
                <a:latin typeface="Calibri"/>
                <a:ea typeface="Calibri"/>
                <a:cs typeface="Calibri"/>
                <a:sym typeface="Calibri"/>
              </a:rPr>
              <a:t>24</a:t>
            </a:fld>
            <a:r>
              <a:rPr lang="en-IN" sz="1600" b="0" i="0" u="none" strike="noStrike" cap="none">
                <a:solidFill>
                  <a:srgbClr val="888888"/>
                </a:solidFill>
                <a:latin typeface="Calibri"/>
                <a:ea typeface="Calibri"/>
                <a:cs typeface="Calibri"/>
                <a:sym typeface="Calibri"/>
              </a:rPr>
              <a:t>|</a:t>
            </a:r>
            <a:endParaRPr sz="1600" b="0" i="0" u="none" strike="noStrike" cap="none">
              <a:solidFill>
                <a:srgbClr val="888888"/>
              </a:solidFill>
              <a:latin typeface="Calibri"/>
              <a:ea typeface="Calibri"/>
              <a:cs typeface="Calibri"/>
              <a:sym typeface="Calibri"/>
            </a:endParaRPr>
          </a:p>
        </p:txBody>
      </p:sp>
      <p:sp>
        <p:nvSpPr>
          <p:cNvPr id="329" name="Google Shape;329;p7"/>
          <p:cNvSpPr/>
          <p:nvPr/>
        </p:nvSpPr>
        <p:spPr>
          <a:xfrm>
            <a:off x="457200" y="566928"/>
            <a:ext cx="1115568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IN" sz="2800" b="1" i="0" u="none" strike="noStrike" cap="none">
                <a:solidFill>
                  <a:srgbClr val="16324F"/>
                </a:solidFill>
                <a:latin typeface="Cambria"/>
                <a:ea typeface="Cambria"/>
                <a:cs typeface="Cambria"/>
                <a:sym typeface="Cambria"/>
              </a:rPr>
              <a:t>Turning the paper into a pollution-reduction output</a:t>
            </a:r>
            <a:endParaRPr sz="2800" b="0" i="0" u="none" strike="noStrike" cap="none">
              <a:solidFill>
                <a:srgbClr val="000000"/>
              </a:solidFill>
              <a:latin typeface="Arial"/>
              <a:ea typeface="Arial"/>
              <a:cs typeface="Arial"/>
              <a:sym typeface="Arial"/>
            </a:endParaRPr>
          </a:p>
        </p:txBody>
      </p:sp>
      <p:sp>
        <p:nvSpPr>
          <p:cNvPr id="330" name="Google Shape;330;p7"/>
          <p:cNvSpPr/>
          <p:nvPr/>
        </p:nvSpPr>
        <p:spPr>
          <a:xfrm>
            <a:off x="457200" y="1078992"/>
            <a:ext cx="1115568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b="0" i="1" u="none" strike="noStrike" cap="none">
                <a:solidFill>
                  <a:srgbClr val="64748B"/>
                </a:solidFill>
                <a:latin typeface="Calibri"/>
                <a:ea typeface="Calibri"/>
                <a:cs typeface="Calibri"/>
                <a:sym typeface="Calibri"/>
              </a:rPr>
              <a:t>Use for personal exposure reduction, not city-wide emissions directly</a:t>
            </a:r>
            <a:endParaRPr sz="1400" b="0" i="0" u="none" strike="noStrike" cap="none">
              <a:solidFill>
                <a:srgbClr val="000000"/>
              </a:solidFill>
              <a:latin typeface="Arial"/>
              <a:ea typeface="Arial"/>
              <a:cs typeface="Arial"/>
              <a:sym typeface="Arial"/>
            </a:endParaRPr>
          </a:p>
        </p:txBody>
      </p:sp>
      <p:sp>
        <p:nvSpPr>
          <p:cNvPr id="331" name="Google Shape;331;p7"/>
          <p:cNvSpPr/>
          <p:nvPr/>
        </p:nvSpPr>
        <p:spPr>
          <a:xfrm>
            <a:off x="457200" y="1600200"/>
            <a:ext cx="3657600" cy="2103120"/>
          </a:xfrm>
          <a:prstGeom prst="roundRect">
            <a:avLst>
              <a:gd name="adj" fmla="val 3478"/>
            </a:avLst>
          </a:prstGeom>
          <a:solidFill>
            <a:srgbClr val="FBF3E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2" name="Google Shape;332;p7"/>
          <p:cNvSpPr/>
          <p:nvPr/>
        </p:nvSpPr>
        <p:spPr>
          <a:xfrm>
            <a:off x="685800" y="1755648"/>
            <a:ext cx="32004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IN" sz="1050" b="1" i="0" u="none" strike="noStrike" cap="none">
                <a:solidFill>
                  <a:srgbClr val="16324F"/>
                </a:solidFill>
                <a:latin typeface="Calibri"/>
                <a:ea typeface="Calibri"/>
                <a:cs typeface="Calibri"/>
                <a:sym typeface="Calibri"/>
              </a:rPr>
              <a:t>CORE DOSE EQUATION</a:t>
            </a:r>
            <a:endParaRPr sz="1050" b="0" i="0" u="none" strike="noStrike" cap="none">
              <a:solidFill>
                <a:srgbClr val="000000"/>
              </a:solidFill>
              <a:latin typeface="Arial"/>
              <a:ea typeface="Arial"/>
              <a:cs typeface="Arial"/>
              <a:sym typeface="Arial"/>
            </a:endParaRPr>
          </a:p>
        </p:txBody>
      </p:sp>
      <p:sp>
        <p:nvSpPr>
          <p:cNvPr id="333" name="Google Shape;333;p7"/>
          <p:cNvSpPr/>
          <p:nvPr/>
        </p:nvSpPr>
        <p:spPr>
          <a:xfrm>
            <a:off x="685800" y="2103120"/>
            <a:ext cx="320040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en-IN" sz="2600" b="1" i="0" u="none" strike="noStrike" cap="none">
                <a:solidFill>
                  <a:srgbClr val="16324F"/>
                </a:solidFill>
                <a:latin typeface="Cambria"/>
                <a:ea typeface="Cambria"/>
                <a:cs typeface="Cambria"/>
                <a:sym typeface="Cambria"/>
              </a:rPr>
              <a:t>D = C × IR × t</a:t>
            </a:r>
            <a:endParaRPr sz="2600" b="0" i="0" u="none" strike="noStrike" cap="none">
              <a:solidFill>
                <a:srgbClr val="000000"/>
              </a:solidFill>
              <a:latin typeface="Arial"/>
              <a:ea typeface="Arial"/>
              <a:cs typeface="Arial"/>
              <a:sym typeface="Arial"/>
            </a:endParaRPr>
          </a:p>
        </p:txBody>
      </p:sp>
      <p:sp>
        <p:nvSpPr>
          <p:cNvPr id="334" name="Google Shape;334;p7"/>
          <p:cNvSpPr/>
          <p:nvPr/>
        </p:nvSpPr>
        <p:spPr>
          <a:xfrm>
            <a:off x="685800" y="2743200"/>
            <a:ext cx="3200400" cy="86868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000000"/>
              </a:buClr>
              <a:buSzPts val="1100"/>
              <a:buFont typeface="Arial"/>
              <a:buNone/>
            </a:pPr>
            <a:r>
              <a:rPr lang="en-IN" sz="1100" b="0" i="0" u="none" strike="noStrike" cap="none">
                <a:solidFill>
                  <a:srgbClr val="1E293B"/>
                </a:solidFill>
                <a:latin typeface="Calibri"/>
                <a:ea typeface="Calibri"/>
                <a:cs typeface="Calibri"/>
                <a:sym typeface="Calibri"/>
              </a:rPr>
              <a:t>D = inhaled dose</a:t>
            </a:r>
            <a:endParaRPr sz="11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1100"/>
              <a:buFont typeface="Arial"/>
              <a:buNone/>
            </a:pPr>
            <a:r>
              <a:rPr lang="en-IN" sz="1100" b="0" i="0" u="none" strike="noStrike" cap="none">
                <a:solidFill>
                  <a:srgbClr val="1E293B"/>
                </a:solidFill>
                <a:latin typeface="Calibri"/>
                <a:ea typeface="Calibri"/>
                <a:cs typeface="Calibri"/>
                <a:sym typeface="Calibri"/>
              </a:rPr>
              <a:t>C = in-mode concentration</a:t>
            </a:r>
            <a:endParaRPr sz="11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1100"/>
              <a:buFont typeface="Arial"/>
              <a:buNone/>
            </a:pPr>
            <a:r>
              <a:rPr lang="en-IN" sz="1100" b="0" i="0" u="none" strike="noStrike" cap="none">
                <a:solidFill>
                  <a:srgbClr val="1E293B"/>
                </a:solidFill>
                <a:latin typeface="Calibri"/>
                <a:ea typeface="Calibri"/>
                <a:cs typeface="Calibri"/>
                <a:sym typeface="Calibri"/>
              </a:rPr>
              <a:t>IR = inhalation rate</a:t>
            </a:r>
            <a:endParaRPr sz="11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1100"/>
              <a:buFont typeface="Arial"/>
              <a:buNone/>
            </a:pPr>
            <a:r>
              <a:rPr lang="en-IN" sz="1100" b="0" i="0" u="none" strike="noStrike" cap="none">
                <a:solidFill>
                  <a:srgbClr val="1E293B"/>
                </a:solidFill>
                <a:latin typeface="Calibri"/>
                <a:ea typeface="Calibri"/>
                <a:cs typeface="Calibri"/>
                <a:sym typeface="Calibri"/>
              </a:rPr>
              <a:t>t = travel time</a:t>
            </a:r>
            <a:endParaRPr sz="1100" b="0" i="0" u="none" strike="noStrike" cap="none">
              <a:solidFill>
                <a:srgbClr val="000000"/>
              </a:solidFill>
              <a:latin typeface="Arial"/>
              <a:ea typeface="Arial"/>
              <a:cs typeface="Arial"/>
              <a:sym typeface="Arial"/>
            </a:endParaRPr>
          </a:p>
        </p:txBody>
      </p:sp>
      <p:sp>
        <p:nvSpPr>
          <p:cNvPr id="335" name="Google Shape;335;p7"/>
          <p:cNvSpPr/>
          <p:nvPr/>
        </p:nvSpPr>
        <p:spPr>
          <a:xfrm>
            <a:off x="4343400" y="1600200"/>
            <a:ext cx="3566160" cy="960120"/>
          </a:xfrm>
          <a:prstGeom prst="roundRect">
            <a:avLst>
              <a:gd name="adj" fmla="val 7619"/>
            </a:avLst>
          </a:prstGeom>
          <a:solidFill>
            <a:srgbClr val="F7F9FA"/>
          </a:solidFill>
          <a:ln w="12700" cap="flat" cmpd="sng">
            <a:solidFill>
              <a:srgbClr val="B8D4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6" name="Google Shape;336;p7"/>
          <p:cNvSpPr/>
          <p:nvPr/>
        </p:nvSpPr>
        <p:spPr>
          <a:xfrm>
            <a:off x="4526280" y="1691640"/>
            <a:ext cx="32004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IN" sz="1050" b="1" i="0" u="none" strike="noStrike" cap="none">
                <a:solidFill>
                  <a:srgbClr val="64748B"/>
                </a:solidFill>
                <a:latin typeface="Calibri"/>
                <a:ea typeface="Calibri"/>
                <a:cs typeface="Calibri"/>
                <a:sym typeface="Calibri"/>
              </a:rPr>
              <a:t>BEFORE (prior mode)</a:t>
            </a:r>
            <a:endParaRPr sz="1050" b="0" i="0" u="none" strike="noStrike" cap="none">
              <a:solidFill>
                <a:srgbClr val="000000"/>
              </a:solidFill>
              <a:latin typeface="Arial"/>
              <a:ea typeface="Arial"/>
              <a:cs typeface="Arial"/>
              <a:sym typeface="Arial"/>
            </a:endParaRPr>
          </a:p>
        </p:txBody>
      </p:sp>
      <p:sp>
        <p:nvSpPr>
          <p:cNvPr id="337" name="Google Shape;337;p7"/>
          <p:cNvSpPr/>
          <p:nvPr/>
        </p:nvSpPr>
        <p:spPr>
          <a:xfrm>
            <a:off x="4526280" y="1965960"/>
            <a:ext cx="32004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IN" sz="1500" b="1" i="0" u="none" strike="noStrike" cap="none">
                <a:solidFill>
                  <a:srgbClr val="16324F"/>
                </a:solidFill>
                <a:latin typeface="Cambria"/>
                <a:ea typeface="Cambria"/>
                <a:cs typeface="Cambria"/>
                <a:sym typeface="Cambria"/>
              </a:rPr>
              <a:t>C_previous × IR × t_previous</a:t>
            </a:r>
            <a:endParaRPr sz="1500" b="0" i="0" u="none" strike="noStrike" cap="none">
              <a:solidFill>
                <a:srgbClr val="000000"/>
              </a:solidFill>
              <a:latin typeface="Arial"/>
              <a:ea typeface="Arial"/>
              <a:cs typeface="Arial"/>
              <a:sym typeface="Arial"/>
            </a:endParaRPr>
          </a:p>
        </p:txBody>
      </p:sp>
      <p:sp>
        <p:nvSpPr>
          <p:cNvPr id="338" name="Google Shape;338;p7"/>
          <p:cNvSpPr/>
          <p:nvPr/>
        </p:nvSpPr>
        <p:spPr>
          <a:xfrm>
            <a:off x="4343400" y="2697480"/>
            <a:ext cx="3566160" cy="960120"/>
          </a:xfrm>
          <a:prstGeom prst="roundRect">
            <a:avLst>
              <a:gd name="adj" fmla="val 7619"/>
            </a:avLst>
          </a:prstGeom>
          <a:solidFill>
            <a:srgbClr val="F7F9FA"/>
          </a:solidFill>
          <a:ln w="12700" cap="flat" cmpd="sng">
            <a:solidFill>
              <a:srgbClr val="B8D4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9" name="Google Shape;339;p7"/>
          <p:cNvSpPr/>
          <p:nvPr/>
        </p:nvSpPr>
        <p:spPr>
          <a:xfrm>
            <a:off x="4526280" y="2788920"/>
            <a:ext cx="32004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IN" sz="1050" b="1" i="0" u="none" strike="noStrike" cap="none">
                <a:solidFill>
                  <a:srgbClr val="64748B"/>
                </a:solidFill>
                <a:latin typeface="Calibri"/>
                <a:ea typeface="Calibri"/>
                <a:cs typeface="Calibri"/>
                <a:sym typeface="Calibri"/>
              </a:rPr>
              <a:t>AFTER (bus)</a:t>
            </a:r>
            <a:endParaRPr sz="1050" b="0" i="0" u="none" strike="noStrike" cap="none">
              <a:solidFill>
                <a:srgbClr val="000000"/>
              </a:solidFill>
              <a:latin typeface="Arial"/>
              <a:ea typeface="Arial"/>
              <a:cs typeface="Arial"/>
              <a:sym typeface="Arial"/>
            </a:endParaRPr>
          </a:p>
        </p:txBody>
      </p:sp>
      <p:sp>
        <p:nvSpPr>
          <p:cNvPr id="340" name="Google Shape;340;p7"/>
          <p:cNvSpPr/>
          <p:nvPr/>
        </p:nvSpPr>
        <p:spPr>
          <a:xfrm>
            <a:off x="4526280" y="3063240"/>
            <a:ext cx="32004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IN" sz="1500" b="1" i="0" u="none" strike="noStrike" cap="none">
                <a:solidFill>
                  <a:srgbClr val="16324F"/>
                </a:solidFill>
                <a:latin typeface="Cambria"/>
                <a:ea typeface="Cambria"/>
                <a:cs typeface="Cambria"/>
                <a:sym typeface="Cambria"/>
              </a:rPr>
              <a:t>C_bus × IR × t_bus</a:t>
            </a:r>
            <a:endParaRPr sz="1500" b="0" i="0" u="none" strike="noStrike" cap="none">
              <a:solidFill>
                <a:srgbClr val="000000"/>
              </a:solidFill>
              <a:latin typeface="Arial"/>
              <a:ea typeface="Arial"/>
              <a:cs typeface="Arial"/>
              <a:sym typeface="Arial"/>
            </a:endParaRPr>
          </a:p>
        </p:txBody>
      </p:sp>
      <p:sp>
        <p:nvSpPr>
          <p:cNvPr id="341" name="Google Shape;341;p7"/>
          <p:cNvSpPr/>
          <p:nvPr/>
        </p:nvSpPr>
        <p:spPr>
          <a:xfrm>
            <a:off x="8092440" y="1600200"/>
            <a:ext cx="3520440" cy="2103120"/>
          </a:xfrm>
          <a:prstGeom prst="roundRect">
            <a:avLst>
              <a:gd name="adj" fmla="val 3478"/>
            </a:avLst>
          </a:prstGeom>
          <a:solidFill>
            <a:srgbClr val="16324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2" name="Google Shape;342;p7"/>
          <p:cNvSpPr/>
          <p:nvPr/>
        </p:nvSpPr>
        <p:spPr>
          <a:xfrm>
            <a:off x="8321040" y="1755648"/>
            <a:ext cx="306324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IN" sz="1050" b="1" i="0" u="none" strike="noStrike" cap="none">
                <a:solidFill>
                  <a:srgbClr val="B8D4F0"/>
                </a:solidFill>
                <a:latin typeface="Calibri"/>
                <a:ea typeface="Calibri"/>
                <a:cs typeface="Calibri"/>
                <a:sym typeface="Calibri"/>
              </a:rPr>
              <a:t>EXPOSURE BENEFIT</a:t>
            </a:r>
            <a:endParaRPr sz="1050" b="0" i="0" u="none" strike="noStrike" cap="none">
              <a:solidFill>
                <a:srgbClr val="000000"/>
              </a:solidFill>
              <a:latin typeface="Arial"/>
              <a:ea typeface="Arial"/>
              <a:cs typeface="Arial"/>
              <a:sym typeface="Arial"/>
            </a:endParaRPr>
          </a:p>
        </p:txBody>
      </p:sp>
      <p:sp>
        <p:nvSpPr>
          <p:cNvPr id="343" name="Google Shape;343;p7"/>
          <p:cNvSpPr/>
          <p:nvPr/>
        </p:nvSpPr>
        <p:spPr>
          <a:xfrm>
            <a:off x="8321040" y="2103120"/>
            <a:ext cx="306324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IN" sz="2200" b="1" i="0" u="none" strike="noStrike" cap="none">
                <a:solidFill>
                  <a:srgbClr val="FFFFFF"/>
                </a:solidFill>
                <a:latin typeface="Cambria"/>
                <a:ea typeface="Cambria"/>
                <a:cs typeface="Cambria"/>
                <a:sym typeface="Cambria"/>
              </a:rPr>
              <a:t>D_before − D_after</a:t>
            </a:r>
            <a:endParaRPr sz="2200" b="0" i="0" u="none" strike="noStrike" cap="none">
              <a:solidFill>
                <a:srgbClr val="000000"/>
              </a:solidFill>
              <a:latin typeface="Arial"/>
              <a:ea typeface="Arial"/>
              <a:cs typeface="Arial"/>
              <a:sym typeface="Arial"/>
            </a:endParaRPr>
          </a:p>
        </p:txBody>
      </p:sp>
      <p:sp>
        <p:nvSpPr>
          <p:cNvPr id="344" name="Google Shape;344;p7"/>
          <p:cNvSpPr/>
          <p:nvPr/>
        </p:nvSpPr>
        <p:spPr>
          <a:xfrm>
            <a:off x="8321040" y="2697480"/>
            <a:ext cx="3063240" cy="86868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000000"/>
              </a:buClr>
              <a:buSzPts val="1100"/>
              <a:buFont typeface="Arial"/>
              <a:buNone/>
            </a:pPr>
            <a:r>
              <a:rPr lang="en-IN" sz="1100" b="0" i="0" u="none" strike="noStrike" cap="none">
                <a:solidFill>
                  <a:srgbClr val="E2E8F0"/>
                </a:solidFill>
                <a:latin typeface="Calibri"/>
                <a:ea typeface="Calibri"/>
                <a:cs typeface="Calibri"/>
                <a:sym typeface="Calibri"/>
              </a:rPr>
              <a:t>Reduction in inhaled pollutant mass attributable to switching onto the bus.</a:t>
            </a:r>
            <a:endParaRPr sz="1100" b="0" i="0" u="none" strike="noStrike" cap="none">
              <a:solidFill>
                <a:srgbClr val="000000"/>
              </a:solidFill>
              <a:latin typeface="Arial"/>
              <a:ea typeface="Arial"/>
              <a:cs typeface="Arial"/>
              <a:sym typeface="Arial"/>
            </a:endParaRPr>
          </a:p>
        </p:txBody>
      </p:sp>
      <p:sp>
        <p:nvSpPr>
          <p:cNvPr id="345" name="Google Shape;345;p7"/>
          <p:cNvSpPr/>
          <p:nvPr/>
        </p:nvSpPr>
        <p:spPr>
          <a:xfrm>
            <a:off x="457200" y="3977640"/>
            <a:ext cx="11155680" cy="594360"/>
          </a:xfrm>
          <a:prstGeom prst="roundRect">
            <a:avLst>
              <a:gd name="adj" fmla="val 6957"/>
            </a:avLst>
          </a:prstGeom>
          <a:solidFill>
            <a:srgbClr val="F7F9F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6" name="Google Shape;346;p7"/>
          <p:cNvSpPr/>
          <p:nvPr/>
        </p:nvSpPr>
        <p:spPr>
          <a:xfrm>
            <a:off x="731520" y="4160520"/>
            <a:ext cx="10607040" cy="6858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300"/>
              <a:buFont typeface="Arial"/>
              <a:buNone/>
            </a:pPr>
            <a:r>
              <a:rPr lang="en-IN" sz="1300" b="1" i="0" u="none" strike="noStrike" cap="none">
                <a:solidFill>
                  <a:srgbClr val="16324F"/>
                </a:solidFill>
                <a:latin typeface="Calibri"/>
                <a:ea typeface="Calibri"/>
                <a:cs typeface="Calibri"/>
                <a:sym typeface="Calibri"/>
              </a:rPr>
              <a:t>Survey data needed:  </a:t>
            </a:r>
            <a:r>
              <a:rPr lang="en-IN" sz="1300" b="0" i="0" u="none" strike="noStrike" cap="none">
                <a:solidFill>
                  <a:srgbClr val="1E293B"/>
                </a:solidFill>
                <a:latin typeface="Calibri"/>
                <a:ea typeface="Calibri"/>
                <a:cs typeface="Calibri"/>
                <a:sym typeface="Calibri"/>
              </a:rPr>
              <a:t>previous mode  •  current bus use  •  travel time  •  trip distance  •  days/week  •  full/partial mode replacement</a:t>
            </a:r>
            <a:endParaRPr sz="1300" b="0" i="0" u="none" strike="noStrike" cap="none">
              <a:solidFill>
                <a:srgbClr val="000000"/>
              </a:solidFill>
              <a:latin typeface="Arial"/>
              <a:ea typeface="Arial"/>
              <a:cs typeface="Arial"/>
              <a:sym typeface="Arial"/>
            </a:endParaRPr>
          </a:p>
        </p:txBody>
      </p:sp>
      <p:sp>
        <p:nvSpPr>
          <p:cNvPr id="347" name="Google Shape;347;p7"/>
          <p:cNvSpPr/>
          <p:nvPr/>
        </p:nvSpPr>
        <p:spPr>
          <a:xfrm>
            <a:off x="518160" y="4777740"/>
            <a:ext cx="11155680" cy="594360"/>
          </a:xfrm>
          <a:prstGeom prst="roundRect">
            <a:avLst>
              <a:gd name="adj" fmla="val 8421"/>
            </a:avLst>
          </a:prstGeom>
          <a:solidFill>
            <a:srgbClr val="FBF3E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8" name="Google Shape;348;p7"/>
          <p:cNvSpPr/>
          <p:nvPr/>
        </p:nvSpPr>
        <p:spPr>
          <a:xfrm>
            <a:off x="723014" y="4937760"/>
            <a:ext cx="10607040" cy="292608"/>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000000"/>
              </a:buClr>
              <a:buSzPts val="1300"/>
              <a:buFont typeface="Arial"/>
              <a:buNone/>
            </a:pPr>
            <a:r>
              <a:rPr lang="en-IN" sz="1300" b="1" i="0" u="none" strike="noStrike" cap="none">
                <a:solidFill>
                  <a:srgbClr val="16324F"/>
                </a:solidFill>
                <a:latin typeface="Calibri"/>
                <a:ea typeface="Calibri"/>
                <a:cs typeface="Calibri"/>
                <a:sym typeface="Calibri"/>
              </a:rPr>
              <a:t>Final output:  </a:t>
            </a:r>
            <a:r>
              <a:rPr lang="en-IN" sz="1300" b="0" i="0" u="none" strike="noStrike" cap="none">
                <a:solidFill>
                  <a:srgbClr val="1E293B"/>
                </a:solidFill>
                <a:latin typeface="Calibri"/>
                <a:ea typeface="Calibri"/>
                <a:cs typeface="Calibri"/>
                <a:sym typeface="Calibri"/>
              </a:rPr>
              <a:t>annual reduction in inhaled PM₂.₅, PM₁₀ or CO per respondent, aggregated across the sample and scaled to the city.</a:t>
            </a:r>
            <a:endParaRPr sz="1300" b="0"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8"/>
          <p:cNvSpPr txBox="1">
            <a:spLocks noGrp="1"/>
          </p:cNvSpPr>
          <p:nvPr>
            <p:ph type="title"/>
          </p:nvPr>
        </p:nvSpPr>
        <p:spPr>
          <a:xfrm>
            <a:off x="256032" y="225653"/>
            <a:ext cx="11284500" cy="433566"/>
          </a:xfrm>
          <a:prstGeom prst="rect">
            <a:avLst/>
          </a:prstGeom>
          <a:noFill/>
          <a:ln>
            <a:noFill/>
          </a:ln>
        </p:spPr>
        <p:txBody>
          <a:bodyPr spcFirstLastPara="1" wrap="square" lIns="0" tIns="45700" rIns="0" bIns="45700" anchor="t" anchorCtr="0">
            <a:normAutofit fontScale="90000"/>
          </a:bodyPr>
          <a:lstStyle/>
          <a:p>
            <a:pPr marL="0" lvl="0" indent="0" algn="l" rtl="0">
              <a:lnSpc>
                <a:spcPct val="100000"/>
              </a:lnSpc>
              <a:spcBef>
                <a:spcPts val="0"/>
              </a:spcBef>
              <a:spcAft>
                <a:spcPts val="0"/>
              </a:spcAft>
              <a:buClr>
                <a:schemeClr val="accent1"/>
              </a:buClr>
              <a:buSzPct val="166667"/>
              <a:buFont typeface="Calibri"/>
              <a:buNone/>
            </a:pPr>
            <a:r>
              <a:rPr lang="en-IN"/>
              <a:t>Expected Outputs from M2: Reduction in Fatalities </a:t>
            </a:r>
            <a:endParaRPr sz="1600" b="0">
              <a:solidFill>
                <a:srgbClr val="009CD8"/>
              </a:solidFill>
            </a:endParaRPr>
          </a:p>
        </p:txBody>
      </p:sp>
      <p:sp>
        <p:nvSpPr>
          <p:cNvPr id="354" name="Google Shape;354;p8"/>
          <p:cNvSpPr txBox="1"/>
          <p:nvPr/>
        </p:nvSpPr>
        <p:spPr>
          <a:xfrm>
            <a:off x="-276585" y="6235395"/>
            <a:ext cx="773100" cy="3651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600" b="0" i="0" u="none" strike="noStrike" cap="none">
                <a:solidFill>
                  <a:srgbClr val="888888"/>
                </a:solidFill>
                <a:latin typeface="Calibri"/>
                <a:ea typeface="Calibri"/>
                <a:cs typeface="Calibri"/>
                <a:sym typeface="Calibri"/>
              </a:rPr>
              <a:t>25</a:t>
            </a:fld>
            <a:r>
              <a:rPr lang="en-IN" sz="1600" b="0" i="0" u="none" strike="noStrike" cap="none">
                <a:solidFill>
                  <a:srgbClr val="888888"/>
                </a:solidFill>
                <a:latin typeface="Calibri"/>
                <a:ea typeface="Calibri"/>
                <a:cs typeface="Calibri"/>
                <a:sym typeface="Calibri"/>
              </a:rPr>
              <a:t>|</a:t>
            </a:r>
            <a:endParaRPr sz="1600" b="0" i="0" u="none" strike="noStrike" cap="none">
              <a:solidFill>
                <a:srgbClr val="888888"/>
              </a:solidFill>
              <a:latin typeface="Calibri"/>
              <a:ea typeface="Calibri"/>
              <a:cs typeface="Calibri"/>
              <a:sym typeface="Calibri"/>
            </a:endParaRPr>
          </a:p>
        </p:txBody>
      </p:sp>
      <p:sp>
        <p:nvSpPr>
          <p:cNvPr id="355" name="Google Shape;355;p8"/>
          <p:cNvSpPr txBox="1"/>
          <p:nvPr/>
        </p:nvSpPr>
        <p:spPr>
          <a:xfrm>
            <a:off x="399696" y="711383"/>
            <a:ext cx="8787334" cy="3398238"/>
          </a:xfrm>
          <a:prstGeom prst="rect">
            <a:avLst/>
          </a:prstGeom>
          <a:blipFill rotWithShape="1">
            <a:blip r:embed="rId3">
              <a:alphaModFix/>
            </a:blip>
            <a:stretch>
              <a:fillRect l="-433" t="-746" b="-34702"/>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IN" sz="1400" b="0" i="0" u="none" strike="noStrike" cap="none">
                <a:latin typeface="Arial"/>
                <a:ea typeface="Arial"/>
                <a:cs typeface="Arial"/>
                <a:sym typeface="Arial"/>
              </a:rPr>
              <a:t> </a:t>
            </a:r>
            <a:endParaRPr/>
          </a:p>
        </p:txBody>
      </p:sp>
      <p:sp>
        <p:nvSpPr>
          <p:cNvPr id="356" name="Google Shape;356;p8"/>
          <p:cNvSpPr txBox="1"/>
          <p:nvPr/>
        </p:nvSpPr>
        <p:spPr>
          <a:xfrm>
            <a:off x="496515" y="4419513"/>
            <a:ext cx="6239434" cy="18158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1600" b="1" i="0" u="none" strike="noStrike" cap="none">
                <a:solidFill>
                  <a:srgbClr val="000000"/>
                </a:solidFill>
                <a:latin typeface="Calibri"/>
                <a:ea typeface="Calibri"/>
                <a:cs typeface="Calibri"/>
                <a:sym typeface="Calibri"/>
              </a:rPr>
              <a:t>City A: buses already operating</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r>
              <a:rPr lang="en-IN" sz="1600" b="0" i="0" u="none" strike="noStrike" cap="none">
                <a:solidFill>
                  <a:srgbClr val="000000"/>
                </a:solidFill>
                <a:latin typeface="Calibri"/>
                <a:ea typeface="Calibri"/>
                <a:cs typeface="Calibri"/>
                <a:sym typeface="Calibri"/>
              </a:rPr>
              <a:t>What is your one-way bus-trip distance? </a:t>
            </a:r>
            <a:endParaRPr/>
          </a:p>
          <a:p>
            <a:pPr marL="0" marR="0" lvl="0" indent="0" algn="l" rtl="0">
              <a:lnSpc>
                <a:spcPct val="100000"/>
              </a:lnSpc>
              <a:spcBef>
                <a:spcPts val="0"/>
              </a:spcBef>
              <a:spcAft>
                <a:spcPts val="0"/>
              </a:spcAft>
              <a:buNone/>
            </a:pPr>
            <a:r>
              <a:rPr lang="en-IN" sz="1600" b="0" i="0" u="none" strike="noStrike" cap="none">
                <a:solidFill>
                  <a:srgbClr val="000000"/>
                </a:solidFill>
                <a:latin typeface="Calibri"/>
                <a:ea typeface="Calibri"/>
                <a:cs typeface="Calibri"/>
                <a:sym typeface="Calibri"/>
              </a:rPr>
              <a:t>How many days per week do you use the bus? </a:t>
            </a:r>
            <a:endParaRPr/>
          </a:p>
          <a:p>
            <a:pPr marL="0" marR="0" lvl="0" indent="0" algn="l" rtl="0">
              <a:lnSpc>
                <a:spcPct val="100000"/>
              </a:lnSpc>
              <a:spcBef>
                <a:spcPts val="0"/>
              </a:spcBef>
              <a:spcAft>
                <a:spcPts val="0"/>
              </a:spcAft>
              <a:buNone/>
            </a:pPr>
            <a:r>
              <a:rPr lang="en-IN" sz="1600" b="0" i="0" u="none" strike="noStrike" cap="none">
                <a:solidFill>
                  <a:srgbClr val="000000"/>
                </a:solidFill>
                <a:latin typeface="Calibri"/>
                <a:ea typeface="Calibri"/>
                <a:cs typeface="Calibri"/>
                <a:sym typeface="Calibri"/>
              </a:rPr>
              <a:t>If this bus were unavailable, which mode would you use? </a:t>
            </a:r>
            <a:endParaRPr/>
          </a:p>
          <a:p>
            <a:pPr marL="0" marR="0" lvl="0" indent="0" algn="l" rtl="0">
              <a:lnSpc>
                <a:spcPct val="100000"/>
              </a:lnSpc>
              <a:spcBef>
                <a:spcPts val="0"/>
              </a:spcBef>
              <a:spcAft>
                <a:spcPts val="0"/>
              </a:spcAft>
              <a:buNone/>
            </a:pPr>
            <a:r>
              <a:rPr lang="en-IN" sz="1600" b="0" i="0" u="none" strike="noStrike" cap="none">
                <a:solidFill>
                  <a:srgbClr val="000000"/>
                </a:solidFill>
                <a:latin typeface="Calibri"/>
                <a:ea typeface="Calibri"/>
                <a:cs typeface="Calibri"/>
                <a:sym typeface="Calibri"/>
              </a:rPr>
              <a:t>Before using the bus, which mode did you normally use? </a:t>
            </a:r>
            <a:endParaRPr/>
          </a:p>
          <a:p>
            <a:pPr marL="0" marR="0" lvl="0" indent="0" algn="l" rtl="0">
              <a:lnSpc>
                <a:spcPct val="100000"/>
              </a:lnSpc>
              <a:spcBef>
                <a:spcPts val="0"/>
              </a:spcBef>
              <a:spcAft>
                <a:spcPts val="0"/>
              </a:spcAft>
              <a:buNone/>
            </a:pPr>
            <a:r>
              <a:rPr lang="en-IN" sz="1600" b="0" i="0" u="none" strike="noStrike" cap="none">
                <a:solidFill>
                  <a:srgbClr val="000000"/>
                </a:solidFill>
                <a:latin typeface="Calibri"/>
                <a:ea typeface="Calibri"/>
                <a:cs typeface="Calibri"/>
                <a:sym typeface="Calibri"/>
              </a:rPr>
              <a:t>Does the bus replace the full trip or only part of it? </a:t>
            </a:r>
            <a:endParaRPr/>
          </a:p>
          <a:p>
            <a:pPr marL="0" marR="0" lvl="0" indent="0" algn="l" rtl="0">
              <a:lnSpc>
                <a:spcPct val="100000"/>
              </a:lnSpc>
              <a:spcBef>
                <a:spcPts val="0"/>
              </a:spcBef>
              <a:spcAft>
                <a:spcPts val="0"/>
              </a:spcAft>
              <a:buNone/>
            </a:pPr>
            <a:r>
              <a:rPr lang="en-IN" sz="1600" b="0" i="0" u="none" strike="noStrike" cap="none">
                <a:solidFill>
                  <a:srgbClr val="000000"/>
                </a:solidFill>
                <a:latin typeface="Calibri"/>
                <a:ea typeface="Calibri"/>
                <a:cs typeface="Calibri"/>
                <a:sym typeface="Calibri"/>
              </a:rPr>
              <a:t>How do you reach and leave the bus stop, and what is the distance? </a:t>
            </a:r>
            <a:endParaRPr/>
          </a:p>
        </p:txBody>
      </p:sp>
      <p:sp>
        <p:nvSpPr>
          <p:cNvPr id="357" name="Google Shape;357;p8"/>
          <p:cNvSpPr txBox="1"/>
          <p:nvPr/>
        </p:nvSpPr>
        <p:spPr>
          <a:xfrm>
            <a:off x="6486861" y="4109621"/>
            <a:ext cx="6239434" cy="23083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1600" b="1" i="0" u="none" strike="noStrike" cap="none">
                <a:solidFill>
                  <a:srgbClr val="000000"/>
                </a:solidFill>
                <a:latin typeface="Calibri"/>
                <a:ea typeface="Calibri"/>
                <a:cs typeface="Calibri"/>
                <a:sym typeface="Calibri"/>
              </a:rPr>
              <a:t>City B: buses will be introduced</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None/>
            </a:pPr>
            <a:r>
              <a:rPr lang="en-IN" sz="1600" b="0" i="0" u="none" strike="noStrike" cap="none">
                <a:solidFill>
                  <a:srgbClr val="000000"/>
                </a:solidFill>
                <a:latin typeface="Calibri"/>
                <a:ea typeface="Calibri"/>
                <a:cs typeface="Calibri"/>
                <a:sym typeface="Calibri"/>
              </a:rPr>
              <a:t>What mode do you currently use? </a:t>
            </a:r>
            <a:endParaRPr/>
          </a:p>
          <a:p>
            <a:pPr marL="0" marR="0" lvl="0" indent="0" algn="l" rtl="0">
              <a:lnSpc>
                <a:spcPct val="100000"/>
              </a:lnSpc>
              <a:spcBef>
                <a:spcPts val="0"/>
              </a:spcBef>
              <a:spcAft>
                <a:spcPts val="0"/>
              </a:spcAft>
              <a:buNone/>
            </a:pPr>
            <a:r>
              <a:rPr lang="en-IN" sz="1600" b="0" i="0" u="none" strike="noStrike" cap="none">
                <a:solidFill>
                  <a:srgbClr val="000000"/>
                </a:solidFill>
                <a:latin typeface="Calibri"/>
                <a:ea typeface="Calibri"/>
                <a:cs typeface="Calibri"/>
                <a:sym typeface="Calibri"/>
              </a:rPr>
              <a:t>What is your one-way trip distance? </a:t>
            </a:r>
            <a:endParaRPr/>
          </a:p>
          <a:p>
            <a:pPr marL="0" marR="0" lvl="0" indent="0" algn="l" rtl="0">
              <a:lnSpc>
                <a:spcPct val="100000"/>
              </a:lnSpc>
              <a:spcBef>
                <a:spcPts val="0"/>
              </a:spcBef>
              <a:spcAft>
                <a:spcPts val="0"/>
              </a:spcAft>
              <a:buNone/>
            </a:pPr>
            <a:r>
              <a:rPr lang="en-IN" sz="1600" b="0" i="0" u="none" strike="noStrike" cap="none">
                <a:solidFill>
                  <a:srgbClr val="000000"/>
                </a:solidFill>
                <a:latin typeface="Calibri"/>
                <a:ea typeface="Calibri"/>
                <a:cs typeface="Calibri"/>
                <a:sym typeface="Calibri"/>
              </a:rPr>
              <a:t>How many days per week do you make this trip? </a:t>
            </a:r>
            <a:endParaRPr/>
          </a:p>
          <a:p>
            <a:pPr marL="0" marR="0" lvl="0" indent="0" algn="l" rtl="0">
              <a:lnSpc>
                <a:spcPct val="100000"/>
              </a:lnSpc>
              <a:spcBef>
                <a:spcPts val="0"/>
              </a:spcBef>
              <a:spcAft>
                <a:spcPts val="0"/>
              </a:spcAft>
              <a:buNone/>
            </a:pPr>
            <a:r>
              <a:rPr lang="en-IN" sz="1600" b="0" i="0" u="none" strike="noStrike" cap="none">
                <a:solidFill>
                  <a:srgbClr val="000000"/>
                </a:solidFill>
                <a:latin typeface="Calibri"/>
                <a:ea typeface="Calibri"/>
                <a:cs typeface="Calibri"/>
                <a:sym typeface="Calibri"/>
              </a:rPr>
              <a:t>Would you use the proposed bus service? </a:t>
            </a:r>
            <a:endParaRPr/>
          </a:p>
          <a:p>
            <a:pPr marL="0" marR="0" lvl="0" indent="0" algn="l" rtl="0">
              <a:lnSpc>
                <a:spcPct val="100000"/>
              </a:lnSpc>
              <a:spcBef>
                <a:spcPts val="0"/>
              </a:spcBef>
              <a:spcAft>
                <a:spcPts val="0"/>
              </a:spcAft>
              <a:buNone/>
            </a:pPr>
            <a:r>
              <a:rPr lang="en-IN" sz="1600" b="0" i="0" u="none" strike="noStrike" cap="none">
                <a:solidFill>
                  <a:srgbClr val="000000"/>
                </a:solidFill>
                <a:latin typeface="Calibri"/>
                <a:ea typeface="Calibri"/>
                <a:cs typeface="Calibri"/>
                <a:sym typeface="Calibri"/>
              </a:rPr>
              <a:t>Which current mode would the bus replace? </a:t>
            </a:r>
            <a:endParaRPr/>
          </a:p>
          <a:p>
            <a:pPr marL="0" marR="0" lvl="0" indent="0" algn="l" rtl="0">
              <a:lnSpc>
                <a:spcPct val="100000"/>
              </a:lnSpc>
              <a:spcBef>
                <a:spcPts val="0"/>
              </a:spcBef>
              <a:spcAft>
                <a:spcPts val="0"/>
              </a:spcAft>
              <a:buNone/>
            </a:pPr>
            <a:r>
              <a:rPr lang="en-IN" sz="1600" b="0" i="0" u="none" strike="noStrike" cap="none">
                <a:solidFill>
                  <a:srgbClr val="000000"/>
                </a:solidFill>
                <a:latin typeface="Calibri"/>
                <a:ea typeface="Calibri"/>
                <a:cs typeface="Calibri"/>
                <a:sym typeface="Calibri"/>
              </a:rPr>
              <a:t>Would it replace the full trip or only part of it? </a:t>
            </a:r>
            <a:endParaRPr/>
          </a:p>
          <a:p>
            <a:pPr marL="0" marR="0" lvl="0" indent="0" algn="l" rtl="0">
              <a:lnSpc>
                <a:spcPct val="100000"/>
              </a:lnSpc>
              <a:spcBef>
                <a:spcPts val="0"/>
              </a:spcBef>
              <a:spcAft>
                <a:spcPts val="0"/>
              </a:spcAft>
              <a:buNone/>
            </a:pPr>
            <a:r>
              <a:rPr lang="en-IN" sz="1600" b="0" i="0" u="none" strike="noStrike" cap="none">
                <a:solidFill>
                  <a:srgbClr val="000000"/>
                </a:solidFill>
                <a:latin typeface="Calibri"/>
                <a:ea typeface="Calibri"/>
                <a:cs typeface="Calibri"/>
                <a:sym typeface="Calibri"/>
              </a:rPr>
              <a:t>How many days per week would you use the bus? </a:t>
            </a:r>
            <a:endParaRPr/>
          </a:p>
          <a:p>
            <a:pPr marL="0" marR="0" lvl="0" indent="0" algn="l" rtl="0">
              <a:lnSpc>
                <a:spcPct val="100000"/>
              </a:lnSpc>
              <a:spcBef>
                <a:spcPts val="0"/>
              </a:spcBef>
              <a:spcAft>
                <a:spcPts val="0"/>
              </a:spcAft>
              <a:buNone/>
            </a:pPr>
            <a:r>
              <a:rPr lang="en-IN" sz="1600" b="0" i="0" u="none" strike="noStrike" cap="none">
                <a:solidFill>
                  <a:srgbClr val="000000"/>
                </a:solidFill>
                <a:latin typeface="Calibri"/>
                <a:ea typeface="Calibri"/>
                <a:cs typeface="Calibri"/>
                <a:sym typeface="Calibri"/>
              </a:rPr>
              <a:t>How would you reach and leave the bus stop?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9"/>
          <p:cNvSpPr txBox="1">
            <a:spLocks noGrp="1"/>
          </p:cNvSpPr>
          <p:nvPr>
            <p:ph type="title"/>
          </p:nvPr>
        </p:nvSpPr>
        <p:spPr>
          <a:xfrm>
            <a:off x="256032" y="225653"/>
            <a:ext cx="11284500" cy="433566"/>
          </a:xfrm>
          <a:prstGeom prst="rect">
            <a:avLst/>
          </a:prstGeom>
          <a:noFill/>
          <a:ln>
            <a:noFill/>
          </a:ln>
        </p:spPr>
        <p:txBody>
          <a:bodyPr spcFirstLastPara="1" wrap="square" lIns="0" tIns="45700" rIns="0" bIns="45700" anchor="t" anchorCtr="0">
            <a:normAutofit fontScale="90000"/>
          </a:bodyPr>
          <a:lstStyle/>
          <a:p>
            <a:pPr marL="0" lvl="0" indent="0" algn="l" rtl="0">
              <a:lnSpc>
                <a:spcPct val="100000"/>
              </a:lnSpc>
              <a:spcBef>
                <a:spcPts val="0"/>
              </a:spcBef>
              <a:spcAft>
                <a:spcPts val="0"/>
              </a:spcAft>
              <a:buClr>
                <a:schemeClr val="accent1"/>
              </a:buClr>
              <a:buSzPct val="166667"/>
              <a:buFont typeface="Calibri"/>
              <a:buNone/>
            </a:pPr>
            <a:r>
              <a:rPr lang="en-IN"/>
              <a:t>Expected Outputs from M2: Reduction in Fatalities </a:t>
            </a:r>
            <a:endParaRPr sz="1600" b="0">
              <a:solidFill>
                <a:srgbClr val="009CD8"/>
              </a:solidFill>
            </a:endParaRPr>
          </a:p>
        </p:txBody>
      </p:sp>
      <p:sp>
        <p:nvSpPr>
          <p:cNvPr id="363" name="Google Shape;363;p9"/>
          <p:cNvSpPr txBox="1"/>
          <p:nvPr/>
        </p:nvSpPr>
        <p:spPr>
          <a:xfrm>
            <a:off x="-276585" y="6235395"/>
            <a:ext cx="773100" cy="3651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600" b="0" i="0" u="none" strike="noStrike" cap="none">
                <a:solidFill>
                  <a:srgbClr val="888888"/>
                </a:solidFill>
                <a:latin typeface="Calibri"/>
                <a:ea typeface="Calibri"/>
                <a:cs typeface="Calibri"/>
                <a:sym typeface="Calibri"/>
              </a:rPr>
              <a:t>26</a:t>
            </a:fld>
            <a:r>
              <a:rPr lang="en-IN" sz="1600" b="0" i="0" u="none" strike="noStrike" cap="none">
                <a:solidFill>
                  <a:srgbClr val="888888"/>
                </a:solidFill>
                <a:latin typeface="Calibri"/>
                <a:ea typeface="Calibri"/>
                <a:cs typeface="Calibri"/>
                <a:sym typeface="Calibri"/>
              </a:rPr>
              <a:t>|</a:t>
            </a:r>
            <a:endParaRPr sz="1600" b="0" i="0" u="none" strike="noStrike" cap="none">
              <a:solidFill>
                <a:srgbClr val="888888"/>
              </a:solidFill>
              <a:latin typeface="Calibri"/>
              <a:ea typeface="Calibri"/>
              <a:cs typeface="Calibri"/>
              <a:sym typeface="Calibri"/>
            </a:endParaRPr>
          </a:p>
        </p:txBody>
      </p:sp>
      <p:sp>
        <p:nvSpPr>
          <p:cNvPr id="364" name="Google Shape;364;p9"/>
          <p:cNvSpPr txBox="1"/>
          <p:nvPr/>
        </p:nvSpPr>
        <p:spPr>
          <a:xfrm>
            <a:off x="399696" y="853677"/>
            <a:ext cx="9551127" cy="4406078"/>
          </a:xfrm>
          <a:prstGeom prst="rect">
            <a:avLst/>
          </a:prstGeom>
          <a:blipFill rotWithShape="1">
            <a:blip r:embed="rId3">
              <a:alphaModFix/>
            </a:blip>
            <a:stretch>
              <a:fillRect l="-398" t="-575"/>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IN" sz="1400" b="0" i="0" u="none" strike="noStrike" cap="none">
                <a:latin typeface="Arial"/>
                <a:ea typeface="Arial"/>
                <a:cs typeface="Arial"/>
                <a:sym typeface="Arial"/>
              </a:rPr>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g3f556ffc7f3_0_6"/>
          <p:cNvSpPr txBox="1">
            <a:spLocks noGrp="1"/>
          </p:cNvSpPr>
          <p:nvPr>
            <p:ph type="title"/>
          </p:nvPr>
        </p:nvSpPr>
        <p:spPr>
          <a:xfrm>
            <a:off x="256032" y="225653"/>
            <a:ext cx="11284500" cy="433500"/>
          </a:xfrm>
          <a:prstGeom prst="rect">
            <a:avLst/>
          </a:prstGeom>
          <a:noFill/>
          <a:ln>
            <a:noFill/>
          </a:ln>
        </p:spPr>
        <p:txBody>
          <a:bodyPr spcFirstLastPara="1" wrap="square" lIns="0" tIns="45700" rIns="0" bIns="45700" anchor="t" anchorCtr="0">
            <a:normAutofit fontScale="90000"/>
          </a:bodyPr>
          <a:lstStyle/>
          <a:p>
            <a:pPr marL="0" lvl="0" indent="0" algn="l" rtl="0">
              <a:lnSpc>
                <a:spcPct val="100000"/>
              </a:lnSpc>
              <a:spcBef>
                <a:spcPts val="0"/>
              </a:spcBef>
              <a:spcAft>
                <a:spcPts val="0"/>
              </a:spcAft>
              <a:buClr>
                <a:schemeClr val="accent1"/>
              </a:buClr>
              <a:buSzPct val="166667"/>
              <a:buFont typeface="Calibri"/>
              <a:buNone/>
            </a:pPr>
            <a:r>
              <a:rPr lang="en-IN"/>
              <a:t>Expected Outputs from M2: Reduction in Fatalities </a:t>
            </a:r>
            <a:endParaRPr sz="1600" b="0">
              <a:solidFill>
                <a:srgbClr val="009CD8"/>
              </a:solidFill>
            </a:endParaRPr>
          </a:p>
        </p:txBody>
      </p:sp>
      <p:sp>
        <p:nvSpPr>
          <p:cNvPr id="370" name="Google Shape;370;g3f556ffc7f3_0_6"/>
          <p:cNvSpPr txBox="1"/>
          <p:nvPr/>
        </p:nvSpPr>
        <p:spPr>
          <a:xfrm>
            <a:off x="-276585" y="6235395"/>
            <a:ext cx="773100" cy="3651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600" b="0" i="0" u="none" strike="noStrike" cap="none">
                <a:solidFill>
                  <a:srgbClr val="888888"/>
                </a:solidFill>
                <a:latin typeface="Calibri"/>
                <a:ea typeface="Calibri"/>
                <a:cs typeface="Calibri"/>
                <a:sym typeface="Calibri"/>
              </a:rPr>
              <a:t>27</a:t>
            </a:fld>
            <a:r>
              <a:rPr lang="en-IN" sz="1600" b="0" i="0" u="none" strike="noStrike" cap="none">
                <a:solidFill>
                  <a:srgbClr val="888888"/>
                </a:solidFill>
                <a:latin typeface="Calibri"/>
                <a:ea typeface="Calibri"/>
                <a:cs typeface="Calibri"/>
                <a:sym typeface="Calibri"/>
              </a:rPr>
              <a:t>|</a:t>
            </a:r>
            <a:endParaRPr sz="1600" b="0" i="0" u="none" strike="noStrike" cap="none">
              <a:solidFill>
                <a:srgbClr val="888888"/>
              </a:solidFill>
              <a:latin typeface="Calibri"/>
              <a:ea typeface="Calibri"/>
              <a:cs typeface="Calibri"/>
              <a:sym typeface="Calibri"/>
            </a:endParaRPr>
          </a:p>
        </p:txBody>
      </p:sp>
      <p:sp>
        <p:nvSpPr>
          <p:cNvPr id="371" name="Google Shape;371;g3f556ffc7f3_0_6"/>
          <p:cNvSpPr txBox="1"/>
          <p:nvPr/>
        </p:nvSpPr>
        <p:spPr>
          <a:xfrm>
            <a:off x="399696" y="853677"/>
            <a:ext cx="9551100" cy="4406100"/>
          </a:xfrm>
          <a:prstGeom prst="rect">
            <a:avLst/>
          </a:prstGeom>
          <a:blipFill rotWithShape="1">
            <a:blip r:embed="rId3">
              <a:alphaModFix/>
            </a:blip>
            <a:stretch>
              <a:fillRect l="-400" t="-5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IN" sz="1400" b="0" i="0" u="none" strike="noStrike" cap="none">
                <a:latin typeface="Arial"/>
                <a:ea typeface="Arial"/>
                <a:cs typeface="Arial"/>
                <a:sym typeface="Arial"/>
              </a:rPr>
              <a: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g3f556ffc7f3_3_0"/>
          <p:cNvSpPr txBox="1">
            <a:spLocks noGrp="1"/>
          </p:cNvSpPr>
          <p:nvPr>
            <p:ph type="title"/>
          </p:nvPr>
        </p:nvSpPr>
        <p:spPr>
          <a:xfrm>
            <a:off x="256032" y="225653"/>
            <a:ext cx="11284500" cy="433500"/>
          </a:xfrm>
          <a:prstGeom prst="rect">
            <a:avLst/>
          </a:prstGeom>
          <a:noFill/>
          <a:ln>
            <a:noFill/>
          </a:ln>
        </p:spPr>
        <p:txBody>
          <a:bodyPr spcFirstLastPara="1" wrap="square" lIns="0" tIns="45700" rIns="0" bIns="45700" anchor="t" anchorCtr="0">
            <a:normAutofit/>
          </a:bodyPr>
          <a:lstStyle/>
          <a:p>
            <a:pPr marL="0" lvl="0" indent="0" algn="l" rtl="0">
              <a:lnSpc>
                <a:spcPct val="100000"/>
              </a:lnSpc>
              <a:spcBef>
                <a:spcPts val="0"/>
              </a:spcBef>
              <a:spcAft>
                <a:spcPts val="0"/>
              </a:spcAft>
              <a:buClr>
                <a:schemeClr val="accent1"/>
              </a:buClr>
              <a:buSzPts val="2400"/>
              <a:buFont typeface="Calibri"/>
              <a:buNone/>
            </a:pPr>
            <a:r>
              <a:rPr lang="en-IN"/>
              <a:t>Expected Outputs from M1:City A</a:t>
            </a:r>
            <a:endParaRPr sz="1600" b="0">
              <a:solidFill>
                <a:srgbClr val="009CD8"/>
              </a:solidFill>
            </a:endParaRPr>
          </a:p>
        </p:txBody>
      </p:sp>
      <p:sp>
        <p:nvSpPr>
          <p:cNvPr id="378" name="Google Shape;378;g3f556ffc7f3_3_0"/>
          <p:cNvSpPr txBox="1"/>
          <p:nvPr/>
        </p:nvSpPr>
        <p:spPr>
          <a:xfrm>
            <a:off x="-276585" y="6235395"/>
            <a:ext cx="773100" cy="3651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600" b="0" i="0" u="none" strike="noStrike" cap="none">
                <a:solidFill>
                  <a:srgbClr val="888888"/>
                </a:solidFill>
                <a:latin typeface="Calibri"/>
                <a:ea typeface="Calibri"/>
                <a:cs typeface="Calibri"/>
                <a:sym typeface="Calibri"/>
              </a:rPr>
              <a:t>28</a:t>
            </a:fld>
            <a:r>
              <a:rPr lang="en-IN" sz="1600" b="0" i="0" u="none" strike="noStrike" cap="none">
                <a:solidFill>
                  <a:srgbClr val="888888"/>
                </a:solidFill>
                <a:latin typeface="Calibri"/>
                <a:ea typeface="Calibri"/>
                <a:cs typeface="Calibri"/>
                <a:sym typeface="Calibri"/>
              </a:rPr>
              <a:t>|</a:t>
            </a:r>
            <a:endParaRPr sz="1600" b="0" i="0" u="none" strike="noStrike" cap="none">
              <a:solidFill>
                <a:srgbClr val="888888"/>
              </a:solidFill>
              <a:latin typeface="Calibri"/>
              <a:ea typeface="Calibri"/>
              <a:cs typeface="Calibri"/>
              <a:sym typeface="Calibri"/>
            </a:endParaRPr>
          </a:p>
        </p:txBody>
      </p:sp>
      <p:sp>
        <p:nvSpPr>
          <p:cNvPr id="379" name="Google Shape;379;g3f556ffc7f3_3_0"/>
          <p:cNvSpPr txBox="1"/>
          <p:nvPr/>
        </p:nvSpPr>
        <p:spPr>
          <a:xfrm>
            <a:off x="399696" y="853677"/>
            <a:ext cx="9551100" cy="4399500"/>
          </a:xfrm>
          <a:prstGeom prst="rect">
            <a:avLst/>
          </a:prstGeom>
          <a:blipFill rotWithShape="1">
            <a:blip r:embed="rId3">
              <a:alphaModFix/>
            </a:blip>
            <a:stretch>
              <a:fillRect l="-400" t="-5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IN" sz="1400" b="0" i="0" u="none" strike="noStrike" cap="none">
                <a:latin typeface="Arial"/>
                <a:ea typeface="Arial"/>
                <a:cs typeface="Arial"/>
                <a:sym typeface="Arial"/>
              </a:rPr>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g3f556ffc7f3_3_7"/>
          <p:cNvSpPr txBox="1">
            <a:spLocks noGrp="1"/>
          </p:cNvSpPr>
          <p:nvPr>
            <p:ph type="title"/>
          </p:nvPr>
        </p:nvSpPr>
        <p:spPr>
          <a:xfrm>
            <a:off x="256032" y="225653"/>
            <a:ext cx="11284500" cy="433500"/>
          </a:xfrm>
          <a:prstGeom prst="rect">
            <a:avLst/>
          </a:prstGeom>
          <a:noFill/>
          <a:ln>
            <a:noFill/>
          </a:ln>
        </p:spPr>
        <p:txBody>
          <a:bodyPr spcFirstLastPara="1" wrap="square" lIns="0" tIns="45700" rIns="0" bIns="45700" anchor="t" anchorCtr="0">
            <a:normAutofit/>
          </a:bodyPr>
          <a:lstStyle/>
          <a:p>
            <a:pPr marL="0" lvl="0" indent="0" algn="l" rtl="0">
              <a:lnSpc>
                <a:spcPct val="100000"/>
              </a:lnSpc>
              <a:spcBef>
                <a:spcPts val="0"/>
              </a:spcBef>
              <a:spcAft>
                <a:spcPts val="0"/>
              </a:spcAft>
              <a:buClr>
                <a:schemeClr val="accent1"/>
              </a:buClr>
              <a:buSzPts val="2400"/>
              <a:buFont typeface="Calibri"/>
              <a:buNone/>
            </a:pPr>
            <a:r>
              <a:rPr lang="en-IN"/>
              <a:t>Expected Outputs from M2: City B</a:t>
            </a:r>
            <a:endParaRPr sz="1600" b="0">
              <a:solidFill>
                <a:srgbClr val="009CD8"/>
              </a:solidFill>
            </a:endParaRPr>
          </a:p>
        </p:txBody>
      </p:sp>
      <p:sp>
        <p:nvSpPr>
          <p:cNvPr id="386" name="Google Shape;386;g3f556ffc7f3_3_7"/>
          <p:cNvSpPr txBox="1"/>
          <p:nvPr/>
        </p:nvSpPr>
        <p:spPr>
          <a:xfrm>
            <a:off x="-276585" y="6235395"/>
            <a:ext cx="773100" cy="3651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600" b="0" i="0" u="none" strike="noStrike" cap="none">
                <a:solidFill>
                  <a:srgbClr val="888888"/>
                </a:solidFill>
                <a:latin typeface="Calibri"/>
                <a:ea typeface="Calibri"/>
                <a:cs typeface="Calibri"/>
                <a:sym typeface="Calibri"/>
              </a:rPr>
              <a:t>29</a:t>
            </a:fld>
            <a:r>
              <a:rPr lang="en-IN" sz="1600" b="0" i="0" u="none" strike="noStrike" cap="none">
                <a:solidFill>
                  <a:srgbClr val="888888"/>
                </a:solidFill>
                <a:latin typeface="Calibri"/>
                <a:ea typeface="Calibri"/>
                <a:cs typeface="Calibri"/>
                <a:sym typeface="Calibri"/>
              </a:rPr>
              <a:t>|</a:t>
            </a:r>
            <a:endParaRPr sz="1600" b="0" i="0" u="none" strike="noStrike" cap="none">
              <a:solidFill>
                <a:srgbClr val="888888"/>
              </a:solidFill>
              <a:latin typeface="Calibri"/>
              <a:ea typeface="Calibri"/>
              <a:cs typeface="Calibri"/>
              <a:sym typeface="Calibri"/>
            </a:endParaRPr>
          </a:p>
        </p:txBody>
      </p:sp>
      <p:sp>
        <p:nvSpPr>
          <p:cNvPr id="387" name="Google Shape;387;g3f556ffc7f3_3_7"/>
          <p:cNvSpPr txBox="1"/>
          <p:nvPr/>
        </p:nvSpPr>
        <p:spPr>
          <a:xfrm>
            <a:off x="399696" y="853677"/>
            <a:ext cx="9551100" cy="4506900"/>
          </a:xfrm>
          <a:prstGeom prst="rect">
            <a:avLst/>
          </a:prstGeom>
          <a:blipFill rotWithShape="1">
            <a:blip r:embed="rId3">
              <a:alphaModFix/>
            </a:blip>
            <a:stretch>
              <a:fillRect l="-400" t="-560" b="-2704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IN" sz="1400" b="0" i="0" u="none" strike="noStrike" cap="none" dirty="0">
                <a:latin typeface="Arial"/>
                <a:ea typeface="Arial"/>
                <a:cs typeface="Arial"/>
                <a:sym typeface="Arial"/>
              </a:rPr>
              <a:t> </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84">
          <a:extLst>
            <a:ext uri="{FF2B5EF4-FFF2-40B4-BE49-F238E27FC236}">
              <a16:creationId xmlns:a16="http://schemas.microsoft.com/office/drawing/2014/main" id="{D674F6DE-A275-27A0-2A34-4BF47DA705CE}"/>
            </a:ext>
          </a:extLst>
        </p:cNvPr>
        <p:cNvGrpSpPr/>
        <p:nvPr/>
      </p:nvGrpSpPr>
      <p:grpSpPr>
        <a:xfrm>
          <a:off x="0" y="0"/>
          <a:ext cx="0" cy="0"/>
          <a:chOff x="0" y="0"/>
          <a:chExt cx="0" cy="0"/>
        </a:xfrm>
      </p:grpSpPr>
      <p:sp>
        <p:nvSpPr>
          <p:cNvPr id="385" name="Google Shape;385;g3f556ffc7f3_3_7">
            <a:extLst>
              <a:ext uri="{FF2B5EF4-FFF2-40B4-BE49-F238E27FC236}">
                <a16:creationId xmlns:a16="http://schemas.microsoft.com/office/drawing/2014/main" id="{FEF7B577-9D0E-783F-A45A-9E82DCB3099B}"/>
              </a:ext>
            </a:extLst>
          </p:cNvPr>
          <p:cNvSpPr txBox="1">
            <a:spLocks noGrp="1"/>
          </p:cNvSpPr>
          <p:nvPr>
            <p:ph type="title"/>
          </p:nvPr>
        </p:nvSpPr>
        <p:spPr>
          <a:xfrm>
            <a:off x="256032" y="225653"/>
            <a:ext cx="11284500" cy="433500"/>
          </a:xfrm>
          <a:prstGeom prst="rect">
            <a:avLst/>
          </a:prstGeom>
          <a:noFill/>
          <a:ln>
            <a:noFill/>
          </a:ln>
        </p:spPr>
        <p:txBody>
          <a:bodyPr spcFirstLastPara="1" wrap="square" lIns="0" tIns="45700" rIns="0" bIns="45700" anchor="t" anchorCtr="0">
            <a:normAutofit/>
          </a:bodyPr>
          <a:lstStyle/>
          <a:p>
            <a:pPr marL="0" lvl="0" indent="0" algn="l" rtl="0">
              <a:lnSpc>
                <a:spcPct val="100000"/>
              </a:lnSpc>
              <a:spcBef>
                <a:spcPts val="0"/>
              </a:spcBef>
              <a:spcAft>
                <a:spcPts val="0"/>
              </a:spcAft>
              <a:buClr>
                <a:schemeClr val="accent1"/>
              </a:buClr>
              <a:buSzPts val="2400"/>
              <a:buFont typeface="Calibri"/>
              <a:buNone/>
            </a:pPr>
            <a:r>
              <a:rPr lang="en-IN" dirty="0"/>
              <a:t>Expected Outputs from M1: </a:t>
            </a:r>
            <a:endParaRPr sz="1600" b="0" dirty="0">
              <a:solidFill>
                <a:srgbClr val="009CD8"/>
              </a:solidFill>
            </a:endParaRPr>
          </a:p>
        </p:txBody>
      </p:sp>
      <p:sp>
        <p:nvSpPr>
          <p:cNvPr id="386" name="Google Shape;386;g3f556ffc7f3_3_7">
            <a:extLst>
              <a:ext uri="{FF2B5EF4-FFF2-40B4-BE49-F238E27FC236}">
                <a16:creationId xmlns:a16="http://schemas.microsoft.com/office/drawing/2014/main" id="{D4FA45C4-6794-28F6-4EF8-23C884DD1CA9}"/>
              </a:ext>
            </a:extLst>
          </p:cNvPr>
          <p:cNvSpPr txBox="1"/>
          <p:nvPr/>
        </p:nvSpPr>
        <p:spPr>
          <a:xfrm>
            <a:off x="-276585" y="6235395"/>
            <a:ext cx="773100" cy="3651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600" b="0" i="0" u="none" strike="noStrike" cap="none">
                <a:solidFill>
                  <a:srgbClr val="888888"/>
                </a:solidFill>
                <a:latin typeface="Calibri"/>
                <a:ea typeface="Calibri"/>
                <a:cs typeface="Calibri"/>
                <a:sym typeface="Calibri"/>
              </a:rPr>
              <a:t>30</a:t>
            </a:fld>
            <a:r>
              <a:rPr lang="en-IN" sz="1600" b="0" i="0" u="none" strike="noStrike" cap="none">
                <a:solidFill>
                  <a:srgbClr val="888888"/>
                </a:solidFill>
                <a:latin typeface="Calibri"/>
                <a:ea typeface="Calibri"/>
                <a:cs typeface="Calibri"/>
                <a:sym typeface="Calibri"/>
              </a:rPr>
              <a:t>|</a:t>
            </a:r>
            <a:endParaRPr sz="1600" b="0" i="0" u="none" strike="noStrike" cap="none">
              <a:solidFill>
                <a:srgbClr val="888888"/>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423BB1D-7B92-C47B-B789-B0228332EBF2}"/>
                  </a:ext>
                </a:extLst>
              </p:cNvPr>
              <p:cNvSpPr txBox="1"/>
              <p:nvPr/>
            </p:nvSpPr>
            <p:spPr>
              <a:xfrm>
                <a:off x="277298" y="867698"/>
                <a:ext cx="9460319" cy="5847883"/>
              </a:xfrm>
              <a:prstGeom prst="rect">
                <a:avLst/>
              </a:prstGeom>
              <a:noFill/>
            </p:spPr>
            <p:txBody>
              <a:bodyPr wrap="square">
                <a:spAutoFit/>
              </a:bodyPr>
              <a:lstStyle/>
              <a:p>
                <a:pPr>
                  <a:buNone/>
                </a:pPr>
                <a:r>
                  <a:rPr lang="en-US" b="1" dirty="0"/>
                  <a:t>Entire equation for the slide</a:t>
                </a:r>
              </a:p>
              <a:p>
                <a:pPr>
                  <a:buNone/>
                </a:pPr>
                <a14:m>
                  <m:oMathPara xmlns:m="http://schemas.openxmlformats.org/officeDocument/2006/math">
                    <m:oMath>
                      <m:borderBox>
                        <m:borderBoxPr>
                          <m:ctrlPr>
                            <a:rPr lang="en-US" i="1">
                              <a:latin typeface="Cambria Math" panose="02040503050406030204" pitchFamily="18" charset="0"/>
                            </a:rPr>
                          </m:ctrlPr>
                        </m:borderBoxPr>
                        <m:e>
                          <m:sSub>
                            <m:sSubPr>
                              <m:ctrlPr>
                                <a:rPr lang="en-US" i="1">
                                  <a:latin typeface="Cambria Math" panose="02040503050406030204" pitchFamily="18" charset="0"/>
                                </a:rPr>
                              </m:ctrlPr>
                            </m:sSubPr>
                            <m:e>
                              <m:r>
                                <a:rPr lang="en-US" i="1">
                                  <a:latin typeface="Cambria Math" panose="02040503050406030204" pitchFamily="18" charset="0"/>
                                </a:rPr>
                                <m:t>𝐵</m:t>
                              </m:r>
                            </m:e>
                            <m:sub>
                              <m:r>
                                <m:rPr>
                                  <m:nor/>
                                </m:rPr>
                                <a:rPr lang="en-US" b="0" i="0">
                                  <a:latin typeface="Cambria Math" panose="02040503050406030204" pitchFamily="18" charset="0"/>
                                </a:rPr>
                                <m:t>annual</m:t>
                              </m:r>
                            </m:sub>
                          </m:sSub>
                          <m:r>
                            <a:rPr lang="en-US" b="0" i="0">
                              <a:latin typeface="Cambria Math" panose="02040503050406030204" pitchFamily="18" charset="0"/>
                            </a:rPr>
                            <m:t>=</m:t>
                          </m:r>
                          <m:d>
                            <m:dPr>
                              <m:begChr m:val="["/>
                              <m:endChr m:val="]"/>
                              <m:ctrlPr>
                                <a:rPr lang="en-US" b="0" i="1">
                                  <a:latin typeface="Cambria Math" panose="02040503050406030204" pitchFamily="18" charset="0"/>
                                </a:rPr>
                              </m:ctrlPr>
                            </m:dPr>
                            <m:e>
                              <m:nary>
                                <m:naryPr>
                                  <m:chr m:val="∑"/>
                                  <m:grow m:val="on"/>
                                  <m:supHide m:val="on"/>
                                  <m:ctrlPr>
                                    <a:rPr lang="en-US" b="0" i="1">
                                      <a:latin typeface="Cambria Math" panose="02040503050406030204" pitchFamily="18" charset="0"/>
                                    </a:rPr>
                                  </m:ctrlPr>
                                </m:naryPr>
                                <m:sub>
                                  <m:r>
                                    <a:rPr lang="en-US" b="0" i="1">
                                      <a:latin typeface="Cambria Math" panose="02040503050406030204" pitchFamily="18" charset="0"/>
                                    </a:rPr>
                                    <m:t>𝑚</m:t>
                                  </m:r>
                                </m:sub>
                                <m:sup/>
                                <m:e>
                                  <m:d>
                                    <m:dPr>
                                      <m:ctrlPr>
                                        <a:rPr lang="en-US" b="0" i="1">
                                          <a:latin typeface="Cambria Math" panose="02040503050406030204" pitchFamily="18" charset="0"/>
                                        </a:rPr>
                                      </m:ctrlPr>
                                    </m:dPr>
                                    <m:e>
                                      <m:f>
                                        <m:fPr>
                                          <m:ctrlPr>
                                            <a:rPr lang="en-US" b="0" i="1">
                                              <a:latin typeface="Cambria Math" panose="02040503050406030204" pitchFamily="18" charset="0"/>
                                            </a:rPr>
                                          </m:ctrlPr>
                                        </m:fPr>
                                        <m:num>
                                          <m:r>
                                            <a:rPr lang="en-US" b="0" i="1">
                                              <a:latin typeface="Cambria Math" panose="02040503050406030204" pitchFamily="18" charset="0"/>
                                            </a:rPr>
                                            <m:t>𝑅</m:t>
                                          </m:r>
                                          <m:r>
                                            <a:rPr lang="en-US" b="0" i="0">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𝑑</m:t>
                                              </m:r>
                                            </m:e>
                                            <m:sub>
                                              <m:r>
                                                <a:rPr lang="en-US" b="0" i="1">
                                                  <a:latin typeface="Cambria Math" panose="02040503050406030204" pitchFamily="18" charset="0"/>
                                                </a:rPr>
                                                <m:t>𝑚</m:t>
                                              </m:r>
                                            </m:sub>
                                          </m:sSub>
                                        </m:num>
                                        <m:den>
                                          <m:sSub>
                                            <m:sSubPr>
                                              <m:ctrlPr>
                                                <a:rPr lang="en-US" b="0" i="1">
                                                  <a:latin typeface="Cambria Math" panose="02040503050406030204" pitchFamily="18" charset="0"/>
                                                </a:rPr>
                                              </m:ctrlPr>
                                            </m:sSubPr>
                                            <m:e>
                                              <m:r>
                                                <a:rPr lang="en-US" b="0" i="1">
                                                  <a:latin typeface="Cambria Math" panose="02040503050406030204" pitchFamily="18" charset="0"/>
                                                </a:rPr>
                                                <m:t>𝑂</m:t>
                                              </m:r>
                                            </m:e>
                                            <m:sub>
                                              <m:r>
                                                <a:rPr lang="en-US" b="0" i="1">
                                                  <a:latin typeface="Cambria Math" panose="02040503050406030204" pitchFamily="18" charset="0"/>
                                                </a:rPr>
                                                <m:t>𝑚</m:t>
                                              </m:r>
                                            </m:sub>
                                          </m:sSub>
                                        </m:den>
                                      </m:f>
                                      <m:r>
                                        <a:rPr lang="en-US" b="0" i="0">
                                          <a:latin typeface="Cambria Math" panose="02040503050406030204" pitchFamily="18" charset="0"/>
                                        </a:rPr>
                                        <m:t>×</m:t>
                                      </m:r>
                                      <m:sSub>
                                        <m:sSubPr>
                                          <m:ctrlPr>
                                            <a:rPr lang="en-US" b="0" i="1">
                                              <a:latin typeface="Cambria Math" panose="02040503050406030204" pitchFamily="18" charset="0"/>
                                            </a:rPr>
                                          </m:ctrlPr>
                                        </m:sSubPr>
                                        <m:e>
                                          <m:r>
                                            <a:rPr lang="en-US" b="0" i="1">
                                              <a:latin typeface="Cambria Math" panose="02040503050406030204" pitchFamily="18" charset="0"/>
                                            </a:rPr>
                                            <m:t>𝐿</m:t>
                                          </m:r>
                                        </m:e>
                                        <m:sub>
                                          <m:r>
                                            <a:rPr lang="en-US" b="0" i="1">
                                              <a:latin typeface="Cambria Math" panose="02040503050406030204" pitchFamily="18" charset="0"/>
                                            </a:rPr>
                                            <m:t>𝑚</m:t>
                                          </m:r>
                                        </m:sub>
                                      </m:sSub>
                                      <m:r>
                                        <a:rPr lang="en-US" b="0" i="0">
                                          <a:latin typeface="Cambria Math" panose="02040503050406030204" pitchFamily="18" charset="0"/>
                                        </a:rPr>
                                        <m:t>×</m:t>
                                      </m:r>
                                      <m:r>
                                        <a:rPr lang="en-US" b="0" i="1">
                                          <a:latin typeface="Cambria Math" panose="02040503050406030204" pitchFamily="18" charset="0"/>
                                        </a:rPr>
                                        <m:t>𝑃𝐶</m:t>
                                      </m:r>
                                      <m:sSub>
                                        <m:sSubPr>
                                          <m:ctrlPr>
                                            <a:rPr lang="en-US" b="0" i="1">
                                              <a:latin typeface="Cambria Math" panose="02040503050406030204" pitchFamily="18" charset="0"/>
                                            </a:rPr>
                                          </m:ctrlPr>
                                        </m:sSubPr>
                                        <m:e>
                                          <m:r>
                                            <a:rPr lang="en-US" b="0" i="1">
                                              <a:latin typeface="Cambria Math" panose="02040503050406030204" pitchFamily="18" charset="0"/>
                                            </a:rPr>
                                            <m:t>𝑈</m:t>
                                          </m:r>
                                        </m:e>
                                        <m:sub>
                                          <m:r>
                                            <a:rPr lang="en-US" b="0" i="1">
                                              <a:latin typeface="Cambria Math" panose="02040503050406030204" pitchFamily="18" charset="0"/>
                                            </a:rPr>
                                            <m:t>𝑚</m:t>
                                          </m:r>
                                        </m:sub>
                                      </m:sSub>
                                    </m:e>
                                  </m:d>
                                </m:e>
                              </m:nary>
                              <m:r>
                                <a:rPr lang="en-US" b="0" i="0">
                                  <a:latin typeface="Cambria Math" panose="02040503050406030204" pitchFamily="18" charset="0"/>
                                </a:rPr>
                                <m:t>−</m:t>
                              </m:r>
                              <m:d>
                                <m:dPr>
                                  <m:ctrlPr>
                                    <a:rPr lang="en-US" b="0" i="1">
                                      <a:latin typeface="Cambria Math" panose="02040503050406030204" pitchFamily="18" charset="0"/>
                                    </a:rPr>
                                  </m:ctrlPr>
                                </m:dPr>
                                <m:e>
                                  <m:r>
                                    <a:rPr lang="en-US" b="0" i="1">
                                      <a:latin typeface="Cambria Math" panose="02040503050406030204" pitchFamily="18" charset="0"/>
                                    </a:rPr>
                                    <m:t>𝑉𝐾</m:t>
                                  </m:r>
                                  <m:sSub>
                                    <m:sSubPr>
                                      <m:ctrlPr>
                                        <a:rPr lang="en-US" b="0" i="1">
                                          <a:latin typeface="Cambria Math" panose="02040503050406030204" pitchFamily="18" charset="0"/>
                                        </a:rPr>
                                      </m:ctrlPr>
                                    </m:sSubPr>
                                    <m:e>
                                      <m:r>
                                        <a:rPr lang="en-US" b="0" i="1">
                                          <a:latin typeface="Cambria Math" panose="02040503050406030204" pitchFamily="18" charset="0"/>
                                        </a:rPr>
                                        <m:t>𝑇</m:t>
                                      </m:r>
                                    </m:e>
                                    <m:sub>
                                      <m:r>
                                        <m:rPr>
                                          <m:nor/>
                                        </m:rPr>
                                        <a:rPr lang="en-US" b="0" i="0">
                                          <a:latin typeface="Cambria Math" panose="02040503050406030204" pitchFamily="18" charset="0"/>
                                        </a:rPr>
                                        <m:t>bus</m:t>
                                      </m:r>
                                    </m:sub>
                                  </m:sSub>
                                  <m:r>
                                    <a:rPr lang="en-US" b="0" i="0">
                                      <a:latin typeface="Cambria Math" panose="02040503050406030204" pitchFamily="18" charset="0"/>
                                    </a:rPr>
                                    <m:t>×</m:t>
                                  </m:r>
                                  <m:r>
                                    <a:rPr lang="en-US" b="0" i="1">
                                      <a:latin typeface="Cambria Math" panose="02040503050406030204" pitchFamily="18" charset="0"/>
                                    </a:rPr>
                                    <m:t>𝑃𝐶</m:t>
                                  </m:r>
                                  <m:sSub>
                                    <m:sSubPr>
                                      <m:ctrlPr>
                                        <a:rPr lang="en-US" b="0" i="1">
                                          <a:latin typeface="Cambria Math" panose="02040503050406030204" pitchFamily="18" charset="0"/>
                                        </a:rPr>
                                      </m:ctrlPr>
                                    </m:sSubPr>
                                    <m:e>
                                      <m:r>
                                        <a:rPr lang="en-US" b="0" i="1">
                                          <a:latin typeface="Cambria Math" panose="02040503050406030204" pitchFamily="18" charset="0"/>
                                        </a:rPr>
                                        <m:t>𝑈</m:t>
                                      </m:r>
                                    </m:e>
                                    <m:sub>
                                      <m:r>
                                        <m:rPr>
                                          <m:nor/>
                                        </m:rPr>
                                        <a:rPr lang="en-US" b="0" i="0">
                                          <a:latin typeface="Cambria Math" panose="02040503050406030204" pitchFamily="18" charset="0"/>
                                        </a:rPr>
                                        <m:t>bus</m:t>
                                      </m:r>
                                    </m:sub>
                                  </m:sSub>
                                </m:e>
                              </m:d>
                            </m:e>
                          </m:d>
                          <m:r>
                            <a:rPr lang="en-US" b="0" i="0">
                              <a:latin typeface="Cambria Math" panose="02040503050406030204" pitchFamily="18" charset="0"/>
                            </a:rPr>
                            <m:t>×</m:t>
                          </m:r>
                          <m:r>
                            <a:rPr lang="en-US" b="0" i="1">
                              <a:latin typeface="Cambria Math" panose="02040503050406030204" pitchFamily="18" charset="0"/>
                            </a:rPr>
                            <m:t>𝑀𝐸𝐶𝐶</m:t>
                          </m:r>
                          <m:r>
                            <a:rPr lang="en-US" b="0" i="0">
                              <a:latin typeface="Cambria Math" panose="02040503050406030204" pitchFamily="18" charset="0"/>
                            </a:rPr>
                            <m:t>×</m:t>
                          </m:r>
                          <m:r>
                            <a:rPr lang="en-US" b="0" i="1">
                              <a:latin typeface="Cambria Math" panose="02040503050406030204" pitchFamily="18" charset="0"/>
                            </a:rPr>
                            <m:t>𝐷</m:t>
                          </m:r>
                        </m:e>
                      </m:borderBox>
                    </m:oMath>
                  </m:oMathPara>
                </a14:m>
                <a:endParaRPr lang="en-US" b="0" dirty="0"/>
              </a:p>
              <a:p>
                <a:pPr>
                  <a:buNone/>
                </a:pPr>
                <a:endParaRPr lang="en-US" b="0" dirty="0"/>
              </a:p>
              <a:p>
                <a:pPr>
                  <a:buNone/>
                </a:pPr>
                <a:r>
                  <a:rPr lang="en-US" b="1" dirty="0"/>
                  <a:t>Meaning of each term</a:t>
                </a:r>
              </a:p>
              <a:p>
                <a:pPr marL="342900" lvl="0" indent="-34290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𝐵</m:t>
                        </m:r>
                      </m:e>
                      <m:sub>
                        <m:r>
                          <m:rPr>
                            <m:nor/>
                          </m:rPr>
                          <a:rPr lang="en-US" b="0" i="0">
                            <a:latin typeface="Cambria Math" panose="02040503050406030204" pitchFamily="18" charset="0"/>
                          </a:rPr>
                          <m:t>annual</m:t>
                        </m:r>
                      </m:sub>
                    </m:sSub>
                  </m:oMath>
                </a14:m>
                <a:r>
                  <a:rPr lang="en-US" dirty="0"/>
                  <a:t>= annual decongestion benefit, ₹/year </a:t>
                </a:r>
              </a:p>
              <a:p>
                <a:pPr marL="342900" lvl="0" indent="-342900">
                  <a:buFont typeface="Arial" panose="020B0604020202020204" pitchFamily="34" charset="0"/>
                  <a:buChar char="•"/>
                </a:pPr>
                <a14:m>
                  <m:oMath xmlns:m="http://schemas.openxmlformats.org/officeDocument/2006/math">
                    <m:r>
                      <a:rPr lang="en-US" i="1">
                        <a:latin typeface="Cambria Math" panose="02040503050406030204" pitchFamily="18" charset="0"/>
                      </a:rPr>
                      <m:t>𝑅</m:t>
                    </m:r>
                  </m:oMath>
                </a14:m>
                <a:r>
                  <a:rPr lang="en-US" dirty="0"/>
                  <a:t>= total daily bus ridership </a:t>
                </a:r>
              </a:p>
              <a:p>
                <a:pPr marL="342900" lvl="0" indent="-34290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𝑚</m:t>
                        </m:r>
                      </m:sub>
                    </m:sSub>
                  </m:oMath>
                </a14:m>
                <a:r>
                  <a:rPr lang="en-US" dirty="0"/>
                  <a:t>= proportion of bus passengers shifted from mode </a:t>
                </a:r>
                <a14:m>
                  <m:oMath xmlns:m="http://schemas.openxmlformats.org/officeDocument/2006/math">
                    <m:r>
                      <a:rPr lang="en-US" i="1">
                        <a:latin typeface="Cambria Math" panose="02040503050406030204" pitchFamily="18" charset="0"/>
                      </a:rPr>
                      <m:t>𝑚</m:t>
                    </m:r>
                  </m:oMath>
                </a14:m>
                <a:endParaRPr lang="en-US" dirty="0"/>
              </a:p>
              <a:p>
                <a:pPr marL="342900" lvl="0" indent="-342900">
                  <a:buFont typeface="Arial" panose="020B0604020202020204" pitchFamily="34" charset="0"/>
                  <a:buChar char="•"/>
                </a:pPr>
                <a14:m>
                  <m:oMath xmlns:m="http://schemas.openxmlformats.org/officeDocument/2006/math">
                    <m:r>
                      <a:rPr lang="en-US" i="1">
                        <a:latin typeface="Cambria Math" panose="02040503050406030204" pitchFamily="18" charset="0"/>
                      </a:rPr>
                      <m:t>𝑚</m:t>
                    </m:r>
                  </m:oMath>
                </a14:m>
                <a:r>
                  <a:rPr lang="en-US" dirty="0"/>
                  <a:t>= car, two-wheeler, auto-rickshaw, taxi, etc. </a:t>
                </a:r>
              </a:p>
              <a:p>
                <a:pPr marL="342900" lvl="0" indent="-34290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𝑚</m:t>
                        </m:r>
                      </m:sub>
                    </m:sSub>
                  </m:oMath>
                </a14:m>
                <a:r>
                  <a:rPr lang="en-US" dirty="0"/>
                  <a:t>= average occupancy of mode </a:t>
                </a:r>
                <a14:m>
                  <m:oMath xmlns:m="http://schemas.openxmlformats.org/officeDocument/2006/math">
                    <m:r>
                      <a:rPr lang="en-US" i="1">
                        <a:latin typeface="Cambria Math" panose="02040503050406030204" pitchFamily="18" charset="0"/>
                      </a:rPr>
                      <m:t>𝑚</m:t>
                    </m:r>
                  </m:oMath>
                </a14:m>
                <a:r>
                  <a:rPr lang="en-US" dirty="0"/>
                  <a:t>, persons/vehicle </a:t>
                </a:r>
              </a:p>
              <a:p>
                <a:pPr marL="342900" lvl="0" indent="-342900">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𝑚</m:t>
                        </m:r>
                      </m:sub>
                    </m:sSub>
                  </m:oMath>
                </a14:m>
                <a:r>
                  <a:rPr lang="en-US" dirty="0"/>
                  <a:t>= average trip length for mode </a:t>
                </a:r>
                <a14:m>
                  <m:oMath xmlns:m="http://schemas.openxmlformats.org/officeDocument/2006/math">
                    <m:r>
                      <a:rPr lang="en-US" i="1">
                        <a:latin typeface="Cambria Math" panose="02040503050406030204" pitchFamily="18" charset="0"/>
                      </a:rPr>
                      <m:t>𝑚</m:t>
                    </m:r>
                  </m:oMath>
                </a14:m>
                <a:r>
                  <a:rPr lang="en-US" dirty="0"/>
                  <a:t>, km </a:t>
                </a:r>
              </a:p>
              <a:p>
                <a:pPr marL="342900" lvl="0" indent="-342900">
                  <a:buFont typeface="Arial" panose="020B0604020202020204" pitchFamily="34" charset="0"/>
                  <a:buChar char="•"/>
                </a:pPr>
                <a14:m>
                  <m:oMath xmlns:m="http://schemas.openxmlformats.org/officeDocument/2006/math">
                    <m:r>
                      <a:rPr lang="en-US" i="1">
                        <a:latin typeface="Cambria Math" panose="02040503050406030204" pitchFamily="18" charset="0"/>
                      </a:rPr>
                      <m:t>𝑃𝐶</m:t>
                    </m:r>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𝑚</m:t>
                        </m:r>
                      </m:sub>
                    </m:sSub>
                  </m:oMath>
                </a14:m>
                <a:r>
                  <a:rPr lang="en-US" dirty="0"/>
                  <a:t>= Passenger Car Unit factor for mode </a:t>
                </a:r>
                <a14:m>
                  <m:oMath xmlns:m="http://schemas.openxmlformats.org/officeDocument/2006/math">
                    <m:r>
                      <a:rPr lang="en-US" i="1">
                        <a:latin typeface="Cambria Math" panose="02040503050406030204" pitchFamily="18" charset="0"/>
                      </a:rPr>
                      <m:t>𝑚</m:t>
                    </m:r>
                  </m:oMath>
                </a14:m>
                <a:endParaRPr lang="en-US" dirty="0"/>
              </a:p>
              <a:p>
                <a:pPr marL="342900" lvl="0" indent="-342900">
                  <a:buFont typeface="Arial" panose="020B0604020202020204" pitchFamily="34" charset="0"/>
                  <a:buChar char="•"/>
                </a:pPr>
                <a14:m>
                  <m:oMath xmlns:m="http://schemas.openxmlformats.org/officeDocument/2006/math">
                    <m:r>
                      <a:rPr lang="en-US" i="1">
                        <a:latin typeface="Cambria Math" panose="02040503050406030204" pitchFamily="18" charset="0"/>
                      </a:rPr>
                      <m:t>𝑉𝐾</m:t>
                    </m:r>
                    <m:sSub>
                      <m:sSubPr>
                        <m:ctrlPr>
                          <a:rPr lang="en-US" i="1">
                            <a:latin typeface="Cambria Math" panose="02040503050406030204" pitchFamily="18" charset="0"/>
                          </a:rPr>
                        </m:ctrlPr>
                      </m:sSubPr>
                      <m:e>
                        <m:r>
                          <a:rPr lang="en-US" i="1">
                            <a:latin typeface="Cambria Math" panose="02040503050406030204" pitchFamily="18" charset="0"/>
                          </a:rPr>
                          <m:t>𝑇</m:t>
                        </m:r>
                      </m:e>
                      <m:sub>
                        <m:r>
                          <m:rPr>
                            <m:nor/>
                          </m:rPr>
                          <a:rPr lang="en-US" b="0" i="0">
                            <a:latin typeface="Cambria Math" panose="02040503050406030204" pitchFamily="18" charset="0"/>
                          </a:rPr>
                          <m:t>bus</m:t>
                        </m:r>
                      </m:sub>
                    </m:sSub>
                  </m:oMath>
                </a14:m>
                <a:r>
                  <a:rPr lang="en-US" dirty="0"/>
                  <a:t>= total bus </a:t>
                </a:r>
                <a:r>
                  <a:rPr lang="en-US" dirty="0" err="1"/>
                  <a:t>kilometres</a:t>
                </a:r>
                <a:r>
                  <a:rPr lang="en-US" dirty="0"/>
                  <a:t> operated per day </a:t>
                </a:r>
              </a:p>
              <a:p>
                <a:pPr marL="342900" lvl="0" indent="-342900">
                  <a:buFont typeface="Arial" panose="020B0604020202020204" pitchFamily="34" charset="0"/>
                  <a:buChar char="•"/>
                </a:pPr>
                <a14:m>
                  <m:oMath xmlns:m="http://schemas.openxmlformats.org/officeDocument/2006/math">
                    <m:r>
                      <a:rPr lang="en-US" i="1">
                        <a:latin typeface="Cambria Math" panose="02040503050406030204" pitchFamily="18" charset="0"/>
                      </a:rPr>
                      <m:t>𝑃𝐶</m:t>
                    </m:r>
                    <m:sSub>
                      <m:sSubPr>
                        <m:ctrlPr>
                          <a:rPr lang="en-US" i="1">
                            <a:latin typeface="Cambria Math" panose="02040503050406030204" pitchFamily="18" charset="0"/>
                          </a:rPr>
                        </m:ctrlPr>
                      </m:sSubPr>
                      <m:e>
                        <m:r>
                          <a:rPr lang="en-US" i="1">
                            <a:latin typeface="Cambria Math" panose="02040503050406030204" pitchFamily="18" charset="0"/>
                          </a:rPr>
                          <m:t>𝑈</m:t>
                        </m:r>
                      </m:e>
                      <m:sub>
                        <m:r>
                          <m:rPr>
                            <m:nor/>
                          </m:rPr>
                          <a:rPr lang="en-US" b="0" i="0">
                            <a:latin typeface="Cambria Math" panose="02040503050406030204" pitchFamily="18" charset="0"/>
                          </a:rPr>
                          <m:t>bus</m:t>
                        </m:r>
                      </m:sub>
                    </m:sSub>
                  </m:oMath>
                </a14:m>
                <a:r>
                  <a:rPr lang="en-US" dirty="0"/>
                  <a:t>= Passenger Car Unit factor for buses </a:t>
                </a:r>
              </a:p>
              <a:p>
                <a:pPr marL="342900" lvl="0" indent="-342900">
                  <a:buFont typeface="Arial" panose="020B0604020202020204" pitchFamily="34" charset="0"/>
                  <a:buChar char="•"/>
                </a:pPr>
                <a14:m>
                  <m:oMath xmlns:m="http://schemas.openxmlformats.org/officeDocument/2006/math">
                    <m:r>
                      <a:rPr lang="en-US" i="1">
                        <a:latin typeface="Cambria Math" panose="02040503050406030204" pitchFamily="18" charset="0"/>
                      </a:rPr>
                      <m:t>𝑀𝐸𝐶𝐶</m:t>
                    </m:r>
                  </m:oMath>
                </a14:m>
                <a:r>
                  <a:rPr lang="en-US" dirty="0"/>
                  <a:t>= Marginal External Congestion Cost, ₹/PCU-km </a:t>
                </a:r>
              </a:p>
              <a:p>
                <a:pPr marL="342900" lvl="0" indent="-342900">
                  <a:buFont typeface="Arial" panose="020B0604020202020204" pitchFamily="34" charset="0"/>
                  <a:buChar char="•"/>
                </a:pPr>
                <a14:m>
                  <m:oMath xmlns:m="http://schemas.openxmlformats.org/officeDocument/2006/math">
                    <m:r>
                      <a:rPr lang="en-US" i="1">
                        <a:latin typeface="Cambria Math" panose="02040503050406030204" pitchFamily="18" charset="0"/>
                      </a:rPr>
                      <m:t>𝐷</m:t>
                    </m:r>
                  </m:oMath>
                </a14:m>
                <a:r>
                  <a:rPr lang="en-US" dirty="0"/>
                  <a:t>= bus operating days per year </a:t>
                </a:r>
              </a:p>
              <a:p>
                <a:pPr marL="342900" lvl="0" indent="-342900">
                  <a:buFont typeface="Arial" panose="020B0604020202020204" pitchFamily="34" charset="0"/>
                  <a:buChar char="•"/>
                </a:pP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m:t>
                        </m:r>
                      </m:e>
                      <m:sub>
                        <m:r>
                          <m:rPr>
                            <m:sty m:val="p"/>
                          </m:rPr>
                          <a:rPr lang="en-US" b="0" i="1" smtClean="0">
                            <a:latin typeface="Cambria Math" panose="02040503050406030204" pitchFamily="18" charset="0"/>
                          </a:rPr>
                          <m:t>m</m:t>
                        </m:r>
                      </m:sub>
                    </m:sSub>
                  </m:oMath>
                </a14:m>
                <a:r>
                  <a:rPr lang="en-US" dirty="0"/>
                  <a:t>= calculate separately for car, two-wheeler, auto, etc., and add them </a:t>
                </a:r>
              </a:p>
              <a:p>
                <a:pPr marL="342900" lvl="0" indent="-342900">
                  <a:buFont typeface="Arial" panose="020B0604020202020204" pitchFamily="34" charset="0"/>
                  <a:buChar char="•"/>
                </a:pPr>
                <a:endParaRPr lang="en-US" dirty="0"/>
              </a:p>
              <a:p>
                <a:pPr>
                  <a:buNone/>
                </a:pPr>
                <a:r>
                  <a:rPr lang="en-US" b="1" dirty="0"/>
                  <a:t>Slide-friendly wording</a:t>
                </a:r>
              </a:p>
              <a:p>
                <a:pPr>
                  <a:buNone/>
                </a:pPr>
                <a14:m>
                  <m:oMathPara xmlns:m="http://schemas.openxmlformats.org/officeDocument/2006/math">
                    <m:oMath>
                      <m:borderBox>
                        <m:borderBoxPr>
                          <m:ctrlPr>
                            <a:rPr lang="en-US" b="0" i="0"/>
                          </m:ctrlPr>
                        </m:borderBoxPr>
                        <m:e>
                          <m:r>
                            <m:rPr>
                              <m:nor/>
                            </m:rPr>
                            <a:rPr lang="en-US" b="0" i="0"/>
                            <m:t>Annual Decongestion Benefit</m:t>
                          </m:r>
                          <m:r>
                            <a:rPr lang="en-US" b="0" i="0">
                              <a:latin typeface="Cambria Math" panose="02040503050406030204" pitchFamily="18" charset="0"/>
                            </a:rPr>
                            <m:t>=</m:t>
                          </m:r>
                          <m:d>
                            <m:dPr>
                              <m:begChr m:val="["/>
                              <m:endChr m:val="]"/>
                              <m:ctrlPr>
                                <a:rPr lang="en-US" b="0" i="0">
                                  <a:latin typeface="Cambria Math" panose="02040503050406030204" pitchFamily="18" charset="0"/>
                                </a:rPr>
                              </m:ctrlPr>
                            </m:dPr>
                            <m:e>
                              <m:r>
                                <m:rPr>
                                  <m:nor/>
                                </m:rPr>
                                <a:rPr lang="en-US" b="0" i="0">
                                  <a:latin typeface="Cambria Math" panose="02040503050406030204" pitchFamily="18" charset="0"/>
                                </a:rPr>
                                <m:t>Private PCU−km Avoided</m:t>
                              </m:r>
                              <m:r>
                                <a:rPr lang="en-US" b="0" i="0">
                                  <a:latin typeface="Cambria Math" panose="02040503050406030204" pitchFamily="18" charset="0"/>
                                </a:rPr>
                                <m:t>−</m:t>
                              </m:r>
                              <m:r>
                                <m:rPr>
                                  <m:nor/>
                                </m:rPr>
                                <a:rPr lang="en-US" b="0" i="0">
                                  <a:latin typeface="Cambria Math" panose="02040503050406030204" pitchFamily="18" charset="0"/>
                                </a:rPr>
                                <m:t>Bus PCU−km Operated</m:t>
                              </m:r>
                            </m:e>
                          </m:d>
                          <m:r>
                            <a:rPr lang="en-US" b="0" i="0">
                              <a:latin typeface="Cambria Math" panose="02040503050406030204" pitchFamily="18" charset="0"/>
                            </a:rPr>
                            <m:t>×</m:t>
                          </m:r>
                          <m:r>
                            <a:rPr lang="en-US" b="0" i="1">
                              <a:latin typeface="Cambria Math" panose="02040503050406030204" pitchFamily="18" charset="0"/>
                            </a:rPr>
                            <m:t>𝑀𝐸𝐶𝐶</m:t>
                          </m:r>
                          <m:r>
                            <a:rPr lang="en-US" b="0" i="0">
                              <a:latin typeface="Cambria Math" panose="02040503050406030204" pitchFamily="18" charset="0"/>
                            </a:rPr>
                            <m:t>×</m:t>
                          </m:r>
                          <m:r>
                            <m:rPr>
                              <m:nor/>
                            </m:rPr>
                            <a:rPr lang="en-US" b="0" i="0">
                              <a:latin typeface="Cambria Math" panose="02040503050406030204" pitchFamily="18" charset="0"/>
                            </a:rPr>
                            <m:t>Operating Days</m:t>
                          </m:r>
                        </m:e>
                      </m:borderBox>
                    </m:oMath>
                  </m:oMathPara>
                </a14:m>
                <a:endParaRPr lang="en-US" b="0" dirty="0"/>
              </a:p>
              <a:p>
                <a:pPr>
                  <a:buNone/>
                </a:pPr>
                <a:endParaRPr lang="en-US" dirty="0"/>
              </a:p>
              <a:p>
                <a:pPr>
                  <a:buNone/>
                </a:pPr>
                <a:r>
                  <a:rPr lang="en-US" dirty="0"/>
                  <a:t>This expands the four calculation stages presented in the Model 1 decongestion framework. </a:t>
                </a:r>
              </a:p>
              <a:p>
                <a:pPr>
                  <a:buNone/>
                </a:pPr>
                <a:br>
                  <a:rPr lang="en-US" dirty="0"/>
                </a:br>
                <a:endParaRPr lang="en-US" dirty="0"/>
              </a:p>
            </p:txBody>
          </p:sp>
        </mc:Choice>
        <mc:Fallback xmlns="">
          <p:sp>
            <p:nvSpPr>
              <p:cNvPr id="3" name="TextBox 2">
                <a:extLst>
                  <a:ext uri="{FF2B5EF4-FFF2-40B4-BE49-F238E27FC236}">
                    <a16:creationId xmlns:a16="http://schemas.microsoft.com/office/drawing/2014/main" id="{5423BB1D-7B92-C47B-B789-B0228332EBF2}"/>
                  </a:ext>
                </a:extLst>
              </p:cNvPr>
              <p:cNvSpPr txBox="1">
                <a:spLocks noRot="1" noChangeAspect="1" noMove="1" noResize="1" noEditPoints="1" noAdjustHandles="1" noChangeArrowheads="1" noChangeShapeType="1" noTextEdit="1"/>
              </p:cNvSpPr>
              <p:nvPr/>
            </p:nvSpPr>
            <p:spPr>
              <a:xfrm>
                <a:off x="277298" y="867698"/>
                <a:ext cx="9460319" cy="5847883"/>
              </a:xfrm>
              <a:prstGeom prst="rect">
                <a:avLst/>
              </a:prstGeom>
              <a:blipFill>
                <a:blip r:embed="rId3"/>
                <a:stretch>
                  <a:fillRect l="-134" t="-14100"/>
                </a:stretch>
              </a:blipFill>
            </p:spPr>
            <p:txBody>
              <a:bodyPr/>
              <a:lstStyle/>
              <a:p>
                <a:r>
                  <a:rPr lang="en-US">
                    <a:noFill/>
                  </a:rPr>
                  <a:t> </a:t>
                </a:r>
              </a:p>
            </p:txBody>
          </p:sp>
        </mc:Fallback>
      </mc:AlternateContent>
    </p:spTree>
    <p:extLst>
      <p:ext uri="{BB962C8B-B14F-4D97-AF65-F5344CB8AC3E}">
        <p14:creationId xmlns:p14="http://schemas.microsoft.com/office/powerpoint/2010/main" val="38714576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g3f8288f73f0_3_7"/>
          <p:cNvSpPr txBox="1">
            <a:spLocks noGrp="1"/>
          </p:cNvSpPr>
          <p:nvPr>
            <p:ph type="title"/>
          </p:nvPr>
        </p:nvSpPr>
        <p:spPr>
          <a:xfrm>
            <a:off x="395707" y="194428"/>
            <a:ext cx="11284500" cy="794100"/>
          </a:xfrm>
          <a:prstGeom prst="rect">
            <a:avLst/>
          </a:prstGeom>
          <a:noFill/>
          <a:ln>
            <a:noFill/>
          </a:ln>
        </p:spPr>
        <p:txBody>
          <a:bodyPr spcFirstLastPara="1" wrap="square" lIns="0" tIns="45700" rIns="0" bIns="45700" anchor="t" anchorCtr="0">
            <a:normAutofit/>
          </a:bodyPr>
          <a:lstStyle/>
          <a:p>
            <a:pPr marL="0" lvl="0" indent="0" algn="l" rtl="0">
              <a:lnSpc>
                <a:spcPct val="100000"/>
              </a:lnSpc>
              <a:spcBef>
                <a:spcPts val="0"/>
              </a:spcBef>
              <a:spcAft>
                <a:spcPts val="0"/>
              </a:spcAft>
              <a:buSzPts val="2400"/>
              <a:buNone/>
            </a:pPr>
            <a:r>
              <a:rPr lang="en-IN"/>
              <a:t>Model M3- GHG mitigation + Pollution (PM 2.5, PM10 and NOx) calculation </a:t>
            </a:r>
            <a:endParaRPr/>
          </a:p>
        </p:txBody>
      </p:sp>
      <p:sp>
        <p:nvSpPr>
          <p:cNvPr id="394" name="Google Shape;394;g3f8288f73f0_3_7"/>
          <p:cNvSpPr txBox="1">
            <a:spLocks noGrp="1"/>
          </p:cNvSpPr>
          <p:nvPr>
            <p:ph type="body" idx="1"/>
          </p:nvPr>
        </p:nvSpPr>
        <p:spPr>
          <a:xfrm>
            <a:off x="395700" y="581950"/>
            <a:ext cx="7338600" cy="21993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500"/>
              </a:spcBef>
              <a:spcAft>
                <a:spcPts val="0"/>
              </a:spcAft>
              <a:buSzPts val="2300"/>
              <a:buNone/>
            </a:pPr>
            <a:r>
              <a:rPr lang="en-IN" sz="2163" b="1"/>
              <a:t>Assumption </a:t>
            </a:r>
            <a:endParaRPr sz="2163" b="1"/>
          </a:p>
          <a:p>
            <a:pPr marL="0" lvl="0" indent="0" algn="l" rtl="0">
              <a:lnSpc>
                <a:spcPct val="100000"/>
              </a:lnSpc>
              <a:spcBef>
                <a:spcPts val="500"/>
              </a:spcBef>
              <a:spcAft>
                <a:spcPts val="0"/>
              </a:spcAft>
              <a:buSzPts val="2300"/>
              <a:buNone/>
            </a:pPr>
            <a:r>
              <a:rPr lang="en-IN" sz="1600"/>
              <a:t>Population of Amritsar City, 2025 = </a:t>
            </a:r>
            <a:r>
              <a:rPr lang="en-IN" sz="1600" b="1"/>
              <a:t>1.69 million (Estimated) </a:t>
            </a:r>
            <a:endParaRPr sz="1600" b="1"/>
          </a:p>
          <a:p>
            <a:pPr marL="0" lvl="0" indent="0" algn="l" rtl="0">
              <a:lnSpc>
                <a:spcPct val="100000"/>
              </a:lnSpc>
              <a:spcBef>
                <a:spcPts val="500"/>
              </a:spcBef>
              <a:spcAft>
                <a:spcPts val="0"/>
              </a:spcAft>
              <a:buSzPts val="2300"/>
              <a:buNone/>
            </a:pPr>
            <a:r>
              <a:rPr lang="en-IN" sz="1600" b="1"/>
              <a:t>Estimated Number of  motorized vehicles, 2025</a:t>
            </a:r>
            <a:endParaRPr sz="1600" b="1"/>
          </a:p>
          <a:p>
            <a:pPr marL="0" lvl="0" indent="0" algn="l" rtl="0">
              <a:lnSpc>
                <a:spcPct val="100000"/>
              </a:lnSpc>
              <a:spcBef>
                <a:spcPts val="500"/>
              </a:spcBef>
              <a:spcAft>
                <a:spcPts val="0"/>
              </a:spcAft>
              <a:buSzPts val="2300"/>
              <a:buNone/>
            </a:pPr>
            <a:endParaRPr sz="1700" b="1"/>
          </a:p>
        </p:txBody>
      </p:sp>
      <p:sp>
        <p:nvSpPr>
          <p:cNvPr id="395" name="Google Shape;395;g3f8288f73f0_3_7"/>
          <p:cNvSpPr txBox="1">
            <a:spLocks noGrp="1"/>
          </p:cNvSpPr>
          <p:nvPr>
            <p:ph type="body" idx="2"/>
          </p:nvPr>
        </p:nvSpPr>
        <p:spPr>
          <a:xfrm>
            <a:off x="395707" y="6475388"/>
            <a:ext cx="9740700" cy="383100"/>
          </a:xfrm>
          <a:prstGeom prst="rect">
            <a:avLst/>
          </a:prstGeom>
          <a:noFill/>
          <a:ln>
            <a:noFill/>
          </a:ln>
        </p:spPr>
        <p:txBody>
          <a:bodyPr spcFirstLastPara="1" wrap="square" lIns="0" tIns="45700" rIns="91425" bIns="45700" anchor="ctr" anchorCtr="0">
            <a:noAutofit/>
          </a:bodyPr>
          <a:lstStyle/>
          <a:p>
            <a:pPr marL="0" lvl="0" indent="0" algn="l" rtl="0">
              <a:lnSpc>
                <a:spcPct val="100000"/>
              </a:lnSpc>
              <a:spcBef>
                <a:spcPts val="300"/>
              </a:spcBef>
              <a:spcAft>
                <a:spcPts val="0"/>
              </a:spcAft>
              <a:buSzPts val="900"/>
              <a:buNone/>
            </a:pPr>
            <a:endParaRPr/>
          </a:p>
        </p:txBody>
      </p:sp>
      <p:graphicFrame>
        <p:nvGraphicFramePr>
          <p:cNvPr id="396" name="Google Shape;396;g3f8288f73f0_3_7"/>
          <p:cNvGraphicFramePr/>
          <p:nvPr/>
        </p:nvGraphicFramePr>
        <p:xfrm>
          <a:off x="554600" y="2357800"/>
          <a:ext cx="7472700" cy="3972175"/>
        </p:xfrm>
        <a:graphic>
          <a:graphicData uri="http://schemas.openxmlformats.org/drawingml/2006/table">
            <a:tbl>
              <a:tblPr>
                <a:noFill/>
                <a:tableStyleId>{0860CCE0-F297-41D7-A668-42E0A14AD0CD}</a:tableStyleId>
              </a:tblPr>
              <a:tblGrid>
                <a:gridCol w="1435300">
                  <a:extLst>
                    <a:ext uri="{9D8B030D-6E8A-4147-A177-3AD203B41FA5}">
                      <a16:colId xmlns:a16="http://schemas.microsoft.com/office/drawing/2014/main" val="20000"/>
                    </a:ext>
                  </a:extLst>
                </a:gridCol>
                <a:gridCol w="1502400">
                  <a:extLst>
                    <a:ext uri="{9D8B030D-6E8A-4147-A177-3AD203B41FA5}">
                      <a16:colId xmlns:a16="http://schemas.microsoft.com/office/drawing/2014/main" val="20001"/>
                    </a:ext>
                  </a:extLst>
                </a:gridCol>
                <a:gridCol w="3529350">
                  <a:extLst>
                    <a:ext uri="{9D8B030D-6E8A-4147-A177-3AD203B41FA5}">
                      <a16:colId xmlns:a16="http://schemas.microsoft.com/office/drawing/2014/main" val="20002"/>
                    </a:ext>
                  </a:extLst>
                </a:gridCol>
                <a:gridCol w="1005650">
                  <a:extLst>
                    <a:ext uri="{9D8B030D-6E8A-4147-A177-3AD203B41FA5}">
                      <a16:colId xmlns:a16="http://schemas.microsoft.com/office/drawing/2014/main" val="20003"/>
                    </a:ext>
                  </a:extLst>
                </a:gridCol>
              </a:tblGrid>
              <a:tr h="377975">
                <a:tc>
                  <a:txBody>
                    <a:bodyPr/>
                    <a:lstStyle/>
                    <a:p>
                      <a:pPr marL="0" marR="0" lvl="0" indent="0" algn="l" rtl="0">
                        <a:lnSpc>
                          <a:spcPct val="100000"/>
                        </a:lnSpc>
                        <a:spcBef>
                          <a:spcPts val="0"/>
                        </a:spcBef>
                        <a:spcAft>
                          <a:spcPts val="0"/>
                        </a:spcAft>
                        <a:buClr>
                          <a:srgbClr val="000000"/>
                        </a:buClr>
                        <a:buSzPts val="1500"/>
                        <a:buFont typeface="Arial"/>
                        <a:buNone/>
                      </a:pPr>
                      <a:r>
                        <a:rPr lang="en-IN" sz="1500" b="1" u="none" strike="noStrike" cap="none">
                          <a:solidFill>
                            <a:srgbClr val="595959"/>
                          </a:solidFill>
                          <a:latin typeface="Calibri"/>
                          <a:ea typeface="Calibri"/>
                          <a:cs typeface="Calibri"/>
                          <a:sym typeface="Calibri"/>
                        </a:rPr>
                        <a:t>Vehicles </a:t>
                      </a:r>
                      <a:endParaRPr sz="1500" b="1" u="none" strike="noStrike" cap="none">
                        <a:solidFill>
                          <a:srgbClr val="595959"/>
                        </a:solidFill>
                        <a:latin typeface="Calibri"/>
                        <a:ea typeface="Calibri"/>
                        <a:cs typeface="Calibri"/>
                        <a:sym typeface="Calibri"/>
                      </a:endParaRPr>
                    </a:p>
                  </a:txBody>
                  <a:tcPr marL="91425" marR="91425" marT="91425" marB="91425">
                    <a:solidFill>
                      <a:srgbClr val="B8D4F0"/>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IN" sz="1500" b="1" u="none" strike="noStrike" cap="none">
                          <a:solidFill>
                            <a:srgbClr val="595959"/>
                          </a:solidFill>
                          <a:latin typeface="Calibri"/>
                          <a:ea typeface="Calibri"/>
                          <a:cs typeface="Calibri"/>
                          <a:sym typeface="Calibri"/>
                        </a:rPr>
                        <a:t>Number (2025)</a:t>
                      </a:r>
                      <a:endParaRPr sz="1500" b="1" u="none" strike="noStrike" cap="none">
                        <a:solidFill>
                          <a:srgbClr val="595959"/>
                        </a:solidFill>
                        <a:latin typeface="Calibri"/>
                        <a:ea typeface="Calibri"/>
                        <a:cs typeface="Calibri"/>
                        <a:sym typeface="Calibri"/>
                      </a:endParaRPr>
                    </a:p>
                  </a:txBody>
                  <a:tcPr marL="91425" marR="91425" marT="91425" marB="91425">
                    <a:solidFill>
                      <a:srgbClr val="B8D4F0"/>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IN" sz="1500" b="1" u="none" strike="noStrike" cap="none">
                          <a:solidFill>
                            <a:srgbClr val="595959"/>
                          </a:solidFill>
                          <a:latin typeface="Calibri"/>
                          <a:ea typeface="Calibri"/>
                          <a:cs typeface="Calibri"/>
                          <a:sym typeface="Calibri"/>
                        </a:rPr>
                        <a:t>Remarks</a:t>
                      </a:r>
                      <a:endParaRPr sz="1500" b="1" u="none" strike="noStrike" cap="none">
                        <a:solidFill>
                          <a:srgbClr val="595959"/>
                        </a:solidFill>
                        <a:latin typeface="Calibri"/>
                        <a:ea typeface="Calibri"/>
                        <a:cs typeface="Calibri"/>
                        <a:sym typeface="Calibri"/>
                      </a:endParaRPr>
                    </a:p>
                  </a:txBody>
                  <a:tcPr marL="91425" marR="91425" marT="91425" marB="91425">
                    <a:solidFill>
                      <a:srgbClr val="B8D4F0"/>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IN" sz="1500" b="1" u="none" strike="noStrike" cap="none">
                          <a:solidFill>
                            <a:srgbClr val="595959"/>
                          </a:solidFill>
                          <a:latin typeface="Calibri"/>
                          <a:ea typeface="Calibri"/>
                          <a:cs typeface="Calibri"/>
                          <a:sym typeface="Calibri"/>
                        </a:rPr>
                        <a:t>Sources</a:t>
                      </a:r>
                      <a:endParaRPr sz="1500" b="1" u="none" strike="noStrike" cap="none">
                        <a:solidFill>
                          <a:srgbClr val="595959"/>
                        </a:solidFill>
                        <a:latin typeface="Calibri"/>
                        <a:ea typeface="Calibri"/>
                        <a:cs typeface="Calibri"/>
                        <a:sym typeface="Calibri"/>
                      </a:endParaRPr>
                    </a:p>
                  </a:txBody>
                  <a:tcPr marL="91425" marR="91425" marT="91425" marB="91425">
                    <a:solidFill>
                      <a:srgbClr val="B8D4F0"/>
                    </a:solidFill>
                  </a:tcPr>
                </a:tc>
                <a:extLst>
                  <a:ext uri="{0D108BD9-81ED-4DB2-BD59-A6C34878D82A}">
                    <a16:rowId xmlns:a16="http://schemas.microsoft.com/office/drawing/2014/main" val="10000"/>
                  </a:ext>
                </a:extLst>
              </a:tr>
              <a:tr h="659750">
                <a:tc>
                  <a:txBody>
                    <a:bodyPr/>
                    <a:lstStyle/>
                    <a:p>
                      <a:pPr marL="0" marR="0" lvl="0" indent="0" algn="l" rtl="0">
                        <a:lnSpc>
                          <a:spcPct val="100000"/>
                        </a:lnSpc>
                        <a:spcBef>
                          <a:spcPts val="0"/>
                        </a:spcBef>
                        <a:spcAft>
                          <a:spcPts val="0"/>
                        </a:spcAft>
                        <a:buClr>
                          <a:srgbClr val="000000"/>
                        </a:buClr>
                        <a:buSzPts val="1500"/>
                        <a:buFont typeface="Arial"/>
                        <a:buNone/>
                      </a:pPr>
                      <a:r>
                        <a:rPr lang="en-IN" sz="1500" u="none" strike="noStrike" cap="none">
                          <a:solidFill>
                            <a:srgbClr val="595959"/>
                          </a:solidFill>
                          <a:latin typeface="Calibri"/>
                          <a:ea typeface="Calibri"/>
                          <a:cs typeface="Calibri"/>
                          <a:sym typeface="Calibri"/>
                        </a:rPr>
                        <a:t>Auto rickshaws (ICE)</a:t>
                      </a:r>
                      <a:endParaRPr sz="1500" u="none" strike="noStrike" cap="none">
                        <a:solidFill>
                          <a:srgbClr val="595959"/>
                        </a:solidFill>
                        <a:latin typeface="Calibri"/>
                        <a:ea typeface="Calibri"/>
                        <a:cs typeface="Calibri"/>
                        <a:sym typeface="Calibri"/>
                      </a:endParaRPr>
                    </a:p>
                  </a:txBody>
                  <a:tcPr marL="91425" marR="91425" marT="91425" marB="91425">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IN" sz="1500" u="none" strike="noStrike" cap="none">
                          <a:solidFill>
                            <a:srgbClr val="595959"/>
                          </a:solidFill>
                          <a:latin typeface="Calibri"/>
                          <a:ea typeface="Calibri"/>
                          <a:cs typeface="Calibri"/>
                          <a:sym typeface="Calibri"/>
                        </a:rPr>
                        <a:t>25500</a:t>
                      </a:r>
                      <a:endParaRPr sz="1500" u="none" strike="noStrike" cap="none">
                        <a:solidFill>
                          <a:srgbClr val="595959"/>
                        </a:solidFill>
                        <a:latin typeface="Calibri"/>
                        <a:ea typeface="Calibri"/>
                        <a:cs typeface="Calibri"/>
                        <a:sym typeface="Calibri"/>
                      </a:endParaRPr>
                    </a:p>
                  </a:txBody>
                  <a:tcPr marL="91425" marR="91425" marT="91425" marB="91425">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IN" sz="1500" u="none" strike="noStrike" cap="none">
                          <a:solidFill>
                            <a:srgbClr val="595959"/>
                          </a:solidFill>
                          <a:latin typeface="Calibri"/>
                          <a:ea typeface="Calibri"/>
                          <a:cs typeface="Calibri"/>
                          <a:sym typeface="Calibri"/>
                        </a:rPr>
                        <a:t>2025 news article shows total number of  auto rickshaws and E rickshaws = 85000</a:t>
                      </a:r>
                      <a:endParaRPr sz="1500" u="none" strike="noStrike" cap="none">
                        <a:solidFill>
                          <a:srgbClr val="595959"/>
                        </a:solidFill>
                        <a:latin typeface="Calibri"/>
                        <a:ea typeface="Calibri"/>
                        <a:cs typeface="Calibri"/>
                        <a:sym typeface="Calibri"/>
                      </a:endParaRPr>
                    </a:p>
                  </a:txBody>
                  <a:tcPr marL="91425" marR="91425" marT="91425" marB="91425">
                    <a:solidFill>
                      <a:schemeClr val="lt1"/>
                    </a:solidFill>
                  </a:tcPr>
                </a:tc>
                <a:tc rowSpan="3">
                  <a:txBody>
                    <a:bodyPr/>
                    <a:lstStyle/>
                    <a:p>
                      <a:pPr marL="0" marR="0" lvl="0" indent="0" algn="l" rtl="0">
                        <a:lnSpc>
                          <a:spcPct val="100000"/>
                        </a:lnSpc>
                        <a:spcBef>
                          <a:spcPts val="0"/>
                        </a:spcBef>
                        <a:spcAft>
                          <a:spcPts val="0"/>
                        </a:spcAft>
                        <a:buClr>
                          <a:srgbClr val="000000"/>
                        </a:buClr>
                        <a:buSzPts val="1500"/>
                        <a:buFont typeface="Arial"/>
                        <a:buNone/>
                      </a:pPr>
                      <a:endParaRPr sz="1500" u="none" strike="noStrike" cap="none">
                        <a:solidFill>
                          <a:srgbClr val="595959"/>
                        </a:solidFill>
                        <a:latin typeface="Calibri"/>
                        <a:ea typeface="Calibri"/>
                        <a:cs typeface="Calibri"/>
                        <a:sym typeface="Calibri"/>
                      </a:endParaRPr>
                    </a:p>
                  </a:txBody>
                  <a:tcPr marL="91425" marR="91425" marT="91425" marB="91425">
                    <a:solidFill>
                      <a:schemeClr val="lt1"/>
                    </a:solidFill>
                  </a:tcPr>
                </a:tc>
                <a:extLst>
                  <a:ext uri="{0D108BD9-81ED-4DB2-BD59-A6C34878D82A}">
                    <a16:rowId xmlns:a16="http://schemas.microsoft.com/office/drawing/2014/main" val="10001"/>
                  </a:ext>
                </a:extLst>
              </a:tr>
              <a:tr h="378900">
                <a:tc>
                  <a:txBody>
                    <a:bodyPr/>
                    <a:lstStyle/>
                    <a:p>
                      <a:pPr marL="0" marR="0" lvl="0" indent="0" algn="l" rtl="0">
                        <a:lnSpc>
                          <a:spcPct val="100000"/>
                        </a:lnSpc>
                        <a:spcBef>
                          <a:spcPts val="0"/>
                        </a:spcBef>
                        <a:spcAft>
                          <a:spcPts val="0"/>
                        </a:spcAft>
                        <a:buClr>
                          <a:schemeClr val="dk1"/>
                        </a:buClr>
                        <a:buSzPts val="1100"/>
                        <a:buFont typeface="Arial"/>
                        <a:buNone/>
                      </a:pPr>
                      <a:r>
                        <a:rPr lang="en-IN" sz="1500" u="none" strike="noStrike" cap="none">
                          <a:solidFill>
                            <a:srgbClr val="595959"/>
                          </a:solidFill>
                          <a:latin typeface="Calibri"/>
                          <a:ea typeface="Calibri"/>
                          <a:cs typeface="Calibri"/>
                          <a:sym typeface="Calibri"/>
                        </a:rPr>
                        <a:t>Auto rickshaws (EV)</a:t>
                      </a:r>
                      <a:endParaRPr sz="1500" u="none" strike="noStrike" cap="none">
                        <a:solidFill>
                          <a:srgbClr val="595959"/>
                        </a:solidFill>
                        <a:latin typeface="Calibri"/>
                        <a:ea typeface="Calibri"/>
                        <a:cs typeface="Calibri"/>
                        <a:sym typeface="Calibri"/>
                      </a:endParaRPr>
                    </a:p>
                  </a:txBody>
                  <a:tcPr marL="91425" marR="91425" marT="91425" marB="91425">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IN" sz="1500" u="none" strike="noStrike" cap="none">
                          <a:solidFill>
                            <a:srgbClr val="595959"/>
                          </a:solidFill>
                          <a:latin typeface="Calibri"/>
                          <a:ea typeface="Calibri"/>
                          <a:cs typeface="Calibri"/>
                          <a:sym typeface="Calibri"/>
                        </a:rPr>
                        <a:t>39350</a:t>
                      </a:r>
                      <a:endParaRPr sz="1500" u="none" strike="noStrike" cap="none">
                        <a:solidFill>
                          <a:srgbClr val="595959"/>
                        </a:solidFill>
                        <a:latin typeface="Calibri"/>
                        <a:ea typeface="Calibri"/>
                        <a:cs typeface="Calibri"/>
                        <a:sym typeface="Calibri"/>
                      </a:endParaRPr>
                    </a:p>
                  </a:txBody>
                  <a:tcPr marL="91425" marR="91425" marT="91425" marB="91425">
                    <a:solidFill>
                      <a:schemeClr val="lt1"/>
                    </a:solidFill>
                  </a:tcPr>
                </a:tc>
                <a:tc rowSpan="2">
                  <a:txBody>
                    <a:bodyPr/>
                    <a:lstStyle/>
                    <a:p>
                      <a:pPr marL="0" marR="0" lvl="0" indent="0" algn="l" rtl="0">
                        <a:lnSpc>
                          <a:spcPct val="100000"/>
                        </a:lnSpc>
                        <a:spcBef>
                          <a:spcPts val="0"/>
                        </a:spcBef>
                        <a:spcAft>
                          <a:spcPts val="0"/>
                        </a:spcAft>
                        <a:buClr>
                          <a:srgbClr val="000000"/>
                        </a:buClr>
                        <a:buSzPts val="1500"/>
                        <a:buFont typeface="Arial"/>
                        <a:buNone/>
                      </a:pPr>
                      <a:r>
                        <a:rPr lang="en-IN" sz="1500" u="none" strike="noStrike" cap="none">
                          <a:solidFill>
                            <a:srgbClr val="595959"/>
                          </a:solidFill>
                          <a:latin typeface="Calibri"/>
                          <a:ea typeface="Calibri"/>
                          <a:cs typeface="Calibri"/>
                          <a:sym typeface="Calibri"/>
                        </a:rPr>
                        <a:t>ICE= 30% and EV = 70% </a:t>
                      </a:r>
                      <a:endParaRPr sz="1500" u="none" strike="noStrike" cap="none">
                        <a:solidFill>
                          <a:srgbClr val="595959"/>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r>
                        <a:rPr lang="en-IN" sz="1500" u="none" strike="noStrike" cap="none">
                          <a:solidFill>
                            <a:srgbClr val="595959"/>
                          </a:solidFill>
                          <a:latin typeface="Calibri"/>
                          <a:ea typeface="Calibri"/>
                          <a:cs typeface="Calibri"/>
                          <a:sym typeface="Calibri"/>
                        </a:rPr>
                        <a:t>e-Auto rickshaws = 58.4% and e-rickshaws = 41.5% (Primary Survey) </a:t>
                      </a:r>
                      <a:endParaRPr sz="1500" u="none" strike="noStrike" cap="none">
                        <a:solidFill>
                          <a:srgbClr val="595959"/>
                        </a:solidFill>
                        <a:latin typeface="Calibri"/>
                        <a:ea typeface="Calibri"/>
                        <a:cs typeface="Calibri"/>
                        <a:sym typeface="Calibri"/>
                      </a:endParaRPr>
                    </a:p>
                  </a:txBody>
                  <a:tcPr marL="91425" marR="91425" marT="91425" marB="91425">
                    <a:solidFill>
                      <a:schemeClr val="lt1"/>
                    </a:solidFill>
                  </a:tcPr>
                </a:tc>
                <a:tc vMerge="1">
                  <a:txBody>
                    <a:bodyPr/>
                    <a:lstStyle/>
                    <a:p>
                      <a:endParaRPr lang="en-US"/>
                    </a:p>
                  </a:txBody>
                  <a:tcPr/>
                </a:tc>
                <a:extLst>
                  <a:ext uri="{0D108BD9-81ED-4DB2-BD59-A6C34878D82A}">
                    <a16:rowId xmlns:a16="http://schemas.microsoft.com/office/drawing/2014/main" val="10002"/>
                  </a:ext>
                </a:extLst>
              </a:tr>
              <a:tr h="222650">
                <a:tc>
                  <a:txBody>
                    <a:bodyPr/>
                    <a:lstStyle/>
                    <a:p>
                      <a:pPr marL="0" marR="0" lvl="0" indent="0" algn="l" rtl="0">
                        <a:lnSpc>
                          <a:spcPct val="100000"/>
                        </a:lnSpc>
                        <a:spcBef>
                          <a:spcPts val="0"/>
                        </a:spcBef>
                        <a:spcAft>
                          <a:spcPts val="0"/>
                        </a:spcAft>
                        <a:buClr>
                          <a:srgbClr val="000000"/>
                        </a:buClr>
                        <a:buSzPts val="1500"/>
                        <a:buFont typeface="Arial"/>
                        <a:buNone/>
                      </a:pPr>
                      <a:r>
                        <a:rPr lang="en-IN" sz="1500" u="none" strike="noStrike" cap="none">
                          <a:solidFill>
                            <a:srgbClr val="595959"/>
                          </a:solidFill>
                          <a:latin typeface="Calibri"/>
                          <a:ea typeface="Calibri"/>
                          <a:cs typeface="Calibri"/>
                          <a:sym typeface="Calibri"/>
                        </a:rPr>
                        <a:t>E- rickshaws </a:t>
                      </a:r>
                      <a:endParaRPr sz="1500" u="none" strike="noStrike" cap="none">
                        <a:solidFill>
                          <a:srgbClr val="595959"/>
                        </a:solidFill>
                        <a:latin typeface="Calibri"/>
                        <a:ea typeface="Calibri"/>
                        <a:cs typeface="Calibri"/>
                        <a:sym typeface="Calibri"/>
                      </a:endParaRPr>
                    </a:p>
                  </a:txBody>
                  <a:tcPr marL="91425" marR="91425" marT="91425" marB="91425">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IN" sz="1500" u="none" strike="noStrike" cap="none">
                          <a:solidFill>
                            <a:srgbClr val="595959"/>
                          </a:solidFill>
                          <a:latin typeface="Calibri"/>
                          <a:ea typeface="Calibri"/>
                          <a:cs typeface="Calibri"/>
                          <a:sym typeface="Calibri"/>
                        </a:rPr>
                        <a:t>20000</a:t>
                      </a:r>
                      <a:endParaRPr sz="1500" u="none" strike="noStrike" cap="none">
                        <a:solidFill>
                          <a:srgbClr val="595959"/>
                        </a:solidFill>
                        <a:latin typeface="Calibri"/>
                        <a:ea typeface="Calibri"/>
                        <a:cs typeface="Calibri"/>
                        <a:sym typeface="Calibri"/>
                      </a:endParaRPr>
                    </a:p>
                  </a:txBody>
                  <a:tcPr marL="91425" marR="91425" marT="91425" marB="91425">
                    <a:solidFill>
                      <a:schemeClr val="lt1"/>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3"/>
                  </a:ext>
                </a:extLst>
              </a:tr>
              <a:tr h="410175">
                <a:tc>
                  <a:txBody>
                    <a:bodyPr/>
                    <a:lstStyle/>
                    <a:p>
                      <a:pPr marL="0" marR="0" lvl="0" indent="0" algn="l" rtl="0">
                        <a:lnSpc>
                          <a:spcPct val="100000"/>
                        </a:lnSpc>
                        <a:spcBef>
                          <a:spcPts val="0"/>
                        </a:spcBef>
                        <a:spcAft>
                          <a:spcPts val="0"/>
                        </a:spcAft>
                        <a:buClr>
                          <a:srgbClr val="000000"/>
                        </a:buClr>
                        <a:buSzPts val="1500"/>
                        <a:buFont typeface="Arial"/>
                        <a:buNone/>
                      </a:pPr>
                      <a:r>
                        <a:rPr lang="en-IN" sz="1500" u="none" strike="noStrike" cap="none">
                          <a:solidFill>
                            <a:srgbClr val="595959"/>
                          </a:solidFill>
                          <a:latin typeface="Calibri"/>
                          <a:ea typeface="Calibri"/>
                          <a:cs typeface="Calibri"/>
                          <a:sym typeface="Calibri"/>
                        </a:rPr>
                        <a:t>2W </a:t>
                      </a:r>
                      <a:endParaRPr sz="1500" u="none" strike="noStrike" cap="none">
                        <a:solidFill>
                          <a:srgbClr val="595959"/>
                        </a:solidFill>
                        <a:latin typeface="Calibri"/>
                        <a:ea typeface="Calibri"/>
                        <a:cs typeface="Calibri"/>
                        <a:sym typeface="Calibri"/>
                      </a:endParaRPr>
                    </a:p>
                  </a:txBody>
                  <a:tcPr marL="91425" marR="91425" marT="91425" marB="91425">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IN" sz="1500" u="none" strike="noStrike" cap="none">
                          <a:solidFill>
                            <a:srgbClr val="595959"/>
                          </a:solidFill>
                          <a:latin typeface="Calibri"/>
                          <a:ea typeface="Calibri"/>
                          <a:cs typeface="Calibri"/>
                          <a:sym typeface="Calibri"/>
                        </a:rPr>
                        <a:t>313205</a:t>
                      </a:r>
                      <a:endParaRPr sz="1500" u="none" strike="noStrike" cap="none">
                        <a:solidFill>
                          <a:srgbClr val="595959"/>
                        </a:solidFill>
                        <a:latin typeface="Calibri"/>
                        <a:ea typeface="Calibri"/>
                        <a:cs typeface="Calibri"/>
                        <a:sym typeface="Calibri"/>
                      </a:endParaRPr>
                    </a:p>
                  </a:txBody>
                  <a:tcPr marL="91425" marR="91425" marT="91425" marB="91425">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IN" sz="1500" u="none" strike="noStrike" cap="none">
                          <a:solidFill>
                            <a:srgbClr val="595959"/>
                          </a:solidFill>
                          <a:latin typeface="Calibri"/>
                          <a:ea typeface="Calibri"/>
                          <a:cs typeface="Calibri"/>
                          <a:sym typeface="Calibri"/>
                        </a:rPr>
                        <a:t>185 two wheelers per 1000 people </a:t>
                      </a:r>
                      <a:endParaRPr sz="1500" u="none" strike="noStrike" cap="none">
                        <a:solidFill>
                          <a:srgbClr val="595959"/>
                        </a:solidFill>
                        <a:latin typeface="Calibri"/>
                        <a:ea typeface="Calibri"/>
                        <a:cs typeface="Calibri"/>
                        <a:sym typeface="Calibri"/>
                      </a:endParaRPr>
                    </a:p>
                  </a:txBody>
                  <a:tcPr marL="91425" marR="91425" marT="91425" marB="91425">
                    <a:solidFill>
                      <a:schemeClr val="lt1"/>
                    </a:solidFill>
                  </a:tcPr>
                </a:tc>
                <a:tc rowSpan="2">
                  <a:txBody>
                    <a:bodyPr/>
                    <a:lstStyle/>
                    <a:p>
                      <a:pPr marL="0" marR="0" lvl="0" indent="0" algn="l" rtl="0">
                        <a:lnSpc>
                          <a:spcPct val="100000"/>
                        </a:lnSpc>
                        <a:spcBef>
                          <a:spcPts val="0"/>
                        </a:spcBef>
                        <a:spcAft>
                          <a:spcPts val="0"/>
                        </a:spcAft>
                        <a:buClr>
                          <a:srgbClr val="000000"/>
                        </a:buClr>
                        <a:buSzPts val="1500"/>
                        <a:buFont typeface="Arial"/>
                        <a:buNone/>
                      </a:pPr>
                      <a:endParaRPr sz="1500" u="none" strike="noStrike" cap="none">
                        <a:solidFill>
                          <a:srgbClr val="595959"/>
                        </a:solidFill>
                        <a:latin typeface="Calibri"/>
                        <a:ea typeface="Calibri"/>
                        <a:cs typeface="Calibri"/>
                        <a:sym typeface="Calibri"/>
                      </a:endParaRPr>
                    </a:p>
                  </a:txBody>
                  <a:tcPr marL="91425" marR="91425" marT="91425" marB="91425">
                    <a:solidFill>
                      <a:schemeClr val="lt1"/>
                    </a:solidFill>
                  </a:tcPr>
                </a:tc>
                <a:extLst>
                  <a:ext uri="{0D108BD9-81ED-4DB2-BD59-A6C34878D82A}">
                    <a16:rowId xmlns:a16="http://schemas.microsoft.com/office/drawing/2014/main" val="10004"/>
                  </a:ext>
                </a:extLst>
              </a:tr>
              <a:tr h="587975">
                <a:tc>
                  <a:txBody>
                    <a:bodyPr/>
                    <a:lstStyle/>
                    <a:p>
                      <a:pPr marL="0" marR="0" lvl="0" indent="0" algn="l" rtl="0">
                        <a:lnSpc>
                          <a:spcPct val="100000"/>
                        </a:lnSpc>
                        <a:spcBef>
                          <a:spcPts val="0"/>
                        </a:spcBef>
                        <a:spcAft>
                          <a:spcPts val="0"/>
                        </a:spcAft>
                        <a:buClr>
                          <a:srgbClr val="000000"/>
                        </a:buClr>
                        <a:buSzPts val="1500"/>
                        <a:buFont typeface="Arial"/>
                        <a:buNone/>
                      </a:pPr>
                      <a:r>
                        <a:rPr lang="en-IN" sz="1500" u="none" strike="noStrike" cap="none">
                          <a:solidFill>
                            <a:srgbClr val="595959"/>
                          </a:solidFill>
                          <a:latin typeface="Calibri"/>
                          <a:ea typeface="Calibri"/>
                          <a:cs typeface="Calibri"/>
                          <a:sym typeface="Calibri"/>
                        </a:rPr>
                        <a:t>Car </a:t>
                      </a:r>
                      <a:endParaRPr sz="1500" u="none" strike="noStrike" cap="none">
                        <a:solidFill>
                          <a:srgbClr val="595959"/>
                        </a:solidFill>
                        <a:latin typeface="Calibri"/>
                        <a:ea typeface="Calibri"/>
                        <a:cs typeface="Calibri"/>
                        <a:sym typeface="Calibri"/>
                      </a:endParaRPr>
                    </a:p>
                  </a:txBody>
                  <a:tcPr marL="91425" marR="91425" marT="91425" marB="91425">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IN" sz="1500" u="none" strike="noStrike" cap="none">
                          <a:solidFill>
                            <a:srgbClr val="595959"/>
                          </a:solidFill>
                          <a:latin typeface="Calibri"/>
                          <a:ea typeface="Calibri"/>
                          <a:cs typeface="Calibri"/>
                          <a:sym typeface="Calibri"/>
                        </a:rPr>
                        <a:t>57562</a:t>
                      </a:r>
                      <a:endParaRPr sz="1500" u="none" strike="noStrike" cap="none">
                        <a:solidFill>
                          <a:srgbClr val="595959"/>
                        </a:solidFill>
                        <a:latin typeface="Calibri"/>
                        <a:ea typeface="Calibri"/>
                        <a:cs typeface="Calibri"/>
                        <a:sym typeface="Calibri"/>
                      </a:endParaRPr>
                    </a:p>
                  </a:txBody>
                  <a:tcPr marL="91425" marR="91425" marT="91425" marB="91425">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IN" sz="1500" u="none" strike="noStrike" cap="none">
                          <a:solidFill>
                            <a:srgbClr val="595959"/>
                          </a:solidFill>
                          <a:latin typeface="Calibri"/>
                          <a:ea typeface="Calibri"/>
                          <a:cs typeface="Calibri"/>
                          <a:sym typeface="Calibri"/>
                        </a:rPr>
                        <a:t>34 cars per 1000 people (Regional assumption on 2022) </a:t>
                      </a:r>
                      <a:endParaRPr sz="1500" u="none" strike="noStrike" cap="none">
                        <a:solidFill>
                          <a:srgbClr val="595959"/>
                        </a:solidFill>
                        <a:latin typeface="Calibri"/>
                        <a:ea typeface="Calibri"/>
                        <a:cs typeface="Calibri"/>
                        <a:sym typeface="Calibri"/>
                      </a:endParaRPr>
                    </a:p>
                  </a:txBody>
                  <a:tcPr marL="91425" marR="91425" marT="91425" marB="91425">
                    <a:solidFill>
                      <a:schemeClr val="lt1"/>
                    </a:solidFill>
                  </a:tcPr>
                </a:tc>
                <a:tc vMerge="1">
                  <a:txBody>
                    <a:bodyPr/>
                    <a:lstStyle/>
                    <a:p>
                      <a:endParaRPr lang="en-US"/>
                    </a:p>
                  </a:txBody>
                  <a:tcPr/>
                </a:tc>
                <a:extLst>
                  <a:ext uri="{0D108BD9-81ED-4DB2-BD59-A6C34878D82A}">
                    <a16:rowId xmlns:a16="http://schemas.microsoft.com/office/drawing/2014/main" val="10005"/>
                  </a:ext>
                </a:extLst>
              </a:tr>
              <a:tr h="797975">
                <a:tc>
                  <a:txBody>
                    <a:bodyPr/>
                    <a:lstStyle/>
                    <a:p>
                      <a:pPr marL="0" marR="0" lvl="0" indent="0" algn="l" rtl="0">
                        <a:lnSpc>
                          <a:spcPct val="100000"/>
                        </a:lnSpc>
                        <a:spcBef>
                          <a:spcPts val="0"/>
                        </a:spcBef>
                        <a:spcAft>
                          <a:spcPts val="0"/>
                        </a:spcAft>
                        <a:buClr>
                          <a:srgbClr val="000000"/>
                        </a:buClr>
                        <a:buSzPts val="1500"/>
                        <a:buFont typeface="Arial"/>
                        <a:buNone/>
                      </a:pPr>
                      <a:r>
                        <a:rPr lang="en-IN" sz="1500" u="none" strike="noStrike" cap="none">
                          <a:solidFill>
                            <a:srgbClr val="595959"/>
                          </a:solidFill>
                          <a:latin typeface="Calibri"/>
                          <a:ea typeface="Calibri"/>
                          <a:cs typeface="Calibri"/>
                          <a:sym typeface="Calibri"/>
                        </a:rPr>
                        <a:t>Private Buses </a:t>
                      </a:r>
                      <a:endParaRPr sz="1500" u="none" strike="noStrike" cap="none">
                        <a:solidFill>
                          <a:srgbClr val="595959"/>
                        </a:solidFill>
                        <a:latin typeface="Calibri"/>
                        <a:ea typeface="Calibri"/>
                        <a:cs typeface="Calibri"/>
                        <a:sym typeface="Calibri"/>
                      </a:endParaRPr>
                    </a:p>
                  </a:txBody>
                  <a:tcPr marL="91425" marR="91425" marT="91425" marB="91425">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IN" sz="1500" u="none" strike="noStrike" cap="none">
                          <a:solidFill>
                            <a:srgbClr val="595959"/>
                          </a:solidFill>
                          <a:latin typeface="Calibri"/>
                          <a:ea typeface="Calibri"/>
                          <a:cs typeface="Calibri"/>
                          <a:sym typeface="Calibri"/>
                        </a:rPr>
                        <a:t>53</a:t>
                      </a:r>
                      <a:endParaRPr sz="1500" u="none" strike="noStrike" cap="none">
                        <a:solidFill>
                          <a:srgbClr val="595959"/>
                        </a:solidFill>
                        <a:latin typeface="Calibri"/>
                        <a:ea typeface="Calibri"/>
                        <a:cs typeface="Calibri"/>
                        <a:sym typeface="Calibri"/>
                      </a:endParaRPr>
                    </a:p>
                  </a:txBody>
                  <a:tcPr marL="91425" marR="91425" marT="91425" marB="91425">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r>
                        <a:rPr lang="en-IN" sz="1500" u="none" strike="noStrike" cap="none">
                          <a:solidFill>
                            <a:srgbClr val="595959"/>
                          </a:solidFill>
                          <a:latin typeface="Calibri"/>
                          <a:ea typeface="Calibri"/>
                          <a:cs typeface="Calibri"/>
                          <a:sym typeface="Calibri"/>
                        </a:rPr>
                        <a:t>Punjab state government sanctioned  State carriage permit of 53 private ICE buses </a:t>
                      </a:r>
                      <a:endParaRPr sz="1500" u="none" strike="noStrike" cap="none">
                        <a:solidFill>
                          <a:srgbClr val="595959"/>
                        </a:solidFill>
                        <a:latin typeface="Calibri"/>
                        <a:ea typeface="Calibri"/>
                        <a:cs typeface="Calibri"/>
                        <a:sym typeface="Calibri"/>
                      </a:endParaRPr>
                    </a:p>
                  </a:txBody>
                  <a:tcPr marL="91425" marR="91425" marT="91425" marB="91425">
                    <a:solidFill>
                      <a:schemeClr val="lt1"/>
                    </a:solidFill>
                  </a:tcPr>
                </a:tc>
                <a:tc>
                  <a:txBody>
                    <a:bodyPr/>
                    <a:lstStyle/>
                    <a:p>
                      <a:pPr marL="0" marR="0" lvl="0" indent="0" algn="l" rtl="0">
                        <a:lnSpc>
                          <a:spcPct val="100000"/>
                        </a:lnSpc>
                        <a:spcBef>
                          <a:spcPts val="0"/>
                        </a:spcBef>
                        <a:spcAft>
                          <a:spcPts val="0"/>
                        </a:spcAft>
                        <a:buClr>
                          <a:srgbClr val="000000"/>
                        </a:buClr>
                        <a:buSzPts val="1500"/>
                        <a:buFont typeface="Arial"/>
                        <a:buNone/>
                      </a:pPr>
                      <a:endParaRPr sz="1500" u="none" strike="noStrike" cap="none">
                        <a:solidFill>
                          <a:srgbClr val="595959"/>
                        </a:solidFill>
                        <a:latin typeface="Calibri"/>
                        <a:ea typeface="Calibri"/>
                        <a:cs typeface="Calibri"/>
                        <a:sym typeface="Calibri"/>
                      </a:endParaRPr>
                    </a:p>
                  </a:txBody>
                  <a:tcPr marL="91425" marR="91425" marT="91425" marB="91425">
                    <a:solidFill>
                      <a:schemeClr val="lt1"/>
                    </a:solidFill>
                  </a:tcPr>
                </a:tc>
                <a:extLst>
                  <a:ext uri="{0D108BD9-81ED-4DB2-BD59-A6C34878D82A}">
                    <a16:rowId xmlns:a16="http://schemas.microsoft.com/office/drawing/2014/main" val="10006"/>
                  </a:ext>
                </a:extLst>
              </a:tr>
            </a:tbl>
          </a:graphicData>
        </a:graphic>
      </p:graphicFrame>
      <p:sp>
        <p:nvSpPr>
          <p:cNvPr id="397" name="Google Shape;397;g3f8288f73f0_3_7"/>
          <p:cNvSpPr/>
          <p:nvPr/>
        </p:nvSpPr>
        <p:spPr>
          <a:xfrm>
            <a:off x="484700" y="1654628"/>
            <a:ext cx="7612500" cy="6315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500"/>
              </a:spcBef>
              <a:spcAft>
                <a:spcPts val="0"/>
              </a:spcAft>
              <a:buClr>
                <a:schemeClr val="dk1"/>
              </a:buClr>
              <a:buSzPts val="1100"/>
              <a:buFont typeface="Arial"/>
              <a:buNone/>
            </a:pPr>
            <a:r>
              <a:rPr lang="en-IN" sz="1600" b="0" i="0" u="none" strike="noStrike" cap="none">
                <a:solidFill>
                  <a:srgbClr val="575756"/>
                </a:solidFill>
                <a:latin typeface="Calibri"/>
                <a:ea typeface="Calibri"/>
                <a:cs typeface="Calibri"/>
                <a:sym typeface="Calibri"/>
              </a:rPr>
              <a:t>53 State carriage permit Private buses (ICE)  . Public transport depends on Auto rickshaws (ICE +EV) and E-rickshaws . </a:t>
            </a:r>
            <a:endParaRPr sz="1400" b="0" i="0" u="none" strike="noStrike" cap="none">
              <a:solidFill>
                <a:srgbClr val="000000"/>
              </a:solidFill>
              <a:latin typeface="Calibri"/>
              <a:ea typeface="Calibri"/>
              <a:cs typeface="Calibri"/>
              <a:sym typeface="Calibri"/>
            </a:endParaRPr>
          </a:p>
        </p:txBody>
      </p:sp>
      <p:graphicFrame>
        <p:nvGraphicFramePr>
          <p:cNvPr id="398" name="Google Shape;398;g3f8288f73f0_3_7"/>
          <p:cNvGraphicFramePr/>
          <p:nvPr/>
        </p:nvGraphicFramePr>
        <p:xfrm>
          <a:off x="8330300" y="1743875"/>
          <a:ext cx="3661000" cy="2324830"/>
        </p:xfrm>
        <a:graphic>
          <a:graphicData uri="http://schemas.openxmlformats.org/drawingml/2006/table">
            <a:tbl>
              <a:tblPr>
                <a:noFill/>
                <a:tableStyleId>{0860CCE0-F297-41D7-A668-42E0A14AD0CD}</a:tableStyleId>
              </a:tblPr>
              <a:tblGrid>
                <a:gridCol w="962975">
                  <a:extLst>
                    <a:ext uri="{9D8B030D-6E8A-4147-A177-3AD203B41FA5}">
                      <a16:colId xmlns:a16="http://schemas.microsoft.com/office/drawing/2014/main" val="20000"/>
                    </a:ext>
                  </a:extLst>
                </a:gridCol>
                <a:gridCol w="1495100">
                  <a:extLst>
                    <a:ext uri="{9D8B030D-6E8A-4147-A177-3AD203B41FA5}">
                      <a16:colId xmlns:a16="http://schemas.microsoft.com/office/drawing/2014/main" val="20001"/>
                    </a:ext>
                  </a:extLst>
                </a:gridCol>
                <a:gridCol w="1202925">
                  <a:extLst>
                    <a:ext uri="{9D8B030D-6E8A-4147-A177-3AD203B41FA5}">
                      <a16:colId xmlns:a16="http://schemas.microsoft.com/office/drawing/2014/main" val="20002"/>
                    </a:ext>
                  </a:extLst>
                </a:gridCol>
              </a:tblGrid>
              <a:tr h="750950">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solidFill>
                            <a:srgbClr val="595959"/>
                          </a:solidFill>
                          <a:latin typeface="Calibri"/>
                          <a:ea typeface="Calibri"/>
                          <a:cs typeface="Calibri"/>
                          <a:sym typeface="Calibri"/>
                        </a:rPr>
                        <a:t>Low Ambition </a:t>
                      </a:r>
                      <a:endParaRPr sz="1400" b="1" u="none" strike="noStrike" cap="none">
                        <a:solidFill>
                          <a:srgbClr val="595959"/>
                        </a:solidFill>
                        <a:latin typeface="Calibri"/>
                        <a:ea typeface="Calibri"/>
                        <a:cs typeface="Calibri"/>
                        <a:sym typeface="Calibri"/>
                      </a:endParaRPr>
                    </a:p>
                  </a:txBody>
                  <a:tcPr marL="91425" marR="91425" marT="91425" marB="91425">
                    <a:solidFill>
                      <a:srgbClr val="B8D4F0"/>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solidFill>
                            <a:srgbClr val="595959"/>
                          </a:solidFill>
                          <a:latin typeface="Calibri"/>
                          <a:ea typeface="Calibri"/>
                          <a:cs typeface="Calibri"/>
                          <a:sym typeface="Calibri"/>
                        </a:rPr>
                        <a:t>93 Metro Buses / BRT buses deployed </a:t>
                      </a:r>
                      <a:endParaRPr sz="1400" u="none" strike="noStrike" cap="none">
                        <a:solidFill>
                          <a:srgbClr val="595959"/>
                        </a:solidFill>
                        <a:latin typeface="Calibri"/>
                        <a:ea typeface="Calibri"/>
                        <a:cs typeface="Calibri"/>
                        <a:sym typeface="Calibri"/>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solidFill>
                            <a:srgbClr val="595959"/>
                          </a:solidFill>
                          <a:latin typeface="Calibri"/>
                          <a:ea typeface="Calibri"/>
                          <a:cs typeface="Calibri"/>
                          <a:sym typeface="Calibri"/>
                        </a:rPr>
                        <a:t>ALL ICE </a:t>
                      </a:r>
                      <a:endParaRPr sz="1400" u="none" strike="noStrike" cap="none">
                        <a:solidFill>
                          <a:srgbClr val="595959"/>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0"/>
                  </a:ext>
                </a:extLst>
              </a:tr>
              <a:tr h="750950">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solidFill>
                            <a:srgbClr val="595959"/>
                          </a:solidFill>
                          <a:latin typeface="Calibri"/>
                          <a:ea typeface="Calibri"/>
                          <a:cs typeface="Calibri"/>
                          <a:sym typeface="Calibri"/>
                        </a:rPr>
                        <a:t>Moderate Ambition </a:t>
                      </a:r>
                      <a:endParaRPr sz="1400" b="1" u="none" strike="noStrike" cap="none">
                        <a:solidFill>
                          <a:srgbClr val="595959"/>
                        </a:solidFill>
                        <a:latin typeface="Calibri"/>
                        <a:ea typeface="Calibri"/>
                        <a:cs typeface="Calibri"/>
                        <a:sym typeface="Calibri"/>
                      </a:endParaRPr>
                    </a:p>
                  </a:txBody>
                  <a:tcPr marL="91425" marR="91425" marT="91425" marB="91425">
                    <a:solidFill>
                      <a:srgbClr val="B8D4F0"/>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solidFill>
                            <a:srgbClr val="595959"/>
                          </a:solidFill>
                          <a:latin typeface="Calibri"/>
                          <a:ea typeface="Calibri"/>
                          <a:cs typeface="Calibri"/>
                          <a:sym typeface="Calibri"/>
                        </a:rPr>
                        <a:t>93 BRT buses + 40 PM e-bus </a:t>
                      </a:r>
                      <a:endParaRPr sz="1400" u="none" strike="noStrike" cap="none">
                        <a:solidFill>
                          <a:srgbClr val="595959"/>
                        </a:solidFill>
                        <a:latin typeface="Calibri"/>
                        <a:ea typeface="Calibri"/>
                        <a:cs typeface="Calibri"/>
                        <a:sym typeface="Calibri"/>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solidFill>
                            <a:srgbClr val="595959"/>
                          </a:solidFill>
                          <a:latin typeface="Calibri"/>
                          <a:ea typeface="Calibri"/>
                          <a:cs typeface="Calibri"/>
                          <a:sym typeface="Calibri"/>
                        </a:rPr>
                        <a:t>BRT-ICE + PM e-Bus- EV </a:t>
                      </a:r>
                      <a:endParaRPr sz="1400" u="none" strike="noStrike" cap="none">
                        <a:solidFill>
                          <a:srgbClr val="595959"/>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1"/>
                  </a:ext>
                </a:extLst>
              </a:tr>
              <a:tr h="750950">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solidFill>
                            <a:srgbClr val="595959"/>
                          </a:solidFill>
                          <a:latin typeface="Calibri"/>
                          <a:ea typeface="Calibri"/>
                          <a:cs typeface="Calibri"/>
                          <a:sym typeface="Calibri"/>
                        </a:rPr>
                        <a:t>High Ambition </a:t>
                      </a:r>
                      <a:endParaRPr sz="1400" b="1" u="none" strike="noStrike" cap="none">
                        <a:solidFill>
                          <a:srgbClr val="595959"/>
                        </a:solidFill>
                        <a:latin typeface="Calibri"/>
                        <a:ea typeface="Calibri"/>
                        <a:cs typeface="Calibri"/>
                        <a:sym typeface="Calibri"/>
                      </a:endParaRPr>
                    </a:p>
                  </a:txBody>
                  <a:tcPr marL="91425" marR="91425" marT="91425" marB="91425">
                    <a:solidFill>
                      <a:srgbClr val="B8D4F0"/>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solidFill>
                            <a:srgbClr val="595959"/>
                          </a:solidFill>
                          <a:latin typeface="Calibri"/>
                          <a:ea typeface="Calibri"/>
                          <a:cs typeface="Calibri"/>
                          <a:sym typeface="Calibri"/>
                        </a:rPr>
                        <a:t>93 BRT buses + 100 PM e-Bus </a:t>
                      </a:r>
                      <a:endParaRPr sz="1400" u="none" strike="noStrike" cap="none">
                        <a:solidFill>
                          <a:srgbClr val="595959"/>
                        </a:solidFill>
                        <a:latin typeface="Calibri"/>
                        <a:ea typeface="Calibri"/>
                        <a:cs typeface="Calibri"/>
                        <a:sym typeface="Calibri"/>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solidFill>
                            <a:srgbClr val="595959"/>
                          </a:solidFill>
                          <a:latin typeface="Calibri"/>
                          <a:ea typeface="Calibri"/>
                          <a:cs typeface="Calibri"/>
                          <a:sym typeface="Calibri"/>
                        </a:rPr>
                        <a:t>BRT-ICE + PM e-Bus- EV </a:t>
                      </a:r>
                      <a:endParaRPr sz="1400" u="none" strike="noStrike" cap="none">
                        <a:solidFill>
                          <a:srgbClr val="595959"/>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2"/>
                  </a:ext>
                </a:extLst>
              </a:tr>
            </a:tbl>
          </a:graphicData>
        </a:graphic>
      </p:graphicFrame>
      <p:sp>
        <p:nvSpPr>
          <p:cNvPr id="399" name="Google Shape;399;g3f8288f73f0_3_7"/>
          <p:cNvSpPr txBox="1"/>
          <p:nvPr/>
        </p:nvSpPr>
        <p:spPr>
          <a:xfrm>
            <a:off x="8234988" y="1197575"/>
            <a:ext cx="3779100" cy="698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500"/>
              </a:spcBef>
              <a:spcAft>
                <a:spcPts val="0"/>
              </a:spcAft>
              <a:buClr>
                <a:srgbClr val="000000"/>
              </a:buClr>
              <a:buSzPts val="1600"/>
              <a:buFont typeface="Arial"/>
              <a:buNone/>
            </a:pPr>
            <a:r>
              <a:rPr lang="en-IN" sz="1600" b="1" i="0" u="none" strike="noStrike" cap="none">
                <a:solidFill>
                  <a:srgbClr val="575756"/>
                </a:solidFill>
                <a:latin typeface="Calibri"/>
                <a:ea typeface="Calibri"/>
                <a:cs typeface="Calibri"/>
                <a:sym typeface="Calibri"/>
              </a:rPr>
              <a:t>Future Scenario development </a:t>
            </a:r>
            <a:endParaRPr sz="2300" b="0" i="0" u="none" strike="noStrike" cap="none">
              <a:solidFill>
                <a:schemeClr val="dk1"/>
              </a:solidFill>
              <a:latin typeface="Calibri"/>
              <a:ea typeface="Calibri"/>
              <a:cs typeface="Calibri"/>
              <a:sym typeface="Calibri"/>
            </a:endParaRPr>
          </a:p>
        </p:txBody>
      </p:sp>
      <p:cxnSp>
        <p:nvCxnSpPr>
          <p:cNvPr id="400" name="Google Shape;400;g3f8288f73f0_3_7"/>
          <p:cNvCxnSpPr/>
          <p:nvPr/>
        </p:nvCxnSpPr>
        <p:spPr>
          <a:xfrm>
            <a:off x="8166100" y="1562100"/>
            <a:ext cx="1500" cy="4855500"/>
          </a:xfrm>
          <a:prstGeom prst="straightConnector1">
            <a:avLst/>
          </a:prstGeom>
          <a:noFill/>
          <a:ln w="9525" cap="flat" cmpd="sng">
            <a:solidFill>
              <a:schemeClr val="dk2"/>
            </a:solidFill>
            <a:prstDash val="solid"/>
            <a:round/>
            <a:headEnd type="none" w="sm" len="sm"/>
            <a:tailEnd type="none" w="sm" len="sm"/>
          </a:ln>
        </p:spPr>
      </p:cxnSp>
      <p:sp>
        <p:nvSpPr>
          <p:cNvPr id="401" name="Google Shape;401;g3f8288f73f0_3_7"/>
          <p:cNvSpPr txBox="1"/>
          <p:nvPr/>
        </p:nvSpPr>
        <p:spPr>
          <a:xfrm>
            <a:off x="8304900" y="4216400"/>
            <a:ext cx="3625800" cy="2016300"/>
          </a:xfrm>
          <a:prstGeom prst="rect">
            <a:avLst/>
          </a:prstGeom>
          <a:solidFill>
            <a:srgbClr val="E9EEF3"/>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IN" sz="1700" b="1" i="0" u="none" strike="noStrike" cap="none">
                <a:solidFill>
                  <a:schemeClr val="dk1"/>
                </a:solidFill>
                <a:latin typeface="Calibri"/>
                <a:ea typeface="Calibri"/>
                <a:cs typeface="Calibri"/>
                <a:sym typeface="Calibri"/>
              </a:rPr>
              <a:t>Justification -</a:t>
            </a:r>
            <a:endParaRPr sz="17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700"/>
              <a:buFont typeface="Arial"/>
              <a:buNone/>
            </a:pPr>
            <a:r>
              <a:rPr lang="en-IN" sz="1700" b="0" i="0" u="none" strike="noStrike" cap="none">
                <a:solidFill>
                  <a:schemeClr val="dk1"/>
                </a:solidFill>
                <a:latin typeface="Calibri"/>
                <a:ea typeface="Calibri"/>
                <a:cs typeface="Calibri"/>
                <a:sym typeface="Calibri"/>
              </a:rPr>
              <a:t>BRT operation in 2015 planned for 93 buses and operation stopped on 2023. </a:t>
            </a:r>
            <a:endParaRPr sz="17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700"/>
              <a:buFont typeface="Arial"/>
              <a:buNone/>
            </a:pPr>
            <a:r>
              <a:rPr lang="en-IN" sz="1700" b="0" i="0" u="none" strike="noStrike" cap="none">
                <a:solidFill>
                  <a:schemeClr val="dk1"/>
                </a:solidFill>
                <a:latin typeface="Calibri"/>
                <a:ea typeface="Calibri"/>
                <a:cs typeface="Calibri"/>
                <a:sym typeface="Calibri"/>
              </a:rPr>
              <a:t>Assuming full capacity implementation in low ambition and PM e-Bus sewa Amritsar has sanctioned for 100e-buses . </a:t>
            </a:r>
            <a:endParaRPr sz="1700" b="0" i="0" u="none" strike="noStrike" cap="non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g3f8288f73f0_3_20"/>
          <p:cNvSpPr txBox="1">
            <a:spLocks noGrp="1"/>
          </p:cNvSpPr>
          <p:nvPr>
            <p:ph type="title"/>
          </p:nvPr>
        </p:nvSpPr>
        <p:spPr>
          <a:xfrm>
            <a:off x="395707" y="194428"/>
            <a:ext cx="11284500" cy="794100"/>
          </a:xfrm>
          <a:prstGeom prst="rect">
            <a:avLst/>
          </a:prstGeom>
          <a:noFill/>
          <a:ln>
            <a:noFill/>
          </a:ln>
        </p:spPr>
        <p:txBody>
          <a:bodyPr spcFirstLastPara="1" wrap="square" lIns="0" tIns="45700" rIns="0" bIns="45700" anchor="t" anchorCtr="0">
            <a:normAutofit/>
          </a:bodyPr>
          <a:lstStyle/>
          <a:p>
            <a:pPr marL="0" lvl="0" indent="0" algn="l" rtl="0">
              <a:lnSpc>
                <a:spcPct val="100000"/>
              </a:lnSpc>
              <a:spcBef>
                <a:spcPts val="0"/>
              </a:spcBef>
              <a:spcAft>
                <a:spcPts val="0"/>
              </a:spcAft>
              <a:buSzPts val="2400"/>
              <a:buNone/>
            </a:pPr>
            <a:r>
              <a:rPr lang="en-IN"/>
              <a:t>Model M3- GHG mitigation + Pollution (PM 2.5, PM10 and NOx) calculation </a:t>
            </a:r>
            <a:endParaRPr/>
          </a:p>
          <a:p>
            <a:pPr marL="0" lvl="0" indent="0" algn="l" rtl="0">
              <a:lnSpc>
                <a:spcPct val="100000"/>
              </a:lnSpc>
              <a:spcBef>
                <a:spcPts val="0"/>
              </a:spcBef>
              <a:spcAft>
                <a:spcPts val="0"/>
              </a:spcAft>
              <a:buSzPts val="2400"/>
              <a:buNone/>
            </a:pPr>
            <a:endParaRPr/>
          </a:p>
        </p:txBody>
      </p:sp>
      <p:sp>
        <p:nvSpPr>
          <p:cNvPr id="408" name="Google Shape;408;g3f8288f73f0_3_20"/>
          <p:cNvSpPr txBox="1">
            <a:spLocks noGrp="1"/>
          </p:cNvSpPr>
          <p:nvPr>
            <p:ph type="body" idx="2"/>
          </p:nvPr>
        </p:nvSpPr>
        <p:spPr>
          <a:xfrm>
            <a:off x="395707" y="6475388"/>
            <a:ext cx="9740700" cy="383100"/>
          </a:xfrm>
          <a:prstGeom prst="rect">
            <a:avLst/>
          </a:prstGeom>
          <a:noFill/>
          <a:ln>
            <a:noFill/>
          </a:ln>
        </p:spPr>
        <p:txBody>
          <a:bodyPr spcFirstLastPara="1" wrap="square" lIns="0" tIns="45700" rIns="91425" bIns="45700" anchor="ctr" anchorCtr="0">
            <a:noAutofit/>
          </a:bodyPr>
          <a:lstStyle/>
          <a:p>
            <a:pPr marL="0" lvl="0" indent="0" algn="l" rtl="0">
              <a:lnSpc>
                <a:spcPct val="100000"/>
              </a:lnSpc>
              <a:spcBef>
                <a:spcPts val="300"/>
              </a:spcBef>
              <a:spcAft>
                <a:spcPts val="0"/>
              </a:spcAft>
              <a:buSzPts val="900"/>
              <a:buNone/>
            </a:pPr>
            <a:endParaRPr/>
          </a:p>
        </p:txBody>
      </p:sp>
      <p:sp>
        <p:nvSpPr>
          <p:cNvPr id="409" name="Google Shape;409;g3f8288f73f0_3_20"/>
          <p:cNvSpPr txBox="1"/>
          <p:nvPr/>
        </p:nvSpPr>
        <p:spPr>
          <a:xfrm>
            <a:off x="395700" y="605425"/>
            <a:ext cx="8191500" cy="383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500"/>
              </a:spcBef>
              <a:spcAft>
                <a:spcPts val="0"/>
              </a:spcAft>
              <a:buClr>
                <a:srgbClr val="000000"/>
              </a:buClr>
              <a:buSzPts val="1600"/>
              <a:buFont typeface="Arial"/>
              <a:buNone/>
            </a:pPr>
            <a:r>
              <a:rPr lang="en-IN" sz="1600" b="1" i="0" u="none" strike="noStrike" cap="none">
                <a:solidFill>
                  <a:srgbClr val="575756"/>
                </a:solidFill>
                <a:latin typeface="Calibri"/>
                <a:ea typeface="Calibri"/>
                <a:cs typeface="Calibri"/>
                <a:sym typeface="Calibri"/>
              </a:rPr>
              <a:t>Activity Parameter- VKT calculation  </a:t>
            </a:r>
            <a:endParaRPr sz="2300" b="0" i="0" u="none" strike="noStrike" cap="none">
              <a:solidFill>
                <a:schemeClr val="dk1"/>
              </a:solidFill>
              <a:latin typeface="Calibri"/>
              <a:ea typeface="Calibri"/>
              <a:cs typeface="Calibri"/>
              <a:sym typeface="Calibri"/>
            </a:endParaRPr>
          </a:p>
        </p:txBody>
      </p:sp>
      <p:graphicFrame>
        <p:nvGraphicFramePr>
          <p:cNvPr id="410" name="Google Shape;410;g3f8288f73f0_3_20"/>
          <p:cNvGraphicFramePr/>
          <p:nvPr/>
        </p:nvGraphicFramePr>
        <p:xfrm>
          <a:off x="298413" y="1064725"/>
          <a:ext cx="11595175" cy="4718675"/>
        </p:xfrm>
        <a:graphic>
          <a:graphicData uri="http://schemas.openxmlformats.org/drawingml/2006/table">
            <a:tbl>
              <a:tblPr>
                <a:noFill/>
                <a:tableStyleId>{A65E06BE-108E-464A-A335-A020800443A8}</a:tableStyleId>
              </a:tblPr>
              <a:tblGrid>
                <a:gridCol w="1252225">
                  <a:extLst>
                    <a:ext uri="{9D8B030D-6E8A-4147-A177-3AD203B41FA5}">
                      <a16:colId xmlns:a16="http://schemas.microsoft.com/office/drawing/2014/main" val="20000"/>
                    </a:ext>
                  </a:extLst>
                </a:gridCol>
                <a:gridCol w="1759475">
                  <a:extLst>
                    <a:ext uri="{9D8B030D-6E8A-4147-A177-3AD203B41FA5}">
                      <a16:colId xmlns:a16="http://schemas.microsoft.com/office/drawing/2014/main" val="20001"/>
                    </a:ext>
                  </a:extLst>
                </a:gridCol>
                <a:gridCol w="1394475">
                  <a:extLst>
                    <a:ext uri="{9D8B030D-6E8A-4147-A177-3AD203B41FA5}">
                      <a16:colId xmlns:a16="http://schemas.microsoft.com/office/drawing/2014/main" val="20002"/>
                    </a:ext>
                  </a:extLst>
                </a:gridCol>
                <a:gridCol w="952775">
                  <a:extLst>
                    <a:ext uri="{9D8B030D-6E8A-4147-A177-3AD203B41FA5}">
                      <a16:colId xmlns:a16="http://schemas.microsoft.com/office/drawing/2014/main" val="20003"/>
                    </a:ext>
                  </a:extLst>
                </a:gridCol>
                <a:gridCol w="1029025">
                  <a:extLst>
                    <a:ext uri="{9D8B030D-6E8A-4147-A177-3AD203B41FA5}">
                      <a16:colId xmlns:a16="http://schemas.microsoft.com/office/drawing/2014/main" val="20004"/>
                    </a:ext>
                  </a:extLst>
                </a:gridCol>
                <a:gridCol w="1361700">
                  <a:extLst>
                    <a:ext uri="{9D8B030D-6E8A-4147-A177-3AD203B41FA5}">
                      <a16:colId xmlns:a16="http://schemas.microsoft.com/office/drawing/2014/main" val="20005"/>
                    </a:ext>
                  </a:extLst>
                </a:gridCol>
                <a:gridCol w="1083225">
                  <a:extLst>
                    <a:ext uri="{9D8B030D-6E8A-4147-A177-3AD203B41FA5}">
                      <a16:colId xmlns:a16="http://schemas.microsoft.com/office/drawing/2014/main" val="20006"/>
                    </a:ext>
                  </a:extLst>
                </a:gridCol>
                <a:gridCol w="976675">
                  <a:extLst>
                    <a:ext uri="{9D8B030D-6E8A-4147-A177-3AD203B41FA5}">
                      <a16:colId xmlns:a16="http://schemas.microsoft.com/office/drawing/2014/main" val="20007"/>
                    </a:ext>
                  </a:extLst>
                </a:gridCol>
                <a:gridCol w="935350">
                  <a:extLst>
                    <a:ext uri="{9D8B030D-6E8A-4147-A177-3AD203B41FA5}">
                      <a16:colId xmlns:a16="http://schemas.microsoft.com/office/drawing/2014/main" val="20008"/>
                    </a:ext>
                  </a:extLst>
                </a:gridCol>
                <a:gridCol w="850250">
                  <a:extLst>
                    <a:ext uri="{9D8B030D-6E8A-4147-A177-3AD203B41FA5}">
                      <a16:colId xmlns:a16="http://schemas.microsoft.com/office/drawing/2014/main" val="20009"/>
                    </a:ext>
                  </a:extLst>
                </a:gridCol>
              </a:tblGrid>
              <a:tr h="478675">
                <a:tc rowSpan="2">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Calibri"/>
                          <a:ea typeface="Calibri"/>
                          <a:cs typeface="Calibri"/>
                          <a:sym typeface="Calibri"/>
                        </a:rPr>
                        <a:t>Assumption </a:t>
                      </a:r>
                      <a:endParaRPr sz="1400" b="1"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rowSpan="2">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Calibri"/>
                          <a:ea typeface="Calibri"/>
                          <a:cs typeface="Calibri"/>
                          <a:sym typeface="Calibri"/>
                        </a:rPr>
                        <a:t>Vehicle category </a:t>
                      </a:r>
                      <a:endParaRPr sz="1400" b="1"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Calibri"/>
                          <a:ea typeface="Calibri"/>
                          <a:cs typeface="Calibri"/>
                          <a:sym typeface="Calibri"/>
                        </a:rPr>
                        <a:t> Option 1- </a:t>
                      </a:r>
                      <a:endParaRPr sz="1400" b="1"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gridSpan="3">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Calibri"/>
                          <a:ea typeface="Calibri"/>
                          <a:cs typeface="Calibri"/>
                          <a:sym typeface="Calibri"/>
                        </a:rPr>
                        <a:t>Option 2- </a:t>
                      </a:r>
                      <a:endParaRPr sz="1400" b="1"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hMerge="1">
                  <a:txBody>
                    <a:bodyPr/>
                    <a:lstStyle/>
                    <a:p>
                      <a:endParaRPr lang="en-US"/>
                    </a:p>
                  </a:txBody>
                  <a:tcPr/>
                </a:tc>
                <a:tc hMerge="1">
                  <a:txBody>
                    <a:bodyPr/>
                    <a:lstStyle/>
                    <a:p>
                      <a:endParaRPr lang="en-US"/>
                    </a:p>
                  </a:txBody>
                  <a:tcPr/>
                </a:tc>
                <a:tc rowSpan="2">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Calibri"/>
                          <a:ea typeface="Calibri"/>
                          <a:cs typeface="Calibri"/>
                          <a:sym typeface="Calibri"/>
                        </a:rPr>
                        <a:t>Total number of vehicle </a:t>
                      </a:r>
                      <a:endParaRPr sz="1400" b="1"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Calibri"/>
                          <a:ea typeface="Calibri"/>
                          <a:cs typeface="Calibri"/>
                          <a:sym typeface="Calibri"/>
                        </a:rPr>
                        <a:t>Option 1</a:t>
                      </a:r>
                      <a:endParaRPr sz="1400" b="1"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Calibri"/>
                          <a:ea typeface="Calibri"/>
                          <a:cs typeface="Calibri"/>
                          <a:sym typeface="Calibri"/>
                        </a:rPr>
                        <a:t>Option 2 </a:t>
                      </a:r>
                      <a:endParaRPr sz="1400" b="1"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rowSpan="2">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Calibri"/>
                          <a:ea typeface="Calibri"/>
                          <a:cs typeface="Calibri"/>
                          <a:sym typeface="Calibri"/>
                        </a:rPr>
                        <a:t>Vehicle Characteristics </a:t>
                      </a:r>
                      <a:endParaRPr sz="1400" b="1"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extLst>
                  <a:ext uri="{0D108BD9-81ED-4DB2-BD59-A6C34878D82A}">
                    <a16:rowId xmlns:a16="http://schemas.microsoft.com/office/drawing/2014/main" val="10000"/>
                  </a:ext>
                </a:extLst>
              </a:tr>
              <a:tr h="630800">
                <a:tc vMerge="1">
                  <a:txBody>
                    <a:bodyPr/>
                    <a:lstStyle/>
                    <a:p>
                      <a:endParaRPr lang="en-US"/>
                    </a:p>
                  </a:txBody>
                  <a:tcPr/>
                </a:tc>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Calibri"/>
                          <a:ea typeface="Calibri"/>
                          <a:cs typeface="Calibri"/>
                          <a:sym typeface="Calibri"/>
                        </a:rPr>
                        <a:t>Daily Utilisation (Km)</a:t>
                      </a:r>
                      <a:endParaRPr sz="1400" b="1"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Calibri"/>
                          <a:ea typeface="Calibri"/>
                          <a:cs typeface="Calibri"/>
                          <a:sym typeface="Calibri"/>
                        </a:rPr>
                        <a:t>Number of trips </a:t>
                      </a:r>
                      <a:endParaRPr sz="1400" b="1"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Calibri"/>
                          <a:ea typeface="Calibri"/>
                          <a:cs typeface="Calibri"/>
                          <a:sym typeface="Calibri"/>
                        </a:rPr>
                        <a:t>Average trip length </a:t>
                      </a:r>
                      <a:endParaRPr sz="1400" b="1"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Calibri"/>
                          <a:ea typeface="Calibri"/>
                          <a:cs typeface="Calibri"/>
                          <a:sym typeface="Calibri"/>
                        </a:rPr>
                        <a:t>Daily utilisation (Km)</a:t>
                      </a:r>
                      <a:endParaRPr sz="1400" b="1"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Calibri"/>
                          <a:ea typeface="Calibri"/>
                          <a:cs typeface="Calibri"/>
                          <a:sym typeface="Calibri"/>
                        </a:rPr>
                        <a:t>VKT (Km)</a:t>
                      </a:r>
                      <a:endParaRPr sz="1400" b="1"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a:latin typeface="Calibri"/>
                          <a:ea typeface="Calibri"/>
                          <a:cs typeface="Calibri"/>
                          <a:sym typeface="Calibri"/>
                        </a:rPr>
                        <a:t>VKT (Km)</a:t>
                      </a:r>
                      <a:endParaRPr sz="1400" b="1"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vMerge="1">
                  <a:txBody>
                    <a:bodyPr/>
                    <a:lstStyle/>
                    <a:p>
                      <a:endParaRPr lang="en-US"/>
                    </a:p>
                  </a:txBody>
                  <a:tcPr/>
                </a:tc>
                <a:extLst>
                  <a:ext uri="{0D108BD9-81ED-4DB2-BD59-A6C34878D82A}">
                    <a16:rowId xmlns:a16="http://schemas.microsoft.com/office/drawing/2014/main" val="10001"/>
                  </a:ext>
                </a:extLst>
              </a:tr>
              <a:tr h="451150">
                <a:tc rowSpan="4">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Primary survey </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Auto rickshaws (ICE)</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120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8</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13</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106</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25500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2691759</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3060000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D9D9C"/>
                    </a:solidFill>
                  </a:tcPr>
                </a:tc>
                <a:extLst>
                  <a:ext uri="{0D108BD9-81ED-4DB2-BD59-A6C34878D82A}">
                    <a16:rowId xmlns:a16="http://schemas.microsoft.com/office/drawing/2014/main" val="10002"/>
                  </a:ext>
                </a:extLst>
              </a:tr>
              <a:tr h="45115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E-rickshaws</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90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12</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5</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64</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20000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1282424</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1800000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extLst>
                  <a:ext uri="{0D108BD9-81ED-4DB2-BD59-A6C34878D82A}">
                    <a16:rowId xmlns:a16="http://schemas.microsoft.com/office/drawing/2014/main" val="10003"/>
                  </a:ext>
                </a:extLst>
              </a:tr>
              <a:tr h="45115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2w</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30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4</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6</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23</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313205</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7201840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9396150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D9D9C"/>
                    </a:solidFill>
                  </a:tcPr>
                </a:tc>
                <a:extLst>
                  <a:ext uri="{0D108BD9-81ED-4DB2-BD59-A6C34878D82A}">
                    <a16:rowId xmlns:a16="http://schemas.microsoft.com/office/drawing/2014/main" val="10004"/>
                  </a:ext>
                </a:extLst>
              </a:tr>
              <a:tr h="45115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Auto rickshaws (EV)</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120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8</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13</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106</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39350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4152212</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4722000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extLst>
                  <a:ext uri="{0D108BD9-81ED-4DB2-BD59-A6C34878D82A}">
                    <a16:rowId xmlns:a16="http://schemas.microsoft.com/office/drawing/2014/main" val="10005"/>
                  </a:ext>
                </a:extLst>
              </a:tr>
              <a:tr h="451150">
                <a:tc rowSpan="4">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Secondary Literature</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Car </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40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rowSpan="4" gridSpan="2">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Nil</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rowSpan="4" hMerge="1">
                  <a:txBody>
                    <a:bodyPr/>
                    <a:lstStyle/>
                    <a:p>
                      <a:endParaRPr lang="en-US"/>
                    </a:p>
                  </a:txBody>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40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57562</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2302480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2302480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D9D9C"/>
                    </a:solidFill>
                  </a:tcPr>
                </a:tc>
                <a:extLst>
                  <a:ext uri="{0D108BD9-81ED-4DB2-BD59-A6C34878D82A}">
                    <a16:rowId xmlns:a16="http://schemas.microsoft.com/office/drawing/2014/main" val="10006"/>
                  </a:ext>
                </a:extLst>
              </a:tr>
              <a:tr h="45115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Metro Buses /BRT</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200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gridSpan="2" vMerge="1">
                  <a:txBody>
                    <a:bodyPr/>
                    <a:lstStyle/>
                    <a:p>
                      <a:endParaRPr lang="en-US"/>
                    </a:p>
                  </a:txBody>
                  <a:tcPr/>
                </a:tc>
                <a:tc hMerge="1" vMerge="1">
                  <a:txBody>
                    <a:bodyPr/>
                    <a:lstStyle/>
                    <a:p>
                      <a:endParaRPr lang="en-US"/>
                    </a:p>
                  </a:txBody>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200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93</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18600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18600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D9D9C"/>
                    </a:solidFill>
                  </a:tcPr>
                </a:tc>
                <a:extLst>
                  <a:ext uri="{0D108BD9-81ED-4DB2-BD59-A6C34878D82A}">
                    <a16:rowId xmlns:a16="http://schemas.microsoft.com/office/drawing/2014/main" val="10007"/>
                  </a:ext>
                </a:extLst>
              </a:tr>
              <a:tr h="45115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PM e-buses</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200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gridSpan="2" vMerge="1">
                  <a:txBody>
                    <a:bodyPr/>
                    <a:lstStyle/>
                    <a:p>
                      <a:endParaRPr lang="en-US"/>
                    </a:p>
                  </a:txBody>
                  <a:tcPr/>
                </a:tc>
                <a:tc hMerge="1" vMerge="1">
                  <a:txBody>
                    <a:bodyPr/>
                    <a:lstStyle/>
                    <a:p>
                      <a:endParaRPr lang="en-US"/>
                    </a:p>
                  </a:txBody>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200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100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20000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20000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extLst>
                  <a:ext uri="{0D108BD9-81ED-4DB2-BD59-A6C34878D82A}">
                    <a16:rowId xmlns:a16="http://schemas.microsoft.com/office/drawing/2014/main" val="10008"/>
                  </a:ext>
                </a:extLst>
              </a:tr>
              <a:tr h="45115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Pvt Buses </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350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gridSpan="2" vMerge="1">
                  <a:txBody>
                    <a:bodyPr/>
                    <a:lstStyle/>
                    <a:p>
                      <a:endParaRPr lang="en-US"/>
                    </a:p>
                  </a:txBody>
                  <a:tcPr/>
                </a:tc>
                <a:tc hMerge="1" vMerge="1">
                  <a:txBody>
                    <a:bodyPr/>
                    <a:lstStyle/>
                    <a:p>
                      <a:endParaRPr lang="en-US"/>
                    </a:p>
                  </a:txBody>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350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51</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17850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a:txBody>
                    <a:bodyPr/>
                    <a:lstStyle/>
                    <a:p>
                      <a:pPr marL="0" marR="0" lvl="0" indent="0" algn="r" rtl="0">
                        <a:lnSpc>
                          <a:spcPct val="115000"/>
                        </a:lnSpc>
                        <a:spcBef>
                          <a:spcPts val="0"/>
                        </a:spcBef>
                        <a:spcAft>
                          <a:spcPts val="0"/>
                        </a:spcAft>
                        <a:buClr>
                          <a:srgbClr val="000000"/>
                        </a:buClr>
                        <a:buSzPts val="1400"/>
                        <a:buFont typeface="Arial"/>
                        <a:buNone/>
                      </a:pPr>
                      <a:r>
                        <a:rPr lang="en-IN" sz="1400" u="none" strike="noStrike" cap="none">
                          <a:latin typeface="Calibri"/>
                          <a:ea typeface="Calibri"/>
                          <a:cs typeface="Calibri"/>
                          <a:sym typeface="Calibri"/>
                        </a:rPr>
                        <a:t>17850</a:t>
                      </a: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D9D9C"/>
                    </a:solidFill>
                  </a:tcPr>
                </a:tc>
                <a:extLst>
                  <a:ext uri="{0D108BD9-81ED-4DB2-BD59-A6C34878D82A}">
                    <a16:rowId xmlns:a16="http://schemas.microsoft.com/office/drawing/2014/main" val="10009"/>
                  </a:ext>
                </a:extLst>
              </a:tr>
            </a:tbl>
          </a:graphicData>
        </a:graphic>
      </p:graphicFrame>
      <p:sp>
        <p:nvSpPr>
          <p:cNvPr id="411" name="Google Shape;411;g3f8288f73f0_3_20"/>
          <p:cNvSpPr txBox="1"/>
          <p:nvPr/>
        </p:nvSpPr>
        <p:spPr>
          <a:xfrm>
            <a:off x="298425" y="5846900"/>
            <a:ext cx="10498800" cy="635100"/>
          </a:xfrm>
          <a:prstGeom prst="rect">
            <a:avLst/>
          </a:prstGeom>
          <a:solidFill>
            <a:srgbClr val="E9EEF3"/>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IN" sz="1500" b="1" i="0" u="none" strike="noStrike" cap="none">
                <a:solidFill>
                  <a:srgbClr val="434343"/>
                </a:solidFill>
                <a:latin typeface="Calibri"/>
                <a:ea typeface="Calibri"/>
                <a:cs typeface="Calibri"/>
                <a:sym typeface="Calibri"/>
              </a:rPr>
              <a:t>Limitation - The 2025 EV–ICE split for two-wheelers and cars is unavailable in both the primary survey and secondary literature. Given the city's size and the expected low EV penetration, all 2Ws and 4Ws have been assumed to be ICE vehicles.</a:t>
            </a:r>
            <a:endParaRPr sz="1500" b="1" i="0" u="none" strike="noStrike" cap="none">
              <a:solidFill>
                <a:srgbClr val="434343"/>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endParaRPr sz="1500" b="1" i="0" u="none" strike="noStrike" cap="none">
              <a:solidFill>
                <a:srgbClr val="434343"/>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g3f8288f73f0_3_0"/>
          <p:cNvSpPr txBox="1">
            <a:spLocks noGrp="1"/>
          </p:cNvSpPr>
          <p:nvPr>
            <p:ph type="body" idx="2"/>
          </p:nvPr>
        </p:nvSpPr>
        <p:spPr>
          <a:xfrm>
            <a:off x="395707" y="6475388"/>
            <a:ext cx="9740700" cy="383100"/>
          </a:xfrm>
          <a:prstGeom prst="rect">
            <a:avLst/>
          </a:prstGeom>
        </p:spPr>
        <p:txBody>
          <a:bodyPr spcFirstLastPara="1" wrap="square" lIns="0" tIns="45700" rIns="91425" bIns="45700" anchor="ctr" anchorCtr="0">
            <a:noAutofit/>
          </a:bodyPr>
          <a:lstStyle/>
          <a:p>
            <a:pPr marL="0" lvl="0" indent="0" algn="l" rtl="0">
              <a:spcBef>
                <a:spcPts val="300"/>
              </a:spcBef>
              <a:spcAft>
                <a:spcPts val="0"/>
              </a:spcAft>
              <a:buNone/>
            </a:pPr>
            <a:endParaRPr/>
          </a:p>
        </p:txBody>
      </p:sp>
      <p:sp>
        <p:nvSpPr>
          <p:cNvPr id="418" name="Google Shape;418;g3f8288f73f0_3_0"/>
          <p:cNvSpPr txBox="1">
            <a:spLocks noGrp="1"/>
          </p:cNvSpPr>
          <p:nvPr>
            <p:ph type="title"/>
          </p:nvPr>
        </p:nvSpPr>
        <p:spPr>
          <a:xfrm>
            <a:off x="170850" y="194425"/>
            <a:ext cx="11567400" cy="794100"/>
          </a:xfrm>
          <a:prstGeom prst="rect">
            <a:avLst/>
          </a:prstGeom>
          <a:noFill/>
          <a:ln>
            <a:noFill/>
          </a:ln>
        </p:spPr>
        <p:txBody>
          <a:bodyPr spcFirstLastPara="1" wrap="square" lIns="0" tIns="45700" rIns="0" bIns="45700" anchor="t" anchorCtr="0">
            <a:normAutofit/>
          </a:bodyPr>
          <a:lstStyle/>
          <a:p>
            <a:pPr marL="0" lvl="0" indent="0" algn="l" rtl="0">
              <a:lnSpc>
                <a:spcPct val="100000"/>
              </a:lnSpc>
              <a:spcBef>
                <a:spcPts val="0"/>
              </a:spcBef>
              <a:spcAft>
                <a:spcPts val="0"/>
              </a:spcAft>
              <a:buSzPts val="2400"/>
              <a:buNone/>
            </a:pPr>
            <a:r>
              <a:rPr lang="en-IN"/>
              <a:t>Model M3- GHG mitigation + Pollution (PM 2.5, PM10 and NOx) calculation </a:t>
            </a:r>
            <a:endParaRPr/>
          </a:p>
        </p:txBody>
      </p:sp>
      <p:pic>
        <p:nvPicPr>
          <p:cNvPr id="419" name="Google Shape;419;g3f8288f73f0_3_0"/>
          <p:cNvPicPr preferRelativeResize="0"/>
          <p:nvPr/>
        </p:nvPicPr>
        <p:blipFill rotWithShape="1">
          <a:blip r:embed="rId3">
            <a:alphaModFix/>
          </a:blip>
          <a:srcRect l="1627" t="3383" r="3774" b="2108"/>
          <a:stretch/>
        </p:blipFill>
        <p:spPr>
          <a:xfrm>
            <a:off x="7462775" y="3181000"/>
            <a:ext cx="4666676" cy="3189974"/>
          </a:xfrm>
          <a:prstGeom prst="rect">
            <a:avLst/>
          </a:prstGeom>
          <a:noFill/>
          <a:ln>
            <a:noFill/>
          </a:ln>
        </p:spPr>
      </p:pic>
      <p:graphicFrame>
        <p:nvGraphicFramePr>
          <p:cNvPr id="420" name="Google Shape;420;g3f8288f73f0_3_0"/>
          <p:cNvGraphicFramePr/>
          <p:nvPr/>
        </p:nvGraphicFramePr>
        <p:xfrm>
          <a:off x="237114" y="1179448"/>
          <a:ext cx="7066325" cy="4992915"/>
        </p:xfrm>
        <a:graphic>
          <a:graphicData uri="http://schemas.openxmlformats.org/drawingml/2006/table">
            <a:tbl>
              <a:tblPr>
                <a:noFill/>
                <a:tableStyleId>{CE8E0634-9335-4D7C-9B2C-971118863D71}</a:tableStyleId>
              </a:tblPr>
              <a:tblGrid>
                <a:gridCol w="1168400">
                  <a:extLst>
                    <a:ext uri="{9D8B030D-6E8A-4147-A177-3AD203B41FA5}">
                      <a16:colId xmlns:a16="http://schemas.microsoft.com/office/drawing/2014/main" val="20000"/>
                    </a:ext>
                  </a:extLst>
                </a:gridCol>
                <a:gridCol w="661575">
                  <a:extLst>
                    <a:ext uri="{9D8B030D-6E8A-4147-A177-3AD203B41FA5}">
                      <a16:colId xmlns:a16="http://schemas.microsoft.com/office/drawing/2014/main" val="20001"/>
                    </a:ext>
                  </a:extLst>
                </a:gridCol>
                <a:gridCol w="1245525">
                  <a:extLst>
                    <a:ext uri="{9D8B030D-6E8A-4147-A177-3AD203B41FA5}">
                      <a16:colId xmlns:a16="http://schemas.microsoft.com/office/drawing/2014/main" val="20002"/>
                    </a:ext>
                  </a:extLst>
                </a:gridCol>
                <a:gridCol w="1308500">
                  <a:extLst>
                    <a:ext uri="{9D8B030D-6E8A-4147-A177-3AD203B41FA5}">
                      <a16:colId xmlns:a16="http://schemas.microsoft.com/office/drawing/2014/main" val="20003"/>
                    </a:ext>
                  </a:extLst>
                </a:gridCol>
                <a:gridCol w="908275">
                  <a:extLst>
                    <a:ext uri="{9D8B030D-6E8A-4147-A177-3AD203B41FA5}">
                      <a16:colId xmlns:a16="http://schemas.microsoft.com/office/drawing/2014/main" val="20004"/>
                    </a:ext>
                  </a:extLst>
                </a:gridCol>
                <a:gridCol w="846825">
                  <a:extLst>
                    <a:ext uri="{9D8B030D-6E8A-4147-A177-3AD203B41FA5}">
                      <a16:colId xmlns:a16="http://schemas.microsoft.com/office/drawing/2014/main" val="20005"/>
                    </a:ext>
                  </a:extLst>
                </a:gridCol>
                <a:gridCol w="927225">
                  <a:extLst>
                    <a:ext uri="{9D8B030D-6E8A-4147-A177-3AD203B41FA5}">
                      <a16:colId xmlns:a16="http://schemas.microsoft.com/office/drawing/2014/main" val="20006"/>
                    </a:ext>
                  </a:extLst>
                </a:gridCol>
              </a:tblGrid>
              <a:tr h="309100">
                <a:tc>
                  <a:txBody>
                    <a:bodyPr/>
                    <a:lstStyle/>
                    <a:p>
                      <a:pPr marL="0" lvl="0" indent="0" algn="l" rtl="0">
                        <a:spcBef>
                          <a:spcPts val="0"/>
                        </a:spcBef>
                        <a:spcAft>
                          <a:spcPts val="0"/>
                        </a:spcAft>
                        <a:buNone/>
                      </a:pPr>
                      <a:r>
                        <a:rPr lang="en-IN" sz="1100" b="1">
                          <a:latin typeface="Calibri"/>
                          <a:ea typeface="Calibri"/>
                          <a:cs typeface="Calibri"/>
                          <a:sym typeface="Calibri"/>
                        </a:rPr>
                        <a:t>Vehicle Category </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lvl="0" indent="0" algn="l" rtl="0">
                        <a:spcBef>
                          <a:spcPts val="0"/>
                        </a:spcBef>
                        <a:spcAft>
                          <a:spcPts val="0"/>
                        </a:spcAft>
                        <a:buNone/>
                      </a:pPr>
                      <a:r>
                        <a:rPr lang="en-IN" sz="1100" b="1">
                          <a:latin typeface="Calibri"/>
                          <a:ea typeface="Calibri"/>
                          <a:cs typeface="Calibri"/>
                          <a:sym typeface="Calibri"/>
                        </a:rPr>
                        <a:t>Fuel </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lvl="0" indent="0" algn="l" rtl="0">
                        <a:spcBef>
                          <a:spcPts val="0"/>
                        </a:spcBef>
                        <a:spcAft>
                          <a:spcPts val="0"/>
                        </a:spcAft>
                        <a:buNone/>
                      </a:pPr>
                      <a:r>
                        <a:rPr lang="en-IN" sz="1100" b="1">
                          <a:latin typeface="Calibri"/>
                          <a:ea typeface="Calibri"/>
                          <a:cs typeface="Calibri"/>
                          <a:sym typeface="Calibri"/>
                        </a:rPr>
                        <a:t>GHG (Tailpipe)</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lvl="0" indent="0" algn="l" rtl="0">
                        <a:spcBef>
                          <a:spcPts val="0"/>
                        </a:spcBef>
                        <a:spcAft>
                          <a:spcPts val="0"/>
                        </a:spcAft>
                        <a:buNone/>
                      </a:pPr>
                      <a:r>
                        <a:rPr lang="en-IN" sz="1100" b="1">
                          <a:latin typeface="Calibri"/>
                          <a:ea typeface="Calibri"/>
                          <a:cs typeface="Calibri"/>
                          <a:sym typeface="Calibri"/>
                        </a:rPr>
                        <a:t>GHG (Non-Tailpipe) </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lvl="0" indent="0" algn="l" rtl="0">
                        <a:spcBef>
                          <a:spcPts val="0"/>
                        </a:spcBef>
                        <a:spcAft>
                          <a:spcPts val="0"/>
                        </a:spcAft>
                        <a:buNone/>
                      </a:pPr>
                      <a:r>
                        <a:rPr lang="en-IN" sz="1100" b="1">
                          <a:latin typeface="Calibri"/>
                          <a:ea typeface="Calibri"/>
                          <a:cs typeface="Calibri"/>
                          <a:sym typeface="Calibri"/>
                        </a:rPr>
                        <a:t>PM 10</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lvl="0" indent="0" algn="l" rtl="0">
                        <a:spcBef>
                          <a:spcPts val="0"/>
                        </a:spcBef>
                        <a:spcAft>
                          <a:spcPts val="0"/>
                        </a:spcAft>
                        <a:buNone/>
                      </a:pPr>
                      <a:r>
                        <a:rPr lang="en-IN" sz="1100" b="1">
                          <a:latin typeface="Calibri"/>
                          <a:ea typeface="Calibri"/>
                          <a:cs typeface="Calibri"/>
                          <a:sym typeface="Calibri"/>
                        </a:rPr>
                        <a:t>PM 2.5</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tc>
                  <a:txBody>
                    <a:bodyPr/>
                    <a:lstStyle/>
                    <a:p>
                      <a:pPr marL="0" lvl="0" indent="0" algn="l" rtl="0">
                        <a:spcBef>
                          <a:spcPts val="0"/>
                        </a:spcBef>
                        <a:spcAft>
                          <a:spcPts val="0"/>
                        </a:spcAft>
                        <a:buNone/>
                      </a:pPr>
                      <a:r>
                        <a:rPr lang="en-IN" sz="1100" b="1">
                          <a:latin typeface="Calibri"/>
                          <a:ea typeface="Calibri"/>
                          <a:cs typeface="Calibri"/>
                          <a:sym typeface="Calibri"/>
                        </a:rPr>
                        <a:t>NOx</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8D4F0"/>
                    </a:solidFill>
                  </a:tcPr>
                </a:tc>
                <a:extLst>
                  <a:ext uri="{0D108BD9-81ED-4DB2-BD59-A6C34878D82A}">
                    <a16:rowId xmlns:a16="http://schemas.microsoft.com/office/drawing/2014/main" val="10000"/>
                  </a:ext>
                </a:extLst>
              </a:tr>
              <a:tr h="376275">
                <a:tc rowSpan="3">
                  <a:txBody>
                    <a:bodyPr/>
                    <a:lstStyle/>
                    <a:p>
                      <a:pPr marL="0" lvl="0" indent="0" algn="l" rtl="0">
                        <a:spcBef>
                          <a:spcPts val="0"/>
                        </a:spcBef>
                        <a:spcAft>
                          <a:spcPts val="0"/>
                        </a:spcAft>
                        <a:buNone/>
                      </a:pPr>
                      <a:r>
                        <a:rPr lang="en-IN" sz="1100" b="1">
                          <a:latin typeface="Calibri"/>
                          <a:ea typeface="Calibri"/>
                          <a:cs typeface="Calibri"/>
                          <a:sym typeface="Calibri"/>
                        </a:rPr>
                        <a:t>Auto rickshaws </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IN" sz="1100">
                          <a:latin typeface="Calibri"/>
                          <a:ea typeface="Calibri"/>
                          <a:cs typeface="Calibri"/>
                          <a:sym typeface="Calibri"/>
                        </a:rPr>
                        <a:t>Petrol</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3177379619</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894067858</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237326</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213585</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5894446</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76275">
                <a:tc vMerge="1">
                  <a:txBody>
                    <a:bodyPr/>
                    <a:lstStyle/>
                    <a:p>
                      <a:endParaRPr lang="en-US"/>
                    </a:p>
                  </a:txBody>
                  <a:tcPr/>
                </a:tc>
                <a:tc>
                  <a:txBody>
                    <a:bodyPr/>
                    <a:lstStyle/>
                    <a:p>
                      <a:pPr marL="0" lvl="0" indent="0" algn="l" rtl="0">
                        <a:spcBef>
                          <a:spcPts val="0"/>
                        </a:spcBef>
                        <a:spcAft>
                          <a:spcPts val="0"/>
                        </a:spcAft>
                        <a:buNone/>
                      </a:pPr>
                      <a:r>
                        <a:rPr lang="en-IN" sz="1100">
                          <a:latin typeface="Calibri"/>
                          <a:ea typeface="Calibri"/>
                          <a:cs typeface="Calibri"/>
                          <a:sym typeface="Calibri"/>
                        </a:rPr>
                        <a:t>Diesel </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16325089593</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4873161073</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7912172</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7121768</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79964480</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74775">
                <a:tc vMerge="1">
                  <a:txBody>
                    <a:bodyPr/>
                    <a:lstStyle/>
                    <a:p>
                      <a:endParaRPr lang="en-US"/>
                    </a:p>
                  </a:txBody>
                  <a:tcPr/>
                </a:tc>
                <a:tc>
                  <a:txBody>
                    <a:bodyPr/>
                    <a:lstStyle/>
                    <a:p>
                      <a:pPr marL="0" lvl="0" indent="0" algn="l" rtl="0">
                        <a:spcBef>
                          <a:spcPts val="0"/>
                        </a:spcBef>
                        <a:spcAft>
                          <a:spcPts val="0"/>
                        </a:spcAft>
                        <a:buNone/>
                      </a:pPr>
                      <a:r>
                        <a:rPr lang="en-IN" sz="1100" b="1">
                          <a:latin typeface="Calibri"/>
                          <a:ea typeface="Calibri"/>
                          <a:cs typeface="Calibri"/>
                          <a:sym typeface="Calibri"/>
                        </a:rPr>
                        <a:t>CNG </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IN" sz="1100" b="1">
                          <a:latin typeface="Calibri"/>
                          <a:ea typeface="Calibri"/>
                          <a:cs typeface="Calibri"/>
                          <a:sym typeface="Calibri"/>
                        </a:rPr>
                        <a:t>41878727968</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IN" sz="1100" b="1">
                          <a:latin typeface="Calibri"/>
                          <a:ea typeface="Calibri"/>
                          <a:cs typeface="Calibri"/>
                          <a:sym typeface="Calibri"/>
                        </a:rPr>
                        <a:t>5177733640</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IN" sz="1100" b="1">
                          <a:latin typeface="Calibri"/>
                          <a:ea typeface="Calibri"/>
                          <a:cs typeface="Calibri"/>
                          <a:sym typeface="Calibri"/>
                        </a:rPr>
                        <a:t>18617952</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IN" sz="1100" b="1">
                          <a:latin typeface="Calibri"/>
                          <a:ea typeface="Calibri"/>
                          <a:cs typeface="Calibri"/>
                          <a:sym typeface="Calibri"/>
                        </a:rPr>
                        <a:t>16755547</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IN" sz="1100" b="1">
                          <a:latin typeface="Calibri"/>
                          <a:ea typeface="Calibri"/>
                          <a:cs typeface="Calibri"/>
                          <a:sym typeface="Calibri"/>
                        </a:rPr>
                        <a:t>462413240</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extLst>
                  <a:ext uri="{0D108BD9-81ED-4DB2-BD59-A6C34878D82A}">
                    <a16:rowId xmlns:a16="http://schemas.microsoft.com/office/drawing/2014/main" val="10003"/>
                  </a:ext>
                </a:extLst>
              </a:tr>
              <a:tr h="374775">
                <a:tc>
                  <a:txBody>
                    <a:bodyPr/>
                    <a:lstStyle/>
                    <a:p>
                      <a:pPr marL="0" lvl="0" indent="0" algn="l" rtl="0">
                        <a:spcBef>
                          <a:spcPts val="0"/>
                        </a:spcBef>
                        <a:spcAft>
                          <a:spcPts val="0"/>
                        </a:spcAft>
                        <a:buNone/>
                      </a:pPr>
                      <a:r>
                        <a:rPr lang="en-IN" sz="1100" b="1">
                          <a:latin typeface="Calibri"/>
                          <a:ea typeface="Calibri"/>
                          <a:cs typeface="Calibri"/>
                          <a:sym typeface="Calibri"/>
                        </a:rPr>
                        <a:t>2W</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IN" sz="1100" b="1">
                          <a:latin typeface="Calibri"/>
                          <a:ea typeface="Calibri"/>
                          <a:cs typeface="Calibri"/>
                          <a:sym typeface="Calibri"/>
                        </a:rPr>
                        <a:t>Petrol</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IN" sz="1100" b="1">
                          <a:latin typeface="Calibri"/>
                          <a:ea typeface="Calibri"/>
                          <a:cs typeface="Calibri"/>
                          <a:sym typeface="Calibri"/>
                        </a:rPr>
                        <a:t>356506374263</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IN" sz="1100" b="1">
                          <a:latin typeface="Calibri"/>
                          <a:ea typeface="Calibri"/>
                          <a:cs typeface="Calibri"/>
                          <a:sym typeface="Calibri"/>
                        </a:rPr>
                        <a:t>100315646438</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IN" sz="1100" b="1">
                          <a:latin typeface="Calibri"/>
                          <a:ea typeface="Calibri"/>
                          <a:cs typeface="Calibri"/>
                          <a:sym typeface="Calibri"/>
                        </a:rPr>
                        <a:t>130833446</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IN" sz="1100" b="1">
                          <a:latin typeface="Calibri"/>
                          <a:ea typeface="Calibri"/>
                          <a:cs typeface="Calibri"/>
                          <a:sym typeface="Calibri"/>
                        </a:rPr>
                        <a:t>117750101</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IN" sz="1100" b="1">
                          <a:latin typeface="Calibri"/>
                          <a:ea typeface="Calibri"/>
                          <a:cs typeface="Calibri"/>
                          <a:sym typeface="Calibri"/>
                        </a:rPr>
                        <a:t>7914875661</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extLst>
                  <a:ext uri="{0D108BD9-81ED-4DB2-BD59-A6C34878D82A}">
                    <a16:rowId xmlns:a16="http://schemas.microsoft.com/office/drawing/2014/main" val="10004"/>
                  </a:ext>
                </a:extLst>
              </a:tr>
              <a:tr h="376275">
                <a:tc rowSpan="3">
                  <a:txBody>
                    <a:bodyPr/>
                    <a:lstStyle/>
                    <a:p>
                      <a:pPr marL="0" lvl="0" indent="0" algn="l" rtl="0">
                        <a:spcBef>
                          <a:spcPts val="0"/>
                        </a:spcBef>
                        <a:spcAft>
                          <a:spcPts val="0"/>
                        </a:spcAft>
                        <a:buNone/>
                      </a:pPr>
                      <a:r>
                        <a:rPr lang="en-IN" sz="1100" b="1">
                          <a:latin typeface="Calibri"/>
                          <a:ea typeface="Calibri"/>
                          <a:cs typeface="Calibri"/>
                          <a:sym typeface="Calibri"/>
                        </a:rPr>
                        <a:t>Car</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IN" sz="1100" b="1">
                          <a:latin typeface="Calibri"/>
                          <a:ea typeface="Calibri"/>
                          <a:cs typeface="Calibri"/>
                          <a:sym typeface="Calibri"/>
                        </a:rPr>
                        <a:t>Petrol</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IN" sz="1100" b="1">
                          <a:latin typeface="Calibri"/>
                          <a:ea typeface="Calibri"/>
                          <a:cs typeface="Calibri"/>
                          <a:sym typeface="Calibri"/>
                        </a:rPr>
                        <a:t>18015598191</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IN" sz="1100" b="1">
                          <a:latin typeface="Calibri"/>
                          <a:ea typeface="Calibri"/>
                          <a:cs typeface="Calibri"/>
                          <a:sym typeface="Calibri"/>
                        </a:rPr>
                        <a:t>5069324166</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IN" sz="1100" b="1">
                          <a:latin typeface="Calibri"/>
                          <a:ea typeface="Calibri"/>
                          <a:cs typeface="Calibri"/>
                          <a:sym typeface="Calibri"/>
                        </a:rPr>
                        <a:t>364526</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IN" sz="1100" b="1">
                          <a:latin typeface="Calibri"/>
                          <a:ea typeface="Calibri"/>
                          <a:cs typeface="Calibri"/>
                          <a:sym typeface="Calibri"/>
                        </a:rPr>
                        <a:t>326772</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IN" sz="1100" b="1">
                          <a:latin typeface="Calibri"/>
                          <a:ea typeface="Calibri"/>
                          <a:cs typeface="Calibri"/>
                          <a:sym typeface="Calibri"/>
                        </a:rPr>
                        <a:t>91346331</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5CD"/>
                    </a:solidFill>
                  </a:tcPr>
                </a:tc>
                <a:extLst>
                  <a:ext uri="{0D108BD9-81ED-4DB2-BD59-A6C34878D82A}">
                    <a16:rowId xmlns:a16="http://schemas.microsoft.com/office/drawing/2014/main" val="10005"/>
                  </a:ext>
                </a:extLst>
              </a:tr>
              <a:tr h="376275">
                <a:tc vMerge="1">
                  <a:txBody>
                    <a:bodyPr/>
                    <a:lstStyle/>
                    <a:p>
                      <a:endParaRPr lang="en-US"/>
                    </a:p>
                  </a:txBody>
                  <a:tcPr/>
                </a:tc>
                <a:tc>
                  <a:txBody>
                    <a:bodyPr/>
                    <a:lstStyle/>
                    <a:p>
                      <a:pPr marL="0" lvl="0" indent="0" algn="l" rtl="0">
                        <a:spcBef>
                          <a:spcPts val="0"/>
                        </a:spcBef>
                        <a:spcAft>
                          <a:spcPts val="0"/>
                        </a:spcAft>
                        <a:buNone/>
                      </a:pPr>
                      <a:r>
                        <a:rPr lang="en-IN" sz="1100">
                          <a:latin typeface="Calibri"/>
                          <a:ea typeface="Calibri"/>
                          <a:cs typeface="Calibri"/>
                          <a:sym typeface="Calibri"/>
                        </a:rPr>
                        <a:t>Diesel </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13513715616</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4033944960</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1673770</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1505539</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40386419</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74775">
                <a:tc vMerge="1">
                  <a:txBody>
                    <a:bodyPr/>
                    <a:lstStyle/>
                    <a:p>
                      <a:endParaRPr lang="en-US"/>
                    </a:p>
                  </a:txBody>
                  <a:tcPr/>
                </a:tc>
                <a:tc>
                  <a:txBody>
                    <a:bodyPr/>
                    <a:lstStyle/>
                    <a:p>
                      <a:pPr marL="0" lvl="0" indent="0" algn="l" rtl="0">
                        <a:spcBef>
                          <a:spcPts val="0"/>
                        </a:spcBef>
                        <a:spcAft>
                          <a:spcPts val="0"/>
                        </a:spcAft>
                        <a:buNone/>
                      </a:pPr>
                      <a:r>
                        <a:rPr lang="en-IN" sz="1100">
                          <a:latin typeface="Calibri"/>
                          <a:ea typeface="Calibri"/>
                          <a:cs typeface="Calibri"/>
                          <a:sym typeface="Calibri"/>
                        </a:rPr>
                        <a:t>CNG </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6656009184</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822924772</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20870</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18864</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2368460</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376275">
                <a:tc>
                  <a:txBody>
                    <a:bodyPr/>
                    <a:lstStyle/>
                    <a:p>
                      <a:pPr marL="0" lvl="0" indent="0" algn="l" rtl="0">
                        <a:spcBef>
                          <a:spcPts val="0"/>
                        </a:spcBef>
                        <a:spcAft>
                          <a:spcPts val="0"/>
                        </a:spcAft>
                        <a:buNone/>
                      </a:pPr>
                      <a:r>
                        <a:rPr lang="en-IN" sz="1100" b="1">
                          <a:latin typeface="Calibri"/>
                          <a:ea typeface="Calibri"/>
                          <a:cs typeface="Calibri"/>
                          <a:sym typeface="Calibri"/>
                        </a:rPr>
                        <a:t>City Bus </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IN" sz="1100">
                          <a:latin typeface="Calibri"/>
                          <a:ea typeface="Calibri"/>
                          <a:cs typeface="Calibri"/>
                          <a:sym typeface="Calibri"/>
                        </a:rPr>
                        <a:t>Diesel </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349217400</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104244000</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2669</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2403</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117045</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376275">
                <a:tc>
                  <a:txBody>
                    <a:bodyPr/>
                    <a:lstStyle/>
                    <a:p>
                      <a:pPr marL="0" lvl="0" indent="0" algn="l" rtl="0">
                        <a:spcBef>
                          <a:spcPts val="0"/>
                        </a:spcBef>
                        <a:spcAft>
                          <a:spcPts val="0"/>
                        </a:spcAft>
                        <a:buNone/>
                      </a:pPr>
                      <a:r>
                        <a:rPr lang="en-IN" sz="1100" b="1">
                          <a:latin typeface="Calibri"/>
                          <a:ea typeface="Calibri"/>
                          <a:cs typeface="Calibri"/>
                          <a:sym typeface="Calibri"/>
                        </a:rPr>
                        <a:t>BRT</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IN" sz="1100">
                          <a:latin typeface="Calibri"/>
                          <a:ea typeface="Calibri"/>
                          <a:cs typeface="Calibri"/>
                          <a:sym typeface="Calibri"/>
                        </a:rPr>
                        <a:t>Diesel </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363890400</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108624000</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2898</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2609</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127087</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255500">
                <a:tc>
                  <a:txBody>
                    <a:bodyPr/>
                    <a:lstStyle/>
                    <a:p>
                      <a:pPr marL="0" lvl="0" indent="0" algn="l" rtl="0">
                        <a:spcBef>
                          <a:spcPts val="0"/>
                        </a:spcBef>
                        <a:spcAft>
                          <a:spcPts val="0"/>
                        </a:spcAft>
                        <a:buNone/>
                      </a:pPr>
                      <a:r>
                        <a:rPr lang="en-IN" sz="1100" b="1">
                          <a:latin typeface="Calibri"/>
                          <a:ea typeface="Calibri"/>
                          <a:cs typeface="Calibri"/>
                          <a:sym typeface="Calibri"/>
                        </a:rPr>
                        <a:t>E-rickshaws</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4EEFE"/>
                    </a:solidFill>
                  </a:tcPr>
                </a:tc>
                <a:tc rowSpan="3">
                  <a:txBody>
                    <a:bodyPr/>
                    <a:lstStyle/>
                    <a:p>
                      <a:pPr marL="0" lvl="0" indent="0" algn="l" rtl="0">
                        <a:spcBef>
                          <a:spcPts val="0"/>
                        </a:spcBef>
                        <a:spcAft>
                          <a:spcPts val="0"/>
                        </a:spcAft>
                        <a:buNone/>
                      </a:pPr>
                      <a:r>
                        <a:rPr lang="en-IN" sz="1100">
                          <a:latin typeface="Calibri"/>
                          <a:ea typeface="Calibri"/>
                          <a:cs typeface="Calibri"/>
                          <a:sym typeface="Calibri"/>
                        </a:rPr>
                        <a:t>EV</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4EEFE"/>
                    </a:solidFill>
                  </a:tcPr>
                </a:tc>
                <a:tc rowSpan="3">
                  <a:txBody>
                    <a:bodyPr/>
                    <a:lstStyle/>
                    <a:p>
                      <a:pPr marL="0" lvl="0" indent="0" algn="l" rtl="0">
                        <a:spcBef>
                          <a:spcPts val="0"/>
                        </a:spcBef>
                        <a:spcAft>
                          <a:spcPts val="0"/>
                        </a:spcAft>
                        <a:buNone/>
                      </a:pPr>
                      <a:r>
                        <a:rPr lang="en-IN" sz="1100">
                          <a:latin typeface="Calibri"/>
                          <a:ea typeface="Calibri"/>
                          <a:cs typeface="Calibri"/>
                          <a:sym typeface="Calibri"/>
                        </a:rPr>
                        <a:t> nil</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4EEFE"/>
                    </a:solidFill>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1724</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4EEFE"/>
                    </a:solidFill>
                  </a:tcPr>
                </a:tc>
                <a:tc rowSpan="3" gridSpan="3">
                  <a:txBody>
                    <a:bodyPr/>
                    <a:lstStyle/>
                    <a:p>
                      <a:pPr marL="0" lvl="0" indent="0" algn="l" rtl="0">
                        <a:spcBef>
                          <a:spcPts val="0"/>
                        </a:spcBef>
                        <a:spcAft>
                          <a:spcPts val="0"/>
                        </a:spcAft>
                        <a:buNone/>
                      </a:pPr>
                      <a:r>
                        <a:rPr lang="en-IN" sz="1100">
                          <a:latin typeface="Calibri"/>
                          <a:ea typeface="Calibri"/>
                          <a:cs typeface="Calibri"/>
                          <a:sym typeface="Calibri"/>
                        </a:rPr>
                        <a:t>Bare minimum pollution from EV </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4EEFE"/>
                    </a:solidFill>
                  </a:tcPr>
                </a:tc>
                <a:tc rowSpan="3" hMerge="1">
                  <a:txBody>
                    <a:bodyPr/>
                    <a:lstStyle/>
                    <a:p>
                      <a:endParaRPr lang="en-US"/>
                    </a:p>
                  </a:txBody>
                  <a:tcPr/>
                </a:tc>
                <a:tc rowSpan="3" hMerge="1">
                  <a:txBody>
                    <a:bodyPr/>
                    <a:lstStyle/>
                    <a:p>
                      <a:endParaRPr lang="en-US"/>
                    </a:p>
                  </a:txBody>
                  <a:tcPr/>
                </a:tc>
                <a:extLst>
                  <a:ext uri="{0D108BD9-81ED-4DB2-BD59-A6C34878D82A}">
                    <a16:rowId xmlns:a16="http://schemas.microsoft.com/office/drawing/2014/main" val="10010"/>
                  </a:ext>
                </a:extLst>
              </a:tr>
              <a:tr h="219625">
                <a:tc>
                  <a:txBody>
                    <a:bodyPr/>
                    <a:lstStyle/>
                    <a:p>
                      <a:pPr marL="0" lvl="0" indent="0" algn="l" rtl="0">
                        <a:spcBef>
                          <a:spcPts val="0"/>
                        </a:spcBef>
                        <a:spcAft>
                          <a:spcPts val="0"/>
                        </a:spcAft>
                        <a:buNone/>
                      </a:pPr>
                      <a:r>
                        <a:rPr lang="en-IN" sz="1100" b="1">
                          <a:latin typeface="Calibri"/>
                          <a:ea typeface="Calibri"/>
                          <a:cs typeface="Calibri"/>
                          <a:sym typeface="Calibri"/>
                        </a:rPr>
                        <a:t>Auto Rickshaws</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4EEFE"/>
                    </a:solidFill>
                  </a:tcPr>
                </a:tc>
                <a:tc vMerge="1">
                  <a:txBody>
                    <a:bodyPr/>
                    <a:lstStyle/>
                    <a:p>
                      <a:endParaRPr lang="en-US"/>
                    </a:p>
                  </a:txBody>
                  <a:tcPr/>
                </a:tc>
                <a:tc vMerge="1">
                  <a:txBody>
                    <a:bodyPr/>
                    <a:lstStyle/>
                    <a:p>
                      <a:endParaRPr lang="en-US"/>
                    </a:p>
                  </a:txBody>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4871</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4EEFE"/>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11"/>
                  </a:ext>
                </a:extLst>
              </a:tr>
              <a:tr h="241550">
                <a:tc>
                  <a:txBody>
                    <a:bodyPr/>
                    <a:lstStyle/>
                    <a:p>
                      <a:pPr marL="0" lvl="0" indent="0" algn="l" rtl="0">
                        <a:spcBef>
                          <a:spcPts val="0"/>
                        </a:spcBef>
                        <a:spcAft>
                          <a:spcPts val="0"/>
                        </a:spcAft>
                        <a:buNone/>
                      </a:pPr>
                      <a:r>
                        <a:rPr lang="en-IN" sz="1100" b="1">
                          <a:latin typeface="Calibri"/>
                          <a:ea typeface="Calibri"/>
                          <a:cs typeface="Calibri"/>
                          <a:sym typeface="Calibri"/>
                        </a:rPr>
                        <a:t>PM eBus </a:t>
                      </a:r>
                      <a:endParaRPr sz="1100" b="1">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4EEFE"/>
                    </a:solidFill>
                  </a:tcPr>
                </a:tc>
                <a:tc vMerge="1">
                  <a:txBody>
                    <a:bodyPr/>
                    <a:lstStyle/>
                    <a:p>
                      <a:endParaRPr lang="en-US"/>
                    </a:p>
                  </a:txBody>
                  <a:tcPr/>
                </a:tc>
                <a:tc vMerge="1">
                  <a:txBody>
                    <a:bodyPr/>
                    <a:lstStyle/>
                    <a:p>
                      <a:endParaRPr lang="en-US"/>
                    </a:p>
                  </a:txBody>
                  <a:tcPr/>
                </a:tc>
                <a:tc>
                  <a:txBody>
                    <a:bodyPr/>
                    <a:lstStyle/>
                    <a:p>
                      <a:pPr marL="0" lvl="0" indent="0" algn="r" rtl="0">
                        <a:lnSpc>
                          <a:spcPct val="115000"/>
                        </a:lnSpc>
                        <a:spcBef>
                          <a:spcPts val="0"/>
                        </a:spcBef>
                        <a:spcAft>
                          <a:spcPts val="0"/>
                        </a:spcAft>
                        <a:buNone/>
                      </a:pPr>
                      <a:r>
                        <a:rPr lang="en-IN" sz="1100">
                          <a:latin typeface="Calibri"/>
                          <a:ea typeface="Calibri"/>
                          <a:cs typeface="Calibri"/>
                          <a:sym typeface="Calibri"/>
                        </a:rPr>
                        <a:t>259</a:t>
                      </a:r>
                      <a:endParaRPr sz="1100">
                        <a:latin typeface="Calibri"/>
                        <a:ea typeface="Calibri"/>
                        <a:cs typeface="Calibri"/>
                        <a:sym typeface="Calibri"/>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4EEFE"/>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12"/>
                  </a:ext>
                </a:extLst>
              </a:tr>
            </a:tbl>
          </a:graphicData>
        </a:graphic>
      </p:graphicFrame>
      <p:sp>
        <p:nvSpPr>
          <p:cNvPr id="421" name="Google Shape;421;g3f8288f73f0_3_0"/>
          <p:cNvSpPr txBox="1"/>
          <p:nvPr/>
        </p:nvSpPr>
        <p:spPr>
          <a:xfrm>
            <a:off x="9402075" y="3610137"/>
            <a:ext cx="2679000" cy="874200"/>
          </a:xfrm>
          <a:prstGeom prst="rect">
            <a:avLst/>
          </a:prstGeom>
          <a:solidFill>
            <a:srgbClr val="E9EE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1900" b="1">
                <a:solidFill>
                  <a:srgbClr val="434343"/>
                </a:solidFill>
                <a:latin typeface="Calibri"/>
                <a:ea typeface="Calibri"/>
                <a:cs typeface="Calibri"/>
                <a:sym typeface="Calibri"/>
              </a:rPr>
              <a:t>92%</a:t>
            </a:r>
            <a:r>
              <a:rPr lang="en-IN" sz="1900">
                <a:solidFill>
                  <a:srgbClr val="434343"/>
                </a:solidFill>
                <a:latin typeface="Calibri"/>
                <a:ea typeface="Calibri"/>
                <a:cs typeface="Calibri"/>
                <a:sym typeface="Calibri"/>
              </a:rPr>
              <a:t> </a:t>
            </a:r>
            <a:r>
              <a:rPr lang="en-IN" sz="1200">
                <a:solidFill>
                  <a:srgbClr val="434343"/>
                </a:solidFill>
                <a:latin typeface="Calibri"/>
                <a:ea typeface="Calibri"/>
                <a:cs typeface="Calibri"/>
                <a:sym typeface="Calibri"/>
              </a:rPr>
              <a:t>of NOx emissions from 2W </a:t>
            </a:r>
            <a:endParaRPr sz="1200">
              <a:solidFill>
                <a:srgbClr val="434343"/>
              </a:solidFill>
              <a:latin typeface="Calibri"/>
              <a:ea typeface="Calibri"/>
              <a:cs typeface="Calibri"/>
              <a:sym typeface="Calibri"/>
            </a:endParaRPr>
          </a:p>
          <a:p>
            <a:pPr marL="0" lvl="0" indent="0" algn="l" rtl="0">
              <a:spcBef>
                <a:spcPts val="0"/>
              </a:spcBef>
              <a:spcAft>
                <a:spcPts val="0"/>
              </a:spcAft>
              <a:buNone/>
            </a:pPr>
            <a:r>
              <a:rPr lang="en-IN" sz="1900" b="1">
                <a:solidFill>
                  <a:srgbClr val="434343"/>
                </a:solidFill>
                <a:latin typeface="Calibri"/>
                <a:ea typeface="Calibri"/>
                <a:cs typeface="Calibri"/>
                <a:sym typeface="Calibri"/>
              </a:rPr>
              <a:t>3,13,205 </a:t>
            </a:r>
            <a:r>
              <a:rPr lang="en-IN" sz="1000">
                <a:solidFill>
                  <a:srgbClr val="434343"/>
                </a:solidFill>
                <a:latin typeface="Calibri"/>
                <a:ea typeface="Calibri"/>
                <a:cs typeface="Calibri"/>
                <a:sym typeface="Calibri"/>
              </a:rPr>
              <a:t>-2w on the road . </a:t>
            </a:r>
            <a:endParaRPr sz="1000">
              <a:solidFill>
                <a:srgbClr val="434343"/>
              </a:solidFill>
              <a:latin typeface="Calibri"/>
              <a:ea typeface="Calibri"/>
              <a:cs typeface="Calibri"/>
              <a:sym typeface="Calibri"/>
            </a:endParaRPr>
          </a:p>
          <a:p>
            <a:pPr marL="0" lvl="0" indent="0" algn="l" rtl="0">
              <a:spcBef>
                <a:spcPts val="0"/>
              </a:spcBef>
              <a:spcAft>
                <a:spcPts val="0"/>
              </a:spcAft>
              <a:buNone/>
            </a:pPr>
            <a:endParaRPr sz="1000">
              <a:solidFill>
                <a:srgbClr val="434343"/>
              </a:solidFill>
              <a:latin typeface="Calibri"/>
              <a:ea typeface="Calibri"/>
              <a:cs typeface="Calibri"/>
              <a:sym typeface="Calibri"/>
            </a:endParaRPr>
          </a:p>
          <a:p>
            <a:pPr marL="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422" name="Google Shape;422;g3f8288f73f0_3_0"/>
          <p:cNvSpPr txBox="1"/>
          <p:nvPr/>
        </p:nvSpPr>
        <p:spPr>
          <a:xfrm>
            <a:off x="7380150" y="686000"/>
            <a:ext cx="1707000" cy="1802400"/>
          </a:xfrm>
          <a:prstGeom prst="rect">
            <a:avLst/>
          </a:prstGeom>
          <a:solidFill>
            <a:srgbClr val="E9EE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b="1">
                <a:solidFill>
                  <a:schemeClr val="dk1"/>
                </a:solidFill>
                <a:latin typeface="Calibri"/>
                <a:ea typeface="Calibri"/>
                <a:cs typeface="Calibri"/>
                <a:sym typeface="Calibri"/>
              </a:rPr>
              <a:t>Assumption</a:t>
            </a:r>
            <a:r>
              <a:rPr lang="en-IN">
                <a:solidFill>
                  <a:schemeClr val="dk1"/>
                </a:solidFill>
                <a:latin typeface="Calibri"/>
                <a:ea typeface="Calibri"/>
                <a:cs typeface="Calibri"/>
                <a:sym typeface="Calibri"/>
              </a:rPr>
              <a:t> - All </a:t>
            </a:r>
            <a:r>
              <a:rPr lang="en-IN" sz="1600" b="1">
                <a:solidFill>
                  <a:schemeClr val="dk1"/>
                </a:solidFill>
                <a:latin typeface="Calibri"/>
                <a:ea typeface="Calibri"/>
                <a:cs typeface="Calibri"/>
                <a:sym typeface="Calibri"/>
              </a:rPr>
              <a:t>2W are Petrol , City bus and BRT buses Diesel </a:t>
            </a:r>
            <a:r>
              <a:rPr lang="en-IN">
                <a:solidFill>
                  <a:schemeClr val="dk1"/>
                </a:solidFill>
                <a:latin typeface="Calibri"/>
                <a:ea typeface="Calibri"/>
                <a:cs typeface="Calibri"/>
                <a:sym typeface="Calibri"/>
              </a:rPr>
              <a:t>fueled . BS IV and BS VI are </a:t>
            </a:r>
            <a:r>
              <a:rPr lang="en-IN" sz="1600" b="1">
                <a:solidFill>
                  <a:schemeClr val="dk1"/>
                </a:solidFill>
                <a:latin typeface="Calibri"/>
                <a:ea typeface="Calibri"/>
                <a:cs typeface="Calibri"/>
                <a:sym typeface="Calibri"/>
              </a:rPr>
              <a:t>30% and 70% .</a:t>
            </a:r>
            <a:r>
              <a:rPr lang="en-IN">
                <a:solidFill>
                  <a:schemeClr val="dk1"/>
                </a:solidFill>
                <a:latin typeface="Calibri"/>
                <a:ea typeface="Calibri"/>
                <a:cs typeface="Calibri"/>
                <a:sym typeface="Calibri"/>
              </a:rPr>
              <a:t> </a:t>
            </a:r>
            <a:endParaRPr sz="2300">
              <a:solidFill>
                <a:schemeClr val="dk1"/>
              </a:solidFill>
              <a:latin typeface="Calibri"/>
              <a:ea typeface="Calibri"/>
              <a:cs typeface="Calibri"/>
              <a:sym typeface="Calibri"/>
            </a:endParaRPr>
          </a:p>
        </p:txBody>
      </p:sp>
      <p:graphicFrame>
        <p:nvGraphicFramePr>
          <p:cNvPr id="423" name="Google Shape;423;g3f8288f73f0_3_0"/>
          <p:cNvGraphicFramePr/>
          <p:nvPr/>
        </p:nvGraphicFramePr>
        <p:xfrm>
          <a:off x="9163850" y="572870"/>
          <a:ext cx="2796625" cy="2878626"/>
        </p:xfrm>
        <a:graphic>
          <a:graphicData uri="http://schemas.openxmlformats.org/drawingml/2006/table">
            <a:tbl>
              <a:tblPr>
                <a:noFill/>
                <a:tableStyleId>{CE8E0634-9335-4D7C-9B2C-971118863D71}</a:tableStyleId>
              </a:tblPr>
              <a:tblGrid>
                <a:gridCol w="1475575">
                  <a:extLst>
                    <a:ext uri="{9D8B030D-6E8A-4147-A177-3AD203B41FA5}">
                      <a16:colId xmlns:a16="http://schemas.microsoft.com/office/drawing/2014/main" val="20000"/>
                    </a:ext>
                  </a:extLst>
                </a:gridCol>
                <a:gridCol w="665075">
                  <a:extLst>
                    <a:ext uri="{9D8B030D-6E8A-4147-A177-3AD203B41FA5}">
                      <a16:colId xmlns:a16="http://schemas.microsoft.com/office/drawing/2014/main" val="20001"/>
                    </a:ext>
                  </a:extLst>
                </a:gridCol>
                <a:gridCol w="655975">
                  <a:extLst>
                    <a:ext uri="{9D8B030D-6E8A-4147-A177-3AD203B41FA5}">
                      <a16:colId xmlns:a16="http://schemas.microsoft.com/office/drawing/2014/main" val="20002"/>
                    </a:ext>
                  </a:extLst>
                </a:gridCol>
              </a:tblGrid>
              <a:tr h="333375">
                <a:tc>
                  <a:txBody>
                    <a:bodyPr/>
                    <a:lstStyle/>
                    <a:p>
                      <a:pPr marL="0" lvl="0" indent="0" algn="l" rtl="0">
                        <a:spcBef>
                          <a:spcPts val="0"/>
                        </a:spcBef>
                        <a:spcAft>
                          <a:spcPts val="0"/>
                        </a:spcAft>
                        <a:buNone/>
                      </a:pPr>
                      <a:r>
                        <a:rPr lang="en-IN" b="1">
                          <a:latin typeface="Calibri"/>
                          <a:ea typeface="Calibri"/>
                          <a:cs typeface="Calibri"/>
                          <a:sym typeface="Calibri"/>
                        </a:rPr>
                        <a:t>Vehicle Category </a:t>
                      </a:r>
                      <a:endParaRPr b="1">
                        <a:latin typeface="Calibri"/>
                        <a:ea typeface="Calibri"/>
                        <a:cs typeface="Calibri"/>
                        <a:sym typeface="Calibri"/>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IN" b="1">
                          <a:latin typeface="Calibri"/>
                          <a:ea typeface="Calibri"/>
                          <a:cs typeface="Calibri"/>
                          <a:sym typeface="Calibri"/>
                        </a:rPr>
                        <a:t>Fuel </a:t>
                      </a:r>
                      <a:endParaRPr b="1">
                        <a:latin typeface="Calibri"/>
                        <a:ea typeface="Calibri"/>
                        <a:cs typeface="Calibri"/>
                        <a:sym typeface="Calibri"/>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IN" b="1">
                          <a:latin typeface="Calibri"/>
                          <a:ea typeface="Calibri"/>
                          <a:cs typeface="Calibri"/>
                          <a:sym typeface="Calibri"/>
                        </a:rPr>
                        <a:t>Share </a:t>
                      </a:r>
                      <a:endParaRPr b="1">
                        <a:latin typeface="Calibri"/>
                        <a:ea typeface="Calibri"/>
                        <a:cs typeface="Calibri"/>
                        <a:sym typeface="Calibri"/>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0">
                <a:tc rowSpan="3">
                  <a:txBody>
                    <a:bodyPr/>
                    <a:lstStyle/>
                    <a:p>
                      <a:pPr marL="0" lvl="0" indent="0" algn="l" rtl="0">
                        <a:spcBef>
                          <a:spcPts val="0"/>
                        </a:spcBef>
                        <a:spcAft>
                          <a:spcPts val="0"/>
                        </a:spcAft>
                        <a:buNone/>
                      </a:pPr>
                      <a:r>
                        <a:rPr lang="en-IN" b="1">
                          <a:latin typeface="Calibri"/>
                          <a:ea typeface="Calibri"/>
                          <a:cs typeface="Calibri"/>
                          <a:sym typeface="Calibri"/>
                        </a:rPr>
                        <a:t>Auto rickshaws </a:t>
                      </a:r>
                      <a:endParaRPr b="1">
                        <a:latin typeface="Calibri"/>
                        <a:ea typeface="Calibri"/>
                        <a:cs typeface="Calibri"/>
                        <a:sym typeface="Calibri"/>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IN">
                          <a:latin typeface="Calibri"/>
                          <a:ea typeface="Calibri"/>
                          <a:cs typeface="Calibri"/>
                          <a:sym typeface="Calibri"/>
                        </a:rPr>
                        <a:t>Petrol</a:t>
                      </a:r>
                      <a:endParaRPr>
                        <a:latin typeface="Calibri"/>
                        <a:ea typeface="Calibri"/>
                        <a:cs typeface="Calibri"/>
                        <a:sym typeface="Calibri"/>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a:latin typeface="Calibri"/>
                          <a:ea typeface="Calibri"/>
                          <a:cs typeface="Calibri"/>
                          <a:sym typeface="Calibri"/>
                        </a:rPr>
                        <a:t>7</a:t>
                      </a:r>
                      <a:endParaRPr>
                        <a:latin typeface="Calibri"/>
                        <a:ea typeface="Calibri"/>
                        <a:cs typeface="Calibri"/>
                        <a:sym typeface="Calibri"/>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0">
                <a:tc vMerge="1">
                  <a:txBody>
                    <a:bodyPr/>
                    <a:lstStyle/>
                    <a:p>
                      <a:endParaRPr lang="en-US"/>
                    </a:p>
                  </a:txBody>
                  <a:tcPr/>
                </a:tc>
                <a:tc>
                  <a:txBody>
                    <a:bodyPr/>
                    <a:lstStyle/>
                    <a:p>
                      <a:pPr marL="0" lvl="0" indent="0" algn="l" rtl="0">
                        <a:spcBef>
                          <a:spcPts val="0"/>
                        </a:spcBef>
                        <a:spcAft>
                          <a:spcPts val="0"/>
                        </a:spcAft>
                        <a:buNone/>
                      </a:pPr>
                      <a:r>
                        <a:rPr lang="en-IN">
                          <a:latin typeface="Calibri"/>
                          <a:ea typeface="Calibri"/>
                          <a:cs typeface="Calibri"/>
                          <a:sym typeface="Calibri"/>
                        </a:rPr>
                        <a:t>Diesel </a:t>
                      </a:r>
                      <a:endParaRPr>
                        <a:latin typeface="Calibri"/>
                        <a:ea typeface="Calibri"/>
                        <a:cs typeface="Calibri"/>
                        <a:sym typeface="Calibri"/>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a:latin typeface="Calibri"/>
                          <a:ea typeface="Calibri"/>
                          <a:cs typeface="Calibri"/>
                          <a:sym typeface="Calibri"/>
                        </a:rPr>
                        <a:t>31</a:t>
                      </a:r>
                      <a:endParaRPr>
                        <a:latin typeface="Calibri"/>
                        <a:ea typeface="Calibri"/>
                        <a:cs typeface="Calibri"/>
                        <a:sym typeface="Calibri"/>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281425">
                <a:tc vMerge="1">
                  <a:txBody>
                    <a:bodyPr/>
                    <a:lstStyle/>
                    <a:p>
                      <a:endParaRPr lang="en-US"/>
                    </a:p>
                  </a:txBody>
                  <a:tcPr/>
                </a:tc>
                <a:tc>
                  <a:txBody>
                    <a:bodyPr/>
                    <a:lstStyle/>
                    <a:p>
                      <a:pPr marL="0" lvl="0" indent="0" algn="l" rtl="0">
                        <a:spcBef>
                          <a:spcPts val="0"/>
                        </a:spcBef>
                        <a:spcAft>
                          <a:spcPts val="0"/>
                        </a:spcAft>
                        <a:buNone/>
                      </a:pPr>
                      <a:r>
                        <a:rPr lang="en-IN">
                          <a:latin typeface="Calibri"/>
                          <a:ea typeface="Calibri"/>
                          <a:cs typeface="Calibri"/>
                          <a:sym typeface="Calibri"/>
                        </a:rPr>
                        <a:t>CNG </a:t>
                      </a:r>
                      <a:endParaRPr>
                        <a:latin typeface="Calibri"/>
                        <a:ea typeface="Calibri"/>
                        <a:cs typeface="Calibri"/>
                        <a:sym typeface="Calibri"/>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a:latin typeface="Calibri"/>
                          <a:ea typeface="Calibri"/>
                          <a:cs typeface="Calibri"/>
                          <a:sym typeface="Calibri"/>
                        </a:rPr>
                        <a:t>62</a:t>
                      </a:r>
                      <a:endParaRPr>
                        <a:latin typeface="Calibri"/>
                        <a:ea typeface="Calibri"/>
                        <a:cs typeface="Calibri"/>
                        <a:sym typeface="Calibri"/>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0">
                <a:tc rowSpan="3">
                  <a:txBody>
                    <a:bodyPr/>
                    <a:lstStyle/>
                    <a:p>
                      <a:pPr marL="0" lvl="0" indent="0" algn="l" rtl="0">
                        <a:spcBef>
                          <a:spcPts val="0"/>
                        </a:spcBef>
                        <a:spcAft>
                          <a:spcPts val="0"/>
                        </a:spcAft>
                        <a:buNone/>
                      </a:pPr>
                      <a:r>
                        <a:rPr lang="en-IN" b="1">
                          <a:latin typeface="Calibri"/>
                          <a:ea typeface="Calibri"/>
                          <a:cs typeface="Calibri"/>
                          <a:sym typeface="Calibri"/>
                        </a:rPr>
                        <a:t>Car</a:t>
                      </a:r>
                      <a:endParaRPr b="1">
                        <a:latin typeface="Calibri"/>
                        <a:ea typeface="Calibri"/>
                        <a:cs typeface="Calibri"/>
                        <a:sym typeface="Calibri"/>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IN">
                          <a:latin typeface="Calibri"/>
                          <a:ea typeface="Calibri"/>
                          <a:cs typeface="Calibri"/>
                          <a:sym typeface="Calibri"/>
                        </a:rPr>
                        <a:t>Petrol</a:t>
                      </a:r>
                      <a:endParaRPr>
                        <a:latin typeface="Calibri"/>
                        <a:ea typeface="Calibri"/>
                        <a:cs typeface="Calibri"/>
                        <a:sym typeface="Calibri"/>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a:latin typeface="Calibri"/>
                          <a:ea typeface="Calibri"/>
                          <a:cs typeface="Calibri"/>
                          <a:sym typeface="Calibri"/>
                        </a:rPr>
                        <a:t>58</a:t>
                      </a:r>
                      <a:endParaRPr>
                        <a:latin typeface="Calibri"/>
                        <a:ea typeface="Calibri"/>
                        <a:cs typeface="Calibri"/>
                        <a:sym typeface="Calibri"/>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0">
                <a:tc vMerge="1">
                  <a:txBody>
                    <a:bodyPr/>
                    <a:lstStyle/>
                    <a:p>
                      <a:endParaRPr lang="en-US"/>
                    </a:p>
                  </a:txBody>
                  <a:tcPr/>
                </a:tc>
                <a:tc>
                  <a:txBody>
                    <a:bodyPr/>
                    <a:lstStyle/>
                    <a:p>
                      <a:pPr marL="0" lvl="0" indent="0" algn="l" rtl="0">
                        <a:spcBef>
                          <a:spcPts val="0"/>
                        </a:spcBef>
                        <a:spcAft>
                          <a:spcPts val="0"/>
                        </a:spcAft>
                        <a:buNone/>
                      </a:pPr>
                      <a:r>
                        <a:rPr lang="en-IN">
                          <a:latin typeface="Calibri"/>
                          <a:ea typeface="Calibri"/>
                          <a:cs typeface="Calibri"/>
                          <a:sym typeface="Calibri"/>
                        </a:rPr>
                        <a:t>Diesel </a:t>
                      </a:r>
                      <a:endParaRPr>
                        <a:latin typeface="Calibri"/>
                        <a:ea typeface="Calibri"/>
                        <a:cs typeface="Calibri"/>
                        <a:sym typeface="Calibri"/>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a:latin typeface="Calibri"/>
                          <a:ea typeface="Calibri"/>
                          <a:cs typeface="Calibri"/>
                          <a:sym typeface="Calibri"/>
                        </a:rPr>
                        <a:t>30</a:t>
                      </a:r>
                      <a:endParaRPr>
                        <a:latin typeface="Calibri"/>
                        <a:ea typeface="Calibri"/>
                        <a:cs typeface="Calibri"/>
                        <a:sym typeface="Calibri"/>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r h="0">
                <a:tc vMerge="1">
                  <a:txBody>
                    <a:bodyPr/>
                    <a:lstStyle/>
                    <a:p>
                      <a:endParaRPr lang="en-US"/>
                    </a:p>
                  </a:txBody>
                  <a:tcPr/>
                </a:tc>
                <a:tc>
                  <a:txBody>
                    <a:bodyPr/>
                    <a:lstStyle/>
                    <a:p>
                      <a:pPr marL="0" lvl="0" indent="0" algn="l" rtl="0">
                        <a:spcBef>
                          <a:spcPts val="0"/>
                        </a:spcBef>
                        <a:spcAft>
                          <a:spcPts val="0"/>
                        </a:spcAft>
                        <a:buNone/>
                      </a:pPr>
                      <a:r>
                        <a:rPr lang="en-IN">
                          <a:latin typeface="Calibri"/>
                          <a:ea typeface="Calibri"/>
                          <a:cs typeface="Calibri"/>
                          <a:sym typeface="Calibri"/>
                        </a:rPr>
                        <a:t>CNG </a:t>
                      </a:r>
                      <a:endParaRPr>
                        <a:latin typeface="Calibri"/>
                        <a:ea typeface="Calibri"/>
                        <a:cs typeface="Calibri"/>
                        <a:sym typeface="Calibri"/>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IN">
                          <a:latin typeface="Calibri"/>
                          <a:ea typeface="Calibri"/>
                          <a:cs typeface="Calibri"/>
                          <a:sym typeface="Calibri"/>
                        </a:rPr>
                        <a:t>12</a:t>
                      </a:r>
                      <a:endParaRPr>
                        <a:latin typeface="Calibri"/>
                        <a:ea typeface="Calibri"/>
                        <a:cs typeface="Calibri"/>
                        <a:sym typeface="Calibri"/>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424" name="Google Shape;424;g3f8288f73f0_3_0"/>
          <p:cNvSpPr/>
          <p:nvPr/>
        </p:nvSpPr>
        <p:spPr>
          <a:xfrm>
            <a:off x="8494750" y="4849972"/>
            <a:ext cx="3421200" cy="515100"/>
          </a:xfrm>
          <a:prstGeom prst="roundRect">
            <a:avLst>
              <a:gd name="adj" fmla="val 16667"/>
            </a:avLst>
          </a:prstGeom>
          <a:noFill/>
          <a:ln w="19050" cap="flat" cmpd="sng">
            <a:solidFill>
              <a:srgbClr val="86BB3F"/>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425" name="Google Shape;425;g3f8288f73f0_3_0"/>
          <p:cNvSpPr txBox="1"/>
          <p:nvPr/>
        </p:nvSpPr>
        <p:spPr>
          <a:xfrm>
            <a:off x="202400" y="678650"/>
            <a:ext cx="6738900" cy="71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1700" b="1">
                <a:solidFill>
                  <a:schemeClr val="dk1"/>
                </a:solidFill>
                <a:latin typeface="Calibri"/>
                <a:ea typeface="Calibri"/>
                <a:cs typeface="Calibri"/>
                <a:sym typeface="Calibri"/>
              </a:rPr>
              <a:t>GHG and Pollutant emission calculation for different Vehicle categories-  </a:t>
            </a:r>
            <a:endParaRPr sz="1700" b="1">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g3f8288f73f0_3_73"/>
          <p:cNvSpPr txBox="1">
            <a:spLocks noGrp="1"/>
          </p:cNvSpPr>
          <p:nvPr>
            <p:ph type="body" idx="1"/>
          </p:nvPr>
        </p:nvSpPr>
        <p:spPr>
          <a:xfrm>
            <a:off x="252825" y="750217"/>
            <a:ext cx="11284500" cy="440400"/>
          </a:xfrm>
          <a:prstGeom prst="rect">
            <a:avLst/>
          </a:prstGeom>
        </p:spPr>
        <p:txBody>
          <a:bodyPr spcFirstLastPara="1" wrap="square" lIns="91425" tIns="45700" rIns="91425" bIns="45700" anchor="t" anchorCtr="0">
            <a:normAutofit/>
          </a:bodyPr>
          <a:lstStyle/>
          <a:p>
            <a:pPr marL="0" lvl="0" indent="0" algn="l" rtl="0">
              <a:spcBef>
                <a:spcPts val="500"/>
              </a:spcBef>
              <a:spcAft>
                <a:spcPts val="0"/>
              </a:spcAft>
              <a:buNone/>
            </a:pPr>
            <a:r>
              <a:rPr lang="en-IN" sz="1700" b="1"/>
              <a:t>Existing / Baseline scenario Calculation </a:t>
            </a:r>
            <a:endParaRPr sz="1700" b="1"/>
          </a:p>
        </p:txBody>
      </p:sp>
      <p:sp>
        <p:nvSpPr>
          <p:cNvPr id="432" name="Google Shape;432;g3f8288f73f0_3_73"/>
          <p:cNvSpPr txBox="1">
            <a:spLocks noGrp="1"/>
          </p:cNvSpPr>
          <p:nvPr>
            <p:ph type="body" idx="2"/>
          </p:nvPr>
        </p:nvSpPr>
        <p:spPr>
          <a:xfrm>
            <a:off x="395707" y="6475388"/>
            <a:ext cx="9740700" cy="383100"/>
          </a:xfrm>
          <a:prstGeom prst="rect">
            <a:avLst/>
          </a:prstGeom>
        </p:spPr>
        <p:txBody>
          <a:bodyPr spcFirstLastPara="1" wrap="square" lIns="0" tIns="45700" rIns="91425" bIns="45700" anchor="ctr" anchorCtr="0">
            <a:noAutofit/>
          </a:bodyPr>
          <a:lstStyle/>
          <a:p>
            <a:pPr marL="0" lvl="0" indent="0" algn="l" rtl="0">
              <a:spcBef>
                <a:spcPts val="300"/>
              </a:spcBef>
              <a:spcAft>
                <a:spcPts val="0"/>
              </a:spcAft>
              <a:buNone/>
            </a:pPr>
            <a:endParaRPr/>
          </a:p>
        </p:txBody>
      </p:sp>
      <p:sp>
        <p:nvSpPr>
          <p:cNvPr id="433" name="Google Shape;433;g3f8288f73f0_3_73"/>
          <p:cNvSpPr txBox="1">
            <a:spLocks noGrp="1"/>
          </p:cNvSpPr>
          <p:nvPr>
            <p:ph type="title"/>
          </p:nvPr>
        </p:nvSpPr>
        <p:spPr>
          <a:xfrm>
            <a:off x="312300" y="182525"/>
            <a:ext cx="11567400" cy="794100"/>
          </a:xfrm>
          <a:prstGeom prst="rect">
            <a:avLst/>
          </a:prstGeom>
          <a:noFill/>
          <a:ln>
            <a:noFill/>
          </a:ln>
        </p:spPr>
        <p:txBody>
          <a:bodyPr spcFirstLastPara="1" wrap="square" lIns="0" tIns="45700" rIns="0" bIns="45700" anchor="t" anchorCtr="0">
            <a:normAutofit/>
          </a:bodyPr>
          <a:lstStyle/>
          <a:p>
            <a:pPr marL="0" lvl="0" indent="0" algn="l" rtl="0">
              <a:lnSpc>
                <a:spcPct val="100000"/>
              </a:lnSpc>
              <a:spcBef>
                <a:spcPts val="0"/>
              </a:spcBef>
              <a:spcAft>
                <a:spcPts val="0"/>
              </a:spcAft>
              <a:buSzPts val="2400"/>
              <a:buNone/>
            </a:pPr>
            <a:r>
              <a:rPr lang="en-IN"/>
              <a:t>Model M3- GHG mitigation + Pollution (PM 2.5, PM10 and NOx) calculation </a:t>
            </a:r>
            <a:endParaRPr/>
          </a:p>
        </p:txBody>
      </p:sp>
      <p:sp>
        <p:nvSpPr>
          <p:cNvPr id="434" name="Google Shape;434;g3f8288f73f0_3_73"/>
          <p:cNvSpPr/>
          <p:nvPr/>
        </p:nvSpPr>
        <p:spPr>
          <a:xfrm>
            <a:off x="349850" y="1220431"/>
            <a:ext cx="2651700" cy="958500"/>
          </a:xfrm>
          <a:prstGeom prst="roundRect">
            <a:avLst>
              <a:gd name="adj" fmla="val 3529"/>
            </a:avLst>
          </a:prstGeom>
          <a:noFill/>
          <a:ln w="381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g3f8288f73f0_3_73"/>
          <p:cNvSpPr/>
          <p:nvPr/>
        </p:nvSpPr>
        <p:spPr>
          <a:xfrm>
            <a:off x="395550" y="1220431"/>
            <a:ext cx="2560200" cy="498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3800"/>
              <a:buFont typeface="Cambria"/>
              <a:buNone/>
            </a:pPr>
            <a:r>
              <a:rPr lang="en-IN" sz="3000" b="1" i="0" u="none" strike="noStrike" cap="none">
                <a:solidFill>
                  <a:srgbClr val="434343"/>
                </a:solidFill>
                <a:latin typeface="Calibri"/>
                <a:ea typeface="Calibri"/>
                <a:cs typeface="Calibri"/>
                <a:sym typeface="Calibri"/>
              </a:rPr>
              <a:t>5.78</a:t>
            </a:r>
            <a:endParaRPr sz="3000" i="0" u="none" strike="noStrike" cap="none">
              <a:solidFill>
                <a:srgbClr val="434343"/>
              </a:solidFill>
              <a:latin typeface="Calibri"/>
              <a:ea typeface="Calibri"/>
              <a:cs typeface="Calibri"/>
              <a:sym typeface="Calibri"/>
            </a:endParaRPr>
          </a:p>
        </p:txBody>
      </p:sp>
      <p:sp>
        <p:nvSpPr>
          <p:cNvPr id="436" name="Google Shape;436;g3f8288f73f0_3_73"/>
          <p:cNvSpPr/>
          <p:nvPr/>
        </p:nvSpPr>
        <p:spPr>
          <a:xfrm>
            <a:off x="395550" y="1677255"/>
            <a:ext cx="2560200" cy="183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50"/>
              <a:buFont typeface="Calibri"/>
              <a:buNone/>
            </a:pPr>
            <a:r>
              <a:rPr lang="en-IN" sz="1250" i="0" u="none" strike="noStrike" cap="none">
                <a:solidFill>
                  <a:srgbClr val="434343"/>
                </a:solidFill>
                <a:latin typeface="Calibri"/>
                <a:ea typeface="Calibri"/>
                <a:cs typeface="Calibri"/>
                <a:sym typeface="Calibri"/>
              </a:rPr>
              <a:t>lakh tonnes</a:t>
            </a:r>
            <a:endParaRPr sz="1250" i="0" u="none" strike="noStrike" cap="none">
              <a:solidFill>
                <a:srgbClr val="434343"/>
              </a:solidFill>
              <a:latin typeface="Calibri"/>
              <a:ea typeface="Calibri"/>
              <a:cs typeface="Calibri"/>
              <a:sym typeface="Calibri"/>
            </a:endParaRPr>
          </a:p>
        </p:txBody>
      </p:sp>
      <p:sp>
        <p:nvSpPr>
          <p:cNvPr id="437" name="Google Shape;437;g3f8288f73f0_3_73"/>
          <p:cNvSpPr/>
          <p:nvPr/>
        </p:nvSpPr>
        <p:spPr>
          <a:xfrm>
            <a:off x="486990" y="1792342"/>
            <a:ext cx="2377500" cy="315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50"/>
              <a:buFont typeface="Calibri"/>
              <a:buNone/>
            </a:pPr>
            <a:r>
              <a:rPr lang="en-IN" sz="1250" b="1" i="0" u="none" strike="noStrike" cap="none">
                <a:solidFill>
                  <a:srgbClr val="434343"/>
                </a:solidFill>
                <a:latin typeface="Calibri"/>
                <a:ea typeface="Calibri"/>
                <a:cs typeface="Calibri"/>
                <a:sym typeface="Calibri"/>
              </a:rPr>
              <a:t>GHG (CO₂e) / year</a:t>
            </a:r>
            <a:endParaRPr sz="1250" i="0" u="none" strike="noStrike" cap="none">
              <a:solidFill>
                <a:srgbClr val="434343"/>
              </a:solidFill>
              <a:latin typeface="Calibri"/>
              <a:ea typeface="Calibri"/>
              <a:cs typeface="Calibri"/>
              <a:sym typeface="Calibri"/>
            </a:endParaRPr>
          </a:p>
        </p:txBody>
      </p:sp>
      <p:sp>
        <p:nvSpPr>
          <p:cNvPr id="438" name="Google Shape;438;g3f8288f73f0_3_73"/>
          <p:cNvSpPr/>
          <p:nvPr/>
        </p:nvSpPr>
        <p:spPr>
          <a:xfrm>
            <a:off x="3257642" y="1220431"/>
            <a:ext cx="2651700" cy="958500"/>
          </a:xfrm>
          <a:prstGeom prst="roundRect">
            <a:avLst>
              <a:gd name="adj" fmla="val 3529"/>
            </a:avLst>
          </a:prstGeom>
          <a:no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g3f8288f73f0_3_73"/>
          <p:cNvSpPr/>
          <p:nvPr/>
        </p:nvSpPr>
        <p:spPr>
          <a:xfrm>
            <a:off x="3303342" y="1220431"/>
            <a:ext cx="2560200" cy="498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3800"/>
              <a:buFont typeface="Cambria"/>
              <a:buNone/>
            </a:pPr>
            <a:r>
              <a:rPr lang="en-IN" sz="3000" b="1" i="0" u="none" strike="noStrike" cap="none">
                <a:solidFill>
                  <a:srgbClr val="434343"/>
                </a:solidFill>
                <a:latin typeface="Calibri"/>
                <a:ea typeface="Calibri"/>
                <a:cs typeface="Calibri"/>
                <a:sym typeface="Calibri"/>
              </a:rPr>
              <a:t>8,597</a:t>
            </a:r>
            <a:endParaRPr sz="3000" i="0" u="none" strike="noStrike" cap="none">
              <a:solidFill>
                <a:srgbClr val="434343"/>
              </a:solidFill>
              <a:latin typeface="Calibri"/>
              <a:ea typeface="Calibri"/>
              <a:cs typeface="Calibri"/>
              <a:sym typeface="Calibri"/>
            </a:endParaRPr>
          </a:p>
        </p:txBody>
      </p:sp>
      <p:sp>
        <p:nvSpPr>
          <p:cNvPr id="440" name="Google Shape;440;g3f8288f73f0_3_73"/>
          <p:cNvSpPr/>
          <p:nvPr/>
        </p:nvSpPr>
        <p:spPr>
          <a:xfrm>
            <a:off x="3303342" y="1677255"/>
            <a:ext cx="2560200" cy="183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50"/>
              <a:buFont typeface="Calibri"/>
              <a:buNone/>
            </a:pPr>
            <a:r>
              <a:rPr lang="en-IN" sz="1250" i="0" u="none" strike="noStrike" cap="none">
                <a:solidFill>
                  <a:srgbClr val="434343"/>
                </a:solidFill>
                <a:latin typeface="Calibri"/>
                <a:ea typeface="Calibri"/>
                <a:cs typeface="Calibri"/>
                <a:sym typeface="Calibri"/>
              </a:rPr>
              <a:t>tonnes</a:t>
            </a:r>
            <a:endParaRPr sz="1250" i="0" u="none" strike="noStrike" cap="none">
              <a:solidFill>
                <a:srgbClr val="434343"/>
              </a:solidFill>
              <a:latin typeface="Calibri"/>
              <a:ea typeface="Calibri"/>
              <a:cs typeface="Calibri"/>
              <a:sym typeface="Calibri"/>
            </a:endParaRPr>
          </a:p>
        </p:txBody>
      </p:sp>
      <p:sp>
        <p:nvSpPr>
          <p:cNvPr id="441" name="Google Shape;441;g3f8288f73f0_3_73"/>
          <p:cNvSpPr/>
          <p:nvPr/>
        </p:nvSpPr>
        <p:spPr>
          <a:xfrm>
            <a:off x="3394782" y="1792342"/>
            <a:ext cx="2377500" cy="315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50"/>
              <a:buFont typeface="Calibri"/>
              <a:buNone/>
            </a:pPr>
            <a:r>
              <a:rPr lang="en-IN" sz="1250" b="1" i="0" u="none" strike="noStrike" cap="none">
                <a:solidFill>
                  <a:srgbClr val="434343"/>
                </a:solidFill>
                <a:latin typeface="Calibri"/>
                <a:ea typeface="Calibri"/>
                <a:cs typeface="Calibri"/>
                <a:sym typeface="Calibri"/>
              </a:rPr>
              <a:t>NOx / year</a:t>
            </a:r>
            <a:endParaRPr sz="1250" i="0" u="none" strike="noStrike" cap="none">
              <a:solidFill>
                <a:srgbClr val="434343"/>
              </a:solidFill>
              <a:latin typeface="Calibri"/>
              <a:ea typeface="Calibri"/>
              <a:cs typeface="Calibri"/>
              <a:sym typeface="Calibri"/>
            </a:endParaRPr>
          </a:p>
        </p:txBody>
      </p:sp>
      <p:sp>
        <p:nvSpPr>
          <p:cNvPr id="442" name="Google Shape;442;g3f8288f73f0_3_73"/>
          <p:cNvSpPr/>
          <p:nvPr/>
        </p:nvSpPr>
        <p:spPr>
          <a:xfrm>
            <a:off x="6165433" y="1220431"/>
            <a:ext cx="2651700" cy="958500"/>
          </a:xfrm>
          <a:prstGeom prst="roundRect">
            <a:avLst>
              <a:gd name="adj" fmla="val 3529"/>
            </a:avLst>
          </a:prstGeom>
          <a:noFill/>
          <a:ln w="38100" cap="flat" cmpd="sng">
            <a:solidFill>
              <a:srgbClr val="86BB3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g3f8288f73f0_3_73"/>
          <p:cNvSpPr/>
          <p:nvPr/>
        </p:nvSpPr>
        <p:spPr>
          <a:xfrm>
            <a:off x="6211133" y="1220431"/>
            <a:ext cx="2560200" cy="498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3800"/>
              <a:buFont typeface="Cambria"/>
              <a:buNone/>
            </a:pPr>
            <a:r>
              <a:rPr lang="en-IN" sz="3000" b="1" i="0" u="none" strike="noStrike" cap="none">
                <a:solidFill>
                  <a:srgbClr val="434343"/>
                </a:solidFill>
                <a:latin typeface="Calibri"/>
                <a:ea typeface="Calibri"/>
                <a:cs typeface="Calibri"/>
                <a:sym typeface="Calibri"/>
              </a:rPr>
              <a:t>159.7</a:t>
            </a:r>
            <a:endParaRPr sz="3000" i="0" u="none" strike="noStrike" cap="none">
              <a:solidFill>
                <a:srgbClr val="434343"/>
              </a:solidFill>
              <a:latin typeface="Calibri"/>
              <a:ea typeface="Calibri"/>
              <a:cs typeface="Calibri"/>
              <a:sym typeface="Calibri"/>
            </a:endParaRPr>
          </a:p>
        </p:txBody>
      </p:sp>
      <p:sp>
        <p:nvSpPr>
          <p:cNvPr id="444" name="Google Shape;444;g3f8288f73f0_3_73"/>
          <p:cNvSpPr/>
          <p:nvPr/>
        </p:nvSpPr>
        <p:spPr>
          <a:xfrm>
            <a:off x="6211133" y="1677255"/>
            <a:ext cx="2560200" cy="183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50"/>
              <a:buFont typeface="Calibri"/>
              <a:buNone/>
            </a:pPr>
            <a:r>
              <a:rPr lang="en-IN" sz="1250" i="0" u="none" strike="noStrike" cap="none">
                <a:solidFill>
                  <a:srgbClr val="434343"/>
                </a:solidFill>
                <a:latin typeface="Calibri"/>
                <a:ea typeface="Calibri"/>
                <a:cs typeface="Calibri"/>
                <a:sym typeface="Calibri"/>
              </a:rPr>
              <a:t>tonnes</a:t>
            </a:r>
            <a:endParaRPr sz="1250" i="0" u="none" strike="noStrike" cap="none">
              <a:solidFill>
                <a:srgbClr val="434343"/>
              </a:solidFill>
              <a:latin typeface="Calibri"/>
              <a:ea typeface="Calibri"/>
              <a:cs typeface="Calibri"/>
              <a:sym typeface="Calibri"/>
            </a:endParaRPr>
          </a:p>
        </p:txBody>
      </p:sp>
      <p:sp>
        <p:nvSpPr>
          <p:cNvPr id="445" name="Google Shape;445;g3f8288f73f0_3_73"/>
          <p:cNvSpPr/>
          <p:nvPr/>
        </p:nvSpPr>
        <p:spPr>
          <a:xfrm>
            <a:off x="6302573" y="1792342"/>
            <a:ext cx="2377500" cy="315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50"/>
              <a:buFont typeface="Calibri"/>
              <a:buNone/>
            </a:pPr>
            <a:r>
              <a:rPr lang="en-IN" sz="1250" b="1" i="0" u="none" strike="noStrike" cap="none">
                <a:solidFill>
                  <a:srgbClr val="434343"/>
                </a:solidFill>
                <a:latin typeface="Calibri"/>
                <a:ea typeface="Calibri"/>
                <a:cs typeface="Calibri"/>
                <a:sym typeface="Calibri"/>
              </a:rPr>
              <a:t>PM10 / year</a:t>
            </a:r>
            <a:endParaRPr sz="1250" i="0" u="none" strike="noStrike" cap="none">
              <a:solidFill>
                <a:srgbClr val="434343"/>
              </a:solidFill>
              <a:latin typeface="Calibri"/>
              <a:ea typeface="Calibri"/>
              <a:cs typeface="Calibri"/>
              <a:sym typeface="Calibri"/>
            </a:endParaRPr>
          </a:p>
        </p:txBody>
      </p:sp>
      <p:sp>
        <p:nvSpPr>
          <p:cNvPr id="446" name="Google Shape;446;g3f8288f73f0_3_73"/>
          <p:cNvSpPr/>
          <p:nvPr/>
        </p:nvSpPr>
        <p:spPr>
          <a:xfrm>
            <a:off x="9073225" y="1220431"/>
            <a:ext cx="2651700" cy="958500"/>
          </a:xfrm>
          <a:prstGeom prst="roundRect">
            <a:avLst>
              <a:gd name="adj" fmla="val 3529"/>
            </a:avLst>
          </a:prstGeom>
          <a:noFill/>
          <a:ln w="38100"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g3f8288f73f0_3_73"/>
          <p:cNvSpPr/>
          <p:nvPr/>
        </p:nvSpPr>
        <p:spPr>
          <a:xfrm>
            <a:off x="9118925" y="1220431"/>
            <a:ext cx="2560200" cy="498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3800"/>
              <a:buFont typeface="Cambria"/>
              <a:buNone/>
            </a:pPr>
            <a:r>
              <a:rPr lang="en-IN" sz="3000" b="1" i="0" u="none" strike="noStrike" cap="none">
                <a:solidFill>
                  <a:srgbClr val="434343"/>
                </a:solidFill>
                <a:latin typeface="Calibri"/>
                <a:ea typeface="Calibri"/>
                <a:cs typeface="Calibri"/>
                <a:sym typeface="Calibri"/>
              </a:rPr>
              <a:t>143.7</a:t>
            </a:r>
            <a:endParaRPr sz="3000" i="0" u="none" strike="noStrike" cap="none">
              <a:solidFill>
                <a:srgbClr val="434343"/>
              </a:solidFill>
              <a:latin typeface="Calibri"/>
              <a:ea typeface="Calibri"/>
              <a:cs typeface="Calibri"/>
              <a:sym typeface="Calibri"/>
            </a:endParaRPr>
          </a:p>
        </p:txBody>
      </p:sp>
      <p:sp>
        <p:nvSpPr>
          <p:cNvPr id="448" name="Google Shape;448;g3f8288f73f0_3_73"/>
          <p:cNvSpPr/>
          <p:nvPr/>
        </p:nvSpPr>
        <p:spPr>
          <a:xfrm>
            <a:off x="9118925" y="1677255"/>
            <a:ext cx="2560200" cy="183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50"/>
              <a:buFont typeface="Calibri"/>
              <a:buNone/>
            </a:pPr>
            <a:r>
              <a:rPr lang="en-IN" sz="1250" i="0" u="none" strike="noStrike" cap="none">
                <a:solidFill>
                  <a:srgbClr val="434343"/>
                </a:solidFill>
                <a:latin typeface="Calibri"/>
                <a:ea typeface="Calibri"/>
                <a:cs typeface="Calibri"/>
                <a:sym typeface="Calibri"/>
              </a:rPr>
              <a:t>tonnes</a:t>
            </a:r>
            <a:endParaRPr sz="1250" i="0" u="none" strike="noStrike" cap="none">
              <a:solidFill>
                <a:srgbClr val="434343"/>
              </a:solidFill>
              <a:latin typeface="Calibri"/>
              <a:ea typeface="Calibri"/>
              <a:cs typeface="Calibri"/>
              <a:sym typeface="Calibri"/>
            </a:endParaRPr>
          </a:p>
        </p:txBody>
      </p:sp>
      <p:sp>
        <p:nvSpPr>
          <p:cNvPr id="449" name="Google Shape;449;g3f8288f73f0_3_73"/>
          <p:cNvSpPr/>
          <p:nvPr/>
        </p:nvSpPr>
        <p:spPr>
          <a:xfrm>
            <a:off x="9210365" y="1792342"/>
            <a:ext cx="2377500" cy="315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50"/>
              <a:buFont typeface="Calibri"/>
              <a:buNone/>
            </a:pPr>
            <a:r>
              <a:rPr lang="en-IN" sz="1250" b="1" i="0" u="none" strike="noStrike" cap="none">
                <a:solidFill>
                  <a:srgbClr val="434343"/>
                </a:solidFill>
                <a:latin typeface="Calibri"/>
                <a:ea typeface="Calibri"/>
                <a:cs typeface="Calibri"/>
                <a:sym typeface="Calibri"/>
              </a:rPr>
              <a:t>PM2.5 / year</a:t>
            </a:r>
            <a:endParaRPr sz="1250" i="0" u="none" strike="noStrike" cap="none">
              <a:solidFill>
                <a:srgbClr val="434343"/>
              </a:solidFill>
              <a:latin typeface="Calibri"/>
              <a:ea typeface="Calibri"/>
              <a:cs typeface="Calibri"/>
              <a:sym typeface="Calibri"/>
            </a:endParaRPr>
          </a:p>
        </p:txBody>
      </p:sp>
      <p:grpSp>
        <p:nvGrpSpPr>
          <p:cNvPr id="450" name="Google Shape;450;g3f8288f73f0_3_73"/>
          <p:cNvGrpSpPr/>
          <p:nvPr/>
        </p:nvGrpSpPr>
        <p:grpSpPr>
          <a:xfrm>
            <a:off x="423325" y="2382577"/>
            <a:ext cx="6725725" cy="3983900"/>
            <a:chOff x="423325" y="2280000"/>
            <a:chExt cx="6725725" cy="3983900"/>
          </a:xfrm>
        </p:grpSpPr>
        <p:pic>
          <p:nvPicPr>
            <p:cNvPr id="451" name="Google Shape;451;g3f8288f73f0_3_73"/>
            <p:cNvPicPr preferRelativeResize="0"/>
            <p:nvPr/>
          </p:nvPicPr>
          <p:blipFill rotWithShape="1">
            <a:blip r:embed="rId3">
              <a:alphaModFix/>
            </a:blip>
            <a:srcRect l="1062" t="1753" r="1549" b="1376"/>
            <a:stretch/>
          </p:blipFill>
          <p:spPr>
            <a:xfrm>
              <a:off x="423325" y="2397125"/>
              <a:ext cx="6725725" cy="3866775"/>
            </a:xfrm>
            <a:prstGeom prst="rect">
              <a:avLst/>
            </a:prstGeom>
            <a:noFill/>
            <a:ln>
              <a:noFill/>
            </a:ln>
          </p:spPr>
        </p:pic>
        <p:sp>
          <p:nvSpPr>
            <p:cNvPr id="452" name="Google Shape;452;g3f8288f73f0_3_73"/>
            <p:cNvSpPr txBox="1"/>
            <p:nvPr/>
          </p:nvSpPr>
          <p:spPr>
            <a:xfrm>
              <a:off x="3303350" y="2280000"/>
              <a:ext cx="1212000" cy="69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200">
                  <a:solidFill>
                    <a:schemeClr val="accent1"/>
                  </a:solidFill>
                  <a:latin typeface="Calibri"/>
                  <a:ea typeface="Calibri"/>
                  <a:cs typeface="Calibri"/>
                  <a:sym typeface="Calibri"/>
                </a:rPr>
                <a:t>14 %</a:t>
              </a:r>
              <a:r>
                <a:rPr lang="en-IN" sz="2200">
                  <a:solidFill>
                    <a:schemeClr val="dk1"/>
                  </a:solidFill>
                  <a:latin typeface="Calibri"/>
                  <a:ea typeface="Calibri"/>
                  <a:cs typeface="Calibri"/>
                  <a:sym typeface="Calibri"/>
                </a:rPr>
                <a:t> </a:t>
              </a:r>
              <a:r>
                <a:rPr lang="en-IN" sz="1300">
                  <a:solidFill>
                    <a:srgbClr val="595959"/>
                  </a:solidFill>
                  <a:latin typeface="Calibri"/>
                  <a:ea typeface="Calibri"/>
                  <a:cs typeface="Calibri"/>
                  <a:sym typeface="Calibri"/>
                </a:rPr>
                <a:t>reduction</a:t>
              </a:r>
              <a:r>
                <a:rPr lang="en-I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sp>
          <p:nvSpPr>
            <p:cNvPr id="453" name="Google Shape;453;g3f8288f73f0_3_73"/>
            <p:cNvSpPr txBox="1"/>
            <p:nvPr/>
          </p:nvSpPr>
          <p:spPr>
            <a:xfrm>
              <a:off x="4660050" y="2422725"/>
              <a:ext cx="1212000" cy="74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200">
                  <a:solidFill>
                    <a:schemeClr val="accent1"/>
                  </a:solidFill>
                  <a:latin typeface="Calibri"/>
                  <a:ea typeface="Calibri"/>
                  <a:cs typeface="Calibri"/>
                  <a:sym typeface="Calibri"/>
                </a:rPr>
                <a:t>19 %</a:t>
              </a:r>
              <a:r>
                <a:rPr lang="en-IN" sz="1700">
                  <a:solidFill>
                    <a:schemeClr val="dk1"/>
                  </a:solidFill>
                  <a:latin typeface="Calibri"/>
                  <a:ea typeface="Calibri"/>
                  <a:cs typeface="Calibri"/>
                  <a:sym typeface="Calibri"/>
                </a:rPr>
                <a:t> </a:t>
              </a:r>
              <a:endParaRPr sz="1700">
                <a:solidFill>
                  <a:schemeClr val="dk1"/>
                </a:solidFill>
                <a:latin typeface="Calibri"/>
                <a:ea typeface="Calibri"/>
                <a:cs typeface="Calibri"/>
                <a:sym typeface="Calibri"/>
              </a:endParaRPr>
            </a:p>
            <a:p>
              <a:pPr marL="0" lvl="0" indent="0" algn="l" rtl="0">
                <a:spcBef>
                  <a:spcPts val="0"/>
                </a:spcBef>
                <a:spcAft>
                  <a:spcPts val="0"/>
                </a:spcAft>
                <a:buNone/>
              </a:pPr>
              <a:r>
                <a:rPr lang="en-IN" sz="1300">
                  <a:solidFill>
                    <a:srgbClr val="595959"/>
                  </a:solidFill>
                  <a:latin typeface="Calibri"/>
                  <a:ea typeface="Calibri"/>
                  <a:cs typeface="Calibri"/>
                  <a:sym typeface="Calibri"/>
                </a:rPr>
                <a:t>reduction</a:t>
              </a:r>
              <a:r>
                <a:rPr lang="en-IN" sz="1700">
                  <a:solidFill>
                    <a:schemeClr val="dk1"/>
                  </a:solidFill>
                  <a:latin typeface="Calibri"/>
                  <a:ea typeface="Calibri"/>
                  <a:cs typeface="Calibri"/>
                  <a:sym typeface="Calibri"/>
                </a:rPr>
                <a:t> </a:t>
              </a:r>
              <a:endParaRPr sz="1700">
                <a:solidFill>
                  <a:schemeClr val="dk1"/>
                </a:solidFill>
                <a:latin typeface="Calibri"/>
                <a:ea typeface="Calibri"/>
                <a:cs typeface="Calibri"/>
                <a:sym typeface="Calibri"/>
              </a:endParaRPr>
            </a:p>
          </p:txBody>
        </p:sp>
        <p:sp>
          <p:nvSpPr>
            <p:cNvPr id="454" name="Google Shape;454;g3f8288f73f0_3_73"/>
            <p:cNvSpPr txBox="1"/>
            <p:nvPr/>
          </p:nvSpPr>
          <p:spPr>
            <a:xfrm>
              <a:off x="6039350" y="2614700"/>
              <a:ext cx="1109700" cy="67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2200">
                  <a:solidFill>
                    <a:schemeClr val="accent1"/>
                  </a:solidFill>
                  <a:latin typeface="Calibri"/>
                  <a:ea typeface="Calibri"/>
                  <a:cs typeface="Calibri"/>
                  <a:sym typeface="Calibri"/>
                </a:rPr>
                <a:t>24 % </a:t>
              </a:r>
              <a:endParaRPr sz="2200">
                <a:solidFill>
                  <a:schemeClr val="accent1"/>
                </a:solidFill>
                <a:latin typeface="Calibri"/>
                <a:ea typeface="Calibri"/>
                <a:cs typeface="Calibri"/>
                <a:sym typeface="Calibri"/>
              </a:endParaRPr>
            </a:p>
            <a:p>
              <a:pPr marL="0" lvl="0" indent="0" algn="l" rtl="0">
                <a:spcBef>
                  <a:spcPts val="0"/>
                </a:spcBef>
                <a:spcAft>
                  <a:spcPts val="0"/>
                </a:spcAft>
                <a:buNone/>
              </a:pPr>
              <a:r>
                <a:rPr lang="en-IN" sz="1300">
                  <a:solidFill>
                    <a:srgbClr val="595959"/>
                  </a:solidFill>
                  <a:latin typeface="Calibri"/>
                  <a:ea typeface="Calibri"/>
                  <a:cs typeface="Calibri"/>
                  <a:sym typeface="Calibri"/>
                </a:rPr>
                <a:t>reduction</a:t>
              </a:r>
              <a:r>
                <a:rPr lang="en-IN" sz="1700">
                  <a:solidFill>
                    <a:schemeClr val="dk1"/>
                  </a:solidFill>
                  <a:latin typeface="Calibri"/>
                  <a:ea typeface="Calibri"/>
                  <a:cs typeface="Calibri"/>
                  <a:sym typeface="Calibri"/>
                </a:rPr>
                <a:t> </a:t>
              </a:r>
              <a:endParaRPr sz="1700">
                <a:solidFill>
                  <a:schemeClr val="dk1"/>
                </a:solidFill>
                <a:latin typeface="Calibri"/>
                <a:ea typeface="Calibri"/>
                <a:cs typeface="Calibri"/>
                <a:sym typeface="Calibri"/>
              </a:endParaRPr>
            </a:p>
          </p:txBody>
        </p:sp>
      </p:grpSp>
      <p:cxnSp>
        <p:nvCxnSpPr>
          <p:cNvPr id="455" name="Google Shape;455;g3f8288f73f0_3_73"/>
          <p:cNvCxnSpPr/>
          <p:nvPr/>
        </p:nvCxnSpPr>
        <p:spPr>
          <a:xfrm>
            <a:off x="7326925" y="2476500"/>
            <a:ext cx="0" cy="3692700"/>
          </a:xfrm>
          <a:prstGeom prst="straightConnector1">
            <a:avLst/>
          </a:prstGeom>
          <a:noFill/>
          <a:ln w="28575" cap="flat" cmpd="sng">
            <a:solidFill>
              <a:srgbClr val="9E9E9E"/>
            </a:solidFill>
            <a:prstDash val="dash"/>
            <a:round/>
            <a:headEnd type="none" w="med" len="med"/>
            <a:tailEnd type="none" w="med" len="med"/>
          </a:ln>
        </p:spPr>
      </p:cxnSp>
      <p:graphicFrame>
        <p:nvGraphicFramePr>
          <p:cNvPr id="456" name="Google Shape;456;g3f8288f73f0_3_73"/>
          <p:cNvGraphicFramePr/>
          <p:nvPr/>
        </p:nvGraphicFramePr>
        <p:xfrm>
          <a:off x="7445275" y="2474363"/>
          <a:ext cx="4591000" cy="3896995"/>
        </p:xfrm>
        <a:graphic>
          <a:graphicData uri="http://schemas.openxmlformats.org/drawingml/2006/table">
            <a:tbl>
              <a:tblPr>
                <a:noFill/>
                <a:tableStyleId>{CE8E0634-9335-4D7C-9B2C-971118863D71}</a:tableStyleId>
              </a:tblPr>
              <a:tblGrid>
                <a:gridCol w="914100">
                  <a:extLst>
                    <a:ext uri="{9D8B030D-6E8A-4147-A177-3AD203B41FA5}">
                      <a16:colId xmlns:a16="http://schemas.microsoft.com/office/drawing/2014/main" val="20000"/>
                    </a:ext>
                  </a:extLst>
                </a:gridCol>
                <a:gridCol w="732300">
                  <a:extLst>
                    <a:ext uri="{9D8B030D-6E8A-4147-A177-3AD203B41FA5}">
                      <a16:colId xmlns:a16="http://schemas.microsoft.com/office/drawing/2014/main" val="20001"/>
                    </a:ext>
                  </a:extLst>
                </a:gridCol>
                <a:gridCol w="675775">
                  <a:extLst>
                    <a:ext uri="{9D8B030D-6E8A-4147-A177-3AD203B41FA5}">
                      <a16:colId xmlns:a16="http://schemas.microsoft.com/office/drawing/2014/main" val="20002"/>
                    </a:ext>
                  </a:extLst>
                </a:gridCol>
                <a:gridCol w="671850">
                  <a:extLst>
                    <a:ext uri="{9D8B030D-6E8A-4147-A177-3AD203B41FA5}">
                      <a16:colId xmlns:a16="http://schemas.microsoft.com/office/drawing/2014/main" val="20003"/>
                    </a:ext>
                  </a:extLst>
                </a:gridCol>
                <a:gridCol w="1596975">
                  <a:extLst>
                    <a:ext uri="{9D8B030D-6E8A-4147-A177-3AD203B41FA5}">
                      <a16:colId xmlns:a16="http://schemas.microsoft.com/office/drawing/2014/main" val="20004"/>
                    </a:ext>
                  </a:extLst>
                </a:gridCol>
              </a:tblGrid>
              <a:tr h="604650">
                <a:tc>
                  <a:txBody>
                    <a:bodyPr/>
                    <a:lstStyle/>
                    <a:p>
                      <a:pPr marL="0" lvl="0" indent="0" algn="l" rtl="0">
                        <a:spcBef>
                          <a:spcPts val="0"/>
                        </a:spcBef>
                        <a:spcAft>
                          <a:spcPts val="0"/>
                        </a:spcAft>
                        <a:buNone/>
                      </a:pPr>
                      <a:r>
                        <a:rPr lang="en-IN" b="1">
                          <a:latin typeface="Calibri"/>
                          <a:ea typeface="Calibri"/>
                          <a:cs typeface="Calibri"/>
                          <a:sym typeface="Calibri"/>
                        </a:rPr>
                        <a:t>Scenario</a:t>
                      </a:r>
                      <a:endParaRPr b="1">
                        <a:latin typeface="Calibri"/>
                        <a:ea typeface="Calibri"/>
                        <a:cs typeface="Calibri"/>
                        <a:sym typeface="Calibri"/>
                      </a:endParaRPr>
                    </a:p>
                  </a:txBody>
                  <a:tcPr marL="91425" marR="91425" marT="91425" marB="91425">
                    <a:lnL w="9525" cap="flat" cmpd="sng">
                      <a:solidFill>
                        <a:srgbClr val="595959"/>
                      </a:solidFill>
                      <a:prstDash val="solid"/>
                      <a:round/>
                      <a:headEnd type="none" w="sm" len="sm"/>
                      <a:tailEnd type="none" w="sm" len="sm"/>
                    </a:lnL>
                    <a:lnR w="9525" cap="flat" cmpd="sng">
                      <a:solidFill>
                        <a:srgbClr val="595959"/>
                      </a:solidFill>
                      <a:prstDash val="solid"/>
                      <a:round/>
                      <a:headEnd type="none" w="sm" len="sm"/>
                      <a:tailEnd type="none" w="sm" len="sm"/>
                    </a:lnR>
                    <a:lnT w="9525" cap="flat" cmpd="sng">
                      <a:solidFill>
                        <a:srgbClr val="595959"/>
                      </a:solidFill>
                      <a:prstDash val="solid"/>
                      <a:round/>
                      <a:headEnd type="none" w="sm" len="sm"/>
                      <a:tailEnd type="none" w="sm" len="sm"/>
                    </a:lnT>
                    <a:lnB w="9525" cap="flat" cmpd="sng">
                      <a:solidFill>
                        <a:srgbClr val="595959"/>
                      </a:solidFill>
                      <a:prstDash val="solid"/>
                      <a:round/>
                      <a:headEnd type="none" w="sm" len="sm"/>
                      <a:tailEnd type="none" w="sm" len="sm"/>
                    </a:lnB>
                    <a:solidFill>
                      <a:srgbClr val="B8D4F0"/>
                    </a:solidFill>
                  </a:tcPr>
                </a:tc>
                <a:tc>
                  <a:txBody>
                    <a:bodyPr/>
                    <a:lstStyle/>
                    <a:p>
                      <a:pPr marL="0" lvl="0" indent="0" algn="l" rtl="0">
                        <a:spcBef>
                          <a:spcPts val="0"/>
                        </a:spcBef>
                        <a:spcAft>
                          <a:spcPts val="0"/>
                        </a:spcAft>
                        <a:buNone/>
                      </a:pPr>
                      <a:r>
                        <a:rPr lang="en-IN" b="1">
                          <a:latin typeface="Calibri"/>
                          <a:ea typeface="Calibri"/>
                          <a:cs typeface="Calibri"/>
                          <a:sym typeface="Calibri"/>
                        </a:rPr>
                        <a:t>2W shift</a:t>
                      </a:r>
                      <a:endParaRPr b="1">
                        <a:latin typeface="Calibri"/>
                        <a:ea typeface="Calibri"/>
                        <a:cs typeface="Calibri"/>
                        <a:sym typeface="Calibri"/>
                      </a:endParaRPr>
                    </a:p>
                  </a:txBody>
                  <a:tcPr marL="91425" marR="91425" marT="91425" marB="91425">
                    <a:lnL w="9525" cap="flat" cmpd="sng">
                      <a:solidFill>
                        <a:srgbClr val="595959"/>
                      </a:solidFill>
                      <a:prstDash val="solid"/>
                      <a:round/>
                      <a:headEnd type="none" w="sm" len="sm"/>
                      <a:tailEnd type="none" w="sm" len="sm"/>
                    </a:lnL>
                    <a:lnR w="9525" cap="flat" cmpd="sng">
                      <a:solidFill>
                        <a:srgbClr val="595959"/>
                      </a:solidFill>
                      <a:prstDash val="solid"/>
                      <a:round/>
                      <a:headEnd type="none" w="sm" len="sm"/>
                      <a:tailEnd type="none" w="sm" len="sm"/>
                    </a:lnR>
                    <a:lnT w="9525" cap="flat" cmpd="sng">
                      <a:solidFill>
                        <a:srgbClr val="595959"/>
                      </a:solidFill>
                      <a:prstDash val="solid"/>
                      <a:round/>
                      <a:headEnd type="none" w="sm" len="sm"/>
                      <a:tailEnd type="none" w="sm" len="sm"/>
                    </a:lnT>
                    <a:lnB w="9525" cap="flat" cmpd="sng">
                      <a:solidFill>
                        <a:srgbClr val="595959"/>
                      </a:solidFill>
                      <a:prstDash val="solid"/>
                      <a:round/>
                      <a:headEnd type="none" w="sm" len="sm"/>
                      <a:tailEnd type="none" w="sm" len="sm"/>
                    </a:lnB>
                    <a:solidFill>
                      <a:srgbClr val="B8D4F0"/>
                    </a:solidFill>
                  </a:tcPr>
                </a:tc>
                <a:tc>
                  <a:txBody>
                    <a:bodyPr/>
                    <a:lstStyle/>
                    <a:p>
                      <a:pPr marL="0" lvl="0" indent="0" algn="l" rtl="0">
                        <a:spcBef>
                          <a:spcPts val="0"/>
                        </a:spcBef>
                        <a:spcAft>
                          <a:spcPts val="0"/>
                        </a:spcAft>
                        <a:buNone/>
                      </a:pPr>
                      <a:r>
                        <a:rPr lang="en-IN" b="1">
                          <a:latin typeface="Calibri"/>
                          <a:ea typeface="Calibri"/>
                          <a:cs typeface="Calibri"/>
                          <a:sym typeface="Calibri"/>
                        </a:rPr>
                        <a:t>IPT shift </a:t>
                      </a:r>
                      <a:endParaRPr b="1">
                        <a:latin typeface="Calibri"/>
                        <a:ea typeface="Calibri"/>
                        <a:cs typeface="Calibri"/>
                        <a:sym typeface="Calibri"/>
                      </a:endParaRPr>
                    </a:p>
                  </a:txBody>
                  <a:tcPr marL="91425" marR="91425" marT="91425" marB="91425">
                    <a:lnL w="9525" cap="flat" cmpd="sng">
                      <a:solidFill>
                        <a:srgbClr val="595959"/>
                      </a:solidFill>
                      <a:prstDash val="solid"/>
                      <a:round/>
                      <a:headEnd type="none" w="sm" len="sm"/>
                      <a:tailEnd type="none" w="sm" len="sm"/>
                    </a:lnL>
                    <a:lnR w="9525" cap="flat" cmpd="sng">
                      <a:solidFill>
                        <a:srgbClr val="595959"/>
                      </a:solidFill>
                      <a:prstDash val="solid"/>
                      <a:round/>
                      <a:headEnd type="none" w="sm" len="sm"/>
                      <a:tailEnd type="none" w="sm" len="sm"/>
                    </a:lnR>
                    <a:lnT w="9525" cap="flat" cmpd="sng">
                      <a:solidFill>
                        <a:srgbClr val="595959"/>
                      </a:solidFill>
                      <a:prstDash val="solid"/>
                      <a:round/>
                      <a:headEnd type="none" w="sm" len="sm"/>
                      <a:tailEnd type="none" w="sm" len="sm"/>
                    </a:lnT>
                    <a:lnB w="9525" cap="flat" cmpd="sng">
                      <a:solidFill>
                        <a:srgbClr val="595959"/>
                      </a:solidFill>
                      <a:prstDash val="solid"/>
                      <a:round/>
                      <a:headEnd type="none" w="sm" len="sm"/>
                      <a:tailEnd type="none" w="sm" len="sm"/>
                    </a:lnB>
                    <a:solidFill>
                      <a:srgbClr val="B8D4F0"/>
                    </a:solidFill>
                  </a:tcPr>
                </a:tc>
                <a:tc>
                  <a:txBody>
                    <a:bodyPr/>
                    <a:lstStyle/>
                    <a:p>
                      <a:pPr marL="0" lvl="0" indent="0" algn="l" rtl="0">
                        <a:spcBef>
                          <a:spcPts val="0"/>
                        </a:spcBef>
                        <a:spcAft>
                          <a:spcPts val="0"/>
                        </a:spcAft>
                        <a:buNone/>
                      </a:pPr>
                      <a:r>
                        <a:rPr lang="en-IN" b="1">
                          <a:latin typeface="Calibri"/>
                          <a:ea typeface="Calibri"/>
                          <a:cs typeface="Calibri"/>
                          <a:sym typeface="Calibri"/>
                        </a:rPr>
                        <a:t>4W shift </a:t>
                      </a:r>
                      <a:endParaRPr b="1">
                        <a:latin typeface="Calibri"/>
                        <a:ea typeface="Calibri"/>
                        <a:cs typeface="Calibri"/>
                        <a:sym typeface="Calibri"/>
                      </a:endParaRPr>
                    </a:p>
                  </a:txBody>
                  <a:tcPr marL="91425" marR="91425" marT="91425" marB="91425">
                    <a:lnL w="9525" cap="flat" cmpd="sng">
                      <a:solidFill>
                        <a:srgbClr val="595959"/>
                      </a:solidFill>
                      <a:prstDash val="solid"/>
                      <a:round/>
                      <a:headEnd type="none" w="sm" len="sm"/>
                      <a:tailEnd type="none" w="sm" len="sm"/>
                    </a:lnL>
                    <a:lnR w="9525" cap="flat" cmpd="sng">
                      <a:solidFill>
                        <a:srgbClr val="595959"/>
                      </a:solidFill>
                      <a:prstDash val="solid"/>
                      <a:round/>
                      <a:headEnd type="none" w="sm" len="sm"/>
                      <a:tailEnd type="none" w="sm" len="sm"/>
                    </a:lnR>
                    <a:lnT w="9525" cap="flat" cmpd="sng">
                      <a:solidFill>
                        <a:srgbClr val="595959"/>
                      </a:solidFill>
                      <a:prstDash val="solid"/>
                      <a:round/>
                      <a:headEnd type="none" w="sm" len="sm"/>
                      <a:tailEnd type="none" w="sm" len="sm"/>
                    </a:lnT>
                    <a:lnB w="9525" cap="flat" cmpd="sng">
                      <a:solidFill>
                        <a:srgbClr val="595959"/>
                      </a:solidFill>
                      <a:prstDash val="solid"/>
                      <a:round/>
                      <a:headEnd type="none" w="sm" len="sm"/>
                      <a:tailEnd type="none" w="sm" len="sm"/>
                    </a:lnB>
                    <a:solidFill>
                      <a:srgbClr val="B8D4F0"/>
                    </a:solidFill>
                  </a:tcPr>
                </a:tc>
                <a:tc>
                  <a:txBody>
                    <a:bodyPr/>
                    <a:lstStyle/>
                    <a:p>
                      <a:pPr marL="0" lvl="0" indent="0" algn="l" rtl="0">
                        <a:spcBef>
                          <a:spcPts val="0"/>
                        </a:spcBef>
                        <a:spcAft>
                          <a:spcPts val="0"/>
                        </a:spcAft>
                        <a:buNone/>
                      </a:pPr>
                      <a:r>
                        <a:rPr lang="en-IN" b="1">
                          <a:latin typeface="Calibri"/>
                          <a:ea typeface="Calibri"/>
                          <a:cs typeface="Calibri"/>
                          <a:sym typeface="Calibri"/>
                        </a:rPr>
                        <a:t>Bus </a:t>
                      </a:r>
                      <a:endParaRPr b="1">
                        <a:latin typeface="Calibri"/>
                        <a:ea typeface="Calibri"/>
                        <a:cs typeface="Calibri"/>
                        <a:sym typeface="Calibri"/>
                      </a:endParaRPr>
                    </a:p>
                  </a:txBody>
                  <a:tcPr marL="91425" marR="91425" marT="91425" marB="91425">
                    <a:lnL w="9525" cap="flat" cmpd="sng">
                      <a:solidFill>
                        <a:srgbClr val="595959"/>
                      </a:solidFill>
                      <a:prstDash val="solid"/>
                      <a:round/>
                      <a:headEnd type="none" w="sm" len="sm"/>
                      <a:tailEnd type="none" w="sm" len="sm"/>
                    </a:lnL>
                    <a:lnR w="9525" cap="flat" cmpd="sng">
                      <a:solidFill>
                        <a:srgbClr val="595959"/>
                      </a:solidFill>
                      <a:prstDash val="solid"/>
                      <a:round/>
                      <a:headEnd type="none" w="sm" len="sm"/>
                      <a:tailEnd type="none" w="sm" len="sm"/>
                    </a:lnR>
                    <a:lnT w="9525" cap="flat" cmpd="sng">
                      <a:solidFill>
                        <a:srgbClr val="595959"/>
                      </a:solidFill>
                      <a:prstDash val="solid"/>
                      <a:round/>
                      <a:headEnd type="none" w="sm" len="sm"/>
                      <a:tailEnd type="none" w="sm" len="sm"/>
                    </a:lnT>
                    <a:lnB w="9525" cap="flat" cmpd="sng">
                      <a:solidFill>
                        <a:srgbClr val="595959"/>
                      </a:solidFill>
                      <a:prstDash val="solid"/>
                      <a:round/>
                      <a:headEnd type="none" w="sm" len="sm"/>
                      <a:tailEnd type="none" w="sm" len="sm"/>
                    </a:lnB>
                    <a:solidFill>
                      <a:srgbClr val="B8D4F0"/>
                    </a:solidFill>
                  </a:tcPr>
                </a:tc>
                <a:extLst>
                  <a:ext uri="{0D108BD9-81ED-4DB2-BD59-A6C34878D82A}">
                    <a16:rowId xmlns:a16="http://schemas.microsoft.com/office/drawing/2014/main" val="10000"/>
                  </a:ext>
                </a:extLst>
              </a:tr>
              <a:tr h="929975">
                <a:tc>
                  <a:txBody>
                    <a:bodyPr/>
                    <a:lstStyle/>
                    <a:p>
                      <a:pPr marL="0" lvl="0" indent="0" algn="l" rtl="0">
                        <a:spcBef>
                          <a:spcPts val="0"/>
                        </a:spcBef>
                        <a:spcAft>
                          <a:spcPts val="0"/>
                        </a:spcAft>
                        <a:buNone/>
                      </a:pPr>
                      <a:r>
                        <a:rPr lang="en-IN">
                          <a:latin typeface="Calibri"/>
                          <a:ea typeface="Calibri"/>
                          <a:cs typeface="Calibri"/>
                          <a:sym typeface="Calibri"/>
                        </a:rPr>
                        <a:t>Low </a:t>
                      </a:r>
                      <a:endParaRPr>
                        <a:latin typeface="Calibri"/>
                        <a:ea typeface="Calibri"/>
                        <a:cs typeface="Calibri"/>
                        <a:sym typeface="Calibri"/>
                      </a:endParaRPr>
                    </a:p>
                  </a:txBody>
                  <a:tcPr marL="91425" marR="91425" marT="91425" marB="91425">
                    <a:lnL w="9525" cap="flat" cmpd="sng">
                      <a:solidFill>
                        <a:srgbClr val="595959"/>
                      </a:solidFill>
                      <a:prstDash val="solid"/>
                      <a:round/>
                      <a:headEnd type="none" w="sm" len="sm"/>
                      <a:tailEnd type="none" w="sm" len="sm"/>
                    </a:lnL>
                    <a:lnR w="9525" cap="flat" cmpd="sng">
                      <a:solidFill>
                        <a:srgbClr val="595959"/>
                      </a:solidFill>
                      <a:prstDash val="solid"/>
                      <a:round/>
                      <a:headEnd type="none" w="sm" len="sm"/>
                      <a:tailEnd type="none" w="sm" len="sm"/>
                    </a:lnR>
                    <a:lnT w="9525" cap="flat" cmpd="sng">
                      <a:solidFill>
                        <a:srgbClr val="595959"/>
                      </a:solidFill>
                      <a:prstDash val="solid"/>
                      <a:round/>
                      <a:headEnd type="none" w="sm" len="sm"/>
                      <a:tailEnd type="none" w="sm" len="sm"/>
                    </a:lnT>
                    <a:lnB w="9525" cap="flat" cmpd="sng">
                      <a:solidFill>
                        <a:srgbClr val="595959"/>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IN">
                          <a:latin typeface="Calibri"/>
                          <a:ea typeface="Calibri"/>
                          <a:cs typeface="Calibri"/>
                          <a:sym typeface="Calibri"/>
                        </a:rPr>
                        <a:t>15%</a:t>
                      </a:r>
                      <a:endParaRPr>
                        <a:latin typeface="Calibri"/>
                        <a:ea typeface="Calibri"/>
                        <a:cs typeface="Calibri"/>
                        <a:sym typeface="Calibri"/>
                      </a:endParaRPr>
                    </a:p>
                  </a:txBody>
                  <a:tcPr marL="91425" marR="91425" marT="91425" marB="91425">
                    <a:lnL w="9525" cap="flat" cmpd="sng">
                      <a:solidFill>
                        <a:srgbClr val="595959"/>
                      </a:solidFill>
                      <a:prstDash val="solid"/>
                      <a:round/>
                      <a:headEnd type="none" w="sm" len="sm"/>
                      <a:tailEnd type="none" w="sm" len="sm"/>
                    </a:lnL>
                    <a:lnR w="9525" cap="flat" cmpd="sng">
                      <a:solidFill>
                        <a:srgbClr val="595959"/>
                      </a:solidFill>
                      <a:prstDash val="solid"/>
                      <a:round/>
                      <a:headEnd type="none" w="sm" len="sm"/>
                      <a:tailEnd type="none" w="sm" len="sm"/>
                    </a:lnR>
                    <a:lnT w="9525" cap="flat" cmpd="sng">
                      <a:solidFill>
                        <a:srgbClr val="595959"/>
                      </a:solidFill>
                      <a:prstDash val="solid"/>
                      <a:round/>
                      <a:headEnd type="none" w="sm" len="sm"/>
                      <a:tailEnd type="none" w="sm" len="sm"/>
                    </a:lnT>
                    <a:lnB w="9525" cap="flat" cmpd="sng">
                      <a:solidFill>
                        <a:srgbClr val="595959"/>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IN">
                          <a:latin typeface="Calibri"/>
                          <a:ea typeface="Calibri"/>
                          <a:cs typeface="Calibri"/>
                          <a:sym typeface="Calibri"/>
                        </a:rPr>
                        <a:t>15%</a:t>
                      </a:r>
                      <a:endParaRPr>
                        <a:latin typeface="Calibri"/>
                        <a:ea typeface="Calibri"/>
                        <a:cs typeface="Calibri"/>
                        <a:sym typeface="Calibri"/>
                      </a:endParaRPr>
                    </a:p>
                  </a:txBody>
                  <a:tcPr marL="91425" marR="91425" marT="91425" marB="91425">
                    <a:lnL w="9525" cap="flat" cmpd="sng">
                      <a:solidFill>
                        <a:srgbClr val="595959"/>
                      </a:solidFill>
                      <a:prstDash val="solid"/>
                      <a:round/>
                      <a:headEnd type="none" w="sm" len="sm"/>
                      <a:tailEnd type="none" w="sm" len="sm"/>
                    </a:lnL>
                    <a:lnR w="9525" cap="flat" cmpd="sng">
                      <a:solidFill>
                        <a:srgbClr val="595959"/>
                      </a:solidFill>
                      <a:prstDash val="solid"/>
                      <a:round/>
                      <a:headEnd type="none" w="sm" len="sm"/>
                      <a:tailEnd type="none" w="sm" len="sm"/>
                    </a:lnR>
                    <a:lnT w="9525" cap="flat" cmpd="sng">
                      <a:solidFill>
                        <a:srgbClr val="595959"/>
                      </a:solidFill>
                      <a:prstDash val="solid"/>
                      <a:round/>
                      <a:headEnd type="none" w="sm" len="sm"/>
                      <a:tailEnd type="none" w="sm" len="sm"/>
                    </a:lnT>
                    <a:lnB w="9525" cap="flat" cmpd="sng">
                      <a:solidFill>
                        <a:srgbClr val="595959"/>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IN">
                          <a:latin typeface="Calibri"/>
                          <a:ea typeface="Calibri"/>
                          <a:cs typeface="Calibri"/>
                          <a:sym typeface="Calibri"/>
                        </a:rPr>
                        <a:t>5%</a:t>
                      </a:r>
                      <a:endParaRPr>
                        <a:latin typeface="Calibri"/>
                        <a:ea typeface="Calibri"/>
                        <a:cs typeface="Calibri"/>
                        <a:sym typeface="Calibri"/>
                      </a:endParaRPr>
                    </a:p>
                  </a:txBody>
                  <a:tcPr marL="91425" marR="91425" marT="91425" marB="91425">
                    <a:lnL w="9525" cap="flat" cmpd="sng">
                      <a:solidFill>
                        <a:srgbClr val="595959"/>
                      </a:solidFill>
                      <a:prstDash val="solid"/>
                      <a:round/>
                      <a:headEnd type="none" w="sm" len="sm"/>
                      <a:tailEnd type="none" w="sm" len="sm"/>
                    </a:lnL>
                    <a:lnR w="9525" cap="flat" cmpd="sng">
                      <a:solidFill>
                        <a:srgbClr val="595959"/>
                      </a:solidFill>
                      <a:prstDash val="solid"/>
                      <a:round/>
                      <a:headEnd type="none" w="sm" len="sm"/>
                      <a:tailEnd type="none" w="sm" len="sm"/>
                    </a:lnR>
                    <a:lnT w="9525" cap="flat" cmpd="sng">
                      <a:solidFill>
                        <a:srgbClr val="595959"/>
                      </a:solidFill>
                      <a:prstDash val="solid"/>
                      <a:round/>
                      <a:headEnd type="none" w="sm" len="sm"/>
                      <a:tailEnd type="none" w="sm" len="sm"/>
                    </a:lnT>
                    <a:lnB w="9525" cap="flat" cmpd="sng">
                      <a:solidFill>
                        <a:srgbClr val="595959"/>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IN">
                          <a:latin typeface="Calibri"/>
                          <a:ea typeface="Calibri"/>
                          <a:cs typeface="Calibri"/>
                          <a:sym typeface="Calibri"/>
                        </a:rPr>
                        <a:t>93 BRT diesel buses , 53 city diesel buses </a:t>
                      </a:r>
                      <a:endParaRPr>
                        <a:latin typeface="Calibri"/>
                        <a:ea typeface="Calibri"/>
                        <a:cs typeface="Calibri"/>
                        <a:sym typeface="Calibri"/>
                      </a:endParaRPr>
                    </a:p>
                  </a:txBody>
                  <a:tcPr marL="91425" marR="91425" marT="91425" marB="91425">
                    <a:lnL w="9525" cap="flat" cmpd="sng">
                      <a:solidFill>
                        <a:srgbClr val="595959"/>
                      </a:solidFill>
                      <a:prstDash val="solid"/>
                      <a:round/>
                      <a:headEnd type="none" w="sm" len="sm"/>
                      <a:tailEnd type="none" w="sm" len="sm"/>
                    </a:lnL>
                    <a:lnR w="9525" cap="flat" cmpd="sng">
                      <a:solidFill>
                        <a:srgbClr val="595959"/>
                      </a:solidFill>
                      <a:prstDash val="solid"/>
                      <a:round/>
                      <a:headEnd type="none" w="sm" len="sm"/>
                      <a:tailEnd type="none" w="sm" len="sm"/>
                    </a:lnR>
                    <a:lnT w="9525" cap="flat" cmpd="sng">
                      <a:solidFill>
                        <a:srgbClr val="595959"/>
                      </a:solidFill>
                      <a:prstDash val="solid"/>
                      <a:round/>
                      <a:headEnd type="none" w="sm" len="sm"/>
                      <a:tailEnd type="none" w="sm" len="sm"/>
                    </a:lnT>
                    <a:lnB w="9525" cap="flat" cmpd="sng">
                      <a:solidFill>
                        <a:srgbClr val="595959"/>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1178725">
                <a:tc>
                  <a:txBody>
                    <a:bodyPr/>
                    <a:lstStyle/>
                    <a:p>
                      <a:pPr marL="0" lvl="0" indent="0" algn="l" rtl="0">
                        <a:spcBef>
                          <a:spcPts val="0"/>
                        </a:spcBef>
                        <a:spcAft>
                          <a:spcPts val="0"/>
                        </a:spcAft>
                        <a:buNone/>
                      </a:pPr>
                      <a:r>
                        <a:rPr lang="en-IN">
                          <a:latin typeface="Calibri"/>
                          <a:ea typeface="Calibri"/>
                          <a:cs typeface="Calibri"/>
                          <a:sym typeface="Calibri"/>
                        </a:rPr>
                        <a:t>Moderate </a:t>
                      </a:r>
                      <a:endParaRPr>
                        <a:latin typeface="Calibri"/>
                        <a:ea typeface="Calibri"/>
                        <a:cs typeface="Calibri"/>
                        <a:sym typeface="Calibri"/>
                      </a:endParaRPr>
                    </a:p>
                  </a:txBody>
                  <a:tcPr marL="91425" marR="91425" marT="91425" marB="91425">
                    <a:lnL w="9525" cap="flat" cmpd="sng">
                      <a:solidFill>
                        <a:srgbClr val="595959"/>
                      </a:solidFill>
                      <a:prstDash val="solid"/>
                      <a:round/>
                      <a:headEnd type="none" w="sm" len="sm"/>
                      <a:tailEnd type="none" w="sm" len="sm"/>
                    </a:lnL>
                    <a:lnR w="9525" cap="flat" cmpd="sng">
                      <a:solidFill>
                        <a:srgbClr val="595959"/>
                      </a:solidFill>
                      <a:prstDash val="solid"/>
                      <a:round/>
                      <a:headEnd type="none" w="sm" len="sm"/>
                      <a:tailEnd type="none" w="sm" len="sm"/>
                    </a:lnR>
                    <a:lnT w="9525" cap="flat" cmpd="sng">
                      <a:solidFill>
                        <a:srgbClr val="595959"/>
                      </a:solidFill>
                      <a:prstDash val="solid"/>
                      <a:round/>
                      <a:headEnd type="none" w="sm" len="sm"/>
                      <a:tailEnd type="none" w="sm" len="sm"/>
                    </a:lnT>
                    <a:lnB w="9525" cap="flat" cmpd="sng">
                      <a:solidFill>
                        <a:srgbClr val="595959"/>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IN">
                          <a:latin typeface="Calibri"/>
                          <a:ea typeface="Calibri"/>
                          <a:cs typeface="Calibri"/>
                          <a:sym typeface="Calibri"/>
                        </a:rPr>
                        <a:t>20%</a:t>
                      </a:r>
                      <a:endParaRPr>
                        <a:latin typeface="Calibri"/>
                        <a:ea typeface="Calibri"/>
                        <a:cs typeface="Calibri"/>
                        <a:sym typeface="Calibri"/>
                      </a:endParaRPr>
                    </a:p>
                  </a:txBody>
                  <a:tcPr marL="91425" marR="91425" marT="91425" marB="91425">
                    <a:lnL w="9525" cap="flat" cmpd="sng">
                      <a:solidFill>
                        <a:srgbClr val="595959"/>
                      </a:solidFill>
                      <a:prstDash val="solid"/>
                      <a:round/>
                      <a:headEnd type="none" w="sm" len="sm"/>
                      <a:tailEnd type="none" w="sm" len="sm"/>
                    </a:lnL>
                    <a:lnR w="9525" cap="flat" cmpd="sng">
                      <a:solidFill>
                        <a:srgbClr val="595959"/>
                      </a:solidFill>
                      <a:prstDash val="solid"/>
                      <a:round/>
                      <a:headEnd type="none" w="sm" len="sm"/>
                      <a:tailEnd type="none" w="sm" len="sm"/>
                    </a:lnR>
                    <a:lnT w="9525" cap="flat" cmpd="sng">
                      <a:solidFill>
                        <a:srgbClr val="595959"/>
                      </a:solidFill>
                      <a:prstDash val="solid"/>
                      <a:round/>
                      <a:headEnd type="none" w="sm" len="sm"/>
                      <a:tailEnd type="none" w="sm" len="sm"/>
                    </a:lnT>
                    <a:lnB w="9525" cap="flat" cmpd="sng">
                      <a:solidFill>
                        <a:srgbClr val="595959"/>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IN">
                          <a:latin typeface="Calibri"/>
                          <a:ea typeface="Calibri"/>
                          <a:cs typeface="Calibri"/>
                          <a:sym typeface="Calibri"/>
                        </a:rPr>
                        <a:t>20%</a:t>
                      </a:r>
                      <a:endParaRPr>
                        <a:latin typeface="Calibri"/>
                        <a:ea typeface="Calibri"/>
                        <a:cs typeface="Calibri"/>
                        <a:sym typeface="Calibri"/>
                      </a:endParaRPr>
                    </a:p>
                  </a:txBody>
                  <a:tcPr marL="91425" marR="91425" marT="91425" marB="91425">
                    <a:lnL w="9525" cap="flat" cmpd="sng">
                      <a:solidFill>
                        <a:srgbClr val="595959"/>
                      </a:solidFill>
                      <a:prstDash val="solid"/>
                      <a:round/>
                      <a:headEnd type="none" w="sm" len="sm"/>
                      <a:tailEnd type="none" w="sm" len="sm"/>
                    </a:lnL>
                    <a:lnR w="9525" cap="flat" cmpd="sng">
                      <a:solidFill>
                        <a:srgbClr val="595959"/>
                      </a:solidFill>
                      <a:prstDash val="solid"/>
                      <a:round/>
                      <a:headEnd type="none" w="sm" len="sm"/>
                      <a:tailEnd type="none" w="sm" len="sm"/>
                    </a:lnR>
                    <a:lnT w="9525" cap="flat" cmpd="sng">
                      <a:solidFill>
                        <a:srgbClr val="595959"/>
                      </a:solidFill>
                      <a:prstDash val="solid"/>
                      <a:round/>
                      <a:headEnd type="none" w="sm" len="sm"/>
                      <a:tailEnd type="none" w="sm" len="sm"/>
                    </a:lnT>
                    <a:lnB w="9525" cap="flat" cmpd="sng">
                      <a:solidFill>
                        <a:srgbClr val="595959"/>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IN">
                          <a:latin typeface="Calibri"/>
                          <a:ea typeface="Calibri"/>
                          <a:cs typeface="Calibri"/>
                          <a:sym typeface="Calibri"/>
                        </a:rPr>
                        <a:t>10%</a:t>
                      </a:r>
                      <a:endParaRPr>
                        <a:latin typeface="Calibri"/>
                        <a:ea typeface="Calibri"/>
                        <a:cs typeface="Calibri"/>
                        <a:sym typeface="Calibri"/>
                      </a:endParaRPr>
                    </a:p>
                  </a:txBody>
                  <a:tcPr marL="91425" marR="91425" marT="91425" marB="91425">
                    <a:lnL w="9525" cap="flat" cmpd="sng">
                      <a:solidFill>
                        <a:srgbClr val="595959"/>
                      </a:solidFill>
                      <a:prstDash val="solid"/>
                      <a:round/>
                      <a:headEnd type="none" w="sm" len="sm"/>
                      <a:tailEnd type="none" w="sm" len="sm"/>
                    </a:lnL>
                    <a:lnR w="9525" cap="flat" cmpd="sng">
                      <a:solidFill>
                        <a:srgbClr val="595959"/>
                      </a:solidFill>
                      <a:prstDash val="solid"/>
                      <a:round/>
                      <a:headEnd type="none" w="sm" len="sm"/>
                      <a:tailEnd type="none" w="sm" len="sm"/>
                    </a:lnR>
                    <a:lnT w="9525" cap="flat" cmpd="sng">
                      <a:solidFill>
                        <a:srgbClr val="595959"/>
                      </a:solidFill>
                      <a:prstDash val="solid"/>
                      <a:round/>
                      <a:headEnd type="none" w="sm" len="sm"/>
                      <a:tailEnd type="none" w="sm" len="sm"/>
                    </a:lnT>
                    <a:lnB w="9525" cap="flat" cmpd="sng">
                      <a:solidFill>
                        <a:srgbClr val="595959"/>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Clr>
                          <a:schemeClr val="dk1"/>
                        </a:buClr>
                        <a:buSzPts val="1100"/>
                        <a:buFont typeface="Arial"/>
                        <a:buNone/>
                      </a:pPr>
                      <a:r>
                        <a:rPr lang="en-IN">
                          <a:solidFill>
                            <a:schemeClr val="dk1"/>
                          </a:solidFill>
                          <a:latin typeface="Calibri"/>
                          <a:ea typeface="Calibri"/>
                          <a:cs typeface="Calibri"/>
                          <a:sym typeface="Calibri"/>
                        </a:rPr>
                        <a:t>93 BRT diesel buses  &amp; 40 PM e-BUses &amp; 53 city diesel buses</a:t>
                      </a:r>
                      <a:endParaRPr>
                        <a:latin typeface="Calibri"/>
                        <a:ea typeface="Calibri"/>
                        <a:cs typeface="Calibri"/>
                        <a:sym typeface="Calibri"/>
                      </a:endParaRPr>
                    </a:p>
                  </a:txBody>
                  <a:tcPr marL="91425" marR="91425" marT="91425" marB="91425">
                    <a:lnL w="9525" cap="flat" cmpd="sng">
                      <a:solidFill>
                        <a:srgbClr val="595959"/>
                      </a:solidFill>
                      <a:prstDash val="solid"/>
                      <a:round/>
                      <a:headEnd type="none" w="sm" len="sm"/>
                      <a:tailEnd type="none" w="sm" len="sm"/>
                    </a:lnL>
                    <a:lnR w="9525" cap="flat" cmpd="sng">
                      <a:solidFill>
                        <a:srgbClr val="595959"/>
                      </a:solidFill>
                      <a:prstDash val="solid"/>
                      <a:round/>
                      <a:headEnd type="none" w="sm" len="sm"/>
                      <a:tailEnd type="none" w="sm" len="sm"/>
                    </a:lnR>
                    <a:lnT w="9525" cap="flat" cmpd="sng">
                      <a:solidFill>
                        <a:srgbClr val="595959"/>
                      </a:solidFill>
                      <a:prstDash val="solid"/>
                      <a:round/>
                      <a:headEnd type="none" w="sm" len="sm"/>
                      <a:tailEnd type="none" w="sm" len="sm"/>
                    </a:lnT>
                    <a:lnB w="9525" cap="flat" cmpd="sng">
                      <a:solidFill>
                        <a:srgbClr val="595959"/>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1178725">
                <a:tc>
                  <a:txBody>
                    <a:bodyPr/>
                    <a:lstStyle/>
                    <a:p>
                      <a:pPr marL="0" lvl="0" indent="0" algn="l" rtl="0">
                        <a:spcBef>
                          <a:spcPts val="0"/>
                        </a:spcBef>
                        <a:spcAft>
                          <a:spcPts val="0"/>
                        </a:spcAft>
                        <a:buNone/>
                      </a:pPr>
                      <a:r>
                        <a:rPr lang="en-IN">
                          <a:latin typeface="Calibri"/>
                          <a:ea typeface="Calibri"/>
                          <a:cs typeface="Calibri"/>
                          <a:sym typeface="Calibri"/>
                        </a:rPr>
                        <a:t>High  </a:t>
                      </a:r>
                      <a:endParaRPr>
                        <a:latin typeface="Calibri"/>
                        <a:ea typeface="Calibri"/>
                        <a:cs typeface="Calibri"/>
                        <a:sym typeface="Calibri"/>
                      </a:endParaRPr>
                    </a:p>
                  </a:txBody>
                  <a:tcPr marL="91425" marR="91425" marT="91425" marB="91425">
                    <a:lnL w="9525" cap="flat" cmpd="sng">
                      <a:solidFill>
                        <a:srgbClr val="595959"/>
                      </a:solidFill>
                      <a:prstDash val="solid"/>
                      <a:round/>
                      <a:headEnd type="none" w="sm" len="sm"/>
                      <a:tailEnd type="none" w="sm" len="sm"/>
                    </a:lnL>
                    <a:lnR w="9525" cap="flat" cmpd="sng">
                      <a:solidFill>
                        <a:srgbClr val="595959"/>
                      </a:solidFill>
                      <a:prstDash val="solid"/>
                      <a:round/>
                      <a:headEnd type="none" w="sm" len="sm"/>
                      <a:tailEnd type="none" w="sm" len="sm"/>
                    </a:lnR>
                    <a:lnT w="9525" cap="flat" cmpd="sng">
                      <a:solidFill>
                        <a:srgbClr val="595959"/>
                      </a:solidFill>
                      <a:prstDash val="solid"/>
                      <a:round/>
                      <a:headEnd type="none" w="sm" len="sm"/>
                      <a:tailEnd type="none" w="sm" len="sm"/>
                    </a:lnT>
                    <a:lnB w="9525" cap="flat" cmpd="sng">
                      <a:solidFill>
                        <a:srgbClr val="595959"/>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IN">
                          <a:latin typeface="Calibri"/>
                          <a:ea typeface="Calibri"/>
                          <a:cs typeface="Calibri"/>
                          <a:sym typeface="Calibri"/>
                        </a:rPr>
                        <a:t>25%</a:t>
                      </a:r>
                      <a:endParaRPr>
                        <a:latin typeface="Calibri"/>
                        <a:ea typeface="Calibri"/>
                        <a:cs typeface="Calibri"/>
                        <a:sym typeface="Calibri"/>
                      </a:endParaRPr>
                    </a:p>
                  </a:txBody>
                  <a:tcPr marL="91425" marR="91425" marT="91425" marB="91425">
                    <a:lnL w="9525" cap="flat" cmpd="sng">
                      <a:solidFill>
                        <a:srgbClr val="595959"/>
                      </a:solidFill>
                      <a:prstDash val="solid"/>
                      <a:round/>
                      <a:headEnd type="none" w="sm" len="sm"/>
                      <a:tailEnd type="none" w="sm" len="sm"/>
                    </a:lnL>
                    <a:lnR w="9525" cap="flat" cmpd="sng">
                      <a:solidFill>
                        <a:srgbClr val="595959"/>
                      </a:solidFill>
                      <a:prstDash val="solid"/>
                      <a:round/>
                      <a:headEnd type="none" w="sm" len="sm"/>
                      <a:tailEnd type="none" w="sm" len="sm"/>
                    </a:lnR>
                    <a:lnT w="9525" cap="flat" cmpd="sng">
                      <a:solidFill>
                        <a:srgbClr val="595959"/>
                      </a:solidFill>
                      <a:prstDash val="solid"/>
                      <a:round/>
                      <a:headEnd type="none" w="sm" len="sm"/>
                      <a:tailEnd type="none" w="sm" len="sm"/>
                    </a:lnT>
                    <a:lnB w="9525" cap="flat" cmpd="sng">
                      <a:solidFill>
                        <a:srgbClr val="595959"/>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IN">
                          <a:latin typeface="Calibri"/>
                          <a:ea typeface="Calibri"/>
                          <a:cs typeface="Calibri"/>
                          <a:sym typeface="Calibri"/>
                        </a:rPr>
                        <a:t>25%</a:t>
                      </a:r>
                      <a:endParaRPr>
                        <a:latin typeface="Calibri"/>
                        <a:ea typeface="Calibri"/>
                        <a:cs typeface="Calibri"/>
                        <a:sym typeface="Calibri"/>
                      </a:endParaRPr>
                    </a:p>
                  </a:txBody>
                  <a:tcPr marL="91425" marR="91425" marT="91425" marB="91425">
                    <a:lnL w="9525" cap="flat" cmpd="sng">
                      <a:solidFill>
                        <a:srgbClr val="595959"/>
                      </a:solidFill>
                      <a:prstDash val="solid"/>
                      <a:round/>
                      <a:headEnd type="none" w="sm" len="sm"/>
                      <a:tailEnd type="none" w="sm" len="sm"/>
                    </a:lnL>
                    <a:lnR w="9525" cap="flat" cmpd="sng">
                      <a:solidFill>
                        <a:srgbClr val="595959"/>
                      </a:solidFill>
                      <a:prstDash val="solid"/>
                      <a:round/>
                      <a:headEnd type="none" w="sm" len="sm"/>
                      <a:tailEnd type="none" w="sm" len="sm"/>
                    </a:lnR>
                    <a:lnT w="9525" cap="flat" cmpd="sng">
                      <a:solidFill>
                        <a:srgbClr val="595959"/>
                      </a:solidFill>
                      <a:prstDash val="solid"/>
                      <a:round/>
                      <a:headEnd type="none" w="sm" len="sm"/>
                      <a:tailEnd type="none" w="sm" len="sm"/>
                    </a:lnT>
                    <a:lnB w="9525" cap="flat" cmpd="sng">
                      <a:solidFill>
                        <a:srgbClr val="595959"/>
                      </a:solidFill>
                      <a:prstDash val="solid"/>
                      <a:round/>
                      <a:headEnd type="none" w="sm" len="sm"/>
                      <a:tailEnd type="none" w="sm" len="sm"/>
                    </a:lnB>
                    <a:solidFill>
                      <a:schemeClr val="lt1"/>
                    </a:solidFill>
                  </a:tcPr>
                </a:tc>
                <a:tc>
                  <a:txBody>
                    <a:bodyPr/>
                    <a:lstStyle/>
                    <a:p>
                      <a:pPr marL="0" lvl="0" indent="0" algn="r" rtl="0">
                        <a:lnSpc>
                          <a:spcPct val="115000"/>
                        </a:lnSpc>
                        <a:spcBef>
                          <a:spcPts val="0"/>
                        </a:spcBef>
                        <a:spcAft>
                          <a:spcPts val="0"/>
                        </a:spcAft>
                        <a:buNone/>
                      </a:pPr>
                      <a:r>
                        <a:rPr lang="en-IN">
                          <a:latin typeface="Calibri"/>
                          <a:ea typeface="Calibri"/>
                          <a:cs typeface="Calibri"/>
                          <a:sym typeface="Calibri"/>
                        </a:rPr>
                        <a:t>15%</a:t>
                      </a:r>
                      <a:endParaRPr>
                        <a:latin typeface="Calibri"/>
                        <a:ea typeface="Calibri"/>
                        <a:cs typeface="Calibri"/>
                        <a:sym typeface="Calibri"/>
                      </a:endParaRPr>
                    </a:p>
                  </a:txBody>
                  <a:tcPr marL="91425" marR="91425" marT="91425" marB="91425">
                    <a:lnL w="9525" cap="flat" cmpd="sng">
                      <a:solidFill>
                        <a:srgbClr val="595959"/>
                      </a:solidFill>
                      <a:prstDash val="solid"/>
                      <a:round/>
                      <a:headEnd type="none" w="sm" len="sm"/>
                      <a:tailEnd type="none" w="sm" len="sm"/>
                    </a:lnL>
                    <a:lnR w="9525" cap="flat" cmpd="sng">
                      <a:solidFill>
                        <a:srgbClr val="595959"/>
                      </a:solidFill>
                      <a:prstDash val="solid"/>
                      <a:round/>
                      <a:headEnd type="none" w="sm" len="sm"/>
                      <a:tailEnd type="none" w="sm" len="sm"/>
                    </a:lnR>
                    <a:lnT w="9525" cap="flat" cmpd="sng">
                      <a:solidFill>
                        <a:srgbClr val="595959"/>
                      </a:solidFill>
                      <a:prstDash val="solid"/>
                      <a:round/>
                      <a:headEnd type="none" w="sm" len="sm"/>
                      <a:tailEnd type="none" w="sm" len="sm"/>
                    </a:lnT>
                    <a:lnB w="9525" cap="flat" cmpd="sng">
                      <a:solidFill>
                        <a:srgbClr val="595959"/>
                      </a:solidFill>
                      <a:prstDash val="solid"/>
                      <a:round/>
                      <a:headEnd type="none" w="sm" len="sm"/>
                      <a:tailEnd type="none" w="sm" len="sm"/>
                    </a:lnB>
                    <a:solidFill>
                      <a:schemeClr val="lt1"/>
                    </a:solidFill>
                  </a:tcPr>
                </a:tc>
                <a:tc>
                  <a:txBody>
                    <a:bodyPr/>
                    <a:lstStyle/>
                    <a:p>
                      <a:pPr marL="0" lvl="0" indent="0" algn="l" rtl="0">
                        <a:lnSpc>
                          <a:spcPct val="115000"/>
                        </a:lnSpc>
                        <a:spcBef>
                          <a:spcPts val="0"/>
                        </a:spcBef>
                        <a:spcAft>
                          <a:spcPts val="0"/>
                        </a:spcAft>
                        <a:buNone/>
                      </a:pPr>
                      <a:r>
                        <a:rPr lang="en-IN">
                          <a:solidFill>
                            <a:schemeClr val="dk1"/>
                          </a:solidFill>
                          <a:latin typeface="Calibri"/>
                          <a:ea typeface="Calibri"/>
                          <a:cs typeface="Calibri"/>
                          <a:sym typeface="Calibri"/>
                        </a:rPr>
                        <a:t>93 BRT diesel buses  &amp; 100 PM e-BUses &amp; 53 city diesel buses</a:t>
                      </a:r>
                      <a:endParaRPr/>
                    </a:p>
                  </a:txBody>
                  <a:tcPr marL="91425" marR="91425" marT="91425" marB="91425">
                    <a:lnL w="9525" cap="flat" cmpd="sng">
                      <a:solidFill>
                        <a:srgbClr val="595959"/>
                      </a:solidFill>
                      <a:prstDash val="solid"/>
                      <a:round/>
                      <a:headEnd type="none" w="sm" len="sm"/>
                      <a:tailEnd type="none" w="sm" len="sm"/>
                    </a:lnL>
                    <a:lnR w="9525" cap="flat" cmpd="sng">
                      <a:solidFill>
                        <a:srgbClr val="595959"/>
                      </a:solidFill>
                      <a:prstDash val="solid"/>
                      <a:round/>
                      <a:headEnd type="none" w="sm" len="sm"/>
                      <a:tailEnd type="none" w="sm" len="sm"/>
                    </a:lnR>
                    <a:lnT w="9525" cap="flat" cmpd="sng">
                      <a:solidFill>
                        <a:srgbClr val="595959"/>
                      </a:solidFill>
                      <a:prstDash val="solid"/>
                      <a:round/>
                      <a:headEnd type="none" w="sm" len="sm"/>
                      <a:tailEnd type="none" w="sm" len="sm"/>
                    </a:lnT>
                    <a:lnB w="9525" cap="flat" cmpd="sng">
                      <a:solidFill>
                        <a:srgbClr val="595959"/>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g3f8288f73f0_3_114"/>
          <p:cNvSpPr txBox="1">
            <a:spLocks noGrp="1"/>
          </p:cNvSpPr>
          <p:nvPr>
            <p:ph type="title"/>
          </p:nvPr>
        </p:nvSpPr>
        <p:spPr>
          <a:xfrm>
            <a:off x="395707" y="194428"/>
            <a:ext cx="11284500" cy="794100"/>
          </a:xfrm>
          <a:prstGeom prst="rect">
            <a:avLst/>
          </a:prstGeom>
        </p:spPr>
        <p:txBody>
          <a:bodyPr spcFirstLastPara="1" wrap="square" lIns="0" tIns="45700" rIns="0" bIns="45700" anchor="t" anchorCtr="0">
            <a:normAutofit/>
          </a:bodyPr>
          <a:lstStyle/>
          <a:p>
            <a:pPr marL="0" lvl="0" indent="0" algn="l" rtl="0">
              <a:spcBef>
                <a:spcPts val="0"/>
              </a:spcBef>
              <a:spcAft>
                <a:spcPts val="0"/>
              </a:spcAft>
              <a:buNone/>
            </a:pPr>
            <a:r>
              <a:rPr lang="en-IN"/>
              <a:t>Inferences and Policy Implications   </a:t>
            </a:r>
            <a:endParaRPr/>
          </a:p>
        </p:txBody>
      </p:sp>
      <p:sp>
        <p:nvSpPr>
          <p:cNvPr id="463" name="Google Shape;463;g3f8288f73f0_3_114"/>
          <p:cNvSpPr txBox="1">
            <a:spLocks noGrp="1"/>
          </p:cNvSpPr>
          <p:nvPr>
            <p:ph type="body" idx="1"/>
          </p:nvPr>
        </p:nvSpPr>
        <p:spPr>
          <a:xfrm>
            <a:off x="395700" y="738319"/>
            <a:ext cx="5057400" cy="2000100"/>
          </a:xfrm>
          <a:prstGeom prst="rect">
            <a:avLst/>
          </a:prstGeom>
        </p:spPr>
        <p:txBody>
          <a:bodyPr spcFirstLastPara="1" wrap="square" lIns="91425" tIns="45700" rIns="91425" bIns="45700" anchor="t" anchorCtr="0">
            <a:normAutofit/>
          </a:bodyPr>
          <a:lstStyle/>
          <a:p>
            <a:pPr marL="457200" lvl="0" indent="-336550" algn="l" rtl="0">
              <a:lnSpc>
                <a:spcPct val="115000"/>
              </a:lnSpc>
              <a:spcBef>
                <a:spcPts val="1200"/>
              </a:spcBef>
              <a:spcAft>
                <a:spcPts val="0"/>
              </a:spcAft>
              <a:buClr>
                <a:srgbClr val="434343"/>
              </a:buClr>
              <a:buSzPts val="1700"/>
              <a:buChar char="●"/>
            </a:pPr>
            <a:r>
              <a:rPr lang="en-IN" sz="1700" b="1">
                <a:solidFill>
                  <a:srgbClr val="434343"/>
                </a:solidFill>
              </a:rPr>
              <a:t>High Ambition Scenario:</a:t>
            </a:r>
            <a:r>
              <a:rPr lang="en-IN" sz="1700">
                <a:solidFill>
                  <a:srgbClr val="434343"/>
                </a:solidFill>
              </a:rPr>
              <a:t> Based on existing state government vision and implementation plans.</a:t>
            </a:r>
            <a:endParaRPr sz="1700">
              <a:solidFill>
                <a:srgbClr val="434343"/>
              </a:solidFill>
            </a:endParaRPr>
          </a:p>
          <a:p>
            <a:pPr marL="457200" lvl="0" indent="-336550" algn="l" rtl="0">
              <a:lnSpc>
                <a:spcPct val="115000"/>
              </a:lnSpc>
              <a:spcBef>
                <a:spcPts val="0"/>
              </a:spcBef>
              <a:spcAft>
                <a:spcPts val="0"/>
              </a:spcAft>
              <a:buClr>
                <a:srgbClr val="434343"/>
              </a:buClr>
              <a:buSzPts val="1700"/>
              <a:buChar char="●"/>
            </a:pPr>
            <a:r>
              <a:rPr lang="en-IN" sz="1700" b="1">
                <a:solidFill>
                  <a:srgbClr val="434343"/>
                </a:solidFill>
              </a:rPr>
              <a:t>Total e-buses:</a:t>
            </a:r>
            <a:r>
              <a:rPr lang="en-IN" sz="1700">
                <a:solidFill>
                  <a:srgbClr val="434343"/>
                </a:solidFill>
              </a:rPr>
              <a:t> </a:t>
            </a:r>
            <a:r>
              <a:rPr lang="en-IN" sz="1700" b="1">
                <a:solidFill>
                  <a:srgbClr val="434343"/>
                </a:solidFill>
              </a:rPr>
              <a:t>246</a:t>
            </a:r>
            <a:r>
              <a:rPr lang="en-IN" sz="1700">
                <a:solidFill>
                  <a:srgbClr val="434343"/>
                </a:solidFill>
              </a:rPr>
              <a:t> projected under the high ambition scenario.</a:t>
            </a:r>
            <a:endParaRPr>
              <a:solidFill>
                <a:srgbClr val="434343"/>
              </a:solidFill>
            </a:endParaRPr>
          </a:p>
        </p:txBody>
      </p:sp>
      <p:sp>
        <p:nvSpPr>
          <p:cNvPr id="464" name="Google Shape;464;g3f8288f73f0_3_114"/>
          <p:cNvSpPr txBox="1">
            <a:spLocks noGrp="1"/>
          </p:cNvSpPr>
          <p:nvPr>
            <p:ph type="body" idx="2"/>
          </p:nvPr>
        </p:nvSpPr>
        <p:spPr>
          <a:xfrm>
            <a:off x="395707" y="6475388"/>
            <a:ext cx="9740700" cy="383100"/>
          </a:xfrm>
          <a:prstGeom prst="rect">
            <a:avLst/>
          </a:prstGeom>
        </p:spPr>
        <p:txBody>
          <a:bodyPr spcFirstLastPara="1" wrap="square" lIns="0" tIns="45700" rIns="91425" bIns="45700" anchor="ctr" anchorCtr="0">
            <a:noAutofit/>
          </a:bodyPr>
          <a:lstStyle/>
          <a:p>
            <a:pPr marL="0" lvl="0" indent="0" algn="l" rtl="0">
              <a:spcBef>
                <a:spcPts val="300"/>
              </a:spcBef>
              <a:spcAft>
                <a:spcPts val="0"/>
              </a:spcAft>
              <a:buNone/>
            </a:pPr>
            <a:endParaRPr/>
          </a:p>
        </p:txBody>
      </p:sp>
      <p:pic>
        <p:nvPicPr>
          <p:cNvPr id="465" name="Google Shape;465;g3f8288f73f0_3_114"/>
          <p:cNvPicPr preferRelativeResize="0"/>
          <p:nvPr/>
        </p:nvPicPr>
        <p:blipFill>
          <a:blip r:embed="rId3">
            <a:alphaModFix/>
          </a:blip>
          <a:stretch>
            <a:fillRect/>
          </a:stretch>
        </p:blipFill>
        <p:spPr>
          <a:xfrm>
            <a:off x="6082256" y="828000"/>
            <a:ext cx="5847975" cy="4749264"/>
          </a:xfrm>
          <a:prstGeom prst="rect">
            <a:avLst/>
          </a:prstGeom>
          <a:noFill/>
          <a:ln>
            <a:noFill/>
          </a:ln>
        </p:spPr>
      </p:pic>
      <p:graphicFrame>
        <p:nvGraphicFramePr>
          <p:cNvPr id="466" name="Google Shape;466;g3f8288f73f0_3_114"/>
          <p:cNvGraphicFramePr/>
          <p:nvPr/>
        </p:nvGraphicFramePr>
        <p:xfrm>
          <a:off x="479050" y="2083600"/>
          <a:ext cx="5057400" cy="822900"/>
        </p:xfrm>
        <a:graphic>
          <a:graphicData uri="http://schemas.openxmlformats.org/drawingml/2006/table">
            <a:tbl>
              <a:tblPr>
                <a:noFill/>
                <a:tableStyleId>{C6F2BB3A-6318-44A7-88BF-84572F34096D}</a:tableStyleId>
              </a:tblPr>
              <a:tblGrid>
                <a:gridCol w="1685800">
                  <a:extLst>
                    <a:ext uri="{9D8B030D-6E8A-4147-A177-3AD203B41FA5}">
                      <a16:colId xmlns:a16="http://schemas.microsoft.com/office/drawing/2014/main" val="20000"/>
                    </a:ext>
                  </a:extLst>
                </a:gridCol>
                <a:gridCol w="1685800">
                  <a:extLst>
                    <a:ext uri="{9D8B030D-6E8A-4147-A177-3AD203B41FA5}">
                      <a16:colId xmlns:a16="http://schemas.microsoft.com/office/drawing/2014/main" val="20001"/>
                    </a:ext>
                  </a:extLst>
                </a:gridCol>
                <a:gridCol w="1685800">
                  <a:extLst>
                    <a:ext uri="{9D8B030D-6E8A-4147-A177-3AD203B41FA5}">
                      <a16:colId xmlns:a16="http://schemas.microsoft.com/office/drawing/2014/main" val="20002"/>
                    </a:ext>
                  </a:extLst>
                </a:gridCol>
              </a:tblGrid>
              <a:tr h="397050">
                <a:tc>
                  <a:txBody>
                    <a:bodyPr/>
                    <a:lstStyle/>
                    <a:p>
                      <a:pPr marL="0" lvl="0" indent="0" algn="l" rtl="0">
                        <a:spcBef>
                          <a:spcPts val="0"/>
                        </a:spcBef>
                        <a:spcAft>
                          <a:spcPts val="0"/>
                        </a:spcAft>
                        <a:buNone/>
                      </a:pPr>
                      <a:r>
                        <a:rPr lang="en-IN" sz="1500">
                          <a:latin typeface="Calibri"/>
                          <a:ea typeface="Calibri"/>
                          <a:cs typeface="Calibri"/>
                          <a:sym typeface="Calibri"/>
                        </a:rPr>
                        <a:t>CMP norms </a:t>
                      </a:r>
                      <a:endParaRPr sz="15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IN" sz="1500">
                          <a:latin typeface="Calibri"/>
                          <a:ea typeface="Calibri"/>
                          <a:cs typeface="Calibri"/>
                          <a:sym typeface="Calibri"/>
                        </a:rPr>
                        <a:t>55 buses / lakh </a:t>
                      </a:r>
                      <a:endParaRPr sz="15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IN" sz="1500">
                          <a:latin typeface="Calibri"/>
                          <a:ea typeface="Calibri"/>
                          <a:cs typeface="Calibri"/>
                          <a:sym typeface="Calibri"/>
                        </a:rPr>
                        <a:t>930 buses </a:t>
                      </a:r>
                      <a:endParaRPr sz="1500">
                        <a:latin typeface="Calibri"/>
                        <a:ea typeface="Calibri"/>
                        <a:cs typeface="Calibri"/>
                        <a:sym typeface="Calibri"/>
                      </a:endParaRPr>
                    </a:p>
                  </a:txBody>
                  <a:tcPr marL="91425" marR="91425" marT="91425" marB="91425"/>
                </a:tc>
                <a:extLst>
                  <a:ext uri="{0D108BD9-81ED-4DB2-BD59-A6C34878D82A}">
                    <a16:rowId xmlns:a16="http://schemas.microsoft.com/office/drawing/2014/main" val="10000"/>
                  </a:ext>
                </a:extLst>
              </a:tr>
              <a:tr h="397050">
                <a:tc>
                  <a:txBody>
                    <a:bodyPr/>
                    <a:lstStyle/>
                    <a:p>
                      <a:pPr marL="0" lvl="0" indent="0" algn="l" rtl="0">
                        <a:spcBef>
                          <a:spcPts val="0"/>
                        </a:spcBef>
                        <a:spcAft>
                          <a:spcPts val="0"/>
                        </a:spcAft>
                        <a:buNone/>
                      </a:pPr>
                      <a:r>
                        <a:rPr lang="en-IN" sz="1500">
                          <a:latin typeface="Calibri"/>
                          <a:ea typeface="Calibri"/>
                          <a:cs typeface="Calibri"/>
                          <a:sym typeface="Calibri"/>
                        </a:rPr>
                        <a:t>MoHUA </a:t>
                      </a:r>
                      <a:endParaRPr sz="15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IN" sz="1500">
                          <a:latin typeface="Calibri"/>
                          <a:ea typeface="Calibri"/>
                          <a:cs typeface="Calibri"/>
                          <a:sym typeface="Calibri"/>
                        </a:rPr>
                        <a:t>60 buses / lakh </a:t>
                      </a:r>
                      <a:endParaRPr sz="1500">
                        <a:latin typeface="Calibri"/>
                        <a:ea typeface="Calibri"/>
                        <a:cs typeface="Calibri"/>
                        <a:sym typeface="Calibri"/>
                      </a:endParaRPr>
                    </a:p>
                  </a:txBody>
                  <a:tcPr marL="91425" marR="91425" marT="91425" marB="91425"/>
                </a:tc>
                <a:tc>
                  <a:txBody>
                    <a:bodyPr/>
                    <a:lstStyle/>
                    <a:p>
                      <a:pPr marL="0" lvl="0" indent="0" algn="l" rtl="0">
                        <a:spcBef>
                          <a:spcPts val="0"/>
                        </a:spcBef>
                        <a:spcAft>
                          <a:spcPts val="0"/>
                        </a:spcAft>
                        <a:buNone/>
                      </a:pPr>
                      <a:r>
                        <a:rPr lang="en-IN" sz="1500">
                          <a:latin typeface="Calibri"/>
                          <a:ea typeface="Calibri"/>
                          <a:cs typeface="Calibri"/>
                          <a:sym typeface="Calibri"/>
                        </a:rPr>
                        <a:t>1014 buses </a:t>
                      </a:r>
                      <a:endParaRPr sz="1500">
                        <a:latin typeface="Calibri"/>
                        <a:ea typeface="Calibri"/>
                        <a:cs typeface="Calibri"/>
                        <a:sym typeface="Calibri"/>
                      </a:endParaRPr>
                    </a:p>
                  </a:txBody>
                  <a:tcPr marL="91425" marR="91425" marT="91425" marB="91425"/>
                </a:tc>
                <a:extLst>
                  <a:ext uri="{0D108BD9-81ED-4DB2-BD59-A6C34878D82A}">
                    <a16:rowId xmlns:a16="http://schemas.microsoft.com/office/drawing/2014/main" val="10001"/>
                  </a:ext>
                </a:extLst>
              </a:tr>
            </a:tbl>
          </a:graphicData>
        </a:graphic>
      </p:graphicFrame>
      <p:sp>
        <p:nvSpPr>
          <p:cNvPr id="467" name="Google Shape;467;g3f8288f73f0_3_114"/>
          <p:cNvSpPr txBox="1"/>
          <p:nvPr/>
        </p:nvSpPr>
        <p:spPr>
          <a:xfrm>
            <a:off x="261950" y="2976450"/>
            <a:ext cx="5729700" cy="34290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1800" b="1">
                <a:solidFill>
                  <a:srgbClr val="434343"/>
                </a:solidFill>
                <a:latin typeface="Calibri"/>
                <a:ea typeface="Calibri"/>
                <a:cs typeface="Calibri"/>
                <a:sym typeface="Calibri"/>
              </a:rPr>
              <a:t>Policy Implications - </a:t>
            </a:r>
            <a:endParaRPr sz="1800" b="1">
              <a:solidFill>
                <a:srgbClr val="434343"/>
              </a:solidFill>
              <a:latin typeface="Calibri"/>
              <a:ea typeface="Calibri"/>
              <a:cs typeface="Calibri"/>
              <a:sym typeface="Calibri"/>
            </a:endParaRPr>
          </a:p>
          <a:p>
            <a:pPr marL="457200" lvl="0" indent="-342900" algn="l" rtl="0">
              <a:spcBef>
                <a:spcPts val="0"/>
              </a:spcBef>
              <a:spcAft>
                <a:spcPts val="0"/>
              </a:spcAft>
              <a:buClr>
                <a:srgbClr val="434343"/>
              </a:buClr>
              <a:buSzPts val="1800"/>
              <a:buFont typeface="Calibri"/>
              <a:buChar char="●"/>
            </a:pPr>
            <a:r>
              <a:rPr lang="en-IN" sz="1800" b="1">
                <a:solidFill>
                  <a:srgbClr val="434343"/>
                </a:solidFill>
                <a:latin typeface="Calibri"/>
                <a:ea typeface="Calibri"/>
                <a:cs typeface="Calibri"/>
                <a:sym typeface="Calibri"/>
              </a:rPr>
              <a:t>Permit capping and route rationalization</a:t>
            </a:r>
            <a:r>
              <a:rPr lang="en-IN" sz="1800">
                <a:solidFill>
                  <a:srgbClr val="434343"/>
                </a:solidFill>
                <a:latin typeface="Calibri"/>
                <a:ea typeface="Calibri"/>
                <a:cs typeface="Calibri"/>
                <a:sym typeface="Calibri"/>
              </a:rPr>
              <a:t> for auto rickshaws and e-rickshaws (example - Delhi, Kolkata ) </a:t>
            </a:r>
            <a:endParaRPr sz="1800">
              <a:solidFill>
                <a:srgbClr val="434343"/>
              </a:solidFill>
              <a:latin typeface="Calibri"/>
              <a:ea typeface="Calibri"/>
              <a:cs typeface="Calibri"/>
              <a:sym typeface="Calibri"/>
            </a:endParaRPr>
          </a:p>
          <a:p>
            <a:pPr marL="457200" lvl="0" indent="-342900" algn="l" rtl="0">
              <a:spcBef>
                <a:spcPts val="0"/>
              </a:spcBef>
              <a:spcAft>
                <a:spcPts val="0"/>
              </a:spcAft>
              <a:buClr>
                <a:srgbClr val="434343"/>
              </a:buClr>
              <a:buSzPts val="1800"/>
              <a:buFont typeface="Calibri"/>
              <a:buChar char="●"/>
            </a:pPr>
            <a:r>
              <a:rPr lang="en-IN" sz="1800" b="1">
                <a:solidFill>
                  <a:srgbClr val="434343"/>
                </a:solidFill>
                <a:latin typeface="Calibri"/>
                <a:ea typeface="Calibri"/>
                <a:cs typeface="Calibri"/>
                <a:sym typeface="Calibri"/>
              </a:rPr>
              <a:t>Old Vehicle scrappage </a:t>
            </a:r>
            <a:r>
              <a:rPr lang="en-IN" sz="1800">
                <a:solidFill>
                  <a:srgbClr val="434343"/>
                </a:solidFill>
                <a:latin typeface="Calibri"/>
                <a:ea typeface="Calibri"/>
                <a:cs typeface="Calibri"/>
                <a:sym typeface="Calibri"/>
              </a:rPr>
              <a:t>linked entry - new e-rickshaws permit only against scrappage of old ICE (BS IV) 3W scrappage </a:t>
            </a:r>
            <a:endParaRPr sz="1800">
              <a:solidFill>
                <a:srgbClr val="434343"/>
              </a:solidFill>
              <a:latin typeface="Calibri"/>
              <a:ea typeface="Calibri"/>
              <a:cs typeface="Calibri"/>
              <a:sym typeface="Calibri"/>
            </a:endParaRPr>
          </a:p>
          <a:p>
            <a:pPr marL="457200" lvl="0" indent="-342900" algn="l" rtl="0">
              <a:spcBef>
                <a:spcPts val="0"/>
              </a:spcBef>
              <a:spcAft>
                <a:spcPts val="0"/>
              </a:spcAft>
              <a:buClr>
                <a:srgbClr val="434343"/>
              </a:buClr>
              <a:buSzPts val="1800"/>
              <a:buFont typeface="Calibri"/>
              <a:buChar char="●"/>
            </a:pPr>
            <a:r>
              <a:rPr lang="en-IN" sz="1800" b="1">
                <a:solidFill>
                  <a:srgbClr val="434343"/>
                </a:solidFill>
                <a:latin typeface="Calibri"/>
                <a:ea typeface="Calibri"/>
                <a:cs typeface="Calibri"/>
                <a:sym typeface="Calibri"/>
              </a:rPr>
              <a:t>Dynamic parking pricing</a:t>
            </a:r>
            <a:r>
              <a:rPr lang="en-IN" sz="1800">
                <a:solidFill>
                  <a:srgbClr val="434343"/>
                </a:solidFill>
                <a:latin typeface="Calibri"/>
                <a:ea typeface="Calibri"/>
                <a:cs typeface="Calibri"/>
                <a:sym typeface="Calibri"/>
              </a:rPr>
              <a:t> pairing with o</a:t>
            </a:r>
            <a:r>
              <a:rPr lang="en-IN" sz="1800" b="1">
                <a:solidFill>
                  <a:srgbClr val="434343"/>
                </a:solidFill>
                <a:latin typeface="Calibri"/>
                <a:ea typeface="Calibri"/>
                <a:cs typeface="Calibri"/>
                <a:sym typeface="Calibri"/>
              </a:rPr>
              <a:t>n street parking removal in commercial zone</a:t>
            </a:r>
            <a:r>
              <a:rPr lang="en-IN" sz="1800">
                <a:solidFill>
                  <a:srgbClr val="434343"/>
                </a:solidFill>
                <a:latin typeface="Calibri"/>
                <a:ea typeface="Calibri"/>
                <a:cs typeface="Calibri"/>
                <a:sym typeface="Calibri"/>
              </a:rPr>
              <a:t> </a:t>
            </a:r>
            <a:endParaRPr sz="1800">
              <a:solidFill>
                <a:srgbClr val="434343"/>
              </a:solidFill>
              <a:latin typeface="Calibri"/>
              <a:ea typeface="Calibri"/>
              <a:cs typeface="Calibri"/>
              <a:sym typeface="Calibri"/>
            </a:endParaRPr>
          </a:p>
          <a:p>
            <a:pPr marL="457200" lvl="0" indent="-342900" algn="l" rtl="0">
              <a:spcBef>
                <a:spcPts val="0"/>
              </a:spcBef>
              <a:spcAft>
                <a:spcPts val="0"/>
              </a:spcAft>
              <a:buClr>
                <a:srgbClr val="434343"/>
              </a:buClr>
              <a:buSzPts val="1800"/>
              <a:buFont typeface="Calibri"/>
              <a:buChar char="●"/>
            </a:pPr>
            <a:r>
              <a:rPr lang="en-IN" sz="1800">
                <a:solidFill>
                  <a:srgbClr val="434343"/>
                </a:solidFill>
                <a:latin typeface="Calibri"/>
                <a:ea typeface="Calibri"/>
                <a:cs typeface="Calibri"/>
                <a:sym typeface="Calibri"/>
              </a:rPr>
              <a:t>Feeder e-rickshaws and e-auto rickshaws integration under a regulated aggregator model </a:t>
            </a:r>
            <a:endParaRPr sz="1800">
              <a:solidFill>
                <a:srgbClr val="434343"/>
              </a:solidFill>
              <a:latin typeface="Calibri"/>
              <a:ea typeface="Calibri"/>
              <a:cs typeface="Calibri"/>
              <a:sym typeface="Calibri"/>
            </a:endParaRPr>
          </a:p>
          <a:p>
            <a:pPr marL="457200" lvl="0" indent="-342900" algn="l" rtl="0">
              <a:spcBef>
                <a:spcPts val="0"/>
              </a:spcBef>
              <a:spcAft>
                <a:spcPts val="0"/>
              </a:spcAft>
              <a:buClr>
                <a:srgbClr val="434343"/>
              </a:buClr>
              <a:buSzPts val="1800"/>
              <a:buFont typeface="Calibri"/>
              <a:buChar char="●"/>
            </a:pPr>
            <a:r>
              <a:rPr lang="en-IN" sz="1800">
                <a:solidFill>
                  <a:srgbClr val="434343"/>
                </a:solidFill>
                <a:latin typeface="Calibri"/>
                <a:ea typeface="Calibri"/>
                <a:cs typeface="Calibri"/>
                <a:sym typeface="Calibri"/>
              </a:rPr>
              <a:t>NMT push : </a:t>
            </a:r>
            <a:r>
              <a:rPr lang="en-IN" sz="1800" b="1">
                <a:solidFill>
                  <a:srgbClr val="434343"/>
                </a:solidFill>
                <a:latin typeface="Calibri"/>
                <a:ea typeface="Calibri"/>
                <a:cs typeface="Calibri"/>
                <a:sym typeface="Calibri"/>
              </a:rPr>
              <a:t>Cycle track and footpath integration</a:t>
            </a:r>
            <a:r>
              <a:rPr lang="en-IN" sz="1800">
                <a:solidFill>
                  <a:srgbClr val="434343"/>
                </a:solidFill>
                <a:latin typeface="Calibri"/>
                <a:ea typeface="Calibri"/>
                <a:cs typeface="Calibri"/>
                <a:sym typeface="Calibri"/>
              </a:rPr>
              <a:t> </a:t>
            </a:r>
            <a:endParaRPr sz="1800">
              <a:solidFill>
                <a:srgbClr val="434343"/>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23"/>
          <p:cNvSpPr txBox="1">
            <a:spLocks noGrp="1"/>
          </p:cNvSpPr>
          <p:nvPr>
            <p:ph type="body" idx="1"/>
          </p:nvPr>
        </p:nvSpPr>
        <p:spPr>
          <a:xfrm>
            <a:off x="826800" y="942160"/>
            <a:ext cx="10538400" cy="4784800"/>
          </a:xfrm>
          <a:prstGeom prst="rect">
            <a:avLst/>
          </a:prstGeom>
          <a:noFill/>
          <a:ln>
            <a:noFill/>
          </a:ln>
        </p:spPr>
        <p:txBody>
          <a:bodyPr spcFirstLastPara="1" wrap="square" lIns="121900" tIns="60925" rIns="121900" bIns="60925" anchor="t" anchorCtr="0">
            <a:normAutofit/>
          </a:bodyPr>
          <a:lstStyle/>
          <a:p>
            <a:pPr marL="0" lvl="0" indent="0" algn="ctr" rtl="0">
              <a:lnSpc>
                <a:spcPct val="100000"/>
              </a:lnSpc>
              <a:spcBef>
                <a:spcPts val="587"/>
              </a:spcBef>
              <a:spcAft>
                <a:spcPts val="0"/>
              </a:spcAft>
              <a:buSzPts val="2200"/>
              <a:buNone/>
            </a:pPr>
            <a:endParaRPr sz="2400"/>
          </a:p>
          <a:p>
            <a:pPr marL="0" lvl="0" indent="0" algn="ctr" rtl="0">
              <a:lnSpc>
                <a:spcPct val="100000"/>
              </a:lnSpc>
              <a:spcBef>
                <a:spcPts val="587"/>
              </a:spcBef>
              <a:spcAft>
                <a:spcPts val="0"/>
              </a:spcAft>
              <a:buSzPts val="2200"/>
              <a:buNone/>
            </a:pPr>
            <a:endParaRPr sz="2400"/>
          </a:p>
          <a:p>
            <a:pPr marL="0" lvl="0" indent="0" algn="ctr" rtl="0">
              <a:lnSpc>
                <a:spcPct val="100000"/>
              </a:lnSpc>
              <a:spcBef>
                <a:spcPts val="587"/>
              </a:spcBef>
              <a:spcAft>
                <a:spcPts val="0"/>
              </a:spcAft>
              <a:buSzPts val="2200"/>
              <a:buNone/>
            </a:pPr>
            <a:endParaRPr sz="2400"/>
          </a:p>
          <a:p>
            <a:pPr marL="0" lvl="0" indent="0" algn="ctr" rtl="0">
              <a:lnSpc>
                <a:spcPct val="100000"/>
              </a:lnSpc>
              <a:spcBef>
                <a:spcPts val="587"/>
              </a:spcBef>
              <a:spcAft>
                <a:spcPts val="0"/>
              </a:spcAft>
              <a:buSzPts val="2200"/>
              <a:buNone/>
            </a:pPr>
            <a:endParaRPr sz="2400"/>
          </a:p>
          <a:p>
            <a:pPr marL="0" lvl="0" indent="0" algn="ctr" rtl="0">
              <a:lnSpc>
                <a:spcPct val="100000"/>
              </a:lnSpc>
              <a:spcBef>
                <a:spcPts val="587"/>
              </a:spcBef>
              <a:spcAft>
                <a:spcPts val="0"/>
              </a:spcAft>
              <a:buClr>
                <a:schemeClr val="accent1"/>
              </a:buClr>
              <a:buSzPts val="2200"/>
              <a:buNone/>
            </a:pPr>
            <a:r>
              <a:rPr lang="en-IN" sz="2400" b="1">
                <a:solidFill>
                  <a:schemeClr val="accent1"/>
                </a:solidFill>
              </a:rPr>
              <a:t>Thank you</a:t>
            </a:r>
            <a:endParaRPr sz="2400"/>
          </a:p>
          <a:p>
            <a:pPr marL="0" lvl="0" indent="0" algn="ctr" rtl="0">
              <a:lnSpc>
                <a:spcPct val="100000"/>
              </a:lnSpc>
              <a:spcBef>
                <a:spcPts val="533"/>
              </a:spcBef>
              <a:spcAft>
                <a:spcPts val="0"/>
              </a:spcAft>
              <a:buSzPts val="2000"/>
              <a:buNone/>
            </a:pPr>
            <a:r>
              <a:rPr lang="en-IN"/>
              <a:t>ceew.in | @CEEWIndia</a:t>
            </a:r>
            <a:endParaRPr/>
          </a:p>
        </p:txBody>
      </p:sp>
      <p:sp>
        <p:nvSpPr>
          <p:cNvPr id="473" name="Google Shape;473;p23"/>
          <p:cNvSpPr txBox="1">
            <a:spLocks noGrp="1"/>
          </p:cNvSpPr>
          <p:nvPr>
            <p:ph type="sldNum" idx="4294967295"/>
          </p:nvPr>
        </p:nvSpPr>
        <p:spPr>
          <a:xfrm>
            <a:off x="-276585" y="6235395"/>
            <a:ext cx="773200" cy="365200"/>
          </a:xfrm>
          <a:prstGeom prst="rect">
            <a:avLst/>
          </a:prstGeom>
          <a:noFill/>
          <a:ln>
            <a:noFill/>
          </a:ln>
        </p:spPr>
        <p:txBody>
          <a:bodyPr spcFirstLastPara="1" wrap="square" lIns="121900" tIns="60925" rIns="121900" bIns="60925"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a:t>36</a:t>
            </a:fld>
            <a:r>
              <a:rPr lang="en-IN"/>
              <a:t>|</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heme/theme1.xml><?xml version="1.0" encoding="utf-8"?>
<a:theme xmlns:a="http://schemas.openxmlformats.org/drawingml/2006/main" name="CEEW - PPT Template 28Mar18">
  <a:themeElements>
    <a:clrScheme name="CEEW">
      <a:dk1>
        <a:srgbClr val="000000"/>
      </a:dk1>
      <a:lt1>
        <a:srgbClr val="FFFFFF"/>
      </a:lt1>
      <a:dk2>
        <a:srgbClr val="777877"/>
      </a:dk2>
      <a:lt2>
        <a:srgbClr val="FFFFFE"/>
      </a:lt2>
      <a:accent1>
        <a:srgbClr val="009ED8"/>
      </a:accent1>
      <a:accent2>
        <a:srgbClr val="F16223"/>
      </a:accent2>
      <a:accent3>
        <a:srgbClr val="86BB3F"/>
      </a:accent3>
      <a:accent4>
        <a:srgbClr val="929497"/>
      </a:accent4>
      <a:accent5>
        <a:srgbClr val="FFFFFE"/>
      </a:accent5>
      <a:accent6>
        <a:srgbClr val="FFFFFE"/>
      </a:accent6>
      <a:hlink>
        <a:srgbClr val="0D81B9"/>
      </a:hlink>
      <a:folHlink>
        <a:srgbClr val="0D81B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EEW - PPT Template 28Mar18">
  <a:themeElements>
    <a:clrScheme name="CEEW">
      <a:dk1>
        <a:srgbClr val="000000"/>
      </a:dk1>
      <a:lt1>
        <a:srgbClr val="FFFFFF"/>
      </a:lt1>
      <a:dk2>
        <a:srgbClr val="777877"/>
      </a:dk2>
      <a:lt2>
        <a:srgbClr val="FFFFFE"/>
      </a:lt2>
      <a:accent1>
        <a:srgbClr val="009ED8"/>
      </a:accent1>
      <a:accent2>
        <a:srgbClr val="F16223"/>
      </a:accent2>
      <a:accent3>
        <a:srgbClr val="86BB3F"/>
      </a:accent3>
      <a:accent4>
        <a:srgbClr val="929497"/>
      </a:accent4>
      <a:accent5>
        <a:srgbClr val="FFFFFE"/>
      </a:accent5>
      <a:accent6>
        <a:srgbClr val="FFFFFE"/>
      </a:accent6>
      <a:hlink>
        <a:srgbClr val="0D81B9"/>
      </a:hlink>
      <a:folHlink>
        <a:srgbClr val="0D81B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539</TotalTime>
  <Words>3468</Words>
  <Application>Microsoft Macintosh PowerPoint</Application>
  <PresentationFormat>Widescreen</PresentationFormat>
  <Paragraphs>769</Paragraphs>
  <Slides>36</Slides>
  <Notes>36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36</vt:i4>
      </vt:variant>
    </vt:vector>
  </HeadingPairs>
  <TitlesOfParts>
    <vt:vector size="42" baseType="lpstr">
      <vt:lpstr>Arial</vt:lpstr>
      <vt:lpstr>Calibri</vt:lpstr>
      <vt:lpstr>Cambria</vt:lpstr>
      <vt:lpstr>Cambria Math</vt:lpstr>
      <vt:lpstr>CEEW - PPT Template 28Mar18</vt:lpstr>
      <vt:lpstr>CEEW - PPT Template 28Mar18</vt:lpstr>
      <vt:lpstr>Efficiency and Bus Fleet Management: Strategic Communications and quantifying GHG and other co-benefits (#BBUS) Case Application - Amritsar (M1, M2&amp; M3 model) </vt:lpstr>
      <vt:lpstr>Impacting sustainable development at scale with data, integrated analysis, and strategic outreach</vt:lpstr>
      <vt:lpstr>M1-Socio economic co-benefit  Premise for the analysis </vt:lpstr>
      <vt:lpstr>Pre-Treatment The baseline</vt:lpstr>
      <vt:lpstr>Post-Treatment</vt:lpstr>
      <vt:lpstr>The Equity lens Who benefits?</vt:lpstr>
      <vt:lpstr>Limitations</vt:lpstr>
      <vt:lpstr>Regression results</vt:lpstr>
      <vt:lpstr>SVI(VI) – Social Vulnerability Index</vt:lpstr>
      <vt:lpstr>SVI(VI) – Social Vulnerability Index</vt:lpstr>
      <vt:lpstr>Expected Outputs from M1:City A</vt:lpstr>
      <vt:lpstr>Expected Outputs from M2: City B</vt:lpstr>
      <vt:lpstr>Expected Outputs from M1: </vt:lpstr>
      <vt:lpstr>Expected Outputs from M2: Active Travel</vt:lpstr>
      <vt:lpstr>PowerPoint Presentation</vt:lpstr>
      <vt:lpstr>PowerPoint Presentation</vt:lpstr>
      <vt:lpstr>PowerPoint Presentation</vt:lpstr>
      <vt:lpstr>Expected Outputs from M2: Active Travel</vt:lpstr>
      <vt:lpstr>Expected Outputs from M2: Active Travel</vt:lpstr>
      <vt:lpstr>Expected Outputs from M2: Assumption for bus deployment</vt:lpstr>
      <vt:lpstr>Expected Outputs from M2: AFTER Bus Deployment model results</vt:lpstr>
      <vt:lpstr>Expected Outputs from M2: Reduction in pollution </vt:lpstr>
      <vt:lpstr>Expected Outputs from M2: Reduction in pollution </vt:lpstr>
      <vt:lpstr>Expected Outputs from M2: Reduction in pollution </vt:lpstr>
      <vt:lpstr>Expected Outputs from M2: Reduction in Fatalities </vt:lpstr>
      <vt:lpstr>Expected Outputs from M2: Reduction in Fatalities </vt:lpstr>
      <vt:lpstr>Expected Outputs from M2: Reduction in Fatalities </vt:lpstr>
      <vt:lpstr>Expected Outputs from M1:City A</vt:lpstr>
      <vt:lpstr>Expected Outputs from M2: City B</vt:lpstr>
      <vt:lpstr>Expected Outputs from M1: </vt:lpstr>
      <vt:lpstr>Model M3- GHG mitigation + Pollution (PM 2.5, PM10 and NOx) calculation </vt:lpstr>
      <vt:lpstr>Model M3- GHG mitigation + Pollution (PM 2.5, PM10 and NOx) calculation  </vt:lpstr>
      <vt:lpstr>Model M3- GHG mitigation + Pollution (PM 2.5, PM10 and NOx) calculation </vt:lpstr>
      <vt:lpstr>Model M3- GHG mitigation + Pollution (PM 2.5, PM10 and NOx) calculation </vt:lpstr>
      <vt:lpstr>Inferences and Policy Implications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prince patel</cp:lastModifiedBy>
  <cp:revision>4</cp:revision>
  <dcterms:modified xsi:type="dcterms:W3CDTF">2026-08-07T11:57:38Z</dcterms:modified>
</cp:coreProperties>
</file>
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282" r:id="rId22"/>
    <p:sldId id="283" r:id="rId23"/>
    <p:sldId id="289" r:id="rId24"/>
    <p:sldId id="285" r:id="rId25"/>
    <p:sldId id="284" r:id="rId26"/>
    <p:sldId id="287" r:id="rId27"/>
    <p:sldId id="290" r:id="rId28"/>
    <p:sldId id="288" r:id="rId29"/>
    <p:sldId id="286" r:id="rId30"/>
  </p:sldIdLst>
  <p:sldSz cx="12192000" cy="6858000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g5LpFXx+vgCAY5F2rh/MgnkHcI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079B24-CE5E-4152-BB4C-792983D8DC11}">
  <a:tblStyle styleId="{84079B24-CE5E-4152-BB4C-792983D8DC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824CB9-8C8D-44F2-9781-F3755EB3A8F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8"/>
          </a:solidFill>
        </a:fill>
      </a:tcStyle>
    </a:wholeTbl>
    <a:band1H>
      <a:tcTxStyle/>
      <a:tcStyle>
        <a:tcBdr/>
        <a:fill>
          <a:solidFill>
            <a:srgbClr val="CADEF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EF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009ED8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009ED8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009ED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009ED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A319F7-414C-4FE0-9E9A-CB96BA80634B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8"/>
          </a:solidFill>
        </a:fill>
      </a:tcStyle>
    </a:wholeTbl>
    <a:band1H>
      <a:tcTxStyle/>
      <a:tcStyle>
        <a:tcBdr/>
        <a:fill>
          <a:solidFill>
            <a:srgbClr val="CADEF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EF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83EE7CF-7BAA-4A01-AA68-861A26D7AAE2}" styleName="Table_3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f07bbfc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52" name="Google Shape;52;g3a1f07bbf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5213d091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e5213d0914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e5213d0914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5213d0914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e5213d0914_1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g3e5213d0914_1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2de33b0d5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3f2de33b0d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2de33b0d5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2de33b0d5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f2de33b0d5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2de33b0d5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2de33b0d5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f2de33b0d5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2de33b0d5_0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1" name="Google Shape;301;g3f2de33b0d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2de33b0d5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3f2de33b0d5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5213d0914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g3e5213d0914_1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6" name="Google Shape;416;g3e5213d0914_1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2de33b0d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f2de33b0d5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g3f2de33b0d5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2de33b0d5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f2de33b0d5_0_3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g3f2de33b0d5_0_3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2de33b0d5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f2de33b0d5_0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g3f2de33b0d5_0_3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2de33b0d5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3" name="Google Shape;623;g3f2de33b0d5_0_4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4" name="Google Shape;624;g3f2de33b0d5_0_4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f2de33b0d5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g3f2de33b0d5_0_4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7" name="Google Shape;637;g3f2de33b0d5_0_4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f2de33b0d5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0" name="Google Shape;670;g3f2de33b0d5_0_4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1" name="Google Shape;671;g3f2de33b0d5_0_4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f2de33b0d5_0_4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9" name="Google Shape;679;g3f2de33b0d5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2de33b0d5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1" name="Google Shape;691;g3f2de33b0d5_0_4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2" name="Google Shape;692;g3f2de33b0d5_0_4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2de33b0d5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3" name="Google Shape;713;g3f2de33b0d5_0_4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4" name="Google Shape;714;g3f2de33b0d5_0_4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2de33b0d5_0_5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3" name="Google Shape;733;g3f2de33b0d5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2de33b0d5_0_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7" name="Google Shape;747;g3f2de33b0d5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2de33b0d5_0_6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4" name="Google Shape;794;g3f2de33b0d5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f2de33b0d5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9" name="Google Shape;769;g3f2de33b0d5_0_5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Change the map</a:t>
            </a:r>
            <a:endParaRPr/>
          </a:p>
        </p:txBody>
      </p:sp>
      <p:sp>
        <p:nvSpPr>
          <p:cNvPr id="770" name="Google Shape;770;g3f2de33b0d5_0_5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/>
          <p:nvPr/>
        </p:nvSpPr>
        <p:spPr>
          <a:xfrm>
            <a:off x="3834064" y="0"/>
            <a:ext cx="8386000" cy="6858000"/>
          </a:xfrm>
          <a:prstGeom prst="rect">
            <a:avLst/>
          </a:prstGeom>
          <a:solidFill>
            <a:srgbClr val="E9E9E9"/>
          </a:solidFill>
          <a:ln>
            <a:noFill/>
          </a:ln>
          <a:effectLst>
            <a:outerShdw blurRad="40000" dist="23000" dir="5400000" rotWithShape="0">
              <a:srgbClr val="000000">
                <a:alpha val="32941"/>
              </a:srgbClr>
            </a:outerShdw>
          </a:effectLst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4165600" y="2695073"/>
            <a:ext cx="7812400" cy="1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4165600" y="4319588"/>
            <a:ext cx="4540400" cy="1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2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4134" y="2839400"/>
            <a:ext cx="2480433" cy="13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134" y="2349773"/>
            <a:ext cx="2619359" cy="1969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Layout">
  <p:cSld name="Section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661288" y="4389057"/>
            <a:ext cx="114112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3733">
                <a:solidFill>
                  <a:srgbClr val="009C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582992" y="4005943"/>
            <a:ext cx="114132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rgbClr val="575756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sldNum" idx="12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cxnSp>
        <p:nvCxnSpPr>
          <p:cNvPr id="27" name="Google Shape;27;p27"/>
          <p:cNvCxnSpPr/>
          <p:nvPr/>
        </p:nvCxnSpPr>
        <p:spPr>
          <a:xfrm rot="10800000" flipH="1">
            <a:off x="395705" y="6408357"/>
            <a:ext cx="10315200" cy="9600"/>
          </a:xfrm>
          <a:prstGeom prst="straightConnector1">
            <a:avLst/>
          </a:prstGeom>
          <a:noFill/>
          <a:ln w="9525" cap="flat" cmpd="sng">
            <a:solidFill>
              <a:srgbClr val="8D8F9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" name="Google Shape;2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2215" y="5869659"/>
            <a:ext cx="1152389" cy="866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200" b="1" cap="none">
                <a:solidFill>
                  <a:srgbClr val="009C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395705" y="988341"/>
            <a:ext cx="11284400" cy="4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55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2" name="Google Shape;32;p26"/>
          <p:cNvCxnSpPr/>
          <p:nvPr/>
        </p:nvCxnSpPr>
        <p:spPr>
          <a:xfrm rot="10800000" flipH="1">
            <a:off x="395705" y="6408357"/>
            <a:ext cx="10315200" cy="9600"/>
          </a:xfrm>
          <a:prstGeom prst="straightConnector1">
            <a:avLst/>
          </a:prstGeom>
          <a:noFill/>
          <a:ln w="9525" cap="flat" cmpd="sng">
            <a:solidFill>
              <a:srgbClr val="8D8F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26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 cap="none">
                <a:solidFill>
                  <a:srgbClr val="9D9D9C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4" name="Google Shape;3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2215" y="5869659"/>
            <a:ext cx="1152389" cy="866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>
            <a:spLocks noGrp="1"/>
          </p:cNvSpPr>
          <p:nvPr>
            <p:ph type="title"/>
          </p:nvPr>
        </p:nvSpPr>
        <p:spPr>
          <a:xfrm>
            <a:off x="354419" y="226512"/>
            <a:ext cx="11228000" cy="8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200" b="1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body" idx="1"/>
          </p:nvPr>
        </p:nvSpPr>
        <p:spPr>
          <a:xfrm>
            <a:off x="354419" y="1152456"/>
            <a:ext cx="5640000" cy="45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>
                <a:solidFill>
                  <a:srgbClr val="575756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2286000" lvl="4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body" idx="2"/>
          </p:nvPr>
        </p:nvSpPr>
        <p:spPr>
          <a:xfrm>
            <a:off x="6197600" y="1152456"/>
            <a:ext cx="5384800" cy="45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>
                <a:solidFill>
                  <a:srgbClr val="575756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2286000" lvl="4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3"/>
          </p:nvPr>
        </p:nvSpPr>
        <p:spPr>
          <a:xfrm>
            <a:off x="354419" y="6475387"/>
            <a:ext cx="63400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 cap="none">
                <a:solidFill>
                  <a:srgbClr val="9D9D9C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0" name="Google Shape;40;p28"/>
          <p:cNvCxnSpPr/>
          <p:nvPr/>
        </p:nvCxnSpPr>
        <p:spPr>
          <a:xfrm rot="10800000" flipH="1">
            <a:off x="395705" y="6408357"/>
            <a:ext cx="10315200" cy="9600"/>
          </a:xfrm>
          <a:prstGeom prst="straightConnector1">
            <a:avLst/>
          </a:prstGeom>
          <a:noFill/>
          <a:ln w="9525" cap="flat" cmpd="sng">
            <a:solidFill>
              <a:srgbClr val="8D8F9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1" name="Google Shape;4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2215" y="5869659"/>
            <a:ext cx="1152389" cy="866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374317" y="194428"/>
            <a:ext cx="11411200" cy="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377509" y="1105471"/>
            <a:ext cx="113900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374317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9D9D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9415604" y="6590193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" name="Google Shape;15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61468" y="6179275"/>
            <a:ext cx="1022449" cy="5423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unfccc.int/climate-action/sectoral-engagement/ifis-harmonization-of-standards-for-ghg-accounting/ifi-twg-list-of-methodologies" TargetMode="External"/><Relationship Id="rId7" Type="http://schemas.openxmlformats.org/officeDocument/2006/relationships/hyperlink" Target="https://indiaghgp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nosd.un.org/sites/default/files/session_13-15_mr._tomoyuki_aizawa_unfccc.pdf" TargetMode="External"/><Relationship Id="rId5" Type="http://schemas.openxmlformats.org/officeDocument/2006/relationships/hyperlink" Target="https://ghgprotocol.org/" TargetMode="External"/><Relationship Id="rId10" Type="http://schemas.openxmlformats.org/officeDocument/2006/relationships/image" Target="../media/image10.png"/><Relationship Id="rId4" Type="http://schemas.openxmlformats.org/officeDocument/2006/relationships/hyperlink" Target="https://www.itf-oecd.org/itf-transport-life-cycle-assessment-india" TargetMode="External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98893931_A_Comparative_Geospatial_Analysis_of_Urban_Growth_Patterns_Across_India's_Different_City_Tiers_for_Citizen-Centered_Governance_and_Sustainability" TargetMode="External"/><Relationship Id="rId3" Type="http://schemas.openxmlformats.org/officeDocument/2006/relationships/image" Target="../media/image21.png"/><Relationship Id="rId7" Type="http://schemas.openxmlformats.org/officeDocument/2006/relationships/hyperlink" Target="https://prana.cpcb.gov.in/#/home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colliers.com/en-in/news/press-release-india-real-estate-2026-outlook" TargetMode="External"/><Relationship Id="rId5" Type="http://schemas.openxmlformats.org/officeDocument/2006/relationships/hyperlink" Target="https://www.pib.gov.in/PressReleaseIframePage.aspx?PRID=2034921&amp;reg=3&amp;lang=2#:~:text=Highlighting%20the%20vibrant%20Start%2DUp,2024%20from%20300%20in%202016." TargetMode="External"/><Relationship Id="rId4" Type="http://schemas.openxmlformats.org/officeDocument/2006/relationships/hyperlink" Target="https://www.pib.gov.in/PressReleasePage.aspx?PRID=2147040&amp;reg=3&amp;lang=2" TargetMode="External"/><Relationship Id="rId9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spatialmind.in/bbus.html" TargetMode="Externa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4165600" y="2567453"/>
            <a:ext cx="7812300" cy="172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E71"/>
              </a:buClr>
              <a:buSzPts val="3200"/>
              <a:buNone/>
            </a:pPr>
            <a:r>
              <a:rPr lang="en-IN" sz="3466" dirty="0">
                <a:solidFill>
                  <a:srgbClr val="6C6E71"/>
                </a:solidFill>
              </a:rPr>
              <a:t>Efficiency and Bus Fleet Management: Strategic Communications and quantifying GHG and other co-benefits (#BBUS)</a:t>
            </a:r>
            <a:endParaRPr sz="3466" dirty="0">
              <a:solidFill>
                <a:srgbClr val="6C6E71"/>
              </a:solidFill>
            </a:endParaRPr>
          </a:p>
        </p:txBody>
      </p:sp>
      <p:sp>
        <p:nvSpPr>
          <p:cNvPr id="47" name="Google Shape;47;p1"/>
          <p:cNvSpPr txBox="1">
            <a:spLocks noGrp="1"/>
          </p:cNvSpPr>
          <p:nvPr>
            <p:ph type="body" idx="1"/>
          </p:nvPr>
        </p:nvSpPr>
        <p:spPr>
          <a:xfrm>
            <a:off x="4165600" y="4217988"/>
            <a:ext cx="4540400" cy="1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2000" b="1" dirty="0">
                <a:solidFill>
                  <a:schemeClr val="accent1"/>
                </a:solidFill>
              </a:rPr>
              <a:t>Sustainable Mobility Team</a:t>
            </a:r>
            <a:endParaRPr sz="20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1" dirty="0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endParaRPr sz="1627" dirty="0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endParaRPr sz="1627" dirty="0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endParaRPr sz="1627" dirty="0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r>
              <a:rPr lang="en-IN" sz="1627" dirty="0">
                <a:solidFill>
                  <a:srgbClr val="6C6E71"/>
                </a:solidFill>
              </a:rPr>
              <a:t>02 July 2026</a:t>
            </a:r>
            <a:endParaRPr sz="2000" b="1" dirty="0">
              <a:solidFill>
                <a:schemeClr val="accent1"/>
              </a:solidFill>
            </a:endParaRPr>
          </a:p>
        </p:txBody>
      </p:sp>
      <p:sp>
        <p:nvSpPr>
          <p:cNvPr id="48" name="Google Shape;48;p1"/>
          <p:cNvSpPr txBox="1">
            <a:spLocks noGrp="1"/>
          </p:cNvSpPr>
          <p:nvPr>
            <p:ph type="body" idx="2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IN" sz="1733">
                <a:solidFill>
                  <a:srgbClr val="575756"/>
                </a:solidFill>
              </a:rPr>
              <a:t>© Council on Energy, Environment and Water, 2026</a:t>
            </a:r>
            <a:endParaRPr>
              <a:solidFill>
                <a:srgbClr val="575756"/>
              </a:solidFill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-35733" y="53575"/>
            <a:ext cx="3839600" cy="6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endParaRPr sz="248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g3a1f07bbfc6_0_0"/>
          <p:cNvPicPr preferRelativeResize="0"/>
          <p:nvPr/>
        </p:nvPicPr>
        <p:blipFill rotWithShape="1">
          <a:blip r:embed="rId3">
            <a:alphaModFix/>
          </a:blip>
          <a:srcRect l="33709" r="55109" b="84114"/>
          <a:stretch/>
        </p:blipFill>
        <p:spPr>
          <a:xfrm>
            <a:off x="338550" y="1344986"/>
            <a:ext cx="400855" cy="30206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a1f07bbfc6_0_0"/>
          <p:cNvSpPr txBox="1">
            <a:spLocks noGrp="1"/>
          </p:cNvSpPr>
          <p:nvPr>
            <p:ph type="title"/>
          </p:nvPr>
        </p:nvSpPr>
        <p:spPr>
          <a:xfrm>
            <a:off x="362842" y="342882"/>
            <a:ext cx="114111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 sz="2200"/>
              <a:t>Impacting sustainable development at scale with </a:t>
            </a:r>
            <a:r>
              <a:rPr lang="en-IN" sz="2200" u="sng"/>
              <a:t>data</a:t>
            </a:r>
            <a:r>
              <a:rPr lang="en-IN" sz="2200"/>
              <a:t>, </a:t>
            </a:r>
            <a:r>
              <a:rPr lang="en-IN" sz="2200" u="sng"/>
              <a:t>integrated analysis</a:t>
            </a:r>
            <a:r>
              <a:rPr lang="en-IN" sz="2200"/>
              <a:t>, and </a:t>
            </a:r>
            <a:r>
              <a:rPr lang="en-IN" sz="2200" u="sng"/>
              <a:t>strategic outreach</a:t>
            </a:r>
            <a:endParaRPr sz="2200" u="sng"/>
          </a:p>
        </p:txBody>
      </p:sp>
      <p:sp>
        <p:nvSpPr>
          <p:cNvPr id="56" name="Google Shape;56;g3a1f07bbfc6_0_0"/>
          <p:cNvSpPr/>
          <p:nvPr/>
        </p:nvSpPr>
        <p:spPr>
          <a:xfrm>
            <a:off x="5248125" y="5794458"/>
            <a:ext cx="1790100" cy="3831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Emerging Economies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a1f07bbfc6_0_0"/>
          <p:cNvSpPr/>
          <p:nvPr/>
        </p:nvSpPr>
        <p:spPr>
          <a:xfrm>
            <a:off x="310088" y="5790904"/>
            <a:ext cx="2568000" cy="3840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CEEW Green Finance Centre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a1f07bbfc6_0_0"/>
          <p:cNvSpPr/>
          <p:nvPr/>
        </p:nvSpPr>
        <p:spPr>
          <a:xfrm>
            <a:off x="7314991" y="5788600"/>
            <a:ext cx="1389000" cy="3840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UP State Office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g3a1f07bbfc6_0_0"/>
          <p:cNvCxnSpPr/>
          <p:nvPr/>
        </p:nvCxnSpPr>
        <p:spPr>
          <a:xfrm>
            <a:off x="9078215" y="1190790"/>
            <a:ext cx="0" cy="4981800"/>
          </a:xfrm>
          <a:prstGeom prst="straightConnector1">
            <a:avLst/>
          </a:prstGeom>
          <a:noFill/>
          <a:ln w="12700" cap="flat" cmpd="sng">
            <a:solidFill>
              <a:srgbClr val="009C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0" name="Google Shape;60;g3a1f07bbfc6_0_0"/>
          <p:cNvGrpSpPr/>
          <p:nvPr/>
        </p:nvGrpSpPr>
        <p:grpSpPr>
          <a:xfrm>
            <a:off x="310605" y="1262056"/>
            <a:ext cx="2461419" cy="2995124"/>
            <a:chOff x="310621" y="1400956"/>
            <a:chExt cx="2715000" cy="2995124"/>
          </a:xfrm>
        </p:grpSpPr>
        <p:cxnSp>
          <p:nvCxnSpPr>
            <p:cNvPr id="61" name="Google Shape;61;g3a1f07bbfc6_0_0"/>
            <p:cNvCxnSpPr/>
            <p:nvPr/>
          </p:nvCxnSpPr>
          <p:spPr>
            <a:xfrm>
              <a:off x="725127" y="1736439"/>
              <a:ext cx="16476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</p:spPr>
        </p:cxnSp>
        <p:sp>
          <p:nvSpPr>
            <p:cNvPr id="62" name="Google Shape;62;g3a1f07bbfc6_0_0"/>
            <p:cNvSpPr/>
            <p:nvPr/>
          </p:nvSpPr>
          <p:spPr>
            <a:xfrm>
              <a:off x="310621" y="2385771"/>
              <a:ext cx="2705100" cy="4026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Energy Transitions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a1f07bbfc6_0_0"/>
            <p:cNvSpPr/>
            <p:nvPr/>
          </p:nvSpPr>
          <p:spPr>
            <a:xfrm>
              <a:off x="310621" y="3459108"/>
              <a:ext cx="2705100" cy="4017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Industrial Sustainability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3a1f07bbfc6_0_0"/>
            <p:cNvSpPr/>
            <p:nvPr/>
          </p:nvSpPr>
          <p:spPr>
            <a:xfrm>
              <a:off x="310621" y="3994980"/>
              <a:ext cx="2705100" cy="4011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Livelihoods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3a1f07bbfc6_0_0"/>
            <p:cNvSpPr/>
            <p:nvPr/>
          </p:nvSpPr>
          <p:spPr>
            <a:xfrm>
              <a:off x="310621" y="1849103"/>
              <a:ext cx="2705100" cy="4026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Low-carbon Economy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3a1f07bbfc6_0_0"/>
            <p:cNvSpPr/>
            <p:nvPr/>
          </p:nvSpPr>
          <p:spPr>
            <a:xfrm>
              <a:off x="310621" y="2922439"/>
              <a:ext cx="2715000" cy="4026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Power Markets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3a1f07bbfc6_0_0"/>
            <p:cNvSpPr/>
            <p:nvPr/>
          </p:nvSpPr>
          <p:spPr>
            <a:xfrm>
              <a:off x="562056" y="1400956"/>
              <a:ext cx="19308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1" i="1" u="none" strike="noStrike" cap="none">
                  <a:solidFill>
                    <a:srgbClr val="F16223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IN" sz="1300" b="1" i="1" u="none" strike="noStrike" cap="none">
                  <a:solidFill>
                    <a:srgbClr val="F16223"/>
                  </a:solidFill>
                  <a:latin typeface="Calibri"/>
                  <a:ea typeface="Calibri"/>
                  <a:cs typeface="Calibri"/>
                  <a:sym typeface="Calibri"/>
                </a:rPr>
                <a:t>RANSFORMATIONS</a:t>
              </a:r>
              <a:endParaRPr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g3a1f07bbfc6_0_0"/>
          <p:cNvGrpSpPr/>
          <p:nvPr/>
        </p:nvGrpSpPr>
        <p:grpSpPr>
          <a:xfrm>
            <a:off x="3436062" y="1259620"/>
            <a:ext cx="2452444" cy="2997614"/>
            <a:chOff x="3305715" y="1398520"/>
            <a:chExt cx="2705100" cy="2997614"/>
          </a:xfrm>
        </p:grpSpPr>
        <p:sp>
          <p:nvSpPr>
            <p:cNvPr id="69" name="Google Shape;69;g3a1f07bbfc6_0_0"/>
            <p:cNvSpPr/>
            <p:nvPr/>
          </p:nvSpPr>
          <p:spPr>
            <a:xfrm>
              <a:off x="3385658" y="1398520"/>
              <a:ext cx="19953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1" i="1" u="none" strike="noStrike" cap="none">
                  <a:solidFill>
                    <a:srgbClr val="86BB3F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lang="en-IN" sz="1300" b="1" i="1" u="none" strike="noStrike" cap="none">
                  <a:solidFill>
                    <a:srgbClr val="86BB3F"/>
                  </a:solidFill>
                  <a:latin typeface="Calibri"/>
                  <a:ea typeface="Calibri"/>
                  <a:cs typeface="Calibri"/>
                  <a:sym typeface="Calibri"/>
                </a:rPr>
                <a:t>UALITY OF LIFE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" name="Google Shape;70;g3a1f07bbfc6_0_0"/>
            <p:cNvCxnSpPr/>
            <p:nvPr/>
          </p:nvCxnSpPr>
          <p:spPr>
            <a:xfrm>
              <a:off x="3716954" y="1739306"/>
              <a:ext cx="13482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lgDash"/>
              <a:round/>
              <a:headEnd type="none" w="sm" len="sm"/>
              <a:tailEnd type="none" w="sm" len="sm"/>
            </a:ln>
          </p:spPr>
        </p:cxnSp>
        <p:sp>
          <p:nvSpPr>
            <p:cNvPr id="71" name="Google Shape;71;g3a1f07bbfc6_0_0"/>
            <p:cNvSpPr/>
            <p:nvPr/>
          </p:nvSpPr>
          <p:spPr>
            <a:xfrm>
              <a:off x="3305715" y="1849103"/>
              <a:ext cx="2705100" cy="38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Clean Air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g3a1f07bbfc6_0_0"/>
            <p:cNvSpPr/>
            <p:nvPr/>
          </p:nvSpPr>
          <p:spPr>
            <a:xfrm>
              <a:off x="3305715" y="4008234"/>
              <a:ext cx="2705100" cy="3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Mobility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3a1f07bbfc6_0_0"/>
            <p:cNvSpPr/>
            <p:nvPr/>
          </p:nvSpPr>
          <p:spPr>
            <a:xfrm>
              <a:off x="3305715" y="2374716"/>
              <a:ext cx="27051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Water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3a1f07bbfc6_0_0"/>
            <p:cNvSpPr/>
            <p:nvPr/>
          </p:nvSpPr>
          <p:spPr>
            <a:xfrm>
              <a:off x="3305715" y="2922772"/>
              <a:ext cx="27051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Food Systems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3a1f07bbfc6_0_0"/>
            <p:cNvSpPr/>
            <p:nvPr/>
          </p:nvSpPr>
          <p:spPr>
            <a:xfrm>
              <a:off x="3305715" y="3465504"/>
              <a:ext cx="27051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Cooling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6" name="Google Shape;76;g3a1f07bbfc6_0_0"/>
          <p:cNvCxnSpPr/>
          <p:nvPr/>
        </p:nvCxnSpPr>
        <p:spPr>
          <a:xfrm>
            <a:off x="288414" y="5546523"/>
            <a:ext cx="8440800" cy="2640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77" name="Google Shape;77;g3a1f07bbfc6_0_0"/>
          <p:cNvSpPr/>
          <p:nvPr/>
        </p:nvSpPr>
        <p:spPr>
          <a:xfrm>
            <a:off x="3849191" y="5356172"/>
            <a:ext cx="1790100" cy="40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1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IN" sz="1300" b="1" i="1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PECIAL INITIATIVES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a1f07bbfc6_0_0"/>
          <p:cNvSpPr/>
          <p:nvPr/>
        </p:nvSpPr>
        <p:spPr>
          <a:xfrm>
            <a:off x="3184396" y="5801264"/>
            <a:ext cx="1790100" cy="3831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Powering Livelihoods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g3a1f07bbfc6_0_0"/>
          <p:cNvGrpSpPr/>
          <p:nvPr/>
        </p:nvGrpSpPr>
        <p:grpSpPr>
          <a:xfrm>
            <a:off x="6508076" y="1258498"/>
            <a:ext cx="2433297" cy="2982753"/>
            <a:chOff x="6508076" y="1258498"/>
            <a:chExt cx="2433297" cy="2982753"/>
          </a:xfrm>
        </p:grpSpPr>
        <p:grpSp>
          <p:nvGrpSpPr>
            <p:cNvPr id="80" name="Google Shape;80;g3a1f07bbfc6_0_0"/>
            <p:cNvGrpSpPr/>
            <p:nvPr/>
          </p:nvGrpSpPr>
          <p:grpSpPr>
            <a:xfrm>
              <a:off x="6508076" y="1258498"/>
              <a:ext cx="2432862" cy="2443299"/>
              <a:chOff x="6529905" y="1397398"/>
              <a:chExt cx="2683501" cy="2443299"/>
            </a:xfrm>
          </p:grpSpPr>
          <p:cxnSp>
            <p:nvCxnSpPr>
              <p:cNvPr id="81" name="Google Shape;81;g3a1f07bbfc6_0_0"/>
              <p:cNvCxnSpPr/>
              <p:nvPr/>
            </p:nvCxnSpPr>
            <p:spPr>
              <a:xfrm>
                <a:off x="6940213" y="1741860"/>
                <a:ext cx="8733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1"/>
                </a:solidFill>
                <a:prstDash val="lgDash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g3a1f07bbfc6_0_0"/>
              <p:cNvSpPr/>
              <p:nvPr/>
            </p:nvSpPr>
            <p:spPr>
              <a:xfrm>
                <a:off x="6529905" y="3448297"/>
                <a:ext cx="2683500" cy="3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Climate Resilience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g3a1f07bbfc6_0_0"/>
              <p:cNvSpPr/>
              <p:nvPr/>
            </p:nvSpPr>
            <p:spPr>
              <a:xfrm>
                <a:off x="6529906" y="1866103"/>
                <a:ext cx="2683500" cy="36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Sustainable Finance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g3a1f07bbfc6_0_0"/>
              <p:cNvSpPr/>
              <p:nvPr/>
            </p:nvSpPr>
            <p:spPr>
              <a:xfrm>
                <a:off x="6529905" y="2374594"/>
                <a:ext cx="2683500" cy="39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Technology Futures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g3a1f07bbfc6_0_0"/>
              <p:cNvSpPr/>
              <p:nvPr/>
            </p:nvSpPr>
            <p:spPr>
              <a:xfrm>
                <a:off x="6529905" y="2918074"/>
                <a:ext cx="2683500" cy="3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Circular Economy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g3a1f07bbfc6_0_0"/>
              <p:cNvSpPr/>
              <p:nvPr/>
            </p:nvSpPr>
            <p:spPr>
              <a:xfrm>
                <a:off x="6800539" y="1397398"/>
                <a:ext cx="1078200" cy="40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IN" sz="1600" b="1" i="1" u="none" strike="noStrike" cap="none">
                    <a:solidFill>
                      <a:srgbClr val="009E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IN" sz="1300" b="1" i="1" u="none" strike="noStrike" cap="none">
                    <a:solidFill>
                      <a:srgbClr val="009E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NABLERS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" name="Google Shape;87;g3a1f07bbfc6_0_0"/>
            <p:cNvSpPr/>
            <p:nvPr/>
          </p:nvSpPr>
          <p:spPr>
            <a:xfrm>
              <a:off x="6508373" y="3848851"/>
              <a:ext cx="24330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International Cooperation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g3a1f07bbfc6_0_0"/>
          <p:cNvGrpSpPr/>
          <p:nvPr/>
        </p:nvGrpSpPr>
        <p:grpSpPr>
          <a:xfrm>
            <a:off x="6595372" y="2019295"/>
            <a:ext cx="429325" cy="2143136"/>
            <a:chOff x="6296456" y="2056960"/>
            <a:chExt cx="2444906" cy="2143136"/>
          </a:xfrm>
        </p:grpSpPr>
        <p:cxnSp>
          <p:nvCxnSpPr>
            <p:cNvPr id="89" name="Google Shape;89;g3a1f07bbfc6_0_0"/>
            <p:cNvCxnSpPr/>
            <p:nvPr/>
          </p:nvCxnSpPr>
          <p:spPr>
            <a:xfrm>
              <a:off x="6308355" y="2056960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g3a1f07bbfc6_0_0"/>
            <p:cNvCxnSpPr/>
            <p:nvPr/>
          </p:nvCxnSpPr>
          <p:spPr>
            <a:xfrm>
              <a:off x="6308361" y="3126143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g3a1f07bbfc6_0_0"/>
            <p:cNvCxnSpPr/>
            <p:nvPr/>
          </p:nvCxnSpPr>
          <p:spPr>
            <a:xfrm>
              <a:off x="6308361" y="3671457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g3a1f07bbfc6_0_0"/>
            <p:cNvCxnSpPr/>
            <p:nvPr/>
          </p:nvCxnSpPr>
          <p:spPr>
            <a:xfrm>
              <a:off x="6296456" y="4200096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4" name="Google Shape;94;g3a1f07bbfc6_0_0"/>
          <p:cNvGrpSpPr/>
          <p:nvPr/>
        </p:nvGrpSpPr>
        <p:grpSpPr>
          <a:xfrm>
            <a:off x="3532460" y="2019295"/>
            <a:ext cx="429326" cy="2162186"/>
            <a:chOff x="6296456" y="2047435"/>
            <a:chExt cx="2444907" cy="2162186"/>
          </a:xfrm>
        </p:grpSpPr>
        <p:cxnSp>
          <p:nvCxnSpPr>
            <p:cNvPr id="95" name="Google Shape;95;g3a1f07bbfc6_0_0"/>
            <p:cNvCxnSpPr/>
            <p:nvPr/>
          </p:nvCxnSpPr>
          <p:spPr>
            <a:xfrm>
              <a:off x="6308357" y="204743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g3a1f07bbfc6_0_0"/>
            <p:cNvCxnSpPr/>
            <p:nvPr/>
          </p:nvCxnSpPr>
          <p:spPr>
            <a:xfrm>
              <a:off x="6308361" y="3135668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g3a1f07bbfc6_0_0"/>
            <p:cNvCxnSpPr/>
            <p:nvPr/>
          </p:nvCxnSpPr>
          <p:spPr>
            <a:xfrm>
              <a:off x="6308363" y="3680982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g3a1f07bbfc6_0_0"/>
            <p:cNvCxnSpPr/>
            <p:nvPr/>
          </p:nvCxnSpPr>
          <p:spPr>
            <a:xfrm>
              <a:off x="6296456" y="4209621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00" name="Google Shape;100;g3a1f07bbfc6_0_0"/>
          <p:cNvGrpSpPr/>
          <p:nvPr/>
        </p:nvGrpSpPr>
        <p:grpSpPr>
          <a:xfrm>
            <a:off x="430755" y="2019295"/>
            <a:ext cx="429325" cy="2162186"/>
            <a:chOff x="6296456" y="2047435"/>
            <a:chExt cx="2444906" cy="2162186"/>
          </a:xfrm>
        </p:grpSpPr>
        <p:cxnSp>
          <p:nvCxnSpPr>
            <p:cNvPr id="101" name="Google Shape;101;g3a1f07bbfc6_0_0"/>
            <p:cNvCxnSpPr/>
            <p:nvPr/>
          </p:nvCxnSpPr>
          <p:spPr>
            <a:xfrm>
              <a:off x="6308357" y="204743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g3a1f07bbfc6_0_0"/>
            <p:cNvCxnSpPr/>
            <p:nvPr/>
          </p:nvCxnSpPr>
          <p:spPr>
            <a:xfrm>
              <a:off x="6308361" y="3135668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g3a1f07bbfc6_0_0"/>
            <p:cNvCxnSpPr/>
            <p:nvPr/>
          </p:nvCxnSpPr>
          <p:spPr>
            <a:xfrm>
              <a:off x="6308361" y="3661932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g3a1f07bbfc6_0_0"/>
            <p:cNvCxnSpPr/>
            <p:nvPr/>
          </p:nvCxnSpPr>
          <p:spPr>
            <a:xfrm>
              <a:off x="6296456" y="4209621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06" name="Google Shape;106;g3a1f07bbfc6_0_0"/>
          <p:cNvPicPr preferRelativeResize="0"/>
          <p:nvPr/>
        </p:nvPicPr>
        <p:blipFill rotWithShape="1">
          <a:blip r:embed="rId3">
            <a:alphaModFix/>
          </a:blip>
          <a:srcRect l="86245" b="83573"/>
          <a:stretch/>
        </p:blipFill>
        <p:spPr>
          <a:xfrm>
            <a:off x="6441000" y="1319521"/>
            <a:ext cx="493051" cy="312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a1f07bbfc6_0_0"/>
          <p:cNvPicPr preferRelativeResize="0"/>
          <p:nvPr/>
        </p:nvPicPr>
        <p:blipFill rotWithShape="1">
          <a:blip r:embed="rId3">
            <a:alphaModFix/>
          </a:blip>
          <a:srcRect l="47168" r="39627" b="84432"/>
          <a:stretch/>
        </p:blipFill>
        <p:spPr>
          <a:xfrm>
            <a:off x="3405927" y="1329734"/>
            <a:ext cx="473343" cy="29598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a1f07bbfc6_0_0"/>
          <p:cNvSpPr txBox="1"/>
          <p:nvPr/>
        </p:nvSpPr>
        <p:spPr>
          <a:xfrm>
            <a:off x="9224133" y="1172273"/>
            <a:ext cx="2912400" cy="45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390+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Multidisciplinary team</a:t>
            </a:r>
            <a:endParaRPr sz="1400" b="0" i="0" u="none" strike="noStrike" cap="non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550+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Peer-reviewed publications</a:t>
            </a:r>
            <a:endParaRPr sz="1400" b="0" i="0" u="none" strike="noStrike" cap="non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700+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Convenings </a:t>
            </a:r>
            <a:endParaRPr sz="1400" b="0" i="0" u="none" strike="noStrike" cap="non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400 million+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Lives impacted </a:t>
            </a:r>
            <a:endParaRPr sz="1400" b="0" i="0" u="none" strike="noStrike" cap="non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Union ministries supported</a:t>
            </a:r>
            <a:endParaRPr sz="1200" b="0" i="0" u="none" strike="noStrike" cap="non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20+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State governments supported</a:t>
            </a:r>
            <a:endParaRPr sz="1200" b="0" i="0" u="none" strike="noStrike" cap="non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a1f07bbfc6_0_0"/>
          <p:cNvSpPr txBox="1">
            <a:spLocks noGrp="1"/>
          </p:cNvSpPr>
          <p:nvPr>
            <p:ph type="sldNum" idx="12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4957482" y="2299411"/>
            <a:ext cx="1783977" cy="1369582"/>
          </a:xfrm>
          <a:prstGeom prst="ellipse">
            <a:avLst/>
          </a:prstGeom>
          <a:solidFill>
            <a:srgbClr val="4ECEFF"/>
          </a:solidFill>
          <a:ln w="25400" cap="flat" cmpd="sng">
            <a:solidFill>
              <a:srgbClr val="007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The project’s key components </a:t>
            </a:r>
            <a:endParaRPr/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r>
              <a:rPr lang="en-IN"/>
              <a:t>|</a:t>
            </a:r>
            <a:endParaRPr/>
          </a:p>
        </p:txBody>
      </p:sp>
      <p:sp>
        <p:nvSpPr>
          <p:cNvPr id="117" name="Google Shape;117;p3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2045213" y="1228421"/>
            <a:ext cx="3361766" cy="8309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M1 - Socio-economic co-benefits, especially for women, low-income groups, &amp; vulnerable road users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427694" y="1228421"/>
            <a:ext cx="3361766" cy="8309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M2 - Health and air quality benefits from increased bus usage and reduced reliance on private vehicles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045213" y="4001721"/>
            <a:ext cx="3361766" cy="8309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M3 - Greenhouse gas (GHG) mitigation potential benefits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bus deployment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427694" y="4001720"/>
            <a:ext cx="3361766" cy="8309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M4 - Resilience &amp; adaptive benefits of robust bus transport on the economy and physical infrastructure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3"/>
          <p:cNvCxnSpPr>
            <a:stCxn id="120" idx="0"/>
            <a:endCxn id="114" idx="2"/>
          </p:cNvCxnSpPr>
          <p:nvPr/>
        </p:nvCxnSpPr>
        <p:spPr>
          <a:xfrm rot="-5400000">
            <a:off x="3833046" y="2877171"/>
            <a:ext cx="1017600" cy="12315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3"/>
          <p:cNvCxnSpPr>
            <a:stCxn id="118" idx="2"/>
            <a:endCxn id="114" idx="2"/>
          </p:cNvCxnSpPr>
          <p:nvPr/>
        </p:nvCxnSpPr>
        <p:spPr>
          <a:xfrm rot="-5400000" flipH="1">
            <a:off x="3879396" y="1906118"/>
            <a:ext cx="924900" cy="12315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3"/>
          <p:cNvCxnSpPr>
            <a:stCxn id="119" idx="2"/>
            <a:endCxn id="114" idx="6"/>
          </p:cNvCxnSpPr>
          <p:nvPr/>
        </p:nvCxnSpPr>
        <p:spPr>
          <a:xfrm rot="5400000">
            <a:off x="6962577" y="1838318"/>
            <a:ext cx="924900" cy="13671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3"/>
          <p:cNvCxnSpPr>
            <a:stCxn id="121" idx="0"/>
            <a:endCxn id="114" idx="6"/>
          </p:cNvCxnSpPr>
          <p:nvPr/>
        </p:nvCxnSpPr>
        <p:spPr>
          <a:xfrm rot="5400000" flipH="1">
            <a:off x="6916227" y="2809370"/>
            <a:ext cx="1017600" cy="13671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6" name="Google Shape;126;p3"/>
          <p:cNvSpPr txBox="1"/>
          <p:nvPr/>
        </p:nvSpPr>
        <p:spPr>
          <a:xfrm>
            <a:off x="4997822" y="2521779"/>
            <a:ext cx="1703295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4-in-1 co-benefits model of bus-based public transport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3"/>
          <p:cNvCxnSpPr>
            <a:stCxn id="114" idx="4"/>
            <a:endCxn id="128" idx="3"/>
          </p:cNvCxnSpPr>
          <p:nvPr/>
        </p:nvCxnSpPr>
        <p:spPr>
          <a:xfrm rot="5400000">
            <a:off x="4415771" y="4210793"/>
            <a:ext cx="1975500" cy="8919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8" name="Google Shape;128;p3"/>
          <p:cNvSpPr/>
          <p:nvPr/>
        </p:nvSpPr>
        <p:spPr>
          <a:xfrm>
            <a:off x="1595716" y="5228893"/>
            <a:ext cx="3361766" cy="830997"/>
          </a:xfrm>
          <a:prstGeom prst="rect">
            <a:avLst/>
          </a:prstGeom>
          <a:solidFill>
            <a:srgbClr val="4ECEFF"/>
          </a:solidFill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Easing access to climate, green funds and other potential avenues for bus and allied infrastructures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774741" y="5228893"/>
            <a:ext cx="3361766" cy="830997"/>
          </a:xfrm>
          <a:prstGeom prst="rect">
            <a:avLst/>
          </a:prstGeom>
          <a:solidFill>
            <a:srgbClr val="4ECEFF"/>
          </a:solidFill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 institutional support for bus systems through strategic communication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3"/>
          <p:cNvCxnSpPr>
            <a:stCxn id="114" idx="4"/>
            <a:endCxn id="129" idx="1"/>
          </p:cNvCxnSpPr>
          <p:nvPr/>
        </p:nvCxnSpPr>
        <p:spPr>
          <a:xfrm rot="-5400000" flipH="1">
            <a:off x="5324321" y="4194143"/>
            <a:ext cx="1975500" cy="9252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5213d0914_1_0"/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Deep dive in M1 : Socio Economic co-benefit model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300"/>
              <a:buFont typeface="Calibri"/>
              <a:buNone/>
            </a:pPr>
            <a:r>
              <a:rPr lang="en-IN" sz="1600" b="0">
                <a:solidFill>
                  <a:srgbClr val="009CD8"/>
                </a:solidFill>
              </a:rPr>
              <a:t>Literature Review — Geographic Coverage &amp; Key Sources  (n = 27)</a:t>
            </a:r>
            <a:endParaRPr sz="1600">
              <a:solidFill>
                <a:srgbClr val="009CD8"/>
              </a:solidFill>
            </a:endParaRPr>
          </a:p>
        </p:txBody>
      </p:sp>
      <p:sp>
        <p:nvSpPr>
          <p:cNvPr id="137" name="Google Shape;137;g3e5213d0914_1_0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r>
              <a:rPr lang="en-IN" dirty="0"/>
              <a:t>Source: CEEW compilation</a:t>
            </a:r>
            <a:endParaRPr dirty="0"/>
          </a:p>
        </p:txBody>
      </p:sp>
      <p:sp>
        <p:nvSpPr>
          <p:cNvPr id="138" name="Google Shape;138;g3e5213d0914_1_0"/>
          <p:cNvSpPr/>
          <p:nvPr/>
        </p:nvSpPr>
        <p:spPr>
          <a:xfrm>
            <a:off x="256025" y="941250"/>
            <a:ext cx="112845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50"/>
              <a:buFont typeface="Calibri"/>
              <a:buNone/>
            </a:pPr>
            <a:r>
              <a:rPr lang="en-IN"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Similar economic regions to India (Global South, developing/emerging cities). </a:t>
            </a:r>
            <a:endParaRPr sz="16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50"/>
              <a:buFont typeface="Calibri"/>
              <a:buNone/>
            </a:pPr>
            <a:r>
              <a:rPr lang="en-IN"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Very limited direct Indian literature , make the case stronger for the project </a:t>
            </a:r>
            <a:endParaRPr sz="16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5213d0914_1_0"/>
          <p:cNvSpPr/>
          <p:nvPr/>
        </p:nvSpPr>
        <p:spPr>
          <a:xfrm>
            <a:off x="389792" y="1586587"/>
            <a:ext cx="5669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300"/>
              <a:buFont typeface="Calibri"/>
              <a:buNone/>
            </a:pPr>
            <a:r>
              <a:rPr lang="en-IN" sz="15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Geographic Coverage </a:t>
            </a:r>
            <a:endParaRPr sz="15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g3e5213d0914_1_0"/>
          <p:cNvGrpSpPr/>
          <p:nvPr/>
        </p:nvGrpSpPr>
        <p:grpSpPr>
          <a:xfrm>
            <a:off x="421132" y="1980043"/>
            <a:ext cx="5833872" cy="594504"/>
            <a:chOff x="256032" y="1980043"/>
            <a:chExt cx="5833872" cy="594504"/>
          </a:xfrm>
        </p:grpSpPr>
        <p:sp>
          <p:nvSpPr>
            <p:cNvPr id="141" name="Google Shape;141;g3e5213d0914_1_0"/>
            <p:cNvSpPr/>
            <p:nvPr/>
          </p:nvSpPr>
          <p:spPr>
            <a:xfrm>
              <a:off x="256032" y="1980043"/>
              <a:ext cx="53034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IN" sz="15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South and South-East Asia </a:t>
              </a:r>
              <a:endPara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g3e5213d0914_1_0"/>
            <p:cNvSpPr/>
            <p:nvPr/>
          </p:nvSpPr>
          <p:spPr>
            <a:xfrm>
              <a:off x="256032" y="2172067"/>
              <a:ext cx="51207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50"/>
                <a:buFont typeface="Calibri"/>
                <a:buNone/>
              </a:pPr>
              <a:r>
                <a:rPr lang="en-IN" sz="150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Bogotá, Lagos, Dhaka, Lahore, Santiago</a:t>
              </a:r>
              <a:endPara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" name="Google Shape;143;g3e5213d0914_1_0"/>
            <p:cNvGrpSpPr/>
            <p:nvPr/>
          </p:nvGrpSpPr>
          <p:grpSpPr>
            <a:xfrm>
              <a:off x="256032" y="2354947"/>
              <a:ext cx="5833872" cy="219600"/>
              <a:chOff x="256032" y="2354947"/>
              <a:chExt cx="5833872" cy="219600"/>
            </a:xfrm>
          </p:grpSpPr>
          <p:sp>
            <p:nvSpPr>
              <p:cNvPr id="144" name="Google Shape;144;g3e5213d0914_1_0"/>
              <p:cNvSpPr/>
              <p:nvPr/>
            </p:nvSpPr>
            <p:spPr>
              <a:xfrm>
                <a:off x="256032" y="2373235"/>
                <a:ext cx="5303400" cy="183000"/>
              </a:xfrm>
              <a:prstGeom prst="rect">
                <a:avLst/>
              </a:prstGeom>
              <a:solidFill>
                <a:srgbClr val="F1F5F9"/>
              </a:solidFill>
              <a:ln w="127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g3e5213d0914_1_0"/>
              <p:cNvSpPr/>
              <p:nvPr/>
            </p:nvSpPr>
            <p:spPr>
              <a:xfrm>
                <a:off x="256032" y="2373235"/>
                <a:ext cx="1750200" cy="183000"/>
              </a:xfrm>
              <a:prstGeom prst="rect">
                <a:avLst/>
              </a:prstGeom>
              <a:solidFill>
                <a:srgbClr val="E05A1B"/>
              </a:solidFill>
              <a:ln w="12700" cap="flat" cmpd="sng">
                <a:solidFill>
                  <a:srgbClr val="E05A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g3e5213d0914_1_0"/>
              <p:cNvSpPr/>
              <p:nvPr/>
            </p:nvSpPr>
            <p:spPr>
              <a:xfrm>
                <a:off x="5632704" y="2354947"/>
                <a:ext cx="4572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05A1B"/>
                  </a:buClr>
                  <a:buSzPts val="1000"/>
                  <a:buFont typeface="Calibri"/>
                  <a:buNone/>
                </a:pPr>
                <a:r>
                  <a:rPr lang="en-IN" sz="1500" b="1" i="0" u="none" strike="noStrike" cap="none">
                    <a:solidFill>
                      <a:srgbClr val="E05A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33%</a:t>
                </a:r>
                <a:endParaRPr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7" name="Google Shape;147;g3e5213d0914_1_0"/>
          <p:cNvGrpSpPr/>
          <p:nvPr/>
        </p:nvGrpSpPr>
        <p:grpSpPr>
          <a:xfrm>
            <a:off x="421132" y="2705111"/>
            <a:ext cx="5833872" cy="642732"/>
            <a:chOff x="256032" y="2705111"/>
            <a:chExt cx="5833872" cy="642732"/>
          </a:xfrm>
        </p:grpSpPr>
        <p:sp>
          <p:nvSpPr>
            <p:cNvPr id="148" name="Google Shape;148;g3e5213d0914_1_0"/>
            <p:cNvSpPr/>
            <p:nvPr/>
          </p:nvSpPr>
          <p:spPr>
            <a:xfrm>
              <a:off x="256032" y="2705111"/>
              <a:ext cx="53034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IN" sz="15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East Asia (China, South Korea)</a:t>
              </a:r>
              <a:endPara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g3e5213d0914_1_0"/>
            <p:cNvSpPr/>
            <p:nvPr/>
          </p:nvSpPr>
          <p:spPr>
            <a:xfrm>
              <a:off x="256032" y="2897135"/>
              <a:ext cx="51207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50"/>
                <a:buFont typeface="Calibri"/>
                <a:buNone/>
              </a:pPr>
              <a:r>
                <a:rPr lang="en-IN" sz="150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Shenyang, Hangzhou, Beijing — comparable urban scale</a:t>
              </a:r>
              <a:endPara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0" name="Google Shape;150;g3e5213d0914_1_0"/>
            <p:cNvGrpSpPr/>
            <p:nvPr/>
          </p:nvGrpSpPr>
          <p:grpSpPr>
            <a:xfrm>
              <a:off x="256032" y="3128243"/>
              <a:ext cx="5833872" cy="219600"/>
              <a:chOff x="256032" y="3086467"/>
              <a:chExt cx="5833872" cy="219600"/>
            </a:xfrm>
          </p:grpSpPr>
          <p:sp>
            <p:nvSpPr>
              <p:cNvPr id="151" name="Google Shape;151;g3e5213d0914_1_0"/>
              <p:cNvSpPr/>
              <p:nvPr/>
            </p:nvSpPr>
            <p:spPr>
              <a:xfrm>
                <a:off x="256032" y="3104755"/>
                <a:ext cx="5303400" cy="183000"/>
              </a:xfrm>
              <a:prstGeom prst="rect">
                <a:avLst/>
              </a:prstGeom>
              <a:solidFill>
                <a:srgbClr val="F1F5F9"/>
              </a:solidFill>
              <a:ln w="127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g3e5213d0914_1_0"/>
              <p:cNvSpPr/>
              <p:nvPr/>
            </p:nvSpPr>
            <p:spPr>
              <a:xfrm>
                <a:off x="256032" y="3104755"/>
                <a:ext cx="954600" cy="183000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g3e5213d0914_1_0"/>
              <p:cNvSpPr/>
              <p:nvPr/>
            </p:nvSpPr>
            <p:spPr>
              <a:xfrm>
                <a:off x="5632704" y="3086467"/>
                <a:ext cx="4572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63A8"/>
                  </a:buClr>
                  <a:buSzPts val="1000"/>
                  <a:buFont typeface="Calibri"/>
                  <a:buNone/>
                </a:pPr>
                <a:r>
                  <a:rPr lang="en-IN" sz="1500" b="1" i="0" u="none" strike="noStrike" cap="none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18%</a:t>
                </a:r>
                <a:endParaRPr sz="15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4" name="Google Shape;154;g3e5213d0914_1_0"/>
          <p:cNvSpPr/>
          <p:nvPr/>
        </p:nvSpPr>
        <p:spPr>
          <a:xfrm>
            <a:off x="446094" y="4343070"/>
            <a:ext cx="5303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IN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Australia / New Zealand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5213d0914_1_0"/>
          <p:cNvSpPr/>
          <p:nvPr/>
        </p:nvSpPr>
        <p:spPr>
          <a:xfrm>
            <a:off x="446094" y="4535094"/>
            <a:ext cx="51207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IN" sz="15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Melbourne — advanced PT equity &amp; health studies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g3e5213d0914_1_0"/>
          <p:cNvGrpSpPr/>
          <p:nvPr/>
        </p:nvGrpSpPr>
        <p:grpSpPr>
          <a:xfrm>
            <a:off x="446094" y="4766202"/>
            <a:ext cx="5833872" cy="219600"/>
            <a:chOff x="256032" y="3817987"/>
            <a:chExt cx="5833872" cy="219600"/>
          </a:xfrm>
        </p:grpSpPr>
        <p:sp>
          <p:nvSpPr>
            <p:cNvPr id="157" name="Google Shape;157;g3e5213d0914_1_0"/>
            <p:cNvSpPr/>
            <p:nvPr/>
          </p:nvSpPr>
          <p:spPr>
            <a:xfrm>
              <a:off x="256032" y="3836275"/>
              <a:ext cx="5303400" cy="183000"/>
            </a:xfrm>
            <a:prstGeom prst="rect">
              <a:avLst/>
            </a:prstGeom>
            <a:solidFill>
              <a:srgbClr val="F1F5F9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g3e5213d0914_1_0"/>
            <p:cNvSpPr/>
            <p:nvPr/>
          </p:nvSpPr>
          <p:spPr>
            <a:xfrm>
              <a:off x="256032" y="3836275"/>
              <a:ext cx="795600" cy="183000"/>
            </a:xfrm>
            <a:prstGeom prst="rect">
              <a:avLst/>
            </a:prstGeom>
            <a:solidFill>
              <a:srgbClr val="4B9035"/>
            </a:solidFill>
            <a:ln w="12700" cap="flat" cmpd="sng">
              <a:solidFill>
                <a:srgbClr val="4B9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g3e5213d0914_1_0"/>
            <p:cNvSpPr/>
            <p:nvPr/>
          </p:nvSpPr>
          <p:spPr>
            <a:xfrm>
              <a:off x="5632704" y="3817987"/>
              <a:ext cx="4572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A75"/>
                </a:buClr>
                <a:buSzPts val="1000"/>
                <a:buFont typeface="Calibri"/>
                <a:buNone/>
              </a:pPr>
              <a:r>
                <a:rPr lang="en-IN" sz="1500" b="1" i="0" u="none" strike="noStrike" cap="none">
                  <a:solidFill>
                    <a:srgbClr val="4B9035"/>
                  </a:solidFill>
                  <a:latin typeface="Calibri"/>
                  <a:ea typeface="Calibri"/>
                  <a:cs typeface="Calibri"/>
                  <a:sym typeface="Calibri"/>
                </a:rPr>
                <a:t>15%</a:t>
              </a:r>
              <a:endParaRPr sz="1500" b="0" i="0" u="none" strike="noStrike" cap="none">
                <a:solidFill>
                  <a:srgbClr val="4B90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g3e5213d0914_1_0"/>
          <p:cNvSpPr/>
          <p:nvPr/>
        </p:nvSpPr>
        <p:spPr>
          <a:xfrm>
            <a:off x="446094" y="5121020"/>
            <a:ext cx="5303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IN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North America / Europe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5213d0914_1_0"/>
          <p:cNvSpPr/>
          <p:nvPr/>
        </p:nvSpPr>
        <p:spPr>
          <a:xfrm>
            <a:off x="446094" y="5313044"/>
            <a:ext cx="51207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IN" sz="15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Toronto, Rome, Chicago, Miami, Austria, Atlanta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" name="Google Shape;162;g3e5213d0914_1_0"/>
          <p:cNvGrpSpPr/>
          <p:nvPr/>
        </p:nvGrpSpPr>
        <p:grpSpPr>
          <a:xfrm>
            <a:off x="446094" y="5556208"/>
            <a:ext cx="5833872" cy="219600"/>
            <a:chOff x="256032" y="4549507"/>
            <a:chExt cx="5833872" cy="219600"/>
          </a:xfrm>
        </p:grpSpPr>
        <p:sp>
          <p:nvSpPr>
            <p:cNvPr id="163" name="Google Shape;163;g3e5213d0914_1_0"/>
            <p:cNvSpPr/>
            <p:nvPr/>
          </p:nvSpPr>
          <p:spPr>
            <a:xfrm>
              <a:off x="256032" y="4567795"/>
              <a:ext cx="5303400" cy="183000"/>
            </a:xfrm>
            <a:prstGeom prst="rect">
              <a:avLst/>
            </a:prstGeom>
            <a:solidFill>
              <a:srgbClr val="F1F5F9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g3e5213d0914_1_0"/>
            <p:cNvSpPr/>
            <p:nvPr/>
          </p:nvSpPr>
          <p:spPr>
            <a:xfrm>
              <a:off x="256032" y="4567795"/>
              <a:ext cx="1378800" cy="183000"/>
            </a:xfrm>
            <a:prstGeom prst="rect">
              <a:avLst/>
            </a:prstGeom>
            <a:solidFill>
              <a:srgbClr val="1C5C95"/>
            </a:solidFill>
            <a:ln w="12700" cap="flat" cmpd="sng">
              <a:solidFill>
                <a:srgbClr val="1C5C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g3e5213d0914_1_0"/>
            <p:cNvSpPr/>
            <p:nvPr/>
          </p:nvSpPr>
          <p:spPr>
            <a:xfrm>
              <a:off x="5632704" y="4549507"/>
              <a:ext cx="4572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B5EA7"/>
                </a:buClr>
                <a:buSzPts val="1000"/>
                <a:buFont typeface="Calibri"/>
                <a:buNone/>
              </a:pPr>
              <a:r>
                <a:rPr lang="en-IN" sz="1500" b="1" i="0" u="none" strike="noStrike" cap="none">
                  <a:solidFill>
                    <a:srgbClr val="1C5C95"/>
                  </a:solidFill>
                  <a:latin typeface="Calibri"/>
                  <a:ea typeface="Calibri"/>
                  <a:cs typeface="Calibri"/>
                  <a:sym typeface="Calibri"/>
                </a:rPr>
                <a:t>26%</a:t>
              </a:r>
              <a:endParaRPr sz="1500" b="1" i="0" u="none" strike="noStrike" cap="none">
                <a:solidFill>
                  <a:srgbClr val="1C5C9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g3e5213d0914_1_0"/>
          <p:cNvSpPr/>
          <p:nvPr/>
        </p:nvSpPr>
        <p:spPr>
          <a:xfrm>
            <a:off x="425769" y="3457598"/>
            <a:ext cx="5303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IN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India 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5213d0914_1_0"/>
          <p:cNvSpPr/>
          <p:nvPr/>
        </p:nvSpPr>
        <p:spPr>
          <a:xfrm>
            <a:off x="425769" y="3649622"/>
            <a:ext cx="51207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IN" sz="15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Delhi NMT co-benefit study , Surat 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g3e5213d0914_1_0"/>
          <p:cNvGrpSpPr/>
          <p:nvPr/>
        </p:nvGrpSpPr>
        <p:grpSpPr>
          <a:xfrm>
            <a:off x="425769" y="3932765"/>
            <a:ext cx="5833872" cy="219600"/>
            <a:chOff x="256032" y="5281027"/>
            <a:chExt cx="5833872" cy="219600"/>
          </a:xfrm>
        </p:grpSpPr>
        <p:sp>
          <p:nvSpPr>
            <p:cNvPr id="169" name="Google Shape;169;g3e5213d0914_1_0"/>
            <p:cNvSpPr/>
            <p:nvPr/>
          </p:nvSpPr>
          <p:spPr>
            <a:xfrm>
              <a:off x="256032" y="5299315"/>
              <a:ext cx="5303400" cy="183000"/>
            </a:xfrm>
            <a:prstGeom prst="rect">
              <a:avLst/>
            </a:prstGeom>
            <a:solidFill>
              <a:srgbClr val="F1F5F9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g3e5213d0914_1_0"/>
            <p:cNvSpPr/>
            <p:nvPr/>
          </p:nvSpPr>
          <p:spPr>
            <a:xfrm>
              <a:off x="256032" y="5299315"/>
              <a:ext cx="424200" cy="183000"/>
            </a:xfrm>
            <a:prstGeom prst="rect">
              <a:avLst/>
            </a:prstGeom>
            <a:solidFill>
              <a:schemeClr val="accent3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g3e5213d0914_1_0"/>
            <p:cNvSpPr/>
            <p:nvPr/>
          </p:nvSpPr>
          <p:spPr>
            <a:xfrm>
              <a:off x="5632704" y="5281027"/>
              <a:ext cx="4572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7D3D"/>
                </a:buClr>
                <a:buSzPts val="1000"/>
                <a:buFont typeface="Calibri"/>
                <a:buNone/>
              </a:pPr>
              <a:r>
                <a:rPr lang="en-IN" sz="1500" b="1" i="0" u="none" strike="noStrike" cap="none">
                  <a:solidFill>
                    <a:srgbClr val="86BB3F"/>
                  </a:solidFill>
                  <a:latin typeface="Calibri"/>
                  <a:ea typeface="Calibri"/>
                  <a:cs typeface="Calibri"/>
                  <a:sym typeface="Calibri"/>
                </a:rPr>
                <a:t>8%</a:t>
              </a:r>
              <a:endParaRPr sz="1500" b="0" i="0" u="none" strike="noStrike" cap="none">
                <a:solidFill>
                  <a:srgbClr val="86BB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g3e5213d0914_1_0"/>
          <p:cNvSpPr/>
          <p:nvPr/>
        </p:nvSpPr>
        <p:spPr>
          <a:xfrm>
            <a:off x="446100" y="5860400"/>
            <a:ext cx="10404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700"/>
              </a:buClr>
              <a:buSzPts val="850"/>
              <a:buFont typeface="Calibri"/>
              <a:buNone/>
            </a:pPr>
            <a:r>
              <a:rPr lang="en-IN" sz="135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Key Research Gap: Limited Indian study found (Delhi NMT/active transport). Socio-economic evidence base is largely from similar economic-context cities — transferability assumed but needs validation.</a:t>
            </a:r>
            <a:endParaRPr sz="135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5213d0914_1_0"/>
          <p:cNvSpPr/>
          <p:nvPr/>
        </p:nvSpPr>
        <p:spPr>
          <a:xfrm>
            <a:off x="6763675" y="1684825"/>
            <a:ext cx="43890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900"/>
              <a:buFont typeface="Calibri"/>
              <a:buNone/>
            </a:pPr>
            <a:r>
              <a:rPr lang="en-IN" sz="14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Economic &amp; Social Impacts Scoping Review (Global)</a:t>
            </a:r>
            <a:endParaRPr sz="14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5213d0914_1_0"/>
          <p:cNvSpPr/>
          <p:nvPr/>
        </p:nvSpPr>
        <p:spPr>
          <a:xfrm>
            <a:off x="6763675" y="1943576"/>
            <a:ext cx="49560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lang="en-IN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Methodology evolution from CBA to resilience &amp; social inclusion; 30+ publications synthesised globally</a:t>
            </a:r>
            <a:endParaRPr sz="14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5213d0914_1_0"/>
          <p:cNvSpPr/>
          <p:nvPr/>
        </p:nvSpPr>
        <p:spPr>
          <a:xfrm>
            <a:off x="6763675" y="2523177"/>
            <a:ext cx="43890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900"/>
              <a:buFont typeface="Calibri"/>
              <a:buNone/>
            </a:pPr>
            <a:r>
              <a:rPr lang="en-IN" sz="14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Chicago Transit Impact Study — Agent-Based Model (2024)</a:t>
            </a:r>
            <a:endParaRPr sz="14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5213d0914_1_0"/>
          <p:cNvSpPr/>
          <p:nvPr/>
        </p:nvSpPr>
        <p:spPr>
          <a:xfrm>
            <a:off x="6763675" y="2781928"/>
            <a:ext cx="49560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lang="en-IN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BCR = 13:1; transit removal costs $35.4B; 53.7% of non-work losses fall on women</a:t>
            </a:r>
            <a:endParaRPr sz="14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e5213d0914_1_0"/>
          <p:cNvSpPr/>
          <p:nvPr/>
        </p:nvSpPr>
        <p:spPr>
          <a:xfrm>
            <a:off x="6763675" y="3361529"/>
            <a:ext cx="43890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900"/>
              <a:buFont typeface="Calibri"/>
              <a:buNone/>
            </a:pPr>
            <a:r>
              <a:rPr lang="en-IN" sz="14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Rome Metro DID — Economic Activity (2024)</a:t>
            </a:r>
            <a:endParaRPr sz="14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e5213d0914_1_0"/>
          <p:cNvSpPr/>
          <p:nvPr/>
        </p:nvSpPr>
        <p:spPr>
          <a:xfrm>
            <a:off x="6763675" y="3620280"/>
            <a:ext cx="49560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lang="en-IN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Quasi-experimental: new metro line increases economic establishments within 1km of stations</a:t>
            </a:r>
            <a:endParaRPr sz="14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5213d0914_1_0"/>
          <p:cNvSpPr/>
          <p:nvPr/>
        </p:nvSpPr>
        <p:spPr>
          <a:xfrm>
            <a:off x="6763675" y="4199882"/>
            <a:ext cx="43890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900"/>
              <a:buFont typeface="Calibri"/>
              <a:buNone/>
            </a:pPr>
            <a:r>
              <a:rPr lang="en-IN" sz="14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Delhi NMT Co-benefit Study (2022)</a:t>
            </a:r>
            <a:endParaRPr sz="14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5213d0914_1_0"/>
          <p:cNvSpPr/>
          <p:nvPr/>
        </p:nvSpPr>
        <p:spPr>
          <a:xfrm>
            <a:off x="6763675" y="4458632"/>
            <a:ext cx="49560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lang="en-IN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Only India study found; VSL-based method yields USD 4,870M/yr &amp; 121.5 kt CO₂ reduction from NMT shift</a:t>
            </a:r>
            <a:endParaRPr sz="14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e5213d0914_1_0"/>
          <p:cNvSpPr/>
          <p:nvPr/>
        </p:nvSpPr>
        <p:spPr>
          <a:xfrm>
            <a:off x="6763675" y="5038260"/>
            <a:ext cx="43890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900"/>
              <a:buFont typeface="Calibri"/>
              <a:buNone/>
            </a:pPr>
            <a:r>
              <a:rPr lang="en-IN" sz="14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Bogotá BRT Socioeconomic Study (COVID-19)</a:t>
            </a:r>
            <a:endParaRPr sz="14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e5213d0914_1_0"/>
          <p:cNvSpPr/>
          <p:nvPr/>
        </p:nvSpPr>
        <p:spPr>
          <a:xfrm>
            <a:off x="6763675" y="5297011"/>
            <a:ext cx="49560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lang="en-IN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Lower-income strata cannot reduce PT trips in crisis — demonstrates critical transport dependency</a:t>
            </a:r>
            <a:endParaRPr sz="14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e5213d0914_1_0"/>
          <p:cNvSpPr txBox="1"/>
          <p:nvPr/>
        </p:nvSpPr>
        <p:spPr>
          <a:xfrm rot="-5400000">
            <a:off x="-845381" y="2715962"/>
            <a:ext cx="20739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Global South </a:t>
            </a:r>
            <a:r>
              <a:rPr lang="en-IN" sz="16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(59%)</a:t>
            </a:r>
            <a:r>
              <a:rPr lang="en-IN" sz="1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e5213d0914_1_0"/>
          <p:cNvSpPr txBox="1"/>
          <p:nvPr/>
        </p:nvSpPr>
        <p:spPr>
          <a:xfrm rot="-5400000">
            <a:off x="-782925" y="4734675"/>
            <a:ext cx="19260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Global North</a:t>
            </a:r>
            <a:r>
              <a:rPr lang="en-IN" sz="16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(41%)</a:t>
            </a:r>
            <a:r>
              <a:rPr lang="en-IN" sz="1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e5213d0914_1_0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5213d0914_1_7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indent="0"/>
            <a:r>
              <a:rPr lang="en-IN" dirty="0"/>
              <a:t>Source: CEEW compilation</a:t>
            </a:r>
          </a:p>
        </p:txBody>
      </p:sp>
      <p:sp>
        <p:nvSpPr>
          <p:cNvPr id="192" name="Google Shape;192;g3e5213d0914_1_7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5213d0914_1_7"/>
          <p:cNvSpPr/>
          <p:nvPr/>
        </p:nvSpPr>
        <p:spPr>
          <a:xfrm>
            <a:off x="395700" y="1167500"/>
            <a:ext cx="2657700" cy="4902900"/>
          </a:xfrm>
          <a:prstGeom prst="rect">
            <a:avLst/>
          </a:prstGeom>
          <a:solidFill>
            <a:srgbClr val="FFFFFF"/>
          </a:solidFill>
          <a:ln w="15075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  <a:effectLst>
            <a:outerShdw blurRad="60263" dist="15066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08475" tIns="108475" rIns="108475" bIns="1084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e5213d0914_1_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173" y="1254278"/>
            <a:ext cx="412196" cy="41219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e5213d0914_1_7"/>
          <p:cNvSpPr/>
          <p:nvPr/>
        </p:nvSpPr>
        <p:spPr>
          <a:xfrm>
            <a:off x="959760" y="1254278"/>
            <a:ext cx="2028600" cy="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lang="en-IN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Structural Equation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lang="en-IN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Model (SEM)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g3e5213d0914_1_7"/>
          <p:cNvGrpSpPr/>
          <p:nvPr/>
        </p:nvGrpSpPr>
        <p:grpSpPr>
          <a:xfrm>
            <a:off x="484500" y="1964275"/>
            <a:ext cx="2494500" cy="2453945"/>
            <a:chOff x="504200" y="1870225"/>
            <a:chExt cx="2494500" cy="2453945"/>
          </a:xfrm>
        </p:grpSpPr>
        <p:sp>
          <p:nvSpPr>
            <p:cNvPr id="197" name="Google Shape;197;g3e5213d0914_1_7"/>
            <p:cNvSpPr/>
            <p:nvPr/>
          </p:nvSpPr>
          <p:spPr>
            <a:xfrm>
              <a:off x="504200" y="1870225"/>
              <a:ext cx="2494500" cy="38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49"/>
                <a:buFont typeface="Calibri"/>
                <a:buNone/>
              </a:pPr>
              <a:r>
                <a:rPr lang="en-IN" sz="1549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Key Parameters</a:t>
              </a:r>
              <a:endParaRPr sz="154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g3e5213d0914_1_7"/>
            <p:cNvSpPr/>
            <p:nvPr/>
          </p:nvSpPr>
          <p:spPr>
            <a:xfrm>
              <a:off x="656052" y="2264782"/>
              <a:ext cx="2332200" cy="48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9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Service quality (safety, comfort, freq.)</a:t>
              </a:r>
              <a:endParaRPr sz="149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g3e5213d0914_1_7"/>
            <p:cNvSpPr/>
            <p:nvPr/>
          </p:nvSpPr>
          <p:spPr>
            <a:xfrm>
              <a:off x="656052" y="2790545"/>
              <a:ext cx="2332200" cy="48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9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Perceived accessibility &amp; inclusion</a:t>
              </a:r>
              <a:endParaRPr sz="149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g3e5213d0914_1_7"/>
            <p:cNvSpPr/>
            <p:nvPr/>
          </p:nvSpPr>
          <p:spPr>
            <a:xfrm>
              <a:off x="656052" y="3316308"/>
              <a:ext cx="2332200" cy="48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9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Quality of life &amp; wellbeing</a:t>
              </a:r>
              <a:endParaRPr sz="149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g3e5213d0914_1_7"/>
            <p:cNvSpPr/>
            <p:nvPr/>
          </p:nvSpPr>
          <p:spPr>
            <a:xfrm>
              <a:off x="656052" y="3842070"/>
              <a:ext cx="2332200" cy="48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9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Policy support &amp; latent constructs</a:t>
              </a:r>
              <a:endParaRPr sz="149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g3e5213d0914_1_7"/>
          <p:cNvSpPr/>
          <p:nvPr/>
        </p:nvSpPr>
        <p:spPr>
          <a:xfrm>
            <a:off x="525875" y="4703700"/>
            <a:ext cx="2440500" cy="1193400"/>
          </a:xfrm>
          <a:prstGeom prst="rect">
            <a:avLst/>
          </a:prstGeom>
          <a:solidFill>
            <a:srgbClr val="C4EE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4"/>
              <a:buFont typeface="Calibri"/>
              <a:buNone/>
            </a:pPr>
            <a:r>
              <a:rPr lang="en-IN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Captures abstract outcomes like social inclusion, transport justice &amp; perception changes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e5213d0914_1_7"/>
          <p:cNvSpPr/>
          <p:nvPr/>
        </p:nvSpPr>
        <p:spPr>
          <a:xfrm>
            <a:off x="3237694" y="1167500"/>
            <a:ext cx="2657700" cy="4902900"/>
          </a:xfrm>
          <a:prstGeom prst="rect">
            <a:avLst/>
          </a:prstGeom>
          <a:solidFill>
            <a:srgbClr val="FFFFFF"/>
          </a:solidFill>
          <a:ln w="15075" cap="flat" cmpd="sng">
            <a:solidFill>
              <a:srgbClr val="E05A1B"/>
            </a:solidFill>
            <a:prstDash val="solid"/>
            <a:round/>
            <a:headEnd type="none" w="sm" len="sm"/>
            <a:tailEnd type="none" w="sm" len="sm"/>
          </a:ln>
          <a:effectLst>
            <a:outerShdw blurRad="60263" dist="15066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08475" tIns="108475" rIns="108475" bIns="1084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3e5213d0914_1_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46167" y="1254278"/>
            <a:ext cx="412196" cy="41219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e5213d0914_1_7"/>
          <p:cNvSpPr/>
          <p:nvPr/>
        </p:nvSpPr>
        <p:spPr>
          <a:xfrm>
            <a:off x="3801754" y="1254278"/>
            <a:ext cx="2028600" cy="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lang="en-IN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Difference-in-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lang="en-IN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Differences (DID)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g3e5213d0914_1_7"/>
          <p:cNvGrpSpPr/>
          <p:nvPr/>
        </p:nvGrpSpPr>
        <p:grpSpPr>
          <a:xfrm>
            <a:off x="3384241" y="1932350"/>
            <a:ext cx="2290200" cy="2517792"/>
            <a:chOff x="3346167" y="2566798"/>
            <a:chExt cx="2494500" cy="1757498"/>
          </a:xfrm>
        </p:grpSpPr>
        <p:sp>
          <p:nvSpPr>
            <p:cNvPr id="207" name="Google Shape;207;g3e5213d0914_1_7"/>
            <p:cNvSpPr/>
            <p:nvPr/>
          </p:nvSpPr>
          <p:spPr>
            <a:xfrm>
              <a:off x="3346167" y="2566798"/>
              <a:ext cx="2494500" cy="2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49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Key Parameters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g3e5213d0914_1_7"/>
            <p:cNvSpPr/>
            <p:nvPr/>
          </p:nvSpPr>
          <p:spPr>
            <a:xfrm>
              <a:off x="3498029" y="2794591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Before vs. after bus deployment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g3e5213d0914_1_7"/>
            <p:cNvSpPr/>
            <p:nvPr/>
          </p:nvSpPr>
          <p:spPr>
            <a:xfrm>
              <a:off x="3498029" y="3185093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Group A vs. Group B cities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g3e5213d0914_1_7"/>
            <p:cNvSpPr/>
            <p:nvPr/>
          </p:nvSpPr>
          <p:spPr>
            <a:xfrm>
              <a:off x="3498029" y="3575595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Control vs. treatment zones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g3e5213d0914_1_7"/>
            <p:cNvSpPr/>
            <p:nvPr/>
          </p:nvSpPr>
          <p:spPr>
            <a:xfrm>
              <a:off x="3498029" y="3966096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Measurable impact attribution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g3e5213d0914_1_7"/>
          <p:cNvSpPr/>
          <p:nvPr/>
        </p:nvSpPr>
        <p:spPr>
          <a:xfrm>
            <a:off x="3367862" y="4703711"/>
            <a:ext cx="2440500" cy="119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4"/>
              <a:buFont typeface="Calibri"/>
              <a:buNone/>
            </a:pPr>
            <a:r>
              <a:rPr lang="en-IN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BBUS project structure (Group A/B) is naturally suited to DID — measures causal impact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5213d0914_1_7"/>
          <p:cNvSpPr/>
          <p:nvPr/>
        </p:nvSpPr>
        <p:spPr>
          <a:xfrm>
            <a:off x="6079688" y="1167500"/>
            <a:ext cx="2657700" cy="4902900"/>
          </a:xfrm>
          <a:prstGeom prst="rect">
            <a:avLst/>
          </a:prstGeom>
          <a:solidFill>
            <a:srgbClr val="FFFFFF"/>
          </a:solidFill>
          <a:ln w="15075" cap="flat" cmpd="sng">
            <a:solidFill>
              <a:srgbClr val="1A7D3D"/>
            </a:solidFill>
            <a:prstDash val="solid"/>
            <a:round/>
            <a:headEnd type="none" w="sm" len="sm"/>
            <a:tailEnd type="none" w="sm" len="sm"/>
          </a:ln>
          <a:effectLst>
            <a:outerShdw blurRad="60263" dist="15066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08475" tIns="108475" rIns="108475" bIns="1084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e5213d0914_1_7"/>
          <p:cNvSpPr/>
          <p:nvPr/>
        </p:nvSpPr>
        <p:spPr>
          <a:xfrm>
            <a:off x="6643748" y="1254278"/>
            <a:ext cx="2028600" cy="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lang="en-IN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Multivariate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lang="en-IN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6" name="Google Shape;216;g3e5213d0914_1_7"/>
          <p:cNvGrpSpPr/>
          <p:nvPr/>
        </p:nvGrpSpPr>
        <p:grpSpPr>
          <a:xfrm>
            <a:off x="6153485" y="1932239"/>
            <a:ext cx="2440619" cy="2517792"/>
            <a:chOff x="6188161" y="2566798"/>
            <a:chExt cx="2494500" cy="1757498"/>
          </a:xfrm>
        </p:grpSpPr>
        <p:sp>
          <p:nvSpPr>
            <p:cNvPr id="217" name="Google Shape;217;g3e5213d0914_1_7"/>
            <p:cNvSpPr/>
            <p:nvPr/>
          </p:nvSpPr>
          <p:spPr>
            <a:xfrm>
              <a:off x="6188161" y="2566798"/>
              <a:ext cx="2494500" cy="2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49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Key Parameters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e5213d0914_1_7"/>
            <p:cNvSpPr/>
            <p:nvPr/>
          </p:nvSpPr>
          <p:spPr>
            <a:xfrm>
              <a:off x="6340023" y="2794591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Employment &amp; livelihood indicators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g3e5213d0914_1_7"/>
            <p:cNvSpPr/>
            <p:nvPr/>
          </p:nvSpPr>
          <p:spPr>
            <a:xfrm>
              <a:off x="6340023" y="3185093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Affordability &amp; income metrics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g3e5213d0914_1_7"/>
            <p:cNvSpPr/>
            <p:nvPr/>
          </p:nvSpPr>
          <p:spPr>
            <a:xfrm>
              <a:off x="6340023" y="3575595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Health &amp; resilience outcomes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g3e5213d0914_1_7"/>
            <p:cNvSpPr/>
            <p:nvPr/>
          </p:nvSpPr>
          <p:spPr>
            <a:xfrm>
              <a:off x="6340023" y="3966096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City productivity proxies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g3e5213d0914_1_7"/>
          <p:cNvSpPr/>
          <p:nvPr/>
        </p:nvSpPr>
        <p:spPr>
          <a:xfrm>
            <a:off x="6188293" y="4715811"/>
            <a:ext cx="2440500" cy="1193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4"/>
              <a:buFont typeface="Calibri"/>
              <a:buNone/>
            </a:pPr>
            <a:r>
              <a:rPr lang="en-IN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Identifies which variables are most impacted by bus service; separates bus effect from correlated factors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e5213d0914_1_7"/>
          <p:cNvSpPr/>
          <p:nvPr/>
        </p:nvSpPr>
        <p:spPr>
          <a:xfrm>
            <a:off x="8921682" y="1167500"/>
            <a:ext cx="2657700" cy="4902900"/>
          </a:xfrm>
          <a:prstGeom prst="rect">
            <a:avLst/>
          </a:prstGeom>
          <a:solidFill>
            <a:srgbClr val="FFFFFF"/>
          </a:solidFill>
          <a:ln w="150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60263" dist="15066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08475" tIns="108475" rIns="108475" bIns="1084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g3e5213d0914_1_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30155" y="1254278"/>
            <a:ext cx="412196" cy="41219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e5213d0914_1_7"/>
          <p:cNvSpPr/>
          <p:nvPr/>
        </p:nvSpPr>
        <p:spPr>
          <a:xfrm>
            <a:off x="9485742" y="1254278"/>
            <a:ext cx="2028600" cy="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lang="en-IN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Spatial / GIS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lang="en-IN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g3e5213d0914_1_7"/>
          <p:cNvGrpSpPr/>
          <p:nvPr/>
        </p:nvGrpSpPr>
        <p:grpSpPr>
          <a:xfrm>
            <a:off x="9073125" y="1970771"/>
            <a:ext cx="2494500" cy="2545774"/>
            <a:chOff x="9073125" y="1970771"/>
            <a:chExt cx="2494500" cy="2545774"/>
          </a:xfrm>
        </p:grpSpPr>
        <p:sp>
          <p:nvSpPr>
            <p:cNvPr id="227" name="Google Shape;227;g3e5213d0914_1_7"/>
            <p:cNvSpPr/>
            <p:nvPr/>
          </p:nvSpPr>
          <p:spPr>
            <a:xfrm>
              <a:off x="9073125" y="1970771"/>
              <a:ext cx="2494500" cy="29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49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Key Parameters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e5213d0914_1_7"/>
            <p:cNvSpPr/>
            <p:nvPr/>
          </p:nvSpPr>
          <p:spPr>
            <a:xfrm>
              <a:off x="9142662" y="2308905"/>
              <a:ext cx="23322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Bus stop catchment &amp; accessibility buffers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g3e5213d0914_1_7"/>
            <p:cNvSpPr/>
            <p:nvPr/>
          </p:nvSpPr>
          <p:spPr>
            <a:xfrm>
              <a:off x="9142662" y="2947356"/>
              <a:ext cx="23322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Hotspot analysis (Getis-Ord)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e5213d0914_1_7"/>
            <p:cNvSpPr/>
            <p:nvPr/>
          </p:nvSpPr>
          <p:spPr>
            <a:xfrm>
              <a:off x="9154287" y="3490607"/>
              <a:ext cx="23322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O-D mapping low-income commuters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e5213d0914_1_7"/>
            <p:cNvSpPr/>
            <p:nvPr/>
          </p:nvSpPr>
          <p:spPr>
            <a:xfrm>
              <a:off x="9142662" y="4033845"/>
              <a:ext cx="23322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Accident &amp; safe travel zone mapping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g3e5213d0914_1_7"/>
          <p:cNvSpPr/>
          <p:nvPr/>
        </p:nvSpPr>
        <p:spPr>
          <a:xfrm>
            <a:off x="9051849" y="4703711"/>
            <a:ext cx="2440500" cy="1193400"/>
          </a:xfrm>
          <a:prstGeom prst="rect">
            <a:avLst/>
          </a:prstGeom>
          <a:solidFill>
            <a:srgbClr val="D3D4D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4"/>
              <a:buFont typeface="Calibri"/>
              <a:buNone/>
            </a:pPr>
            <a:r>
              <a:rPr lang="en-IN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Maps existing network gaps, underserved areas, and validates BBUS route equity coverage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e5213d0914_1_7"/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Deep dive in M1 : Socio Economic co-benefit model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1600" b="0"/>
              <a:t>Detailed analysis of Model and parameters </a:t>
            </a:r>
            <a:endParaRPr sz="1600">
              <a:solidFill>
                <a:srgbClr val="009CD8"/>
              </a:solidFill>
            </a:endParaRPr>
          </a:p>
        </p:txBody>
      </p:sp>
      <p:pic>
        <p:nvPicPr>
          <p:cNvPr id="45" name="Google Shape;204;g3e5213d0914_1_7" descr="preencoded.png">
            <a:extLst>
              <a:ext uri="{FF2B5EF4-FFF2-40B4-BE49-F238E27FC236}">
                <a16:creationId xmlns:a16="http://schemas.microsoft.com/office/drawing/2014/main" id="{6229EAD8-A351-4D62-A29B-C32864B802C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6512" y="1259915"/>
            <a:ext cx="412196" cy="412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2de33b0d5_0_54"/>
          <p:cNvSpPr txBox="1">
            <a:spLocks noGrp="1"/>
          </p:cNvSpPr>
          <p:nvPr>
            <p:ph type="title"/>
          </p:nvPr>
        </p:nvSpPr>
        <p:spPr>
          <a:xfrm>
            <a:off x="395700" y="194423"/>
            <a:ext cx="11284500" cy="8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2200">
                <a:solidFill>
                  <a:srgbClr val="009CD8"/>
                </a:solidFill>
              </a:rPr>
              <a:t>Deep dive in M1 : Socio Economic co-benefit model </a:t>
            </a:r>
            <a:endParaRPr sz="2200">
              <a:solidFill>
                <a:srgbClr val="009CD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1600" b="0">
                <a:solidFill>
                  <a:srgbClr val="009CD8"/>
                </a:solidFill>
              </a:rPr>
              <a:t> Groupwise Model Selection</a:t>
            </a:r>
            <a:endParaRPr sz="1600" b="0">
              <a:solidFill>
                <a:srgbClr val="009CD8"/>
              </a:solidFill>
            </a:endParaRPr>
          </a:p>
        </p:txBody>
      </p:sp>
      <p:sp>
        <p:nvSpPr>
          <p:cNvPr id="239" name="Google Shape;239;g3f2de33b0d5_0_54"/>
          <p:cNvSpPr txBox="1"/>
          <p:nvPr/>
        </p:nvSpPr>
        <p:spPr>
          <a:xfrm>
            <a:off x="395707" y="1240233"/>
            <a:ext cx="5400000" cy="420000"/>
          </a:xfrm>
          <a:prstGeom prst="rect">
            <a:avLst/>
          </a:prstGeom>
          <a:solidFill>
            <a:srgbClr val="8CB73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A - Cities with buses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f2de33b0d5_0_54"/>
          <p:cNvSpPr txBox="1"/>
          <p:nvPr/>
        </p:nvSpPr>
        <p:spPr>
          <a:xfrm>
            <a:off x="395707" y="1660233"/>
            <a:ext cx="5400000" cy="2799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 b="0" i="0" u="none" strike="noStrike" cap="none">
                <a:solidFill>
                  <a:srgbClr val="005C3A"/>
                </a:solidFill>
                <a:latin typeface="Arial"/>
                <a:ea typeface="Arial"/>
                <a:cs typeface="Arial"/>
                <a:sym typeface="Arial"/>
              </a:rPr>
              <a:t>Bengaluru  |  Jaipur  |  Bhubaneswar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f2de33b0d5_0_54"/>
          <p:cNvSpPr txBox="1"/>
          <p:nvPr/>
        </p:nvSpPr>
        <p:spPr>
          <a:xfrm>
            <a:off x="395700" y="1940225"/>
            <a:ext cx="5400000" cy="30240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811C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400" tIns="152400" rIns="152400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1" i="0" u="none" strike="noStrike" cap="none">
                <a:solidFill>
                  <a:srgbClr val="8CB73F"/>
                </a:solidFill>
                <a:latin typeface="Arial"/>
                <a:ea typeface="Arial"/>
                <a:cs typeface="Arial"/>
                <a:sym typeface="Arial"/>
              </a:rPr>
              <a:t>Multivariate Regression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A cities have mature bus system. Buses have been in operation for years. No clean pre and post study is feasible.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Cross-sectional association via multivariate regression</a:t>
            </a: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estimates the relationship between proximity to bus routes and outcomes, controlling for household and neighbourhood characteristics including the Vulnerability Index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2de33b0d5_0_54"/>
          <p:cNvSpPr txBox="1"/>
          <p:nvPr/>
        </p:nvSpPr>
        <p:spPr>
          <a:xfrm>
            <a:off x="6095707" y="1240233"/>
            <a:ext cx="5400000" cy="420000"/>
          </a:xfrm>
          <a:prstGeom prst="rect">
            <a:avLst/>
          </a:prstGeom>
          <a:solidFill>
            <a:srgbClr val="036493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B - Buses incoming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f2de33b0d5_0_54"/>
          <p:cNvSpPr txBox="1"/>
          <p:nvPr/>
        </p:nvSpPr>
        <p:spPr>
          <a:xfrm>
            <a:off x="6095707" y="1660233"/>
            <a:ext cx="5400000" cy="279900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>
                <a:solidFill>
                  <a:srgbClr val="023F5C"/>
                </a:solidFill>
              </a:rPr>
              <a:t>Jodhpur</a:t>
            </a:r>
            <a:r>
              <a:rPr lang="en-IN" sz="1100" b="0" i="0" u="none" strike="noStrike" cap="none">
                <a:solidFill>
                  <a:srgbClr val="023F5C"/>
                </a:solidFill>
                <a:latin typeface="Arial"/>
                <a:ea typeface="Arial"/>
                <a:cs typeface="Arial"/>
                <a:sym typeface="Arial"/>
              </a:rPr>
              <a:t> |  </a:t>
            </a:r>
            <a:r>
              <a:rPr lang="en-IN" sz="1100">
                <a:solidFill>
                  <a:srgbClr val="023F5C"/>
                </a:solidFill>
              </a:rPr>
              <a:t>Gandhinagar</a:t>
            </a:r>
            <a:r>
              <a:rPr lang="en-IN" sz="1100" b="0" i="0" u="none" strike="noStrike" cap="none">
                <a:solidFill>
                  <a:srgbClr val="023F5C"/>
                </a:solidFill>
                <a:latin typeface="Arial"/>
                <a:ea typeface="Arial"/>
                <a:cs typeface="Arial"/>
                <a:sym typeface="Arial"/>
              </a:rPr>
              <a:t> |  </a:t>
            </a:r>
            <a:r>
              <a:rPr lang="en-IN" sz="1100">
                <a:solidFill>
                  <a:srgbClr val="023F5C"/>
                </a:solidFill>
              </a:rPr>
              <a:t>Puducherry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2de33b0d5_0_54"/>
          <p:cNvSpPr txBox="1"/>
          <p:nvPr/>
        </p:nvSpPr>
        <p:spPr>
          <a:xfrm>
            <a:off x="6095700" y="1940224"/>
            <a:ext cx="5400000" cy="30240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811C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400" tIns="152400" rIns="152400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1" i="0" u="none" strike="noStrike" cap="none">
                <a:solidFill>
                  <a:srgbClr val="036493"/>
                </a:solidFill>
                <a:latin typeface="Arial"/>
                <a:ea typeface="Arial"/>
                <a:cs typeface="Arial"/>
                <a:sym typeface="Arial"/>
              </a:rPr>
              <a:t> Di</a:t>
            </a:r>
            <a:r>
              <a:rPr lang="en-IN" sz="1500" b="1">
                <a:solidFill>
                  <a:srgbClr val="036493"/>
                </a:solidFill>
              </a:rPr>
              <a:t>fference in Difference(DiD)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>
                <a:solidFill>
                  <a:schemeClr val="dk1"/>
                </a:solidFill>
              </a:rPr>
              <a:t>Why?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of Buses under the scheme serves as a natural experiment for DiD to estimate the causal effect of bus access on socio-economic indicators.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Credible counterfactual via parallel trends</a:t>
            </a: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households near routes not yet activated serve as the comparison group, isolating the effect of new bus deployment from pre-existing differences across neighbourhoods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2de33b0d5_0_54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indent="0"/>
            <a:r>
              <a:rPr lang="en-IN" sz="1100" dirty="0"/>
              <a:t>Source: CEEW compilation</a:t>
            </a:r>
          </a:p>
        </p:txBody>
      </p:sp>
      <p:sp>
        <p:nvSpPr>
          <p:cNvPr id="246" name="Google Shape;246;g3f2de33b0d5_0_54"/>
          <p:cNvSpPr txBox="1"/>
          <p:nvPr/>
        </p:nvSpPr>
        <p:spPr>
          <a:xfrm>
            <a:off x="395700" y="5232013"/>
            <a:ext cx="11100000" cy="9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I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Descriptive analysis</a:t>
            </a: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(cross-tabs, means, distributions) where regression is infeasible.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I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GIS-derived bus access</a:t>
            </a: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(500m walkshed, binary) as the key independent variable — exogenous to individual behaviour.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2de33b0d5_0_54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2de33b0d5_0_66"/>
          <p:cNvSpPr txBox="1">
            <a:spLocks noGrp="1"/>
          </p:cNvSpPr>
          <p:nvPr>
            <p:ph type="title"/>
          </p:nvPr>
        </p:nvSpPr>
        <p:spPr>
          <a:xfrm>
            <a:off x="395700" y="194426"/>
            <a:ext cx="11284500" cy="5820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Key Variables </a:t>
            </a:r>
            <a:endParaRPr dirty="0"/>
          </a:p>
        </p:txBody>
      </p:sp>
      <p:sp>
        <p:nvSpPr>
          <p:cNvPr id="254" name="Google Shape;254;g3f2de33b0d5_0_66"/>
          <p:cNvSpPr txBox="1">
            <a:spLocks noGrp="1"/>
          </p:cNvSpPr>
          <p:nvPr>
            <p:ph type="body" idx="1"/>
          </p:nvPr>
        </p:nvSpPr>
        <p:spPr>
          <a:xfrm>
            <a:off x="395700" y="988931"/>
            <a:ext cx="3571200" cy="40920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600" dirty="0"/>
              <a:t>hf</a:t>
            </a:r>
            <a:endParaRPr sz="1600" dirty="0"/>
          </a:p>
        </p:txBody>
      </p:sp>
      <p:sp>
        <p:nvSpPr>
          <p:cNvPr id="255" name="Google Shape;255;g3f2de33b0d5_0_66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indent="0"/>
            <a:r>
              <a:rPr lang="en-IN" dirty="0"/>
              <a:t>Source: CEEW compilation</a:t>
            </a:r>
          </a:p>
        </p:txBody>
      </p:sp>
      <p:sp>
        <p:nvSpPr>
          <p:cNvPr id="256" name="Google Shape;256;g3f2de33b0d5_0_66"/>
          <p:cNvSpPr/>
          <p:nvPr/>
        </p:nvSpPr>
        <p:spPr>
          <a:xfrm>
            <a:off x="395700" y="971256"/>
            <a:ext cx="3571200" cy="430500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>
                <a:latin typeface="Calibri"/>
                <a:ea typeface="Calibri"/>
                <a:cs typeface="Calibri"/>
                <a:sym typeface="Calibri"/>
              </a:rPr>
              <a:t>Outcome Variables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2de33b0d5_0_66"/>
          <p:cNvSpPr txBox="1"/>
          <p:nvPr/>
        </p:nvSpPr>
        <p:spPr>
          <a:xfrm>
            <a:off x="392950" y="1455806"/>
            <a:ext cx="3571200" cy="302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Individual Transport Expenditure 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Employment Status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Female Employment Status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Women's trip frequency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of travel time saved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Educational Access for children/youth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 care access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2de33b0d5_0_66"/>
          <p:cNvSpPr/>
          <p:nvPr/>
        </p:nvSpPr>
        <p:spPr>
          <a:xfrm>
            <a:off x="4235550" y="971256"/>
            <a:ext cx="3695700" cy="409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f2de33b0d5_0_66"/>
          <p:cNvSpPr/>
          <p:nvPr/>
        </p:nvSpPr>
        <p:spPr>
          <a:xfrm>
            <a:off x="4235550" y="953656"/>
            <a:ext cx="3695700" cy="430500"/>
          </a:xfrm>
          <a:prstGeom prst="rect">
            <a:avLst/>
          </a:prstGeom>
          <a:solidFill>
            <a:srgbClr val="E8572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>
                <a:latin typeface="Calibri"/>
                <a:ea typeface="Calibri"/>
                <a:cs typeface="Calibri"/>
                <a:sym typeface="Calibri"/>
              </a:rPr>
              <a:t>Independent Variable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2de33b0d5_0_66"/>
          <p:cNvSpPr txBox="1"/>
          <p:nvPr/>
        </p:nvSpPr>
        <p:spPr>
          <a:xfrm>
            <a:off x="4467600" y="1534375"/>
            <a:ext cx="285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E85724"/>
                </a:solidFill>
                <a:latin typeface="Calibri"/>
                <a:ea typeface="Calibri"/>
                <a:cs typeface="Calibri"/>
                <a:sym typeface="Calibri"/>
              </a:rPr>
              <a:t>Bus Access</a:t>
            </a:r>
            <a:r>
              <a:rPr lang="en-IN" sz="1600" dirty="0">
                <a:solidFill>
                  <a:srgbClr val="0364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0364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f2de33b0d5_0_66"/>
          <p:cNvSpPr txBox="1"/>
          <p:nvPr/>
        </p:nvSpPr>
        <p:spPr>
          <a:xfrm>
            <a:off x="4393350" y="1810556"/>
            <a:ext cx="3124800" cy="273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Walking distance to nearest bus stop (minutes/metres) — collected via survey and cross-validated using GIS data from STU route maps.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approach was chosen for its simplicity and alignment with internationally recognised thresholds.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f2de33b0d5_0_66"/>
          <p:cNvSpPr/>
          <p:nvPr/>
        </p:nvSpPr>
        <p:spPr>
          <a:xfrm>
            <a:off x="8199900" y="971256"/>
            <a:ext cx="3480300" cy="409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2de33b0d5_0_66"/>
          <p:cNvSpPr txBox="1"/>
          <p:nvPr/>
        </p:nvSpPr>
        <p:spPr>
          <a:xfrm>
            <a:off x="8199900" y="971256"/>
            <a:ext cx="3480300" cy="431100"/>
          </a:xfrm>
          <a:prstGeom prst="rect">
            <a:avLst/>
          </a:prstGeom>
          <a:solidFill>
            <a:srgbClr val="029BD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Vulnerability index(VI)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f2de33b0d5_0_66"/>
          <p:cNvSpPr txBox="1"/>
          <p:nvPr/>
        </p:nvSpPr>
        <p:spPr>
          <a:xfrm>
            <a:off x="8401050" y="1625095"/>
            <a:ext cx="3078000" cy="306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(VI) is constructed as 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unweighted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normalised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composite of four binary components that capture</a:t>
            </a: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dimensions of socio-economic vulnerability.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VI is used to test whether the economic benefits of bus access are disproportionately larger for more vulnerable populations.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2de33b0d5_0_66"/>
          <p:cNvSpPr txBox="1"/>
          <p:nvPr/>
        </p:nvSpPr>
        <p:spPr>
          <a:xfrm>
            <a:off x="392950" y="5313797"/>
            <a:ext cx="112845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Women's trip frequency </a:t>
            </a: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regression restricted to women in households without private vehicle access (captive users), controlling for income, to isolate the bus access effect from private vehicle availability bias.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2de33b0d5_0_66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2de33b0d5_0_83"/>
          <p:cNvSpPr txBox="1">
            <a:spLocks noGrp="1"/>
          </p:cNvSpPr>
          <p:nvPr>
            <p:ph type="title"/>
          </p:nvPr>
        </p:nvSpPr>
        <p:spPr>
          <a:xfrm>
            <a:off x="395700" y="194426"/>
            <a:ext cx="11284500" cy="549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Vulnerability Index : Construction </a:t>
            </a:r>
            <a:endParaRPr/>
          </a:p>
        </p:txBody>
      </p:sp>
      <p:sp>
        <p:nvSpPr>
          <p:cNvPr id="273" name="Google Shape;273;g3f2de33b0d5_0_83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indent="0"/>
            <a:r>
              <a:rPr lang="en-IN" dirty="0"/>
              <a:t>Source: CEEW compilation</a:t>
            </a:r>
          </a:p>
        </p:txBody>
      </p:sp>
      <p:sp>
        <p:nvSpPr>
          <p:cNvPr id="274" name="Google Shape;274;g3f2de33b0d5_0_83"/>
          <p:cNvSpPr/>
          <p:nvPr/>
        </p:nvSpPr>
        <p:spPr>
          <a:xfrm>
            <a:off x="365735" y="969345"/>
            <a:ext cx="54864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700"/>
              <a:buFont typeface="Calibri"/>
              <a:buNone/>
            </a:pPr>
            <a:r>
              <a:rPr lang="en-IN" sz="1700" b="1" i="0" u="none" strike="noStrike" cap="none">
                <a:solidFill>
                  <a:srgbClr val="0F2C59"/>
                </a:solidFill>
                <a:latin typeface="Calibri"/>
                <a:ea typeface="Calibri"/>
                <a:cs typeface="Calibri"/>
                <a:sym typeface="Calibri"/>
              </a:rPr>
              <a:t>Index Components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2de33b0d5_0_83"/>
          <p:cNvSpPr/>
          <p:nvPr/>
        </p:nvSpPr>
        <p:spPr>
          <a:xfrm>
            <a:off x="365760" y="1524000"/>
            <a:ext cx="5486400" cy="877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5D8D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9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f2de33b0d5_0_83"/>
          <p:cNvSpPr/>
          <p:nvPr/>
        </p:nvSpPr>
        <p:spPr>
          <a:xfrm>
            <a:off x="365760" y="1524000"/>
            <a:ext cx="121800" cy="877800"/>
          </a:xfrm>
          <a:prstGeom prst="rect">
            <a:avLst/>
          </a:prstGeom>
          <a:solidFill>
            <a:srgbClr val="86BB3F"/>
          </a:solidFill>
          <a:ln w="12700" cap="flat" cmpd="sng">
            <a:solidFill>
              <a:srgbClr val="86BB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f2de33b0d5_0_83"/>
          <p:cNvSpPr/>
          <p:nvPr/>
        </p:nvSpPr>
        <p:spPr>
          <a:xfrm>
            <a:off x="609600" y="1584960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A6E"/>
              </a:buClr>
              <a:buSzPts val="1500"/>
              <a:buFont typeface="Calibri"/>
              <a:buNone/>
            </a:pPr>
            <a:r>
              <a:rPr lang="en-IN" sz="1500" b="1" i="0" u="none" strike="noStrike" cap="none">
                <a:solidFill>
                  <a:srgbClr val="0D7A6E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sz="1500" b="0" i="0" u="none" strike="noStrike" cap="none">
              <a:solidFill>
                <a:srgbClr val="0D7A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2de33b0d5_0_83"/>
          <p:cNvSpPr/>
          <p:nvPr/>
        </p:nvSpPr>
        <p:spPr>
          <a:xfrm>
            <a:off x="609600" y="1962912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300"/>
              <a:buFont typeface="Calibri"/>
              <a:buNone/>
            </a:pPr>
            <a:r>
              <a:rPr lang="en-IN" b="0" i="0" u="none" strike="noStrike" cap="non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Min-max normalised, reversed: 1 = lowest income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2de33b0d5_0_83"/>
          <p:cNvSpPr/>
          <p:nvPr/>
        </p:nvSpPr>
        <p:spPr>
          <a:xfrm>
            <a:off x="365760" y="2523744"/>
            <a:ext cx="5486400" cy="877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5D8D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9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f2de33b0d5_0_83"/>
          <p:cNvSpPr/>
          <p:nvPr/>
        </p:nvSpPr>
        <p:spPr>
          <a:xfrm>
            <a:off x="365760" y="2523744"/>
            <a:ext cx="121800" cy="877800"/>
          </a:xfrm>
          <a:prstGeom prst="rect">
            <a:avLst/>
          </a:prstGeom>
          <a:solidFill>
            <a:srgbClr val="86BB3F"/>
          </a:solidFill>
          <a:ln w="12700" cap="flat" cmpd="sng">
            <a:solidFill>
              <a:srgbClr val="86BB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f2de33b0d5_0_83"/>
          <p:cNvSpPr/>
          <p:nvPr/>
        </p:nvSpPr>
        <p:spPr>
          <a:xfrm>
            <a:off x="609600" y="2584704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A6E"/>
              </a:buClr>
              <a:buSzPts val="1500"/>
              <a:buFont typeface="Calibri"/>
              <a:buNone/>
            </a:pPr>
            <a:r>
              <a:rPr lang="en-IN" sz="1500" b="1" i="0" u="none" strike="noStrike" cap="none">
                <a:solidFill>
                  <a:srgbClr val="0D7A6E"/>
                </a:solidFill>
                <a:latin typeface="Calibri"/>
                <a:ea typeface="Calibri"/>
                <a:cs typeface="Calibri"/>
                <a:sym typeface="Calibri"/>
              </a:rPr>
              <a:t>Vehicle Ownership</a:t>
            </a:r>
            <a:endParaRPr sz="1500" b="0" i="0" u="none" strike="noStrike" cap="none">
              <a:solidFill>
                <a:srgbClr val="0D7A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2de33b0d5_0_83"/>
          <p:cNvSpPr/>
          <p:nvPr/>
        </p:nvSpPr>
        <p:spPr>
          <a:xfrm>
            <a:off x="609600" y="2962656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300"/>
              <a:buFont typeface="Calibri"/>
              <a:buNone/>
            </a:pPr>
            <a:r>
              <a:rPr lang="en-IN" b="0" i="0" u="none" strike="noStrike" cap="non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No vehicle in household = 1; owns vehicle = 0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2de33b0d5_0_83"/>
          <p:cNvSpPr/>
          <p:nvPr/>
        </p:nvSpPr>
        <p:spPr>
          <a:xfrm>
            <a:off x="365760" y="3523488"/>
            <a:ext cx="5486400" cy="877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5D8D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9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f2de33b0d5_0_83"/>
          <p:cNvSpPr/>
          <p:nvPr/>
        </p:nvSpPr>
        <p:spPr>
          <a:xfrm>
            <a:off x="365760" y="3523488"/>
            <a:ext cx="121800" cy="877800"/>
          </a:xfrm>
          <a:prstGeom prst="rect">
            <a:avLst/>
          </a:prstGeom>
          <a:solidFill>
            <a:srgbClr val="F39673"/>
          </a:solidFill>
          <a:ln w="12700" cap="flat" cmpd="sng">
            <a:solidFill>
              <a:srgbClr val="F396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f2de33b0d5_0_83"/>
          <p:cNvSpPr/>
          <p:nvPr/>
        </p:nvSpPr>
        <p:spPr>
          <a:xfrm>
            <a:off x="609600" y="3584448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621A"/>
              </a:buClr>
              <a:buSzPts val="1500"/>
              <a:buFont typeface="Calibri"/>
              <a:buNone/>
            </a:pPr>
            <a:r>
              <a:rPr lang="en-IN" sz="1500" b="1" i="0" u="none" strike="noStrike" cap="none">
                <a:solidFill>
                  <a:srgbClr val="D4621A"/>
                </a:solidFill>
                <a:latin typeface="Calibri"/>
                <a:ea typeface="Calibri"/>
                <a:cs typeface="Calibri"/>
                <a:sym typeface="Calibri"/>
              </a:rPr>
              <a:t>Disability Status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2de33b0d5_0_83"/>
          <p:cNvSpPr/>
          <p:nvPr/>
        </p:nvSpPr>
        <p:spPr>
          <a:xfrm>
            <a:off x="609600" y="3962400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300"/>
              <a:buFont typeface="Calibri"/>
              <a:buNone/>
            </a:pPr>
            <a:r>
              <a:rPr lang="en-IN" b="0" i="0" u="none" strike="noStrike" cap="non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Person with disability = 1; no disability = 0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2de33b0d5_0_83"/>
          <p:cNvSpPr/>
          <p:nvPr/>
        </p:nvSpPr>
        <p:spPr>
          <a:xfrm>
            <a:off x="365760" y="4523232"/>
            <a:ext cx="5486400" cy="877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5D8D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9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f2de33b0d5_0_83"/>
          <p:cNvSpPr/>
          <p:nvPr/>
        </p:nvSpPr>
        <p:spPr>
          <a:xfrm>
            <a:off x="365760" y="4523232"/>
            <a:ext cx="121800" cy="877800"/>
          </a:xfrm>
          <a:prstGeom prst="rect">
            <a:avLst/>
          </a:prstGeom>
          <a:solidFill>
            <a:srgbClr val="F39673"/>
          </a:solidFill>
          <a:ln w="12700" cap="flat" cmpd="sng">
            <a:solidFill>
              <a:srgbClr val="F396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f2de33b0d5_0_83"/>
          <p:cNvSpPr/>
          <p:nvPr/>
        </p:nvSpPr>
        <p:spPr>
          <a:xfrm>
            <a:off x="609600" y="4584192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621A"/>
              </a:buClr>
              <a:buSzPts val="1500"/>
              <a:buFont typeface="Calibri"/>
              <a:buNone/>
            </a:pPr>
            <a:r>
              <a:rPr lang="en-IN" sz="1500" b="1" i="0" u="none" strike="noStrike" cap="none">
                <a:solidFill>
                  <a:srgbClr val="D4621A"/>
                </a:solidFill>
                <a:latin typeface="Calibri"/>
                <a:ea typeface="Calibri"/>
                <a:cs typeface="Calibri"/>
                <a:sym typeface="Calibri"/>
              </a:rPr>
              <a:t>Elderly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2de33b0d5_0_83"/>
          <p:cNvSpPr/>
          <p:nvPr/>
        </p:nvSpPr>
        <p:spPr>
          <a:xfrm>
            <a:off x="609600" y="4962144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300"/>
              <a:buFont typeface="Calibri"/>
              <a:buNone/>
            </a:pPr>
            <a:r>
              <a:rPr lang="en-IN" b="0" i="0" u="none" strike="noStrike" cap="non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Age 60 or above = 1; below 60 = 0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2de33b0d5_0_83"/>
          <p:cNvSpPr/>
          <p:nvPr/>
        </p:nvSpPr>
        <p:spPr>
          <a:xfrm>
            <a:off x="6572250" y="4657403"/>
            <a:ext cx="5107950" cy="1189299"/>
          </a:xfrm>
          <a:prstGeom prst="rect">
            <a:avLst/>
          </a:prstGeom>
          <a:solidFill>
            <a:srgbClr val="F5F0E7"/>
          </a:solidFill>
          <a:ln w="12700" cap="flat" cmpd="sng">
            <a:solidFill>
              <a:srgbClr val="E05A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f2de33b0d5_0_83"/>
          <p:cNvSpPr/>
          <p:nvPr/>
        </p:nvSpPr>
        <p:spPr>
          <a:xfrm>
            <a:off x="6665475" y="4677477"/>
            <a:ext cx="524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300"/>
              <a:buFont typeface="Calibri"/>
              <a:buNone/>
            </a:pPr>
            <a:r>
              <a:rPr lang="en-IN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on Gender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2de33b0d5_0_83"/>
          <p:cNvSpPr/>
          <p:nvPr/>
        </p:nvSpPr>
        <p:spPr>
          <a:xfrm>
            <a:off x="6665475" y="5164064"/>
            <a:ext cx="480251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200"/>
              <a:buFont typeface="Calibri"/>
              <a:buNone/>
            </a:pPr>
            <a:r>
              <a:rPr lang="en-IN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 excluded from index — used as a stratification variable to avoid treating all women as uniformly vulnerable regardless of income or vehicle access.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2de33b0d5_0_83"/>
          <p:cNvSpPr txBox="1"/>
          <p:nvPr/>
        </p:nvSpPr>
        <p:spPr>
          <a:xfrm>
            <a:off x="6572250" y="3124779"/>
            <a:ext cx="5107950" cy="1292631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Rationale for the unweighted index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 importance to all dimensions.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most credible and widely used composite indices in development policy use equal weights.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2de33b0d5_0_83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04D6A7-C56B-4E3C-898F-BBA1C075584B}"/>
              </a:ext>
            </a:extLst>
          </p:cNvPr>
          <p:cNvSpPr/>
          <p:nvPr/>
        </p:nvSpPr>
        <p:spPr>
          <a:xfrm>
            <a:off x="6496050" y="1524000"/>
            <a:ext cx="51841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</a:rPr>
              <a:t>VI</a:t>
            </a:r>
            <a:r>
              <a:rPr lang="en-US" sz="1600" dirty="0">
                <a:latin typeface="Calibri" panose="020F0502020204030204" pitchFamily="34" charset="0"/>
              </a:rPr>
              <a:t> = (Income + </a:t>
            </a:r>
            <a:r>
              <a:rPr lang="en-US" sz="1600" dirty="0" err="1">
                <a:latin typeface="Calibri" panose="020F0502020204030204" pitchFamily="34" charset="0"/>
              </a:rPr>
              <a:t>Vehicle_ownership</a:t>
            </a:r>
            <a:r>
              <a:rPr lang="en-US" sz="1600" dirty="0">
                <a:latin typeface="Calibri" panose="020F0502020204030204" pitchFamily="34" charset="0"/>
              </a:rPr>
              <a:t> + Disability status + Elderly)</a:t>
            </a:r>
            <a:r>
              <a:rPr lang="en-US" sz="1600" baseline="-25000" dirty="0">
                <a:latin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</a:rPr>
              <a:t>/ 4</a:t>
            </a:r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9D8F32-26D5-4705-98FE-0D6222022171}"/>
              </a:ext>
            </a:extLst>
          </p:cNvPr>
          <p:cNvSpPr/>
          <p:nvPr/>
        </p:nvSpPr>
        <p:spPr>
          <a:xfrm>
            <a:off x="6572248" y="2154412"/>
            <a:ext cx="51079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latin typeface="Calibri" panose="020F0502020204030204" pitchFamily="34" charset="0"/>
              </a:rPr>
              <a:t>Range: 0 (least vulnerable) → 1 (most vulnerable)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2de33b0d5_0_113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2200" dirty="0"/>
              <a:t>Group A cities: Design and framework</a:t>
            </a:r>
            <a:endParaRPr sz="2100" dirty="0"/>
          </a:p>
        </p:txBody>
      </p:sp>
      <p:sp>
        <p:nvSpPr>
          <p:cNvPr id="307" name="Google Shape;307;g3f2de33b0d5_0_113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indent="0"/>
            <a:r>
              <a:rPr lang="en-IN" dirty="0"/>
              <a:t>Source: CEEW compilation</a:t>
            </a:r>
          </a:p>
        </p:txBody>
      </p:sp>
      <p:sp>
        <p:nvSpPr>
          <p:cNvPr id="309" name="Google Shape;309;g3f2de33b0d5_0_113"/>
          <p:cNvSpPr/>
          <p:nvPr/>
        </p:nvSpPr>
        <p:spPr>
          <a:xfrm>
            <a:off x="395700" y="1506929"/>
            <a:ext cx="3657600" cy="221055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4EEF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9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f2de33b0d5_0_113"/>
          <p:cNvSpPr/>
          <p:nvPr/>
        </p:nvSpPr>
        <p:spPr>
          <a:xfrm>
            <a:off x="395700" y="1506929"/>
            <a:ext cx="3657600" cy="73200"/>
          </a:xfrm>
          <a:prstGeom prst="rect">
            <a:avLst/>
          </a:prstGeom>
          <a:solidFill>
            <a:srgbClr val="C4EEFF"/>
          </a:solidFill>
          <a:ln w="12700" cap="flat" cmpd="sng">
            <a:solidFill>
              <a:srgbClr val="C4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f2de33b0d5_0_113"/>
          <p:cNvSpPr txBox="1"/>
          <p:nvPr/>
        </p:nvSpPr>
        <p:spPr>
          <a:xfrm>
            <a:off x="483680" y="1652828"/>
            <a:ext cx="2469900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β₁  (</a:t>
            </a:r>
            <a:r>
              <a:rPr lang="en-IN" sz="18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bus_access</a:t>
            </a:r>
            <a:r>
              <a:rPr lang="en-IN" sz="180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1" dirty="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700" b="1" dirty="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2de33b0d5_0_113"/>
          <p:cNvSpPr/>
          <p:nvPr/>
        </p:nvSpPr>
        <p:spPr>
          <a:xfrm>
            <a:off x="580080" y="2116927"/>
            <a:ext cx="3268800" cy="48108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TREATMENT EFFECT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2de33b0d5_0_113"/>
          <p:cNvSpPr/>
          <p:nvPr/>
        </p:nvSpPr>
        <p:spPr>
          <a:xfrm>
            <a:off x="590100" y="2596980"/>
            <a:ext cx="3268800" cy="1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IN" sz="16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Average difference in outcome between individuals with bus access (≤500m) vs. without, for the reference group (VI = 0). Core policy number.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2de33b0d5_0_113"/>
          <p:cNvSpPr/>
          <p:nvPr/>
        </p:nvSpPr>
        <p:spPr>
          <a:xfrm>
            <a:off x="4384315" y="1506929"/>
            <a:ext cx="3657600" cy="221055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E4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9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3f2de33b0d5_0_113"/>
          <p:cNvSpPr/>
          <p:nvPr/>
        </p:nvSpPr>
        <p:spPr>
          <a:xfrm>
            <a:off x="8238955" y="1506929"/>
            <a:ext cx="3657600" cy="221055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4EEF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9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f2de33b0d5_0_113"/>
          <p:cNvSpPr/>
          <p:nvPr/>
        </p:nvSpPr>
        <p:spPr>
          <a:xfrm>
            <a:off x="4384315" y="1506929"/>
            <a:ext cx="3657600" cy="73200"/>
          </a:xfrm>
          <a:prstGeom prst="rect">
            <a:avLst/>
          </a:prstGeom>
          <a:solidFill>
            <a:srgbClr val="C4EEFF"/>
          </a:solidFill>
          <a:ln w="12700" cap="flat" cmpd="sng">
            <a:solidFill>
              <a:srgbClr val="C4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f2de33b0d5_0_113"/>
          <p:cNvSpPr/>
          <p:nvPr/>
        </p:nvSpPr>
        <p:spPr>
          <a:xfrm>
            <a:off x="8238965" y="1506929"/>
            <a:ext cx="3657600" cy="73200"/>
          </a:xfrm>
          <a:prstGeom prst="rect">
            <a:avLst/>
          </a:prstGeom>
          <a:solidFill>
            <a:srgbClr val="C4EEFF"/>
          </a:solidFill>
          <a:ln w="12700" cap="flat" cmpd="sng">
            <a:solidFill>
              <a:srgbClr val="C4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3f2de33b0d5_0_113"/>
          <p:cNvSpPr txBox="1"/>
          <p:nvPr/>
        </p:nvSpPr>
        <p:spPr>
          <a:xfrm>
            <a:off x="4566230" y="1652828"/>
            <a:ext cx="23859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Calibri"/>
              <a:buNone/>
            </a:pPr>
            <a:r>
              <a:rPr lang="en-IN" sz="180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β₂  (VI)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2de33b0d5_0_113"/>
          <p:cNvSpPr/>
          <p:nvPr/>
        </p:nvSpPr>
        <p:spPr>
          <a:xfrm>
            <a:off x="8385205" y="1735880"/>
            <a:ext cx="3365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Calibri"/>
              <a:buNone/>
            </a:pPr>
            <a:r>
              <a:rPr lang="en-IN" sz="1800" b="1" i="0" u="none" strike="noStrike" cap="none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β₃  (</a:t>
            </a:r>
            <a:r>
              <a:rPr lang="en-IN" sz="1800" b="1" i="0" u="none" strike="noStrike" cap="none" dirty="0" err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bus_access</a:t>
            </a:r>
            <a:r>
              <a:rPr lang="en-IN" sz="1800" b="1" i="0" u="none" strike="noStrike" cap="none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× VI)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2de33b0d5_0_113"/>
          <p:cNvSpPr txBox="1"/>
          <p:nvPr/>
        </p:nvSpPr>
        <p:spPr>
          <a:xfrm>
            <a:off x="4566230" y="2571151"/>
            <a:ext cx="34284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IN" sz="16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Effect of being more vulnerable on the outcome, independent of bus access. Captures baseline disadvantage of VRUs.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2de33b0d5_0_113"/>
          <p:cNvSpPr/>
          <p:nvPr/>
        </p:nvSpPr>
        <p:spPr>
          <a:xfrm>
            <a:off x="4597880" y="2136379"/>
            <a:ext cx="3261850" cy="46163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000"/>
              <a:buFont typeface="Calibri"/>
              <a:buNone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VULNERABILITY MAIN EFFECT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2de33b0d5_0_113"/>
          <p:cNvSpPr/>
          <p:nvPr/>
        </p:nvSpPr>
        <p:spPr>
          <a:xfrm>
            <a:off x="8385205" y="2136379"/>
            <a:ext cx="3365100" cy="4616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EQUITY COEFFICIENT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2de33b0d5_0_113"/>
          <p:cNvSpPr txBox="1"/>
          <p:nvPr/>
        </p:nvSpPr>
        <p:spPr>
          <a:xfrm>
            <a:off x="8372930" y="2571151"/>
            <a:ext cx="33651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IN" sz="16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Differential benefit of bus access for more vulnerable individuals. Significant positive β₃ is the core equity argument for bus investment.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2de33b0d5_0_113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507;p26">
            <a:extLst>
              <a:ext uri="{FF2B5EF4-FFF2-40B4-BE49-F238E27FC236}">
                <a16:creationId xmlns:a16="http://schemas.microsoft.com/office/drawing/2014/main" id="{587CC2A6-B25D-4F91-AFCD-1C479D8E7E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4768" y="3822065"/>
            <a:ext cx="3369924" cy="2424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6BBD56-EAC7-4149-96CB-9F2A168EC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08" y="3822066"/>
            <a:ext cx="3217772" cy="2413329"/>
          </a:xfrm>
          <a:prstGeom prst="rect">
            <a:avLst/>
          </a:prstGeom>
        </p:spPr>
      </p:pic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C892F458-E9B1-4F37-81F1-D22D8B3DD8BD}"/>
              </a:ext>
            </a:extLst>
          </p:cNvPr>
          <p:cNvCxnSpPr/>
          <p:nvPr/>
        </p:nvCxnSpPr>
        <p:spPr>
          <a:xfrm flipV="1">
            <a:off x="3848880" y="4809800"/>
            <a:ext cx="363524" cy="33328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D47EF385-1B22-4D9E-9AEC-DE5B41B238C3}"/>
              </a:ext>
            </a:extLst>
          </p:cNvPr>
          <p:cNvCxnSpPr/>
          <p:nvPr/>
        </p:nvCxnSpPr>
        <p:spPr>
          <a:xfrm flipV="1">
            <a:off x="9503595" y="4737571"/>
            <a:ext cx="363524" cy="33328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296;g3f2de33b0d5_0_83">
            <a:extLst>
              <a:ext uri="{FF2B5EF4-FFF2-40B4-BE49-F238E27FC236}">
                <a16:creationId xmlns:a16="http://schemas.microsoft.com/office/drawing/2014/main" id="{7EEEEF6E-D012-4BBB-91F2-F5ACBD853AEE}"/>
              </a:ext>
            </a:extLst>
          </p:cNvPr>
          <p:cNvSpPr txBox="1"/>
          <p:nvPr/>
        </p:nvSpPr>
        <p:spPr>
          <a:xfrm>
            <a:off x="4233128" y="4348150"/>
            <a:ext cx="1784105" cy="83096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survey gives you the individual characteristics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296;g3f2de33b0d5_0_83">
            <a:extLst>
              <a:ext uri="{FF2B5EF4-FFF2-40B4-BE49-F238E27FC236}">
                <a16:creationId xmlns:a16="http://schemas.microsoft.com/office/drawing/2014/main" id="{FEE2045E-6945-444B-A164-5762AF4D5B30}"/>
              </a:ext>
            </a:extLst>
          </p:cNvPr>
          <p:cNvSpPr txBox="1"/>
          <p:nvPr/>
        </p:nvSpPr>
        <p:spPr>
          <a:xfrm>
            <a:off x="9911381" y="4275921"/>
            <a:ext cx="1784105" cy="104641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route network gives you the spatial coverage characteristics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25DD2-57A7-462B-9BE3-618BFD9CC725}"/>
              </a:ext>
            </a:extLst>
          </p:cNvPr>
          <p:cNvSpPr/>
          <p:nvPr/>
        </p:nvSpPr>
        <p:spPr>
          <a:xfrm>
            <a:off x="2545660" y="1049241"/>
            <a:ext cx="7258215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Yij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= 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β₀  +  β₁(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bus_access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  + 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β₂(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  + 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β₃(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bus_access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×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+ 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el-GR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el-GR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</a:t>
            </a:r>
            <a:r>
              <a:rPr lang="en-IN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2de33b0d5_0_143"/>
          <p:cNvSpPr txBox="1">
            <a:spLocks noGrp="1"/>
          </p:cNvSpPr>
          <p:nvPr>
            <p:ph type="title"/>
          </p:nvPr>
        </p:nvSpPr>
        <p:spPr>
          <a:xfrm>
            <a:off x="490555" y="2898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2200" dirty="0"/>
              <a:t>Group B cities study design and framework</a:t>
            </a:r>
            <a:endParaRPr sz="2200" dirty="0"/>
          </a:p>
        </p:txBody>
      </p:sp>
      <p:sp>
        <p:nvSpPr>
          <p:cNvPr id="336" name="Google Shape;336;g3f2de33b0d5_0_143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indent="0">
              <a:spcBef>
                <a:spcPts val="300"/>
              </a:spcBef>
            </a:pPr>
            <a:r>
              <a:rPr lang="en-IN" dirty="0"/>
              <a:t>Source: CEEW compilation</a:t>
            </a:r>
          </a:p>
        </p:txBody>
      </p:sp>
      <p:sp>
        <p:nvSpPr>
          <p:cNvPr id="341" name="Google Shape;341;g3f2de33b0d5_0_143"/>
          <p:cNvSpPr/>
          <p:nvPr/>
        </p:nvSpPr>
        <p:spPr>
          <a:xfrm>
            <a:off x="490555" y="1406766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700"/>
              <a:buFont typeface="Calibri"/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2×2 Difference-in-Differences Structure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2de33b0d5_0_143"/>
          <p:cNvSpPr/>
          <p:nvPr/>
        </p:nvSpPr>
        <p:spPr>
          <a:xfrm>
            <a:off x="457095" y="1895719"/>
            <a:ext cx="1813800" cy="440400"/>
          </a:xfrm>
          <a:prstGeom prst="rect">
            <a:avLst/>
          </a:prstGeom>
          <a:solidFill>
            <a:srgbClr val="C4EEFF"/>
          </a:solidFill>
          <a:ln w="12700" cap="flat" cmpd="sng">
            <a:solidFill>
              <a:srgbClr val="0F2C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f2de33b0d5_0_143"/>
          <p:cNvSpPr/>
          <p:nvPr/>
        </p:nvSpPr>
        <p:spPr>
          <a:xfrm>
            <a:off x="2375445" y="1892647"/>
            <a:ext cx="1813800" cy="440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33875" tIns="33875" rIns="33875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I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Round 1 (Pre)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2de33b0d5_0_143"/>
          <p:cNvSpPr/>
          <p:nvPr/>
        </p:nvSpPr>
        <p:spPr>
          <a:xfrm>
            <a:off x="4427545" y="1895722"/>
            <a:ext cx="1813800" cy="44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33875" tIns="33875" rIns="33875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I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Round 2 (Post)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2de33b0d5_0_143"/>
          <p:cNvSpPr/>
          <p:nvPr/>
        </p:nvSpPr>
        <p:spPr>
          <a:xfrm>
            <a:off x="457095" y="2488422"/>
            <a:ext cx="1813800" cy="3900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33875" tIns="33875" rIns="33875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IN" sz="1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Treatment Zone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IN" sz="1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(Bus Access)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2de33b0d5_0_143"/>
          <p:cNvSpPr/>
          <p:nvPr/>
        </p:nvSpPr>
        <p:spPr>
          <a:xfrm>
            <a:off x="2375445" y="2463861"/>
            <a:ext cx="1813800" cy="440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3875" tIns="33875" rIns="33875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A6E"/>
              </a:buClr>
              <a:buSzPts val="1300"/>
              <a:buFont typeface="Calibri"/>
              <a:buNone/>
            </a:pPr>
            <a:r>
              <a:rPr lang="en-IN" sz="1300" b="1" i="0" u="none" strike="noStrike" cap="none">
                <a:solidFill>
                  <a:srgbClr val="0D7A6E"/>
                </a:solidFill>
                <a:latin typeface="Calibri"/>
                <a:ea typeface="Calibri"/>
                <a:cs typeface="Calibri"/>
                <a:sym typeface="Calibri"/>
              </a:rPr>
              <a:t>Baseline (A)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2de33b0d5_0_143"/>
          <p:cNvSpPr/>
          <p:nvPr/>
        </p:nvSpPr>
        <p:spPr>
          <a:xfrm>
            <a:off x="4435220" y="2451260"/>
            <a:ext cx="1813800" cy="4404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3875" tIns="33875" rIns="33875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A6E"/>
              </a:buClr>
              <a:buSzPts val="1300"/>
              <a:buFont typeface="Calibri"/>
              <a:buNone/>
            </a:pPr>
            <a:r>
              <a:rPr lang="en-IN" sz="1300" b="1" i="0" u="none" strike="noStrike" cap="none">
                <a:solidFill>
                  <a:srgbClr val="0D7A6E"/>
                </a:solidFill>
                <a:latin typeface="Calibri"/>
                <a:ea typeface="Calibri"/>
                <a:cs typeface="Calibri"/>
                <a:sym typeface="Calibri"/>
              </a:rPr>
              <a:t>Endline (B)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f2de33b0d5_0_143"/>
          <p:cNvSpPr/>
          <p:nvPr/>
        </p:nvSpPr>
        <p:spPr>
          <a:xfrm>
            <a:off x="457095" y="3053422"/>
            <a:ext cx="1813800" cy="440400"/>
          </a:xfrm>
          <a:prstGeom prst="rect">
            <a:avLst/>
          </a:prstGeom>
          <a:solidFill>
            <a:srgbClr val="86BB3F"/>
          </a:solidFill>
          <a:ln>
            <a:noFill/>
          </a:ln>
        </p:spPr>
        <p:txBody>
          <a:bodyPr spcFirstLastPara="1" wrap="square" lIns="33875" tIns="33875" rIns="33875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I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Zone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I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(No Bus Access)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f2de33b0d5_0_143"/>
          <p:cNvSpPr/>
          <p:nvPr/>
        </p:nvSpPr>
        <p:spPr>
          <a:xfrm>
            <a:off x="2375445" y="3035071"/>
            <a:ext cx="1813800" cy="4404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3875" tIns="33875" rIns="33875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300"/>
              <a:buFont typeface="Calibri"/>
              <a:buNone/>
            </a:pPr>
            <a:r>
              <a:rPr lang="en-IN" sz="1300" b="1" i="0" u="none" strike="noStrike" cap="none">
                <a:solidFill>
                  <a:srgbClr val="0F2C59"/>
                </a:solidFill>
                <a:latin typeface="Calibri"/>
                <a:ea typeface="Calibri"/>
                <a:cs typeface="Calibri"/>
                <a:sym typeface="Calibri"/>
              </a:rPr>
              <a:t>Baseline (C)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2de33b0d5_0_143"/>
          <p:cNvSpPr/>
          <p:nvPr/>
        </p:nvSpPr>
        <p:spPr>
          <a:xfrm>
            <a:off x="4435220" y="3027222"/>
            <a:ext cx="1813800" cy="4404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3875" tIns="33875" rIns="33875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300"/>
              <a:buFont typeface="Calibri"/>
              <a:buNone/>
            </a:pPr>
            <a:r>
              <a:rPr lang="en-IN" sz="1300" b="1" i="0" u="none" strike="noStrike" cap="none">
                <a:solidFill>
                  <a:srgbClr val="0F2C59"/>
                </a:solidFill>
                <a:latin typeface="Calibri"/>
                <a:ea typeface="Calibri"/>
                <a:cs typeface="Calibri"/>
                <a:sym typeface="Calibri"/>
              </a:rPr>
              <a:t>Endline (D)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2de33b0d5_0_143"/>
          <p:cNvSpPr/>
          <p:nvPr/>
        </p:nvSpPr>
        <p:spPr>
          <a:xfrm>
            <a:off x="457095" y="3816379"/>
            <a:ext cx="5791925" cy="633900"/>
          </a:xfrm>
          <a:prstGeom prst="rect">
            <a:avLst/>
          </a:prstGeom>
          <a:solidFill>
            <a:srgbClr val="FFF0E8"/>
          </a:solidFill>
          <a:ln w="12700" cap="flat" cmpd="sng">
            <a:solidFill>
              <a:srgbClr val="FFF0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f2de33b0d5_0_143"/>
          <p:cNvSpPr/>
          <p:nvPr/>
        </p:nvSpPr>
        <p:spPr>
          <a:xfrm>
            <a:off x="241134" y="3827870"/>
            <a:ext cx="60762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75" tIns="33875" rIns="33875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600"/>
              <a:buFont typeface="Calibri"/>
              <a:buNone/>
            </a:pPr>
            <a:r>
              <a:rPr lang="en-IN" sz="1600" b="1" i="0" u="none" strike="noStrike" cap="none" dirty="0" err="1">
                <a:solidFill>
                  <a:srgbClr val="0F2C59"/>
                </a:solidFill>
                <a:latin typeface="Calibri"/>
                <a:ea typeface="Calibri"/>
                <a:cs typeface="Calibri"/>
                <a:sym typeface="Calibri"/>
              </a:rPr>
              <a:t>DiD</a:t>
            </a:r>
            <a:r>
              <a:rPr lang="en-IN" sz="1600" b="1" i="0" u="none" strike="noStrike" cap="none" dirty="0">
                <a:solidFill>
                  <a:srgbClr val="0F2C59"/>
                </a:solidFill>
                <a:latin typeface="Calibri"/>
                <a:ea typeface="Calibri"/>
                <a:cs typeface="Calibri"/>
                <a:sym typeface="Calibri"/>
              </a:rPr>
              <a:t> Estimator = (B − A) − (D − C)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2de33b0d5_0_143"/>
          <p:cNvSpPr/>
          <p:nvPr/>
        </p:nvSpPr>
        <p:spPr>
          <a:xfrm>
            <a:off x="462897" y="4634488"/>
            <a:ext cx="5638896" cy="152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IN" sz="16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Treatment: within 500m GIS walkshed of planned bus stop/route</a:t>
            </a:r>
            <a:endParaRPr sz="16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IN" sz="16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Control: beyond 500m, matched on baseline income, density &amp; infrastructure</a:t>
            </a:r>
            <a:endParaRPr sz="16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g3f2de33b0d5_0_143"/>
          <p:cNvCxnSpPr>
            <a:cxnSpLocks/>
          </p:cNvCxnSpPr>
          <p:nvPr/>
        </p:nvCxnSpPr>
        <p:spPr>
          <a:xfrm flipH="1">
            <a:off x="6476255" y="1455403"/>
            <a:ext cx="1" cy="470042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6" name="Google Shape;356;g3f2de33b0d5_0_143"/>
          <p:cNvSpPr txBox="1"/>
          <p:nvPr/>
        </p:nvSpPr>
        <p:spPr>
          <a:xfrm>
            <a:off x="6620177" y="4318836"/>
            <a:ext cx="5154878" cy="1661963"/>
          </a:xfrm>
          <a:prstGeom prst="rect">
            <a:avLst/>
          </a:prstGeom>
          <a:noFill/>
          <a:ln w="9525" cap="flat" cmpd="sng">
            <a:solidFill>
              <a:srgbClr val="E857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IN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parallel trends assumption</a:t>
            </a:r>
            <a:r>
              <a:rPr lang="en-IN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core identifying assumption in difference-in-differences (</a:t>
            </a:r>
            <a:r>
              <a:rPr lang="en-IN" sz="16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</a:t>
            </a:r>
            <a:r>
              <a:rPr lang="en-IN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estimation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IN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only one pre-deployment wave is collected, the parallel trends assumption cannot be tested statistically. Will be acknowledged as a limitation</a:t>
            </a:r>
            <a:endParaRPr sz="16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57" name="Google Shape;357;g3f2de33b0d5_0_143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r>
              <a:rPr lang="en-IN" sz="1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91B6E7-E694-47BE-8607-C5CB5D5F4271}"/>
              </a:ext>
            </a:extLst>
          </p:cNvPr>
          <p:cNvSpPr/>
          <p:nvPr/>
        </p:nvSpPr>
        <p:spPr>
          <a:xfrm>
            <a:off x="6892721" y="1825109"/>
            <a:ext cx="4398740" cy="1531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Thus, it becomes very important to align with the PM e-Bus </a:t>
            </a: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Sewa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deployment schedule and collaborate with the Ministry of Housing and Urban Affairs from the early stages of the project</a:t>
            </a:r>
          </a:p>
        </p:txBody>
      </p:sp>
      <p:sp>
        <p:nvSpPr>
          <p:cNvPr id="28" name="Google Shape;259;p34">
            <a:extLst>
              <a:ext uri="{FF2B5EF4-FFF2-40B4-BE49-F238E27FC236}">
                <a16:creationId xmlns:a16="http://schemas.microsoft.com/office/drawing/2014/main" id="{8964F617-4934-48AF-8404-740358D187E1}"/>
              </a:ext>
            </a:extLst>
          </p:cNvPr>
          <p:cNvSpPr/>
          <p:nvPr/>
        </p:nvSpPr>
        <p:spPr>
          <a:xfrm>
            <a:off x="11221841" y="1803406"/>
            <a:ext cx="197954" cy="1661964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60;p34">
            <a:extLst>
              <a:ext uri="{FF2B5EF4-FFF2-40B4-BE49-F238E27FC236}">
                <a16:creationId xmlns:a16="http://schemas.microsoft.com/office/drawing/2014/main" id="{6AD3810F-8227-4B9D-8EFA-A344193D35C2}"/>
              </a:ext>
            </a:extLst>
          </p:cNvPr>
          <p:cNvSpPr/>
          <p:nvPr/>
        </p:nvSpPr>
        <p:spPr>
          <a:xfrm flipH="1">
            <a:off x="6728975" y="1803405"/>
            <a:ext cx="233365" cy="1612957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05DAC4-9C1E-4B0B-9D99-C24F28376DC2}"/>
              </a:ext>
            </a:extLst>
          </p:cNvPr>
          <p:cNvSpPr/>
          <p:nvPr/>
        </p:nvSpPr>
        <p:spPr>
          <a:xfrm>
            <a:off x="2762250" y="846267"/>
            <a:ext cx="6096000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Yijt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= 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β₀ + β₁(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bus_access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+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el-GR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bus_access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×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+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el-GR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bus_access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×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×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+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el-GR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+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el-GR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IN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ijt</a:t>
            </a: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el-GR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</a:t>
            </a:r>
            <a:r>
              <a:rPr lang="en-IN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 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IN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ijt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5213d0914_1_14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indent="0"/>
            <a:r>
              <a:rPr lang="en-IN" dirty="0"/>
              <a:t>Source: CEEW compilation</a:t>
            </a:r>
          </a:p>
        </p:txBody>
      </p:sp>
      <p:sp>
        <p:nvSpPr>
          <p:cNvPr id="419" name="Google Shape;419;g3e5213d0914_1_14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e5213d0914_1_14"/>
          <p:cNvSpPr/>
          <p:nvPr/>
        </p:nvSpPr>
        <p:spPr>
          <a:xfrm>
            <a:off x="347713" y="1777387"/>
            <a:ext cx="5669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300"/>
              <a:buFont typeface="Calibri"/>
              <a:buNone/>
            </a:pPr>
            <a:r>
              <a:rPr lang="en-IN" sz="15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Geographic Coverage </a:t>
            </a:r>
            <a:endParaRPr sz="15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1" name="Google Shape;421;g3e5213d0914_1_14"/>
          <p:cNvGrpSpPr/>
          <p:nvPr/>
        </p:nvGrpSpPr>
        <p:grpSpPr>
          <a:xfrm>
            <a:off x="347712" y="2223866"/>
            <a:ext cx="5833872" cy="794081"/>
            <a:chOff x="439120" y="2315399"/>
            <a:chExt cx="5833872" cy="649236"/>
          </a:xfrm>
        </p:grpSpPr>
        <p:sp>
          <p:nvSpPr>
            <p:cNvPr id="422" name="Google Shape;422;g3e5213d0914_1_14"/>
            <p:cNvSpPr/>
            <p:nvPr/>
          </p:nvSpPr>
          <p:spPr>
            <a:xfrm>
              <a:off x="439120" y="2315399"/>
              <a:ext cx="5303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India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g3e5213d0914_1_14"/>
            <p:cNvSpPr/>
            <p:nvPr/>
          </p:nvSpPr>
          <p:spPr>
            <a:xfrm>
              <a:off x="439120" y="2534855"/>
              <a:ext cx="51207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7 studies — national, city-level &amp; multi-city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g3e5213d0914_1_14"/>
            <p:cNvSpPr/>
            <p:nvPr/>
          </p:nvSpPr>
          <p:spPr>
            <a:xfrm>
              <a:off x="439120" y="2745167"/>
              <a:ext cx="5303400" cy="201300"/>
            </a:xfrm>
            <a:prstGeom prst="rect">
              <a:avLst/>
            </a:prstGeom>
            <a:solidFill>
              <a:srgbClr val="F1F5F9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e5213d0914_1_14"/>
            <p:cNvSpPr/>
            <p:nvPr/>
          </p:nvSpPr>
          <p:spPr>
            <a:xfrm>
              <a:off x="439120" y="2745167"/>
              <a:ext cx="3075900" cy="201300"/>
            </a:xfrm>
            <a:prstGeom prst="rect">
              <a:avLst/>
            </a:prstGeom>
            <a:solidFill>
              <a:srgbClr val="4B9035"/>
            </a:solidFill>
            <a:ln w="12700" cap="flat" cmpd="sng">
              <a:solidFill>
                <a:srgbClr val="4B9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e5213d0914_1_14"/>
            <p:cNvSpPr/>
            <p:nvPr/>
          </p:nvSpPr>
          <p:spPr>
            <a:xfrm>
              <a:off x="5815792" y="2717735"/>
              <a:ext cx="457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A75"/>
                </a:buClr>
                <a:buSzPts val="1000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4B9035"/>
                  </a:solidFill>
                  <a:latin typeface="Calibri"/>
                  <a:ea typeface="Calibri"/>
                  <a:cs typeface="Calibri"/>
                  <a:sym typeface="Calibri"/>
                </a:rPr>
                <a:t>58%</a:t>
              </a:r>
              <a:endParaRPr sz="1400" b="0" i="0" u="none" strike="noStrike" cap="none">
                <a:solidFill>
                  <a:srgbClr val="4B90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7" name="Google Shape;427;g3e5213d0914_1_14"/>
          <p:cNvGrpSpPr/>
          <p:nvPr/>
        </p:nvGrpSpPr>
        <p:grpSpPr>
          <a:xfrm>
            <a:off x="347708" y="3095787"/>
            <a:ext cx="5833872" cy="726932"/>
            <a:chOff x="439120" y="3042375"/>
            <a:chExt cx="5833872" cy="726932"/>
          </a:xfrm>
        </p:grpSpPr>
        <p:sp>
          <p:nvSpPr>
            <p:cNvPr id="428" name="Google Shape;428;g3e5213d0914_1_14"/>
            <p:cNvSpPr/>
            <p:nvPr/>
          </p:nvSpPr>
          <p:spPr>
            <a:xfrm>
              <a:off x="439125" y="3042375"/>
              <a:ext cx="5303400" cy="2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Global / OECD Frameworks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g3e5213d0914_1_14"/>
            <p:cNvSpPr/>
            <p:nvPr/>
          </p:nvSpPr>
          <p:spPr>
            <a:xfrm>
              <a:off x="439125" y="3304197"/>
              <a:ext cx="5120700" cy="21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2 studies — ITF-OECD, UNFCCC-aligned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g3e5213d0914_1_14"/>
            <p:cNvSpPr/>
            <p:nvPr/>
          </p:nvSpPr>
          <p:spPr>
            <a:xfrm>
              <a:off x="439120" y="3549839"/>
              <a:ext cx="5303400" cy="201300"/>
            </a:xfrm>
            <a:prstGeom prst="rect">
              <a:avLst/>
            </a:prstGeom>
            <a:solidFill>
              <a:srgbClr val="F1F5F9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e5213d0914_1_14"/>
            <p:cNvSpPr/>
            <p:nvPr/>
          </p:nvSpPr>
          <p:spPr>
            <a:xfrm>
              <a:off x="439120" y="3549839"/>
              <a:ext cx="901500" cy="201300"/>
            </a:xfrm>
            <a:prstGeom prst="rect">
              <a:avLst/>
            </a:prstGeom>
            <a:solidFill>
              <a:srgbClr val="2563A8"/>
            </a:solidFill>
            <a:ln w="12700" cap="flat" cmpd="sng">
              <a:solidFill>
                <a:srgbClr val="2563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e5213d0914_1_14"/>
            <p:cNvSpPr/>
            <p:nvPr/>
          </p:nvSpPr>
          <p:spPr>
            <a:xfrm>
              <a:off x="5815792" y="3522407"/>
              <a:ext cx="457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63A8"/>
                </a:buClr>
                <a:buSzPts val="1000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2563A8"/>
                  </a:solidFill>
                  <a:latin typeface="Calibri"/>
                  <a:ea typeface="Calibri"/>
                  <a:cs typeface="Calibri"/>
                  <a:sym typeface="Calibri"/>
                </a:rPr>
                <a:t>17%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3" name="Google Shape;433;g3e5213d0914_1_14"/>
          <p:cNvSpPr/>
          <p:nvPr/>
        </p:nvSpPr>
        <p:spPr>
          <a:xfrm>
            <a:off x="347713" y="3822713"/>
            <a:ext cx="53034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IN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West Africa (Burkina Faso)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5213d0914_1_14"/>
          <p:cNvSpPr/>
          <p:nvPr/>
        </p:nvSpPr>
        <p:spPr>
          <a:xfrm>
            <a:off x="347713" y="4126931"/>
            <a:ext cx="512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IN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study — developing country analogy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e5213d0914_1_14"/>
          <p:cNvSpPr/>
          <p:nvPr/>
        </p:nvSpPr>
        <p:spPr>
          <a:xfrm>
            <a:off x="347708" y="4407923"/>
            <a:ext cx="5303400" cy="2013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e5213d0914_1_14"/>
          <p:cNvSpPr/>
          <p:nvPr/>
        </p:nvSpPr>
        <p:spPr>
          <a:xfrm>
            <a:off x="347708" y="4407923"/>
            <a:ext cx="424200" cy="201300"/>
          </a:xfrm>
          <a:prstGeom prst="rect">
            <a:avLst/>
          </a:prstGeom>
          <a:solidFill>
            <a:srgbClr val="E05A1B"/>
          </a:solidFill>
          <a:ln w="12700" cap="flat" cmpd="sng">
            <a:solidFill>
              <a:srgbClr val="E05A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e5213d0914_1_14"/>
          <p:cNvSpPr/>
          <p:nvPr/>
        </p:nvSpPr>
        <p:spPr>
          <a:xfrm>
            <a:off x="5724380" y="4380491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A1B"/>
              </a:buClr>
              <a:buSzPts val="1000"/>
              <a:buFont typeface="Calibri"/>
              <a:buNone/>
            </a:pPr>
            <a:r>
              <a:rPr lang="en-IN" sz="1400" b="1" i="0" u="none" strike="noStrike" cap="none">
                <a:solidFill>
                  <a:srgbClr val="E05A1B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8" name="Google Shape;438;g3e5213d0914_1_14"/>
          <p:cNvGrpSpPr/>
          <p:nvPr/>
        </p:nvGrpSpPr>
        <p:grpSpPr>
          <a:xfrm>
            <a:off x="347708" y="4675551"/>
            <a:ext cx="5833872" cy="756513"/>
            <a:chOff x="439120" y="4622138"/>
            <a:chExt cx="5833872" cy="756513"/>
          </a:xfrm>
        </p:grpSpPr>
        <p:sp>
          <p:nvSpPr>
            <p:cNvPr id="439" name="Google Shape;439;g3e5213d0914_1_14"/>
            <p:cNvSpPr/>
            <p:nvPr/>
          </p:nvSpPr>
          <p:spPr>
            <a:xfrm>
              <a:off x="439125" y="4622138"/>
              <a:ext cx="5303400" cy="2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Global Meta-Analysis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g3e5213d0914_1_14"/>
            <p:cNvSpPr/>
            <p:nvPr/>
          </p:nvSpPr>
          <p:spPr>
            <a:xfrm>
              <a:off x="439125" y="4900094"/>
              <a:ext cx="5120700" cy="23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2 studies — cross-country model comparison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g3e5213d0914_1_14"/>
            <p:cNvSpPr/>
            <p:nvPr/>
          </p:nvSpPr>
          <p:spPr>
            <a:xfrm>
              <a:off x="439120" y="5159183"/>
              <a:ext cx="5303400" cy="201300"/>
            </a:xfrm>
            <a:prstGeom prst="rect">
              <a:avLst/>
            </a:prstGeom>
            <a:solidFill>
              <a:srgbClr val="F1F5F9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3e5213d0914_1_14"/>
            <p:cNvSpPr/>
            <p:nvPr/>
          </p:nvSpPr>
          <p:spPr>
            <a:xfrm>
              <a:off x="439120" y="5159183"/>
              <a:ext cx="901500" cy="201300"/>
            </a:xfrm>
            <a:prstGeom prst="rect">
              <a:avLst/>
            </a:prstGeom>
            <a:solidFill>
              <a:schemeClr val="accent3"/>
            </a:solidFill>
            <a:ln w="12700" cap="flat" cmpd="sng">
              <a:solidFill>
                <a:srgbClr val="86BB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3e5213d0914_1_14"/>
            <p:cNvSpPr/>
            <p:nvPr/>
          </p:nvSpPr>
          <p:spPr>
            <a:xfrm>
              <a:off x="5815792" y="5131751"/>
              <a:ext cx="457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7D3D"/>
                </a:buClr>
                <a:buSzPts val="1000"/>
                <a:buFont typeface="Calibri"/>
                <a:buNone/>
              </a:pPr>
              <a:r>
                <a:rPr lang="en-IN" sz="14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17%</a:t>
              </a:r>
              <a:endParaRPr sz="14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4" name="Google Shape;454;g3e5213d0914_1_14"/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Deep dive in M3 : GHG emission and Mitigation co-benefit model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1600" b="0">
                <a:solidFill>
                  <a:srgbClr val="009CD8"/>
                </a:solidFill>
              </a:rPr>
              <a:t>Literature Review — Geographic Coverage &amp; Key Sources  (n = </a:t>
            </a:r>
            <a:r>
              <a:rPr lang="en-IN" sz="1600" b="0"/>
              <a:t>12</a:t>
            </a:r>
            <a:r>
              <a:rPr lang="en-IN" sz="1600" b="0">
                <a:solidFill>
                  <a:srgbClr val="009CD8"/>
                </a:solidFill>
              </a:rPr>
              <a:t>)</a:t>
            </a:r>
            <a:endParaRPr sz="1600">
              <a:solidFill>
                <a:srgbClr val="009CD8"/>
              </a:solidFill>
            </a:endParaRPr>
          </a:p>
        </p:txBody>
      </p:sp>
      <p:sp>
        <p:nvSpPr>
          <p:cNvPr id="455" name="Google Shape;455;g3e5213d0914_1_14"/>
          <p:cNvSpPr/>
          <p:nvPr/>
        </p:nvSpPr>
        <p:spPr>
          <a:xfrm>
            <a:off x="347700" y="956300"/>
            <a:ext cx="61542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50"/>
              <a:buFont typeface="Calibri"/>
              <a:buNone/>
            </a:pPr>
            <a:r>
              <a:rPr lang="en-IN"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On going Research </a:t>
            </a:r>
            <a:endParaRPr sz="16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50"/>
              <a:buFont typeface="Calibri"/>
              <a:buNone/>
            </a:pPr>
            <a:r>
              <a:rPr lang="en-IN"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Literature Review still focused on India and similar economic region </a:t>
            </a:r>
            <a:endParaRPr sz="16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E00605-4D14-43CE-A1B8-49DC45AAA5F8}"/>
              </a:ext>
            </a:extLst>
          </p:cNvPr>
          <p:cNvGrpSpPr/>
          <p:nvPr/>
        </p:nvGrpSpPr>
        <p:grpSpPr>
          <a:xfrm>
            <a:off x="6501900" y="753905"/>
            <a:ext cx="5479951" cy="1768243"/>
            <a:chOff x="6503043" y="1061702"/>
            <a:chExt cx="3749100" cy="2499600"/>
          </a:xfrm>
        </p:grpSpPr>
        <p:sp>
          <p:nvSpPr>
            <p:cNvPr id="40" name="Google Shape;464;g3e5213d0914_1_21">
              <a:extLst>
                <a:ext uri="{FF2B5EF4-FFF2-40B4-BE49-F238E27FC236}">
                  <a16:creationId xmlns:a16="http://schemas.microsoft.com/office/drawing/2014/main" id="{9AE5D5E7-34EB-438F-AC1A-CAC47DAA9574}"/>
                </a:ext>
              </a:extLst>
            </p:cNvPr>
            <p:cNvSpPr/>
            <p:nvPr/>
          </p:nvSpPr>
          <p:spPr>
            <a:xfrm>
              <a:off x="6503043" y="1061702"/>
              <a:ext cx="3749100" cy="24996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4B903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127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65;g3e5213d0914_1_21">
              <a:extLst>
                <a:ext uri="{FF2B5EF4-FFF2-40B4-BE49-F238E27FC236}">
                  <a16:creationId xmlns:a16="http://schemas.microsoft.com/office/drawing/2014/main" id="{ABA2B562-049F-42A8-BAD9-75033635DE05}"/>
                </a:ext>
              </a:extLst>
            </p:cNvPr>
            <p:cNvSpPr/>
            <p:nvPr/>
          </p:nvSpPr>
          <p:spPr>
            <a:xfrm>
              <a:off x="6503043" y="1061702"/>
              <a:ext cx="3749100" cy="290700"/>
            </a:xfrm>
            <a:prstGeom prst="rect">
              <a:avLst/>
            </a:prstGeom>
            <a:solidFill>
              <a:srgbClr val="4B9035"/>
            </a:solidFill>
            <a:ln w="12700" cap="flat" cmpd="sng">
              <a:solidFill>
                <a:srgbClr val="4B9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66;g3e5213d0914_1_21">
              <a:extLst>
                <a:ext uri="{FF2B5EF4-FFF2-40B4-BE49-F238E27FC236}">
                  <a16:creationId xmlns:a16="http://schemas.microsoft.com/office/drawing/2014/main" id="{2015C194-B929-4055-82DF-DEA61F1726EF}"/>
                </a:ext>
              </a:extLst>
            </p:cNvPr>
            <p:cNvSpPr/>
            <p:nvPr/>
          </p:nvSpPr>
          <p:spPr>
            <a:xfrm>
              <a:off x="6594483" y="1084953"/>
              <a:ext cx="36120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ASIF Framework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67;g3e5213d0914_1_21">
              <a:extLst>
                <a:ext uri="{FF2B5EF4-FFF2-40B4-BE49-F238E27FC236}">
                  <a16:creationId xmlns:a16="http://schemas.microsoft.com/office/drawing/2014/main" id="{5237CB3D-4F35-452A-B325-AEF0EB20B0CF}"/>
                </a:ext>
              </a:extLst>
            </p:cNvPr>
            <p:cNvSpPr/>
            <p:nvPr/>
          </p:nvSpPr>
          <p:spPr>
            <a:xfrm>
              <a:off x="6594483" y="1387222"/>
              <a:ext cx="36120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00"/>
                <a:buFont typeface="Calibri"/>
                <a:buNone/>
              </a:pPr>
              <a:r>
                <a:rPr lang="en-IN" sz="1400" b="0" i="1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Activity × Structure × Intensity × Fuel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68;g3e5213d0914_1_21">
              <a:extLst>
                <a:ext uri="{FF2B5EF4-FFF2-40B4-BE49-F238E27FC236}">
                  <a16:creationId xmlns:a16="http://schemas.microsoft.com/office/drawing/2014/main" id="{1CFDA8A5-F7EB-4AA6-BBDD-AB0D4B76917F}"/>
                </a:ext>
              </a:extLst>
            </p:cNvPr>
            <p:cNvSpPr/>
            <p:nvPr/>
          </p:nvSpPr>
          <p:spPr>
            <a:xfrm>
              <a:off x="6594483" y="1677864"/>
              <a:ext cx="54900" cy="69900"/>
            </a:xfrm>
            <a:prstGeom prst="ellipse">
              <a:avLst/>
            </a:prstGeom>
            <a:solidFill>
              <a:srgbClr val="4B9035"/>
            </a:solidFill>
            <a:ln w="12700" cap="flat" cmpd="sng">
              <a:solidFill>
                <a:srgbClr val="4B9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69;g3e5213d0914_1_21">
              <a:extLst>
                <a:ext uri="{FF2B5EF4-FFF2-40B4-BE49-F238E27FC236}">
                  <a16:creationId xmlns:a16="http://schemas.microsoft.com/office/drawing/2014/main" id="{B638EBE8-5C30-42EF-9738-23CC2F3D4A7D}"/>
                </a:ext>
              </a:extLst>
            </p:cNvPr>
            <p:cNvSpPr/>
            <p:nvPr/>
          </p:nvSpPr>
          <p:spPr>
            <a:xfrm>
              <a:off x="6704211" y="1642949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Passenger-km by mode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70;g3e5213d0914_1_21">
              <a:extLst>
                <a:ext uri="{FF2B5EF4-FFF2-40B4-BE49-F238E27FC236}">
                  <a16:creationId xmlns:a16="http://schemas.microsoft.com/office/drawing/2014/main" id="{862E5F16-E785-4DBF-8046-196550B8BBFC}"/>
                </a:ext>
              </a:extLst>
            </p:cNvPr>
            <p:cNvSpPr/>
            <p:nvPr/>
          </p:nvSpPr>
          <p:spPr>
            <a:xfrm>
              <a:off x="6594483" y="1956881"/>
              <a:ext cx="54900" cy="69900"/>
            </a:xfrm>
            <a:prstGeom prst="ellipse">
              <a:avLst/>
            </a:prstGeom>
            <a:solidFill>
              <a:srgbClr val="4B9035"/>
            </a:solidFill>
            <a:ln w="12700" cap="flat" cmpd="sng">
              <a:solidFill>
                <a:srgbClr val="4B9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1;g3e5213d0914_1_21">
              <a:extLst>
                <a:ext uri="{FF2B5EF4-FFF2-40B4-BE49-F238E27FC236}">
                  <a16:creationId xmlns:a16="http://schemas.microsoft.com/office/drawing/2014/main" id="{8B6E6CE4-F246-48B6-B6F3-2D5B945DA606}"/>
                </a:ext>
              </a:extLst>
            </p:cNvPr>
            <p:cNvSpPr/>
            <p:nvPr/>
          </p:nvSpPr>
          <p:spPr>
            <a:xfrm>
              <a:off x="6704211" y="1921966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Modal share (%)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72;g3e5213d0914_1_21">
              <a:extLst>
                <a:ext uri="{FF2B5EF4-FFF2-40B4-BE49-F238E27FC236}">
                  <a16:creationId xmlns:a16="http://schemas.microsoft.com/office/drawing/2014/main" id="{03B352A3-E1C3-4B81-8CF9-42DCBFF5D413}"/>
                </a:ext>
              </a:extLst>
            </p:cNvPr>
            <p:cNvSpPr/>
            <p:nvPr/>
          </p:nvSpPr>
          <p:spPr>
            <a:xfrm>
              <a:off x="6594483" y="2235898"/>
              <a:ext cx="54900" cy="69900"/>
            </a:xfrm>
            <a:prstGeom prst="ellipse">
              <a:avLst/>
            </a:prstGeom>
            <a:solidFill>
              <a:srgbClr val="4B9035"/>
            </a:solidFill>
            <a:ln w="12700" cap="flat" cmpd="sng">
              <a:solidFill>
                <a:srgbClr val="4B9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73;g3e5213d0914_1_21">
              <a:extLst>
                <a:ext uri="{FF2B5EF4-FFF2-40B4-BE49-F238E27FC236}">
                  <a16:creationId xmlns:a16="http://schemas.microsoft.com/office/drawing/2014/main" id="{972FF1F5-F842-4EA1-AFCB-117802F5BC22}"/>
                </a:ext>
              </a:extLst>
            </p:cNvPr>
            <p:cNvSpPr/>
            <p:nvPr/>
          </p:nvSpPr>
          <p:spPr>
            <a:xfrm>
              <a:off x="6704211" y="2189396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Energy per pax-km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474;g3e5213d0914_1_21">
              <a:extLst>
                <a:ext uri="{FF2B5EF4-FFF2-40B4-BE49-F238E27FC236}">
                  <a16:creationId xmlns:a16="http://schemas.microsoft.com/office/drawing/2014/main" id="{DD6BA6EE-139E-4D2E-80A4-5994460F5CB1}"/>
                </a:ext>
              </a:extLst>
            </p:cNvPr>
            <p:cNvSpPr/>
            <p:nvPr/>
          </p:nvSpPr>
          <p:spPr>
            <a:xfrm>
              <a:off x="6594483" y="2514915"/>
              <a:ext cx="54900" cy="69900"/>
            </a:xfrm>
            <a:prstGeom prst="ellipse">
              <a:avLst/>
            </a:prstGeom>
            <a:solidFill>
              <a:srgbClr val="4B9035"/>
            </a:solidFill>
            <a:ln w="12700" cap="flat" cmpd="sng">
              <a:solidFill>
                <a:srgbClr val="4B9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475;g3e5213d0914_1_21">
              <a:extLst>
                <a:ext uri="{FF2B5EF4-FFF2-40B4-BE49-F238E27FC236}">
                  <a16:creationId xmlns:a16="http://schemas.microsoft.com/office/drawing/2014/main" id="{07AF274E-B611-4F18-AC01-098E12F85D3A}"/>
                </a:ext>
              </a:extLst>
            </p:cNvPr>
            <p:cNvSpPr/>
            <p:nvPr/>
          </p:nvSpPr>
          <p:spPr>
            <a:xfrm>
              <a:off x="6704211" y="2468413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Emission factor (kgCO₂/MJ)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476;g3e5213d0914_1_21">
              <a:extLst>
                <a:ext uri="{FF2B5EF4-FFF2-40B4-BE49-F238E27FC236}">
                  <a16:creationId xmlns:a16="http://schemas.microsoft.com/office/drawing/2014/main" id="{9D013598-1962-4DCC-B615-A96D52EB0B03}"/>
                </a:ext>
              </a:extLst>
            </p:cNvPr>
            <p:cNvSpPr/>
            <p:nvPr/>
          </p:nvSpPr>
          <p:spPr>
            <a:xfrm>
              <a:off x="6594483" y="2863687"/>
              <a:ext cx="3566100" cy="627600"/>
            </a:xfrm>
            <a:prstGeom prst="rect">
              <a:avLst/>
            </a:prstGeom>
            <a:solidFill>
              <a:srgbClr val="F1F5F9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477;g3e5213d0914_1_21">
              <a:extLst>
                <a:ext uri="{FF2B5EF4-FFF2-40B4-BE49-F238E27FC236}">
                  <a16:creationId xmlns:a16="http://schemas.microsoft.com/office/drawing/2014/main" id="{A0696113-CEBD-4305-9B61-5FD4A5EB9ACF}"/>
                </a:ext>
              </a:extLst>
            </p:cNvPr>
            <p:cNvSpPr/>
            <p:nvPr/>
          </p:nvSpPr>
          <p:spPr>
            <a:xfrm>
              <a:off x="6640203" y="2886938"/>
              <a:ext cx="34929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557"/>
                </a:buClr>
                <a:buSzPts val="75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A3557"/>
                  </a:solidFill>
                  <a:latin typeface="Calibri"/>
                  <a:ea typeface="Calibri"/>
                  <a:cs typeface="Calibri"/>
                  <a:sym typeface="Calibri"/>
                </a:rPr>
                <a:t>BBUS: Core architecture for BBUS GHG model — used by TERI, IEA, ITF &amp; ICCT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D122E78-5965-40CA-950B-E165CE83CCB6}"/>
              </a:ext>
            </a:extLst>
          </p:cNvPr>
          <p:cNvGrpSpPr/>
          <p:nvPr/>
        </p:nvGrpSpPr>
        <p:grpSpPr>
          <a:xfrm>
            <a:off x="6501900" y="2665602"/>
            <a:ext cx="5479950" cy="1820853"/>
            <a:chOff x="6501900" y="3380309"/>
            <a:chExt cx="3749100" cy="2499600"/>
          </a:xfrm>
        </p:grpSpPr>
        <p:sp>
          <p:nvSpPr>
            <p:cNvPr id="68" name="Google Shape;492;g3e5213d0914_1_21">
              <a:extLst>
                <a:ext uri="{FF2B5EF4-FFF2-40B4-BE49-F238E27FC236}">
                  <a16:creationId xmlns:a16="http://schemas.microsoft.com/office/drawing/2014/main" id="{6C373178-E1DD-407B-A45F-657C0F4B58E0}"/>
                </a:ext>
              </a:extLst>
            </p:cNvPr>
            <p:cNvSpPr/>
            <p:nvPr/>
          </p:nvSpPr>
          <p:spPr>
            <a:xfrm>
              <a:off x="6501900" y="3380309"/>
              <a:ext cx="3749100" cy="24996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E05A1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127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493;g3e5213d0914_1_21">
              <a:extLst>
                <a:ext uri="{FF2B5EF4-FFF2-40B4-BE49-F238E27FC236}">
                  <a16:creationId xmlns:a16="http://schemas.microsoft.com/office/drawing/2014/main" id="{B3FC2327-3BFB-4EF2-A01B-29D5AAF73D39}"/>
                </a:ext>
              </a:extLst>
            </p:cNvPr>
            <p:cNvSpPr/>
            <p:nvPr/>
          </p:nvSpPr>
          <p:spPr>
            <a:xfrm>
              <a:off x="6501900" y="3380309"/>
              <a:ext cx="3749100" cy="290700"/>
            </a:xfrm>
            <a:prstGeom prst="rect">
              <a:avLst/>
            </a:prstGeom>
            <a:solidFill>
              <a:srgbClr val="E05A1B"/>
            </a:solidFill>
            <a:ln w="12700" cap="flat" cmpd="sng">
              <a:solidFill>
                <a:srgbClr val="E05A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494;g3e5213d0914_1_21">
              <a:extLst>
                <a:ext uri="{FF2B5EF4-FFF2-40B4-BE49-F238E27FC236}">
                  <a16:creationId xmlns:a16="http://schemas.microsoft.com/office/drawing/2014/main" id="{16157A40-402C-4704-9762-4EE3DC7D36C6}"/>
                </a:ext>
              </a:extLst>
            </p:cNvPr>
            <p:cNvSpPr/>
            <p:nvPr/>
          </p:nvSpPr>
          <p:spPr>
            <a:xfrm>
              <a:off x="6593340" y="3403560"/>
              <a:ext cx="36120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Modal Shift Savings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495;g3e5213d0914_1_21">
              <a:extLst>
                <a:ext uri="{FF2B5EF4-FFF2-40B4-BE49-F238E27FC236}">
                  <a16:creationId xmlns:a16="http://schemas.microsoft.com/office/drawing/2014/main" id="{B0ADE5CD-EEB2-45C9-BAFC-0510F959C2F6}"/>
                </a:ext>
              </a:extLst>
            </p:cNvPr>
            <p:cNvSpPr/>
            <p:nvPr/>
          </p:nvSpPr>
          <p:spPr>
            <a:xfrm>
              <a:off x="6593340" y="3705829"/>
              <a:ext cx="36120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00"/>
                <a:buFont typeface="Calibri"/>
                <a:buNone/>
              </a:pPr>
              <a:r>
                <a:rPr lang="en-IN" sz="1400" b="0" i="1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Displacement / Substitution Approach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496;g3e5213d0914_1_21">
              <a:extLst>
                <a:ext uri="{FF2B5EF4-FFF2-40B4-BE49-F238E27FC236}">
                  <a16:creationId xmlns:a16="http://schemas.microsoft.com/office/drawing/2014/main" id="{E1FFDF52-6B06-40E5-B718-5E1C701E0A71}"/>
                </a:ext>
              </a:extLst>
            </p:cNvPr>
            <p:cNvSpPr/>
            <p:nvPr/>
          </p:nvSpPr>
          <p:spPr>
            <a:xfrm>
              <a:off x="6593340" y="3996471"/>
              <a:ext cx="54900" cy="69900"/>
            </a:xfrm>
            <a:prstGeom prst="ellipse">
              <a:avLst/>
            </a:prstGeom>
            <a:solidFill>
              <a:srgbClr val="E05A1B"/>
            </a:solidFill>
            <a:ln w="12700" cap="flat" cmpd="sng">
              <a:solidFill>
                <a:srgbClr val="E05A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97;g3e5213d0914_1_21">
              <a:extLst>
                <a:ext uri="{FF2B5EF4-FFF2-40B4-BE49-F238E27FC236}">
                  <a16:creationId xmlns:a16="http://schemas.microsoft.com/office/drawing/2014/main" id="{FFE041E5-1433-4653-84C1-1D2303FA2284}"/>
                </a:ext>
              </a:extLst>
            </p:cNvPr>
            <p:cNvSpPr/>
            <p:nvPr/>
          </p:nvSpPr>
          <p:spPr>
            <a:xfrm>
              <a:off x="6703068" y="3949969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India EF: 2W = 0.051 kgCO₂/km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498;g3e5213d0914_1_21">
              <a:extLst>
                <a:ext uri="{FF2B5EF4-FFF2-40B4-BE49-F238E27FC236}">
                  <a16:creationId xmlns:a16="http://schemas.microsoft.com/office/drawing/2014/main" id="{47CF4FB8-4696-4EE8-B4AB-0A23BDC7DC66}"/>
                </a:ext>
              </a:extLst>
            </p:cNvPr>
            <p:cNvSpPr/>
            <p:nvPr/>
          </p:nvSpPr>
          <p:spPr>
            <a:xfrm>
              <a:off x="6593340" y="4275488"/>
              <a:ext cx="54900" cy="69900"/>
            </a:xfrm>
            <a:prstGeom prst="ellipse">
              <a:avLst/>
            </a:prstGeom>
            <a:solidFill>
              <a:srgbClr val="E05A1B"/>
            </a:solidFill>
            <a:ln w="12700" cap="flat" cmpd="sng">
              <a:solidFill>
                <a:srgbClr val="E05A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499;g3e5213d0914_1_21">
              <a:extLst>
                <a:ext uri="{FF2B5EF4-FFF2-40B4-BE49-F238E27FC236}">
                  <a16:creationId xmlns:a16="http://schemas.microsoft.com/office/drawing/2014/main" id="{89416630-DA39-4F51-8CB9-615C40817429}"/>
                </a:ext>
              </a:extLst>
            </p:cNvPr>
            <p:cNvSpPr/>
            <p:nvPr/>
          </p:nvSpPr>
          <p:spPr>
            <a:xfrm>
              <a:off x="6703068" y="4228986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Bus = 0.015 kgCO₂/pax-km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500;g3e5213d0914_1_21">
              <a:extLst>
                <a:ext uri="{FF2B5EF4-FFF2-40B4-BE49-F238E27FC236}">
                  <a16:creationId xmlns:a16="http://schemas.microsoft.com/office/drawing/2014/main" id="{71C71319-8419-4CF7-8EA0-54D2FCAAD4F5}"/>
                </a:ext>
              </a:extLst>
            </p:cNvPr>
            <p:cNvSpPr/>
            <p:nvPr/>
          </p:nvSpPr>
          <p:spPr>
            <a:xfrm>
              <a:off x="6593340" y="4554505"/>
              <a:ext cx="54900" cy="69900"/>
            </a:xfrm>
            <a:prstGeom prst="ellipse">
              <a:avLst/>
            </a:prstGeom>
            <a:solidFill>
              <a:srgbClr val="E05A1B"/>
            </a:solidFill>
            <a:ln w="12700" cap="flat" cmpd="sng">
              <a:solidFill>
                <a:srgbClr val="E05A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501;g3e5213d0914_1_21">
              <a:extLst>
                <a:ext uri="{FF2B5EF4-FFF2-40B4-BE49-F238E27FC236}">
                  <a16:creationId xmlns:a16="http://schemas.microsoft.com/office/drawing/2014/main" id="{F839D40B-29F0-477C-BD15-F38B2C2EA267}"/>
                </a:ext>
              </a:extLst>
            </p:cNvPr>
            <p:cNvSpPr/>
            <p:nvPr/>
          </p:nvSpPr>
          <p:spPr>
            <a:xfrm>
              <a:off x="6703068" y="4508003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Saving: 0.036 kgCO₂/pax-km (2W→Bus)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502;g3e5213d0914_1_21">
              <a:extLst>
                <a:ext uri="{FF2B5EF4-FFF2-40B4-BE49-F238E27FC236}">
                  <a16:creationId xmlns:a16="http://schemas.microsoft.com/office/drawing/2014/main" id="{1E55E8F6-5471-47B3-82ED-30DDA49784BD}"/>
                </a:ext>
              </a:extLst>
            </p:cNvPr>
            <p:cNvSpPr/>
            <p:nvPr/>
          </p:nvSpPr>
          <p:spPr>
            <a:xfrm>
              <a:off x="6593340" y="4833522"/>
              <a:ext cx="54900" cy="69900"/>
            </a:xfrm>
            <a:prstGeom prst="ellipse">
              <a:avLst/>
            </a:prstGeom>
            <a:solidFill>
              <a:srgbClr val="E05A1B"/>
            </a:solidFill>
            <a:ln w="12700" cap="flat" cmpd="sng">
              <a:solidFill>
                <a:srgbClr val="E05A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503;g3e5213d0914_1_21">
              <a:extLst>
                <a:ext uri="{FF2B5EF4-FFF2-40B4-BE49-F238E27FC236}">
                  <a16:creationId xmlns:a16="http://schemas.microsoft.com/office/drawing/2014/main" id="{EDFE1A8C-DBC9-45E1-A94B-76B22772DA7C}"/>
                </a:ext>
              </a:extLst>
            </p:cNvPr>
            <p:cNvSpPr/>
            <p:nvPr/>
          </p:nvSpPr>
          <p:spPr>
            <a:xfrm>
              <a:off x="6703068" y="4787020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Travel diary data for actual shift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504;g3e5213d0914_1_21">
              <a:extLst>
                <a:ext uri="{FF2B5EF4-FFF2-40B4-BE49-F238E27FC236}">
                  <a16:creationId xmlns:a16="http://schemas.microsoft.com/office/drawing/2014/main" id="{8DB5E155-6A0C-4412-8194-4EB5FC8366B4}"/>
                </a:ext>
              </a:extLst>
            </p:cNvPr>
            <p:cNvSpPr/>
            <p:nvPr/>
          </p:nvSpPr>
          <p:spPr>
            <a:xfrm>
              <a:off x="6593340" y="5182294"/>
              <a:ext cx="3566100" cy="627600"/>
            </a:xfrm>
            <a:prstGeom prst="rect">
              <a:avLst/>
            </a:prstGeom>
            <a:solidFill>
              <a:srgbClr val="F1F5F9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505;g3e5213d0914_1_21">
              <a:extLst>
                <a:ext uri="{FF2B5EF4-FFF2-40B4-BE49-F238E27FC236}">
                  <a16:creationId xmlns:a16="http://schemas.microsoft.com/office/drawing/2014/main" id="{005CC9FB-B036-418A-A566-8E8DB104C1D0}"/>
                </a:ext>
              </a:extLst>
            </p:cNvPr>
            <p:cNvSpPr/>
            <p:nvPr/>
          </p:nvSpPr>
          <p:spPr>
            <a:xfrm>
              <a:off x="6639060" y="5205545"/>
              <a:ext cx="34929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557"/>
                </a:buClr>
                <a:buSzPts val="75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A3557"/>
                  </a:solidFill>
                  <a:latin typeface="Calibri"/>
                  <a:ea typeface="Calibri"/>
                  <a:cs typeface="Calibri"/>
                  <a:sym typeface="Calibri"/>
                </a:rPr>
                <a:t>BBUS: Core BBUS impact calc — requires before/after survey of new bus users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019C69A-284E-4F16-A87F-EF63A17092C8}"/>
              </a:ext>
            </a:extLst>
          </p:cNvPr>
          <p:cNvGrpSpPr/>
          <p:nvPr/>
        </p:nvGrpSpPr>
        <p:grpSpPr>
          <a:xfrm>
            <a:off x="6501901" y="4587983"/>
            <a:ext cx="5500620" cy="1819466"/>
            <a:chOff x="6522572" y="4587983"/>
            <a:chExt cx="3749100" cy="2499600"/>
          </a:xfrm>
        </p:grpSpPr>
        <p:sp>
          <p:nvSpPr>
            <p:cNvPr id="83" name="Google Shape;478;g3e5213d0914_1_21">
              <a:extLst>
                <a:ext uri="{FF2B5EF4-FFF2-40B4-BE49-F238E27FC236}">
                  <a16:creationId xmlns:a16="http://schemas.microsoft.com/office/drawing/2014/main" id="{AD9015B4-4C7A-4B74-A5AE-5F3420EB9A50}"/>
                </a:ext>
              </a:extLst>
            </p:cNvPr>
            <p:cNvSpPr/>
            <p:nvPr/>
          </p:nvSpPr>
          <p:spPr>
            <a:xfrm>
              <a:off x="6522572" y="4587983"/>
              <a:ext cx="3749100" cy="24996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2563A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127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479;g3e5213d0914_1_21">
              <a:extLst>
                <a:ext uri="{FF2B5EF4-FFF2-40B4-BE49-F238E27FC236}">
                  <a16:creationId xmlns:a16="http://schemas.microsoft.com/office/drawing/2014/main" id="{B049DE77-0C2F-45F9-8E00-3DDEA53BAB3E}"/>
                </a:ext>
              </a:extLst>
            </p:cNvPr>
            <p:cNvSpPr/>
            <p:nvPr/>
          </p:nvSpPr>
          <p:spPr>
            <a:xfrm>
              <a:off x="6522572" y="4587983"/>
              <a:ext cx="3749100" cy="290700"/>
            </a:xfrm>
            <a:prstGeom prst="rect">
              <a:avLst/>
            </a:prstGeom>
            <a:solidFill>
              <a:srgbClr val="2563A8"/>
            </a:solidFill>
            <a:ln w="12700" cap="flat" cmpd="sng">
              <a:solidFill>
                <a:srgbClr val="2563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480;g3e5213d0914_1_21">
              <a:extLst>
                <a:ext uri="{FF2B5EF4-FFF2-40B4-BE49-F238E27FC236}">
                  <a16:creationId xmlns:a16="http://schemas.microsoft.com/office/drawing/2014/main" id="{B4B8CBF8-ED81-4376-81A6-92BF0C54DF50}"/>
                </a:ext>
              </a:extLst>
            </p:cNvPr>
            <p:cNvSpPr/>
            <p:nvPr/>
          </p:nvSpPr>
          <p:spPr>
            <a:xfrm>
              <a:off x="6614012" y="4611234"/>
              <a:ext cx="36120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lang="en-IN" sz="1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ITF WTW / TTW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481;g3e5213d0914_1_21">
              <a:extLst>
                <a:ext uri="{FF2B5EF4-FFF2-40B4-BE49-F238E27FC236}">
                  <a16:creationId xmlns:a16="http://schemas.microsoft.com/office/drawing/2014/main" id="{90D43219-DA3A-464D-8805-878DB92C4384}"/>
                </a:ext>
              </a:extLst>
            </p:cNvPr>
            <p:cNvSpPr/>
            <p:nvPr/>
          </p:nvSpPr>
          <p:spPr>
            <a:xfrm>
              <a:off x="6614012" y="4913503"/>
              <a:ext cx="36120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00"/>
                <a:buFont typeface="Calibri"/>
                <a:buNone/>
              </a:pPr>
              <a:r>
                <a:rPr lang="en-IN" sz="1400" b="0" i="1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Well-to-Wheel &amp; Tank-to-Wheel LCA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482;g3e5213d0914_1_21">
              <a:extLst>
                <a:ext uri="{FF2B5EF4-FFF2-40B4-BE49-F238E27FC236}">
                  <a16:creationId xmlns:a16="http://schemas.microsoft.com/office/drawing/2014/main" id="{B3D1D9D6-A97A-428E-9111-87401F2714F2}"/>
                </a:ext>
              </a:extLst>
            </p:cNvPr>
            <p:cNvSpPr/>
            <p:nvPr/>
          </p:nvSpPr>
          <p:spPr>
            <a:xfrm>
              <a:off x="6614012" y="5204145"/>
              <a:ext cx="54900" cy="69900"/>
            </a:xfrm>
            <a:prstGeom prst="ellipse">
              <a:avLst/>
            </a:prstGeom>
            <a:solidFill>
              <a:srgbClr val="2563A8"/>
            </a:solidFill>
            <a:ln w="12700" cap="flat" cmpd="sng">
              <a:solidFill>
                <a:srgbClr val="2563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483;g3e5213d0914_1_21">
              <a:extLst>
                <a:ext uri="{FF2B5EF4-FFF2-40B4-BE49-F238E27FC236}">
                  <a16:creationId xmlns:a16="http://schemas.microsoft.com/office/drawing/2014/main" id="{87CD8D2E-12E4-4A5A-8F9B-D540323256E2}"/>
                </a:ext>
              </a:extLst>
            </p:cNvPr>
            <p:cNvSpPr/>
            <p:nvPr/>
          </p:nvSpPr>
          <p:spPr>
            <a:xfrm>
              <a:off x="6723740" y="5157643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Scope 1/2/3 boundaries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484;g3e5213d0914_1_21">
              <a:extLst>
                <a:ext uri="{FF2B5EF4-FFF2-40B4-BE49-F238E27FC236}">
                  <a16:creationId xmlns:a16="http://schemas.microsoft.com/office/drawing/2014/main" id="{EA5D0563-C4AD-4970-9D57-38DADBDF71DF}"/>
                </a:ext>
              </a:extLst>
            </p:cNvPr>
            <p:cNvSpPr/>
            <p:nvPr/>
          </p:nvSpPr>
          <p:spPr>
            <a:xfrm>
              <a:off x="6614012" y="5483162"/>
              <a:ext cx="54900" cy="69900"/>
            </a:xfrm>
            <a:prstGeom prst="ellipse">
              <a:avLst/>
            </a:prstGeom>
            <a:solidFill>
              <a:srgbClr val="2563A8"/>
            </a:solidFill>
            <a:ln w="12700" cap="flat" cmpd="sng">
              <a:solidFill>
                <a:srgbClr val="2563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485;g3e5213d0914_1_21">
              <a:extLst>
                <a:ext uri="{FF2B5EF4-FFF2-40B4-BE49-F238E27FC236}">
                  <a16:creationId xmlns:a16="http://schemas.microsoft.com/office/drawing/2014/main" id="{F0FD4FCF-9D1E-4CEE-8BE3-259CCF7B22A9}"/>
                </a:ext>
              </a:extLst>
            </p:cNvPr>
            <p:cNvSpPr/>
            <p:nvPr/>
          </p:nvSpPr>
          <p:spPr>
            <a:xfrm>
              <a:off x="6723740" y="5436660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Load-factor adjusted EF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486;g3e5213d0914_1_21">
              <a:extLst>
                <a:ext uri="{FF2B5EF4-FFF2-40B4-BE49-F238E27FC236}">
                  <a16:creationId xmlns:a16="http://schemas.microsoft.com/office/drawing/2014/main" id="{A95DF0D0-98AF-41DD-BDF2-36FA93D0CF61}"/>
                </a:ext>
              </a:extLst>
            </p:cNvPr>
            <p:cNvSpPr/>
            <p:nvPr/>
          </p:nvSpPr>
          <p:spPr>
            <a:xfrm>
              <a:off x="6614012" y="5762179"/>
              <a:ext cx="54900" cy="69900"/>
            </a:xfrm>
            <a:prstGeom prst="ellipse">
              <a:avLst/>
            </a:prstGeom>
            <a:solidFill>
              <a:srgbClr val="2563A8"/>
            </a:solidFill>
            <a:ln w="12700" cap="flat" cmpd="sng">
              <a:solidFill>
                <a:srgbClr val="2563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487;g3e5213d0914_1_21">
              <a:extLst>
                <a:ext uri="{FF2B5EF4-FFF2-40B4-BE49-F238E27FC236}">
                  <a16:creationId xmlns:a16="http://schemas.microsoft.com/office/drawing/2014/main" id="{65F8BCBC-AD84-4D7E-9BF0-861C617CB5BC}"/>
                </a:ext>
              </a:extLst>
            </p:cNvPr>
            <p:cNvSpPr/>
            <p:nvPr/>
          </p:nvSpPr>
          <p:spPr>
            <a:xfrm>
              <a:off x="6723740" y="5715677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Grid carbon intensity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488;g3e5213d0914_1_21">
              <a:extLst>
                <a:ext uri="{FF2B5EF4-FFF2-40B4-BE49-F238E27FC236}">
                  <a16:creationId xmlns:a16="http://schemas.microsoft.com/office/drawing/2014/main" id="{9FAE9BD6-D7A0-43D0-B039-7BD0BF309050}"/>
                </a:ext>
              </a:extLst>
            </p:cNvPr>
            <p:cNvSpPr/>
            <p:nvPr/>
          </p:nvSpPr>
          <p:spPr>
            <a:xfrm>
              <a:off x="6614012" y="6041196"/>
              <a:ext cx="54900" cy="69900"/>
            </a:xfrm>
            <a:prstGeom prst="ellipse">
              <a:avLst/>
            </a:prstGeom>
            <a:solidFill>
              <a:srgbClr val="2563A8"/>
            </a:solidFill>
            <a:ln w="12700" cap="flat" cmpd="sng">
              <a:solidFill>
                <a:srgbClr val="2563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489;g3e5213d0914_1_21">
              <a:extLst>
                <a:ext uri="{FF2B5EF4-FFF2-40B4-BE49-F238E27FC236}">
                  <a16:creationId xmlns:a16="http://schemas.microsoft.com/office/drawing/2014/main" id="{50EB481D-9230-4768-A788-E08A61F1F860}"/>
                </a:ext>
              </a:extLst>
            </p:cNvPr>
            <p:cNvSpPr/>
            <p:nvPr/>
          </p:nvSpPr>
          <p:spPr>
            <a:xfrm>
              <a:off x="6723740" y="5994694"/>
              <a:ext cx="3492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Vehicle lifetime GHG</a:t>
              </a:r>
              <a:endParaRPr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490;g3e5213d0914_1_21">
              <a:extLst>
                <a:ext uri="{FF2B5EF4-FFF2-40B4-BE49-F238E27FC236}">
                  <a16:creationId xmlns:a16="http://schemas.microsoft.com/office/drawing/2014/main" id="{D0729A51-012F-43B0-B773-31E2DF44C665}"/>
                </a:ext>
              </a:extLst>
            </p:cNvPr>
            <p:cNvSpPr/>
            <p:nvPr/>
          </p:nvSpPr>
          <p:spPr>
            <a:xfrm>
              <a:off x="6614012" y="6389968"/>
              <a:ext cx="3566100" cy="627600"/>
            </a:xfrm>
            <a:prstGeom prst="rect">
              <a:avLst/>
            </a:prstGeom>
            <a:solidFill>
              <a:srgbClr val="F1F5F9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491;g3e5213d0914_1_21">
              <a:extLst>
                <a:ext uri="{FF2B5EF4-FFF2-40B4-BE49-F238E27FC236}">
                  <a16:creationId xmlns:a16="http://schemas.microsoft.com/office/drawing/2014/main" id="{59B760B7-6143-4244-B6C0-5DB94F4ACB26}"/>
                </a:ext>
              </a:extLst>
            </p:cNvPr>
            <p:cNvSpPr/>
            <p:nvPr/>
          </p:nvSpPr>
          <p:spPr>
            <a:xfrm>
              <a:off x="6659732" y="6413219"/>
              <a:ext cx="34929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557"/>
                </a:buClr>
                <a:buSzPts val="750"/>
                <a:buFont typeface="Calibri"/>
                <a:buNone/>
              </a:pPr>
              <a:r>
                <a:rPr lang="en-IN" sz="1400" b="0" i="0" u="none" strike="noStrike" cap="none">
                  <a:solidFill>
                    <a:srgbClr val="1A3557"/>
                  </a:solidFill>
                  <a:latin typeface="Calibri"/>
                  <a:ea typeface="Calibri"/>
                  <a:cs typeface="Calibri"/>
                  <a:sym typeface="Calibri"/>
                </a:rPr>
                <a:t>BBUS: Aligns BBUS with UNFCCC/NDC reporting; both TTW &amp; WTW should be reported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2de33b0d5_2_0"/>
          <p:cNvSpPr txBox="1">
            <a:spLocks noGrp="1"/>
          </p:cNvSpPr>
          <p:nvPr>
            <p:ph type="title"/>
          </p:nvPr>
        </p:nvSpPr>
        <p:spPr>
          <a:xfrm>
            <a:off x="395707" y="434625"/>
            <a:ext cx="11284500" cy="7941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Deep dive on existing available GHG calculation tools online </a:t>
            </a:r>
            <a:endParaRPr/>
          </a:p>
        </p:txBody>
      </p:sp>
      <p:sp>
        <p:nvSpPr>
          <p:cNvPr id="554" name="Google Shape;554;g3f2de33b0d5_2_0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indent="0"/>
            <a:r>
              <a:rPr lang="en-IN" dirty="0"/>
              <a:t>Source: CEEW compilation</a:t>
            </a:r>
          </a:p>
        </p:txBody>
      </p:sp>
      <p:graphicFrame>
        <p:nvGraphicFramePr>
          <p:cNvPr id="555" name="Google Shape;555;g3f2de33b0d5_2_0"/>
          <p:cNvGraphicFramePr/>
          <p:nvPr>
            <p:extLst/>
          </p:nvPr>
        </p:nvGraphicFramePr>
        <p:xfrm>
          <a:off x="1093537" y="1258906"/>
          <a:ext cx="6900243" cy="3970085"/>
        </p:xfrm>
        <a:graphic>
          <a:graphicData uri="http://schemas.openxmlformats.org/drawingml/2006/table">
            <a:tbl>
              <a:tblPr>
                <a:noFill/>
                <a:tableStyleId>{B3824CB9-8C8D-44F2-9781-F3755EB3A8FC}</a:tableStyleId>
              </a:tblPr>
              <a:tblGrid>
                <a:gridCol w="1914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5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Remarks</a:t>
                      </a:r>
                      <a:endParaRPr sz="1300" b="1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55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IFI TWG Harmonised Tool </a:t>
                      </a:r>
                      <a:r>
                        <a:rPr lang="en-IN" sz="1300" u="sng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(UNFCCC)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BBUS, the "no-bus" baseline would have to be hand-built route-by-route across the whole city, which is labour-intensive and prone to inconsistent assumptions across routes.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5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ITF-OECD India LCA Tool </a:t>
                      </a:r>
                      <a:r>
                        <a:rPr lang="en-IN" sz="1300" u="sng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(ITF/NDC-TIA, India specific)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can't capture mode-shift or latent demand if the bus service were withdrawn, so it can't size the emissions a city avoids by having buses at all.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9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 House Gas Protocol – GHG Calculation Tool </a:t>
                      </a:r>
                      <a:r>
                        <a:rPr lang="en-IN" sz="1300" u="sng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(WRI/WBCSD corporate &amp; city tools)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doesn't natively include upstream WTT chains or embodied battery-manufacturing carbon.  No PM calculation </a:t>
                      </a:r>
                      <a:endParaRPr sz="13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8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UNFCCC GHG CRT Tool </a:t>
                      </a:r>
                      <a:r>
                        <a:rPr lang="en-IN" sz="1300" u="sng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(UNFCCC)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there is no methodology for 2W/informal-transit substitution</a:t>
                      </a:r>
                      <a:r>
                        <a:rPr lang="en-IN" sz="13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No modal shift scenario </a:t>
                      </a:r>
                      <a:r>
                        <a:rPr lang="en-IN" sz="13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mode-shift BBUS needs to quantify if buses were absent.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887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India GHG Program Tool </a:t>
                      </a:r>
                      <a:r>
                        <a:rPr lang="en-IN" sz="1300" u="sng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(WRI India/TERI/CII)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Cannot model a bus-absent scenario, so it can't support a city-wide with-bus vs. without-bus GHG comparison, which is the core BBUS question.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000" marR="45000" marT="40000" marB="4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15AA861-D92C-4D09-8876-A2CAE7F149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707" y="1472158"/>
            <a:ext cx="540756" cy="540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5F3192-0702-4132-A320-02C6E451A7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161" y="3106503"/>
            <a:ext cx="540756" cy="540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0F1418-FB80-4782-98DB-1F454596C6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707" y="2301118"/>
            <a:ext cx="577211" cy="577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81D616-273D-49D6-BF05-9508C8B933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789" y="3849404"/>
            <a:ext cx="577211" cy="577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74CD42-F14D-43B5-8236-FDC328FCEF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161" y="4519298"/>
            <a:ext cx="577211" cy="577211"/>
          </a:xfrm>
          <a:prstGeom prst="rect">
            <a:avLst/>
          </a:prstGeom>
        </p:spPr>
      </p:pic>
      <p:pic>
        <p:nvPicPr>
          <p:cNvPr id="1026" name="Picture 2" descr="For Violating Pollution Norms In The National Capital, Over 7,000 Buses  Booked By Transport Department | News">
            <a:extLst>
              <a:ext uri="{FF2B5EF4-FFF2-40B4-BE49-F238E27FC236}">
                <a16:creationId xmlns:a16="http://schemas.microsoft.com/office/drawing/2014/main" id="{4608052E-A6FA-4893-A1C5-75BF1CEAB9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28"/>
          <a:stretch/>
        </p:blipFill>
        <p:spPr bwMode="auto">
          <a:xfrm>
            <a:off x="8114400" y="1230031"/>
            <a:ext cx="3899422" cy="405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357;g3f2de33b0d5_0_143">
            <a:extLst>
              <a:ext uri="{FF2B5EF4-FFF2-40B4-BE49-F238E27FC236}">
                <a16:creationId xmlns:a16="http://schemas.microsoft.com/office/drawing/2014/main" id="{9E43C968-C6C9-4B80-BE67-E57DBF1D1D6A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r>
              <a:rPr lang="en-IN" sz="1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2de33b0d5_0_349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Final model framework and parameters for M3- GHG emission and mitigation</a:t>
            </a:r>
            <a:endParaRPr dirty="0"/>
          </a:p>
          <a:p>
            <a:pPr marL="0" lvl="0" indent="0" algn="l" rtl="0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accent1"/>
                </a:solidFill>
              </a:rPr>
              <a:t>Group A cities with existing bus services / Other Modes 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3" name="Google Shape;563;g3f2de33b0d5_0_349"/>
          <p:cNvSpPr txBox="1">
            <a:spLocks noGrp="1"/>
          </p:cNvSpPr>
          <p:nvPr>
            <p:ph type="body" idx="2"/>
          </p:nvPr>
        </p:nvSpPr>
        <p:spPr>
          <a:xfrm>
            <a:off x="5201021" y="8080076"/>
            <a:ext cx="5357043" cy="60523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24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5C8101-9AF7-4D2E-A21D-C91A1D3CEB87}"/>
              </a:ext>
            </a:extLst>
          </p:cNvPr>
          <p:cNvSpPr txBox="1"/>
          <p:nvPr/>
        </p:nvSpPr>
        <p:spPr>
          <a:xfrm>
            <a:off x="316828" y="987164"/>
            <a:ext cx="876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(Activity X Structure  X Intensity X Fuel)- ASIF framework { Tailpipe } + GREET model {Non-Tailpipe}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ET Framework (Greenhouse gases, Regulated Emissions and Energy use in Technologies)   </a:t>
            </a:r>
            <a:endParaRPr lang="en-IN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BD121-38C4-473C-B62A-5EC811185288}"/>
              </a:ext>
            </a:extLst>
          </p:cNvPr>
          <p:cNvSpPr txBox="1"/>
          <p:nvPr/>
        </p:nvSpPr>
        <p:spPr>
          <a:xfrm>
            <a:off x="753331" y="1687567"/>
            <a:ext cx="380090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5858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Activity (Transport Activity Level )-</a:t>
            </a:r>
          </a:p>
          <a:p>
            <a:pPr fontAlgn="t"/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</a:t>
            </a:r>
            <a:r>
              <a:rPr lang="en-IN" sz="1200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KilometersTraveled</a:t>
            </a:r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(VKT) </a:t>
            </a:r>
          </a:p>
          <a:p>
            <a:pPr fontAlgn="t"/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Occupancy / Load factor </a:t>
            </a:r>
          </a:p>
          <a:p>
            <a:pPr fontAlgn="t"/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Utilisation rate </a:t>
            </a:r>
          </a:p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Fleet number </a:t>
            </a:r>
          </a:p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trip length</a:t>
            </a:r>
            <a:endParaRPr lang="en-IN" sz="1200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69EB55-4E64-414E-8998-3FFC21396161}"/>
              </a:ext>
            </a:extLst>
          </p:cNvPr>
          <p:cNvSpPr txBox="1"/>
          <p:nvPr/>
        </p:nvSpPr>
        <p:spPr>
          <a:xfrm>
            <a:off x="771221" y="3088663"/>
            <a:ext cx="34542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b="1" dirty="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2. Structure- Technology/ Fuel - (All variables are equally critical)  </a:t>
            </a:r>
          </a:p>
          <a:p>
            <a:pPr fontAlgn="t"/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Modal Share </a:t>
            </a:r>
          </a:p>
          <a:p>
            <a:pPr fontAlgn="t"/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category distribution </a:t>
            </a:r>
          </a:p>
          <a:p>
            <a:pPr fontAlgn="t"/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Fuel mix (Petrol/ diesel/CNG/electric)</a:t>
            </a:r>
          </a:p>
          <a:p>
            <a:pPr fontAlgn="t"/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mix (ICE/HEV/PHEV/BEV/FCEV)</a:t>
            </a:r>
          </a:p>
          <a:p>
            <a:pPr fontAlgn="t"/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Fleet age distribution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719AD3-0094-4043-9EA5-FFE65A11A1C5}"/>
              </a:ext>
            </a:extLst>
          </p:cNvPr>
          <p:cNvSpPr txBox="1"/>
          <p:nvPr/>
        </p:nvSpPr>
        <p:spPr>
          <a:xfrm>
            <a:off x="753331" y="4649978"/>
            <a:ext cx="38009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b="1" dirty="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3. Intensity (Energy/ Fuel)</a:t>
            </a:r>
          </a:p>
          <a:p>
            <a:pPr fontAlgn="t"/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consumption </a:t>
            </a:r>
          </a:p>
          <a:p>
            <a:pPr fontAlgn="t"/>
            <a:r>
              <a:rPr lang="en-IN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Fuel consumption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6EF460-1BCA-432A-8006-20815DD9C80E}"/>
              </a:ext>
            </a:extLst>
          </p:cNvPr>
          <p:cNvSpPr txBox="1"/>
          <p:nvPr/>
        </p:nvSpPr>
        <p:spPr>
          <a:xfrm>
            <a:off x="771221" y="5491413"/>
            <a:ext cx="3800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b="1" dirty="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4. Fuel Factor (Carbon content)</a:t>
            </a:r>
          </a:p>
          <a:p>
            <a:pPr fontAlgn="t"/>
            <a:r>
              <a:rPr lang="en-US" sz="1200" dirty="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For different Fuel</a:t>
            </a:r>
          </a:p>
          <a:p>
            <a:pPr fontAlgn="t"/>
            <a:endParaRPr lang="en-US" b="1" dirty="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41B6B6-DD03-4357-96CA-DBFBDD6B586B}"/>
              </a:ext>
            </a:extLst>
          </p:cNvPr>
          <p:cNvSpPr/>
          <p:nvPr/>
        </p:nvSpPr>
        <p:spPr>
          <a:xfrm rot="16200000">
            <a:off x="-1608991" y="3713961"/>
            <a:ext cx="4186989" cy="25988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Base Framework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5E048-7598-4B97-B68D-301B7443F5D7}"/>
              </a:ext>
            </a:extLst>
          </p:cNvPr>
          <p:cNvSpPr/>
          <p:nvPr/>
        </p:nvSpPr>
        <p:spPr>
          <a:xfrm>
            <a:off x="5524901" y="1687568"/>
            <a:ext cx="2473693" cy="26952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Tailpipe Emissions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B062F2-4C77-4CD4-92B9-345A9F8711CB}"/>
              </a:ext>
            </a:extLst>
          </p:cNvPr>
          <p:cNvSpPr/>
          <p:nvPr/>
        </p:nvSpPr>
        <p:spPr>
          <a:xfrm>
            <a:off x="5524901" y="2148677"/>
            <a:ext cx="2473693" cy="26952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Non- Tailpipe  Emissions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CC2814-FF97-495B-BAFC-E63402849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129" y="1796079"/>
            <a:ext cx="577211" cy="5772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BC48B6-F757-419B-BF3B-4C8198C3F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1663" y="1750406"/>
            <a:ext cx="747839" cy="74783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7327E39-318E-4DF5-A0F5-FCF25F72CEA1}"/>
              </a:ext>
            </a:extLst>
          </p:cNvPr>
          <p:cNvSpPr/>
          <p:nvPr/>
        </p:nvSpPr>
        <p:spPr>
          <a:xfrm>
            <a:off x="9482325" y="1699338"/>
            <a:ext cx="2473693" cy="26952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Non- Tailpipe  Emissions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B7BC8E-2F34-4CD3-9475-9281EDD5E851}"/>
              </a:ext>
            </a:extLst>
          </p:cNvPr>
          <p:cNvSpPr txBox="1"/>
          <p:nvPr/>
        </p:nvSpPr>
        <p:spPr>
          <a:xfrm>
            <a:off x="9482325" y="2041510"/>
            <a:ext cx="235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 Emissions </a:t>
            </a:r>
          </a:p>
          <a:p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 Manufacturing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760381-A988-487E-8071-4DCD9C7A2A3E}"/>
              </a:ext>
            </a:extLst>
          </p:cNvPr>
          <p:cNvSpPr txBox="1"/>
          <p:nvPr/>
        </p:nvSpPr>
        <p:spPr>
          <a:xfrm>
            <a:off x="4551144" y="2521937"/>
            <a:ext cx="1246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ICE bus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22B83F-A362-44F2-8B9F-36D5E57A3DAC}"/>
              </a:ext>
            </a:extLst>
          </p:cNvPr>
          <p:cNvSpPr txBox="1"/>
          <p:nvPr/>
        </p:nvSpPr>
        <p:spPr>
          <a:xfrm>
            <a:off x="8588663" y="2479359"/>
            <a:ext cx="1246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bus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17796E-E6C9-40CB-B454-29A5567B7B9D}"/>
              </a:ext>
            </a:extLst>
          </p:cNvPr>
          <p:cNvCxnSpPr/>
          <p:nvPr/>
        </p:nvCxnSpPr>
        <p:spPr>
          <a:xfrm>
            <a:off x="753331" y="3050163"/>
            <a:ext cx="2962021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1E66A5D-4BFC-4E82-85ED-257DC6E06C14}"/>
              </a:ext>
            </a:extLst>
          </p:cNvPr>
          <p:cNvCxnSpPr/>
          <p:nvPr/>
        </p:nvCxnSpPr>
        <p:spPr>
          <a:xfrm>
            <a:off x="753331" y="4649978"/>
            <a:ext cx="2962021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E85641-1A05-4833-8365-6335B472DF01}"/>
              </a:ext>
            </a:extLst>
          </p:cNvPr>
          <p:cNvCxnSpPr/>
          <p:nvPr/>
        </p:nvCxnSpPr>
        <p:spPr>
          <a:xfrm>
            <a:off x="753331" y="5432334"/>
            <a:ext cx="2962021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A54BD5-04C0-4ECF-96C1-F0D230B29E5A}"/>
              </a:ext>
            </a:extLst>
          </p:cNvPr>
          <p:cNvGrpSpPr/>
          <p:nvPr/>
        </p:nvGrpSpPr>
        <p:grpSpPr>
          <a:xfrm>
            <a:off x="4520448" y="3736080"/>
            <a:ext cx="1575552" cy="2346123"/>
            <a:chOff x="4520448" y="2983046"/>
            <a:chExt cx="1575552" cy="234612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071FD73-4F9E-47EB-B2FC-39DA322FEE7F}"/>
                </a:ext>
              </a:extLst>
            </p:cNvPr>
            <p:cNvSpPr/>
            <p:nvPr/>
          </p:nvSpPr>
          <p:spPr>
            <a:xfrm>
              <a:off x="4540830" y="4218493"/>
              <a:ext cx="1523871" cy="493671"/>
            </a:xfrm>
            <a:prstGeom prst="roundRect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430CE68-16D1-402D-B6F6-281CD4A2000C}"/>
                </a:ext>
              </a:extLst>
            </p:cNvPr>
            <p:cNvSpPr/>
            <p:nvPr/>
          </p:nvSpPr>
          <p:spPr>
            <a:xfrm>
              <a:off x="4520448" y="4783091"/>
              <a:ext cx="1523871" cy="546078"/>
            </a:xfrm>
            <a:prstGeom prst="roundRect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56BDCD3-7752-4830-ADDF-8E3008108932}"/>
                </a:ext>
              </a:extLst>
            </p:cNvPr>
            <p:cNvGrpSpPr/>
            <p:nvPr/>
          </p:nvGrpSpPr>
          <p:grpSpPr>
            <a:xfrm>
              <a:off x="4572129" y="2983046"/>
              <a:ext cx="1523871" cy="525768"/>
              <a:chOff x="4572129" y="3115952"/>
              <a:chExt cx="1523871" cy="756815"/>
            </a:xfrm>
            <a:grpFill/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4A919F6-F143-4FF7-B619-665A3202DBC3}"/>
                  </a:ext>
                </a:extLst>
              </p:cNvPr>
              <p:cNvSpPr/>
              <p:nvPr/>
            </p:nvSpPr>
            <p:spPr>
              <a:xfrm>
                <a:off x="4572129" y="3115952"/>
                <a:ext cx="1523871" cy="756815"/>
              </a:xfrm>
              <a:prstGeom prst="roundRect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D4A727-01F8-4570-84BC-F25468462228}"/>
                  </a:ext>
                </a:extLst>
              </p:cNvPr>
              <p:cNvSpPr txBox="1"/>
              <p:nvPr/>
            </p:nvSpPr>
            <p:spPr>
              <a:xfrm>
                <a:off x="4653078" y="3253641"/>
                <a:ext cx="1391241" cy="45465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GHG emission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C66ABB2-9EAA-4CAE-9112-7B6779D52607}"/>
                </a:ext>
              </a:extLst>
            </p:cNvPr>
            <p:cNvGrpSpPr/>
            <p:nvPr/>
          </p:nvGrpSpPr>
          <p:grpSpPr>
            <a:xfrm>
              <a:off x="4564424" y="3635463"/>
              <a:ext cx="1523871" cy="493671"/>
              <a:chOff x="6442638" y="3082851"/>
              <a:chExt cx="1523871" cy="756815"/>
            </a:xfrm>
            <a:grpFill/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D9D8B037-CF0B-421F-BD88-A2237EED6A3C}"/>
                  </a:ext>
                </a:extLst>
              </p:cNvPr>
              <p:cNvSpPr/>
              <p:nvPr/>
            </p:nvSpPr>
            <p:spPr>
              <a:xfrm>
                <a:off x="6442638" y="3082851"/>
                <a:ext cx="1523871" cy="756815"/>
              </a:xfrm>
              <a:prstGeom prst="roundRect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0D9D4D3-76C5-4579-B29E-23BE37D69528}"/>
                  </a:ext>
                </a:extLst>
              </p:cNvPr>
              <p:cNvSpPr txBox="1"/>
              <p:nvPr/>
            </p:nvSpPr>
            <p:spPr>
              <a:xfrm>
                <a:off x="6568635" y="3235830"/>
                <a:ext cx="1347205" cy="47183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PM 2.5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74DD863-7E2A-4997-AF8F-60C87E14544A}"/>
                </a:ext>
              </a:extLst>
            </p:cNvPr>
            <p:cNvSpPr txBox="1"/>
            <p:nvPr/>
          </p:nvSpPr>
          <p:spPr>
            <a:xfrm>
              <a:off x="4653078" y="4346276"/>
              <a:ext cx="1347205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PM 10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1DBB088-73BC-4C38-A6E6-1346ED370F45}"/>
                </a:ext>
              </a:extLst>
            </p:cNvPr>
            <p:cNvSpPr txBox="1"/>
            <p:nvPr/>
          </p:nvSpPr>
          <p:spPr>
            <a:xfrm>
              <a:off x="4578466" y="4909736"/>
              <a:ext cx="1347205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NOx</a:t>
              </a:r>
            </a:p>
          </p:txBody>
        </p:sp>
      </p:grpSp>
      <p:pic>
        <p:nvPicPr>
          <p:cNvPr id="2050" name="Picture 2" descr="Shift NCR buses to cleaner fuel by Nov 1: Air quality management body to  UP, Rajasthan, Haryana | Delhi News - The Indian Express">
            <a:extLst>
              <a:ext uri="{FF2B5EF4-FFF2-40B4-BE49-F238E27FC236}">
                <a16:creationId xmlns:a16="http://schemas.microsoft.com/office/drawing/2014/main" id="{25F5FD13-E550-4875-92C6-FEDA30581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275" y="2967759"/>
            <a:ext cx="5397169" cy="299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DAF4153-3A4F-4B44-A028-C77AB43E19C3}"/>
              </a:ext>
            </a:extLst>
          </p:cNvPr>
          <p:cNvSpPr txBox="1"/>
          <p:nvPr/>
        </p:nvSpPr>
        <p:spPr>
          <a:xfrm>
            <a:off x="4564424" y="3052731"/>
            <a:ext cx="1655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Pollutants to be calculated</a:t>
            </a:r>
          </a:p>
        </p:txBody>
      </p:sp>
      <p:sp>
        <p:nvSpPr>
          <p:cNvPr id="44" name="Google Shape;336;g3f2de33b0d5_0_143">
            <a:extLst>
              <a:ext uri="{FF2B5EF4-FFF2-40B4-BE49-F238E27FC236}">
                <a16:creationId xmlns:a16="http://schemas.microsoft.com/office/drawing/2014/main" id="{7C828765-9F8A-4839-B62E-EAEFE2CC6F53}"/>
              </a:ext>
            </a:extLst>
          </p:cNvPr>
          <p:cNvSpPr txBox="1">
            <a:spLocks/>
          </p:cNvSpPr>
          <p:nvPr/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300"/>
              </a:spcBef>
            </a:pPr>
            <a:r>
              <a:rPr lang="en-IN"/>
              <a:t>Source: CEEW compilation</a:t>
            </a:r>
            <a:endParaRPr lang="en-IN" dirty="0"/>
          </a:p>
        </p:txBody>
      </p:sp>
      <p:sp>
        <p:nvSpPr>
          <p:cNvPr id="45" name="Google Shape;357;g3f2de33b0d5_0_143">
            <a:extLst>
              <a:ext uri="{FF2B5EF4-FFF2-40B4-BE49-F238E27FC236}">
                <a16:creationId xmlns:a16="http://schemas.microsoft.com/office/drawing/2014/main" id="{DF2E9B17-F18B-4930-97BA-A836781B3E97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r>
              <a:rPr lang="en-IN" sz="1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2de33b0d5_0_371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Final model framework and parameters for M3- GHG emission and mitigation</a:t>
            </a:r>
            <a:endParaRPr dirty="0"/>
          </a:p>
          <a:p>
            <a:pPr marL="0" lvl="0" indent="0" algn="l" rtl="0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accent1"/>
                </a:solidFill>
              </a:rPr>
              <a:t>Group B  cities with no bus services -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5" name="Google Shape;575;g3f2de33b0d5_0_371"/>
          <p:cNvSpPr txBox="1"/>
          <p:nvPr/>
        </p:nvSpPr>
        <p:spPr>
          <a:xfrm>
            <a:off x="283975" y="1445420"/>
            <a:ext cx="10054200" cy="13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Scenario development (will be changed according to context) </a:t>
            </a:r>
            <a:endParaRPr sz="1600" b="1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6" name="Google Shape;576;g3f2de33b0d5_0_371"/>
          <p:cNvGraphicFramePr/>
          <p:nvPr>
            <p:extLst/>
          </p:nvPr>
        </p:nvGraphicFramePr>
        <p:xfrm>
          <a:off x="354863" y="1828920"/>
          <a:ext cx="11437075" cy="1600080"/>
        </p:xfrm>
        <a:graphic>
          <a:graphicData uri="http://schemas.openxmlformats.org/drawingml/2006/table">
            <a:tbl>
              <a:tblPr>
                <a:noFill/>
                <a:tableStyleId>{84079B24-CE5E-4152-BB4C-792983D8DC11}</a:tableStyleId>
              </a:tblPr>
              <a:tblGrid>
                <a:gridCol w="175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82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 sz="15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2W shift</a:t>
                      </a:r>
                      <a:endParaRPr sz="15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IPT shift </a:t>
                      </a:r>
                      <a:endParaRPr sz="15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4W shift </a:t>
                      </a:r>
                      <a:endParaRPr sz="15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 </a:t>
                      </a:r>
                      <a:endParaRPr sz="15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bus  procurement</a:t>
                      </a:r>
                      <a:endParaRPr sz="15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ambition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ICE fleet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ambition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 ICE + 50% EV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ambition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EV fleet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7" name="Google Shape;577;g3f2de33b0d5_0_371"/>
          <p:cNvSpPr txBox="1"/>
          <p:nvPr/>
        </p:nvSpPr>
        <p:spPr>
          <a:xfrm>
            <a:off x="354863" y="3661612"/>
            <a:ext cx="11508000" cy="1505100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Each scenario will give -</a:t>
            </a:r>
            <a:endParaRPr sz="1800" b="1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GHG (t) =GHG(TTW​)+GHG (WTT)​+GHG (Grid) +GHG (B)</a:t>
            </a:r>
            <a:endParaRPr sz="1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Mitigation on each scenario will be calculated- </a:t>
            </a:r>
            <a:endParaRPr sz="1800" b="1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Baseline - Scenario </a:t>
            </a:r>
            <a:endParaRPr sz="1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2de33b0d5_0_371"/>
          <p:cNvSpPr txBox="1">
            <a:spLocks noGrp="1"/>
          </p:cNvSpPr>
          <p:nvPr>
            <p:ph type="body" idx="1"/>
          </p:nvPr>
        </p:nvSpPr>
        <p:spPr>
          <a:xfrm>
            <a:off x="395700" y="988531"/>
            <a:ext cx="11284500" cy="67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587"/>
              </a:spcBef>
              <a:spcAft>
                <a:spcPts val="0"/>
              </a:spcAft>
              <a:buSzPts val="440"/>
              <a:buNone/>
            </a:pPr>
            <a:r>
              <a:rPr lang="en-IN" sz="1680" b="1" dirty="0"/>
              <a:t>Modal shift savings + </a:t>
            </a:r>
            <a:r>
              <a:rPr lang="en-IN" sz="1800" b="1" dirty="0">
                <a:solidFill>
                  <a:srgbClr val="585858"/>
                </a:solidFill>
                <a:highlight>
                  <a:srgbClr val="FFF2CC"/>
                </a:highlight>
              </a:rPr>
              <a:t>ASIF Framework</a:t>
            </a:r>
            <a:r>
              <a:rPr lang="en-IN" sz="1680" b="1" dirty="0">
                <a:highlight>
                  <a:srgbClr val="FFF2CC"/>
                </a:highlight>
              </a:rPr>
              <a:t> + GREET model  (similar to Group A cities)</a:t>
            </a:r>
            <a:endParaRPr sz="1680" b="1" dirty="0">
              <a:highlight>
                <a:srgbClr val="FFF2CC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587"/>
              </a:spcBef>
              <a:spcAft>
                <a:spcPts val="0"/>
              </a:spcAft>
              <a:buSzPts val="440"/>
              <a:buNone/>
            </a:pPr>
            <a:r>
              <a:rPr lang="en-IN" sz="1280" dirty="0"/>
              <a:t> </a:t>
            </a:r>
            <a:endParaRPr sz="1280" dirty="0"/>
          </a:p>
        </p:txBody>
      </p:sp>
      <p:sp>
        <p:nvSpPr>
          <p:cNvPr id="8" name="Google Shape;336;g3f2de33b0d5_0_143">
            <a:extLst>
              <a:ext uri="{FF2B5EF4-FFF2-40B4-BE49-F238E27FC236}">
                <a16:creationId xmlns:a16="http://schemas.microsoft.com/office/drawing/2014/main" id="{9C2270F0-CEF0-4CEB-85A8-62385910B0A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indent="0">
              <a:spcBef>
                <a:spcPts val="300"/>
              </a:spcBef>
            </a:pPr>
            <a:r>
              <a:rPr lang="en-IN" dirty="0"/>
              <a:t>Source: CEEW compilation</a:t>
            </a:r>
          </a:p>
        </p:txBody>
      </p:sp>
      <p:sp>
        <p:nvSpPr>
          <p:cNvPr id="9" name="Google Shape;357;g3f2de33b0d5_0_143">
            <a:extLst>
              <a:ext uri="{FF2B5EF4-FFF2-40B4-BE49-F238E27FC236}">
                <a16:creationId xmlns:a16="http://schemas.microsoft.com/office/drawing/2014/main" id="{DCA1E48A-1E45-4740-B183-E91E4147D2B4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r>
              <a:rPr lang="en-IN" sz="1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f2de33b0d5_0_413"/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dirty="0">
                <a:latin typeface="Calibri"/>
                <a:ea typeface="Calibri"/>
                <a:cs typeface="Calibri"/>
                <a:sym typeface="Calibri"/>
              </a:rPr>
              <a:t>Deep dive in M2: Health Co-benefits Model</a:t>
            </a:r>
            <a:br>
              <a:rPr lang="en-IN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 b="0" dirty="0">
                <a:latin typeface="Calibri"/>
                <a:ea typeface="Calibri"/>
                <a:cs typeface="Calibri"/>
                <a:sym typeface="Calibri"/>
              </a:rPr>
              <a:t>Literature review — geographic coverage &amp; key papers (</a:t>
            </a:r>
            <a:r>
              <a:rPr lang="en-IN" sz="1600" b="0" dirty="0"/>
              <a:t>n=</a:t>
            </a:r>
            <a:r>
              <a:rPr lang="en-IN" sz="1600" b="0" dirty="0">
                <a:latin typeface="Calibri"/>
                <a:ea typeface="Calibri"/>
                <a:cs typeface="Calibri"/>
                <a:sym typeface="Calibri"/>
              </a:rPr>
              <a:t> 11 papers)</a:t>
            </a:r>
            <a:endParaRPr sz="1600" b="0" dirty="0">
              <a:solidFill>
                <a:srgbClr val="009C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f2de33b0d5_0_413"/>
          <p:cNvSpPr/>
          <p:nvPr/>
        </p:nvSpPr>
        <p:spPr>
          <a:xfrm>
            <a:off x="256025" y="941250"/>
            <a:ext cx="112845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629" name="Google Shape;629;g3f2de33b0d5_0_413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0" name="Google Shape;630;g3f2de33b0d5_0_413"/>
          <p:cNvGraphicFramePr/>
          <p:nvPr>
            <p:extLst/>
          </p:nvPr>
        </p:nvGraphicFramePr>
        <p:xfrm>
          <a:off x="256018" y="1111945"/>
          <a:ext cx="11284500" cy="2247273"/>
        </p:xfrm>
        <a:graphic>
          <a:graphicData uri="http://schemas.openxmlformats.org/drawingml/2006/table">
            <a:tbl>
              <a:tblPr>
                <a:noFill/>
                <a:tableStyleId>{69A319F7-414C-4FE0-9E9A-CB96BA80634B}</a:tableStyleId>
              </a:tblPr>
              <a:tblGrid>
                <a:gridCol w="251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5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13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Geography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Papers/Reports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 America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Maizlish</a:t>
                      </a:r>
                      <a:r>
                        <a:rPr lang="en-IN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San Francisco, Besser USA, </a:t>
                      </a:r>
                      <a:r>
                        <a:rPr lang="en-IN" sz="14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Saelens</a:t>
                      </a:r>
                      <a:r>
                        <a:rPr lang="en-IN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King County, </a:t>
                      </a:r>
                      <a:r>
                        <a:rPr lang="en-IN" sz="14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Legrain</a:t>
                      </a:r>
                      <a:r>
                        <a:rPr lang="en-IN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Montréal, duplicate </a:t>
                      </a:r>
                      <a:r>
                        <a:rPr lang="en-IN" sz="14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Saelens</a:t>
                      </a:r>
                      <a:r>
                        <a:rPr lang="en-IN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file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45%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Europe / UK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Madrid, HIA Scotland Guide, On the Buses London, Coimbra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36%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3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Asia / Middle East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Tehran low-emission transport system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3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 / Review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Raza air-pollution HIA review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2" name="Google Shape;632;g3f2de33b0d5_0_413"/>
          <p:cNvSpPr txBox="1"/>
          <p:nvPr/>
        </p:nvSpPr>
        <p:spPr>
          <a:xfrm>
            <a:off x="256018" y="3645053"/>
            <a:ext cx="11284500" cy="92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inference:</a:t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available evidence comes from North America and Europe/UK. India-specific evidence on bus-related health co-benefits is limited, especially for small and medium cities.</a:t>
            </a:r>
            <a:endParaRPr dirty="0"/>
          </a:p>
        </p:txBody>
      </p:sp>
      <p:sp>
        <p:nvSpPr>
          <p:cNvPr id="633" name="Google Shape;633;g3f2de33b0d5_0_413"/>
          <p:cNvSpPr txBox="1"/>
          <p:nvPr/>
        </p:nvSpPr>
        <p:spPr>
          <a:xfrm>
            <a:off x="256018" y="4820228"/>
            <a:ext cx="11284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58AEDB"/>
                </a:solidFill>
                <a:latin typeface="Calibri"/>
                <a:ea typeface="Calibri"/>
                <a:cs typeface="Calibri"/>
                <a:sym typeface="Calibri"/>
              </a:rPr>
              <a:t>BBUS contribution:</a:t>
            </a:r>
            <a:br>
              <a:rPr lang="en-IN" sz="1800" b="0" i="0" u="none" strike="noStrike" cap="none" dirty="0">
                <a:solidFill>
                  <a:srgbClr val="58AE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0" i="0" u="none" strike="noStrike" cap="none" dirty="0">
                <a:solidFill>
                  <a:srgbClr val="58AEDB"/>
                </a:solidFill>
                <a:latin typeface="Calibri"/>
                <a:ea typeface="Calibri"/>
                <a:cs typeface="Calibri"/>
                <a:sym typeface="Calibri"/>
              </a:rPr>
              <a:t>BBUS will fill this gap by combining primary surveys, GIS-based exposure mapping, health indicators, and Indian city-level bus deployment data.</a:t>
            </a:r>
            <a:endParaRPr dirty="0"/>
          </a:p>
        </p:txBody>
      </p:sp>
      <p:sp>
        <p:nvSpPr>
          <p:cNvPr id="11" name="Google Shape;336;g3f2de33b0d5_0_143">
            <a:extLst>
              <a:ext uri="{FF2B5EF4-FFF2-40B4-BE49-F238E27FC236}">
                <a16:creationId xmlns:a16="http://schemas.microsoft.com/office/drawing/2014/main" id="{F8816B87-E357-4CE1-9837-B09471BC4AAD}"/>
              </a:ext>
            </a:extLst>
          </p:cNvPr>
          <p:cNvSpPr txBox="1">
            <a:spLocks/>
          </p:cNvSpPr>
          <p:nvPr/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300"/>
              </a:spcBef>
            </a:pPr>
            <a:r>
              <a:rPr lang="en-IN"/>
              <a:t>Source: CEEW compilation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2de33b0d5_0_425"/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Deep dive in M2: Health Co-benefits Model</a:t>
            </a:r>
            <a:br>
              <a:rPr lang="en-IN"/>
            </a:br>
            <a:r>
              <a:rPr lang="en-IN" sz="1600" b="0"/>
              <a:t>Pathways of Health Benefits from Bus-Based Public Transport</a:t>
            </a:r>
            <a:endParaRPr sz="1600" b="0">
              <a:solidFill>
                <a:srgbClr val="009CD8"/>
              </a:solidFill>
            </a:endParaRPr>
          </a:p>
        </p:txBody>
      </p:sp>
      <p:sp>
        <p:nvSpPr>
          <p:cNvPr id="641" name="Google Shape;641;g3f2de33b0d5_0_425"/>
          <p:cNvSpPr/>
          <p:nvPr/>
        </p:nvSpPr>
        <p:spPr>
          <a:xfrm>
            <a:off x="0" y="1061606"/>
            <a:ext cx="11284500" cy="21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f2de33b0d5_0_425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3" name="Google Shape;643;g3f2de33b0d5_0_425"/>
          <p:cNvGrpSpPr/>
          <p:nvPr/>
        </p:nvGrpSpPr>
        <p:grpSpPr>
          <a:xfrm>
            <a:off x="464214" y="1398417"/>
            <a:ext cx="11263500" cy="905700"/>
            <a:chOff x="10464" y="366101"/>
            <a:chExt cx="11263500" cy="905700"/>
          </a:xfrm>
        </p:grpSpPr>
        <p:sp>
          <p:nvSpPr>
            <p:cNvPr id="644" name="Google Shape;644;g3f2de33b0d5_0_425"/>
            <p:cNvSpPr/>
            <p:nvPr/>
          </p:nvSpPr>
          <p:spPr>
            <a:xfrm>
              <a:off x="10464" y="366101"/>
              <a:ext cx="2166000" cy="9057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rgbClr val="6B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g3f2de33b0d5_0_425"/>
            <p:cNvSpPr txBox="1"/>
            <p:nvPr/>
          </p:nvSpPr>
          <p:spPr>
            <a:xfrm>
              <a:off x="36991" y="392628"/>
              <a:ext cx="2112900" cy="8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Bus deployment / improved bus service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g3f2de33b0d5_0_425"/>
            <p:cNvSpPr/>
            <p:nvPr/>
          </p:nvSpPr>
          <p:spPr>
            <a:xfrm>
              <a:off x="2393142" y="550355"/>
              <a:ext cx="459300" cy="53730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BCBC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g3f2de33b0d5_0_425"/>
            <p:cNvSpPr txBox="1"/>
            <p:nvPr/>
          </p:nvSpPr>
          <p:spPr>
            <a:xfrm>
              <a:off x="2393142" y="657792"/>
              <a:ext cx="321300" cy="3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g3f2de33b0d5_0_425"/>
            <p:cNvSpPr/>
            <p:nvPr/>
          </p:nvSpPr>
          <p:spPr>
            <a:xfrm>
              <a:off x="3042964" y="366101"/>
              <a:ext cx="2166000" cy="9057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rgbClr val="6B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g3f2de33b0d5_0_425"/>
            <p:cNvSpPr txBox="1"/>
            <p:nvPr/>
          </p:nvSpPr>
          <p:spPr>
            <a:xfrm>
              <a:off x="3069491" y="392628"/>
              <a:ext cx="2112900" cy="8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Increased bus access and bus usage</a:t>
              </a:r>
              <a:endParaRPr/>
            </a:p>
          </p:txBody>
        </p:sp>
        <p:sp>
          <p:nvSpPr>
            <p:cNvPr id="650" name="Google Shape;650;g3f2de33b0d5_0_425"/>
            <p:cNvSpPr/>
            <p:nvPr/>
          </p:nvSpPr>
          <p:spPr>
            <a:xfrm>
              <a:off x="5425642" y="550355"/>
              <a:ext cx="459300" cy="53730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BCBC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g3f2de33b0d5_0_425"/>
            <p:cNvSpPr txBox="1"/>
            <p:nvPr/>
          </p:nvSpPr>
          <p:spPr>
            <a:xfrm>
              <a:off x="5425642" y="657792"/>
              <a:ext cx="321300" cy="3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g3f2de33b0d5_0_425"/>
            <p:cNvSpPr/>
            <p:nvPr/>
          </p:nvSpPr>
          <p:spPr>
            <a:xfrm>
              <a:off x="6075464" y="366101"/>
              <a:ext cx="2166000" cy="9057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rgbClr val="6B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g3f2de33b0d5_0_425"/>
            <p:cNvSpPr txBox="1"/>
            <p:nvPr/>
          </p:nvSpPr>
          <p:spPr>
            <a:xfrm>
              <a:off x="6101991" y="392628"/>
              <a:ext cx="2112900" cy="8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Reduced dependence on private vehicles</a:t>
              </a: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g3f2de33b0d5_0_425"/>
            <p:cNvSpPr/>
            <p:nvPr/>
          </p:nvSpPr>
          <p:spPr>
            <a:xfrm>
              <a:off x="8458142" y="550355"/>
              <a:ext cx="459300" cy="53730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BCBC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g3f2de33b0d5_0_425"/>
            <p:cNvSpPr txBox="1"/>
            <p:nvPr/>
          </p:nvSpPr>
          <p:spPr>
            <a:xfrm>
              <a:off x="8458142" y="657792"/>
              <a:ext cx="321300" cy="3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g3f2de33b0d5_0_425"/>
            <p:cNvSpPr/>
            <p:nvPr/>
          </p:nvSpPr>
          <p:spPr>
            <a:xfrm>
              <a:off x="9107964" y="366101"/>
              <a:ext cx="2166000" cy="9057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rgbClr val="6B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g3f2de33b0d5_0_425"/>
            <p:cNvSpPr txBox="1"/>
            <p:nvPr/>
          </p:nvSpPr>
          <p:spPr>
            <a:xfrm>
              <a:off x="9134491" y="392628"/>
              <a:ext cx="2112900" cy="8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Health benefit pathways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8" name="Google Shape;658;g3f2de33b0d5_0_425"/>
          <p:cNvGrpSpPr/>
          <p:nvPr/>
        </p:nvGrpSpPr>
        <p:grpSpPr>
          <a:xfrm>
            <a:off x="389521" y="2716696"/>
            <a:ext cx="11412957" cy="3164340"/>
            <a:chOff x="118769" y="2447655"/>
            <a:chExt cx="11412957" cy="2538937"/>
          </a:xfrm>
        </p:grpSpPr>
        <p:sp>
          <p:nvSpPr>
            <p:cNvPr id="659" name="Google Shape;659;g3f2de33b0d5_0_425"/>
            <p:cNvSpPr/>
            <p:nvPr/>
          </p:nvSpPr>
          <p:spPr>
            <a:xfrm>
              <a:off x="5825248" y="3322456"/>
              <a:ext cx="4368900" cy="23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g3f2de33b0d5_0_425"/>
            <p:cNvSpPr/>
            <p:nvPr/>
          </p:nvSpPr>
          <p:spPr>
            <a:xfrm>
              <a:off x="5825248" y="3322456"/>
              <a:ext cx="1456200" cy="23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g3f2de33b0d5_0_425"/>
            <p:cNvSpPr/>
            <p:nvPr/>
          </p:nvSpPr>
          <p:spPr>
            <a:xfrm>
              <a:off x="4368960" y="3322456"/>
              <a:ext cx="1456200" cy="23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g3f2de33b0d5_0_425"/>
            <p:cNvSpPr/>
            <p:nvPr/>
          </p:nvSpPr>
          <p:spPr>
            <a:xfrm>
              <a:off x="1456384" y="3322456"/>
              <a:ext cx="4368900" cy="23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g3f2de33b0d5_0_425"/>
            <p:cNvSpPr/>
            <p:nvPr/>
          </p:nvSpPr>
          <p:spPr>
            <a:xfrm>
              <a:off x="4512227" y="2447655"/>
              <a:ext cx="2626042" cy="874801"/>
            </a:xfrm>
            <a:custGeom>
              <a:avLst/>
              <a:gdLst/>
              <a:ahLst/>
              <a:cxnLst/>
              <a:rect l="l" t="t" r="r" b="b"/>
              <a:pathLst>
                <a:path w="2626042" h="874801" extrusionOk="0">
                  <a:moveTo>
                    <a:pt x="0" y="0"/>
                  </a:moveTo>
                  <a:lnTo>
                    <a:pt x="2626042" y="0"/>
                  </a:lnTo>
                  <a:lnTo>
                    <a:pt x="2626042" y="874801"/>
                  </a:lnTo>
                  <a:lnTo>
                    <a:pt x="0" y="8748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Health benefit pathways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g3f2de33b0d5_0_425"/>
            <p:cNvSpPr/>
            <p:nvPr/>
          </p:nvSpPr>
          <p:spPr>
            <a:xfrm>
              <a:off x="118769" y="3559803"/>
              <a:ext cx="2675229" cy="1426789"/>
            </a:xfrm>
            <a:custGeom>
              <a:avLst/>
              <a:gdLst/>
              <a:ahLst/>
              <a:cxnLst/>
              <a:rect l="l" t="t" r="r" b="b"/>
              <a:pathLst>
                <a:path w="2675229" h="1426789" extrusionOk="0">
                  <a:moveTo>
                    <a:pt x="0" y="0"/>
                  </a:moveTo>
                  <a:lnTo>
                    <a:pt x="2675229" y="0"/>
                  </a:lnTo>
                  <a:lnTo>
                    <a:pt x="2675229" y="1426789"/>
                  </a:lnTo>
                  <a:lnTo>
                    <a:pt x="0" y="1426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Active Travel Gains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Walking to and from bus stops increases daily physical activity.</a:t>
              </a:r>
              <a:endParaRPr/>
            </a:p>
          </p:txBody>
        </p:sp>
        <p:sp>
          <p:nvSpPr>
            <p:cNvPr id="665" name="Google Shape;665;g3f2de33b0d5_0_425"/>
            <p:cNvSpPr/>
            <p:nvPr/>
          </p:nvSpPr>
          <p:spPr>
            <a:xfrm>
              <a:off x="3031345" y="3559803"/>
              <a:ext cx="2675229" cy="1426789"/>
            </a:xfrm>
            <a:custGeom>
              <a:avLst/>
              <a:gdLst/>
              <a:ahLst/>
              <a:cxnLst/>
              <a:rect l="l" t="t" r="r" b="b"/>
              <a:pathLst>
                <a:path w="2675229" h="1426789" extrusionOk="0">
                  <a:moveTo>
                    <a:pt x="0" y="0"/>
                  </a:moveTo>
                  <a:lnTo>
                    <a:pt x="2675229" y="0"/>
                  </a:lnTo>
                  <a:lnTo>
                    <a:pt x="2675229" y="1426789"/>
                  </a:lnTo>
                  <a:lnTo>
                    <a:pt x="0" y="1426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Air Pollution Exposure Reduction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 shift from private vehicles to buses can reduce PM2.5/NO2 exposure and emissions.</a:t>
              </a:r>
              <a:endParaRPr/>
            </a:p>
          </p:txBody>
        </p:sp>
        <p:sp>
          <p:nvSpPr>
            <p:cNvPr id="666" name="Google Shape;666;g3f2de33b0d5_0_425"/>
            <p:cNvSpPr/>
            <p:nvPr/>
          </p:nvSpPr>
          <p:spPr>
            <a:xfrm>
              <a:off x="5943921" y="3559803"/>
              <a:ext cx="2675229" cy="1426789"/>
            </a:xfrm>
            <a:custGeom>
              <a:avLst/>
              <a:gdLst/>
              <a:ahLst/>
              <a:cxnLst/>
              <a:rect l="l" t="t" r="r" b="b"/>
              <a:pathLst>
                <a:path w="2675229" h="1426789" extrusionOk="0">
                  <a:moveTo>
                    <a:pt x="0" y="0"/>
                  </a:moveTo>
                  <a:lnTo>
                    <a:pt x="2675229" y="0"/>
                  </a:lnTo>
                  <a:lnTo>
                    <a:pt x="2675229" y="1426789"/>
                  </a:lnTo>
                  <a:lnTo>
                    <a:pt x="0" y="1426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Road Safety Benefits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Shift from two-wheelers/cars/shared modes to buses can reduce crash and injury exposure.</a:t>
              </a:r>
              <a:endParaRPr/>
            </a:p>
          </p:txBody>
        </p:sp>
        <p:sp>
          <p:nvSpPr>
            <p:cNvPr id="667" name="Google Shape;667;g3f2de33b0d5_0_425"/>
            <p:cNvSpPr/>
            <p:nvPr/>
          </p:nvSpPr>
          <p:spPr>
            <a:xfrm>
              <a:off x="8856497" y="3559803"/>
              <a:ext cx="2675229" cy="1426789"/>
            </a:xfrm>
            <a:custGeom>
              <a:avLst/>
              <a:gdLst/>
              <a:ahLst/>
              <a:cxnLst/>
              <a:rect l="l" t="t" r="r" b="b"/>
              <a:pathLst>
                <a:path w="2675229" h="1426789" extrusionOk="0">
                  <a:moveTo>
                    <a:pt x="0" y="0"/>
                  </a:moveTo>
                  <a:lnTo>
                    <a:pt x="2675229" y="0"/>
                  </a:lnTo>
                  <a:lnTo>
                    <a:pt x="2675229" y="1426789"/>
                  </a:lnTo>
                  <a:lnTo>
                    <a:pt x="0" y="1426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Commute Stress Reduction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Reliable, affordable, safe, and comfortable bus services can reduce daily commute stress.</a:t>
              </a:r>
              <a:endParaRPr/>
            </a:p>
          </p:txBody>
        </p:sp>
      </p:grpSp>
      <p:sp>
        <p:nvSpPr>
          <p:cNvPr id="31" name="Google Shape;336;g3f2de33b0d5_0_143">
            <a:extLst>
              <a:ext uri="{FF2B5EF4-FFF2-40B4-BE49-F238E27FC236}">
                <a16:creationId xmlns:a16="http://schemas.microsoft.com/office/drawing/2014/main" id="{F1D8ACE8-A498-4BEF-ACE4-701361A7CDE5}"/>
              </a:ext>
            </a:extLst>
          </p:cNvPr>
          <p:cNvSpPr txBox="1">
            <a:spLocks/>
          </p:cNvSpPr>
          <p:nvPr/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300"/>
              </a:spcBef>
            </a:pPr>
            <a:r>
              <a:rPr lang="en-IN"/>
              <a:t>Source: CEEW compilation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f2de33b0d5_0_458"/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 dirty="0"/>
              <a:t>Deep dive in M2: Health Co-benefits Model</a:t>
            </a:r>
            <a:br>
              <a:rPr lang="en-IN" dirty="0"/>
            </a:br>
            <a:r>
              <a:rPr lang="en-IN" sz="1600" b="0" dirty="0"/>
              <a:t>Models identified from literature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675" name="Google Shape;675;g3f2de33b0d5_0_458"/>
          <p:cNvSpPr/>
          <p:nvPr/>
        </p:nvSpPr>
        <p:spPr>
          <a:xfrm>
            <a:off x="256032" y="1019753"/>
            <a:ext cx="112845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Integrated Transport and Health Impacts Model (ITHIM)</a:t>
            </a:r>
            <a:b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Links travel behaviour, physical activity, PM2.5 exposure, road injuries, and DALYs.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381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Health Impact Assessment (HIA)</a:t>
            </a:r>
            <a:b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Structures, health pathways, affected population groups, and monitoring indicators.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381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Comparative Risk Assessment (CRA)</a:t>
            </a:r>
            <a:b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Converts exposure changes into health burden using relative-risk functions.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381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Difference-in-Differences (</a:t>
            </a:r>
            <a:r>
              <a:rPr lang="en-IN" sz="15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DiD</a:t>
            </a: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/ Natural Experiment</a:t>
            </a:r>
            <a:b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Estimates the pre-post impact of new bus deployment in Group B cities.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381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GLM / Multivariate Regression</a:t>
            </a:r>
            <a:b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Estimates health outcomes while controlling for income, gender, education, and city differences.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381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Ordered Logit / Ordered </a:t>
            </a:r>
            <a:r>
              <a:rPr lang="en-IN" sz="15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Probit</a:t>
            </a:r>
            <a:b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Models commute stress and perception-based outcomes measured on 1–5 scales.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381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GIS / Spatial Exposure Analysis</a:t>
            </a:r>
            <a:b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Maps bus access, walking distance, PM2.5 exposure, and crash-risk exposure.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381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A-S-I Co-benefits Framework</a:t>
            </a:r>
            <a:b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IN" sz="15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Links Avoid–Shift–Improve actions with emissions reduction and public health benefits.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6" name="Google Shape;676;g3f2de33b0d5_0_458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r>
              <a:rPr lang="en-IN" sz="1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336;g3f2de33b0d5_0_143">
            <a:extLst>
              <a:ext uri="{FF2B5EF4-FFF2-40B4-BE49-F238E27FC236}">
                <a16:creationId xmlns:a16="http://schemas.microsoft.com/office/drawing/2014/main" id="{DBDB8D3C-D69A-46F3-9843-DE90CD7CB76C}"/>
              </a:ext>
            </a:extLst>
          </p:cNvPr>
          <p:cNvSpPr txBox="1">
            <a:spLocks/>
          </p:cNvSpPr>
          <p:nvPr/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300"/>
              </a:spcBef>
            </a:pPr>
            <a:r>
              <a:rPr lang="en-IN"/>
              <a:t>Source: CEEW compilation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2de33b0d5_0_466"/>
          <p:cNvSpPr txBox="1">
            <a:spLocks noGrp="1"/>
          </p:cNvSpPr>
          <p:nvPr>
            <p:ph type="title"/>
          </p:nvPr>
        </p:nvSpPr>
        <p:spPr>
          <a:xfrm>
            <a:off x="395700" y="194423"/>
            <a:ext cx="11284500" cy="8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Deep dive in M2: Health Co-benefits Model</a:t>
            </a:r>
            <a:br>
              <a:rPr lang="en-IN"/>
            </a:br>
            <a:r>
              <a:rPr lang="en-IN" sz="1600" b="0">
                <a:solidFill>
                  <a:srgbClr val="009CD8"/>
                </a:solidFill>
              </a:rPr>
              <a:t>Groupwise Model Selection</a:t>
            </a:r>
            <a:endParaRPr sz="1600" b="0">
              <a:solidFill>
                <a:srgbClr val="009CD8"/>
              </a:solidFill>
            </a:endParaRPr>
          </a:p>
        </p:txBody>
      </p:sp>
      <p:sp>
        <p:nvSpPr>
          <p:cNvPr id="682" name="Google Shape;682;g3f2de33b0d5_0_466"/>
          <p:cNvSpPr txBox="1"/>
          <p:nvPr/>
        </p:nvSpPr>
        <p:spPr>
          <a:xfrm>
            <a:off x="395707" y="1240233"/>
            <a:ext cx="5400000" cy="420000"/>
          </a:xfrm>
          <a:prstGeom prst="rect">
            <a:avLst/>
          </a:prstGeom>
          <a:solidFill>
            <a:srgbClr val="B93A2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A - Cities with buses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f2de33b0d5_0_466"/>
          <p:cNvSpPr txBox="1"/>
          <p:nvPr/>
        </p:nvSpPr>
        <p:spPr>
          <a:xfrm>
            <a:off x="395707" y="1660233"/>
            <a:ext cx="5400000" cy="2799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Bengaluru  |  Jaipur  |  Bhubaneswar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f2de33b0d5_0_466"/>
          <p:cNvSpPr txBox="1"/>
          <p:nvPr/>
        </p:nvSpPr>
        <p:spPr>
          <a:xfrm>
            <a:off x="395700" y="1940225"/>
            <a:ext cx="5400000" cy="36774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811C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400" tIns="152400" rIns="152400" bIns="91425" anchor="t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</a:pPr>
            <a:r>
              <a:rPr lang="en-IN" sz="1900" b="1" i="0" u="none" strike="noStrike" cap="none" dirty="0">
                <a:solidFill>
                  <a:srgbClr val="58AEDB"/>
                </a:solidFill>
                <a:latin typeface="Calibri"/>
                <a:ea typeface="Calibri"/>
                <a:cs typeface="Calibri"/>
                <a:sym typeface="Calibri"/>
              </a:rPr>
              <a:t>Multivariate Regression</a:t>
            </a:r>
            <a:endParaRPr sz="1900" b="0" i="0" u="none" strike="noStrike" cap="none" dirty="0">
              <a:solidFill>
                <a:srgbClr val="58AED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Method: Cross-sectional regression + GIS exposure analysis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Since buses are already operating in Group A cities, the model will assess the current relationship between bus access, bus use, and health outcomes. Bus users, non-users, and private vehicle users will be compared based on walking activity, pollution exposure, road-safety experience, commute stress, and self-reported health indicators.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GIS/</a:t>
            </a:r>
            <a:r>
              <a:rPr lang="en-IN" sz="15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</a:t>
            </a:r>
            <a:r>
              <a:rPr lang="en-IN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-long data will be used to measure actual bus accessibility, such as distance to nearest bus stop, 500 m catchment coverage, walking access/egress distance, and route-level exposure. Regression models will then control for income, gender, education, age, vehicle ownership, and city/ward differences</a:t>
            </a:r>
            <a:r>
              <a:rPr lang="en-IN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685" name="Google Shape;685;g3f2de33b0d5_0_466"/>
          <p:cNvSpPr txBox="1"/>
          <p:nvPr/>
        </p:nvSpPr>
        <p:spPr>
          <a:xfrm>
            <a:off x="6095707" y="1240233"/>
            <a:ext cx="5400000" cy="420000"/>
          </a:xfrm>
          <a:prstGeom prst="rect">
            <a:avLst/>
          </a:prstGeom>
          <a:solidFill>
            <a:srgbClr val="5E833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B - Buses incoming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2de33b0d5_0_466"/>
          <p:cNvSpPr txBox="1"/>
          <p:nvPr/>
        </p:nvSpPr>
        <p:spPr>
          <a:xfrm>
            <a:off x="6095707" y="1660233"/>
            <a:ext cx="5400000" cy="279900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/>
              <a:t>Jodhpur</a:t>
            </a:r>
            <a:r>
              <a:rPr lang="en-I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|  Gandhinagar  |  </a:t>
            </a:r>
            <a:r>
              <a:rPr lang="en-IN" sz="1100"/>
              <a:t>Puducherry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f2de33b0d5_0_466"/>
          <p:cNvSpPr txBox="1"/>
          <p:nvPr/>
        </p:nvSpPr>
        <p:spPr>
          <a:xfrm>
            <a:off x="6095700" y="1940223"/>
            <a:ext cx="5400000" cy="36774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811C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400" tIns="152400" rIns="152400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1" i="0" u="none" strike="noStrike" cap="none">
                <a:solidFill>
                  <a:srgbClr val="58AEDB"/>
                </a:solidFill>
                <a:latin typeface="Arial"/>
                <a:ea typeface="Arial"/>
                <a:cs typeface="Arial"/>
                <a:sym typeface="Arial"/>
              </a:rPr>
              <a:t> Difference in Difference(DiD)</a:t>
            </a:r>
            <a:endParaRPr sz="1500" b="0" i="0" u="none" strike="noStrike" cap="none">
              <a:solidFill>
                <a:srgbClr val="58AE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Method: Pre-post Difference-in-Differences + GIS exposure analysis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Group B cities, new bus deployment creates a before-and-after evaluation opportunity. The model will track health-related changes before and after bus services begin, comparing people who become connected to the new bus system with people who remain outside the bus catchment area.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treatment group will include respondents whose home/destination becomes connected to new bus routes or stops. The control group will include similar respondents without direct bus access. The Difference-in-Differences model will estimate the actual impact of bus deployment on active travel, pollution exposure, road-safety risk, commute stress, and health outcomes.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676;g3f2de33b0d5_0_458">
            <a:extLst>
              <a:ext uri="{FF2B5EF4-FFF2-40B4-BE49-F238E27FC236}">
                <a16:creationId xmlns:a16="http://schemas.microsoft.com/office/drawing/2014/main" id="{804DE7EB-C9C2-4607-9D95-9E3FE5A75371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r>
              <a:rPr lang="en-IN" sz="1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36;g3f2de33b0d5_0_143">
            <a:extLst>
              <a:ext uri="{FF2B5EF4-FFF2-40B4-BE49-F238E27FC236}">
                <a16:creationId xmlns:a16="http://schemas.microsoft.com/office/drawing/2014/main" id="{FC67EE1E-574D-4024-A35B-B1E0D9239FD7}"/>
              </a:ext>
            </a:extLst>
          </p:cNvPr>
          <p:cNvSpPr txBox="1">
            <a:spLocks/>
          </p:cNvSpPr>
          <p:nvPr/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300"/>
              </a:spcBef>
            </a:pPr>
            <a:r>
              <a:rPr lang="en-IN"/>
              <a:t>Source: CEEW compilation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2de33b0d5_0_477"/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Common Input Variables across M2 Models</a:t>
            </a:r>
            <a:endParaRPr sz="1600" b="0">
              <a:solidFill>
                <a:srgbClr val="009CD8"/>
              </a:solidFill>
            </a:endParaRPr>
          </a:p>
        </p:txBody>
      </p:sp>
      <p:grpSp>
        <p:nvGrpSpPr>
          <p:cNvPr id="697" name="Google Shape;697;g3f2de33b0d5_0_477"/>
          <p:cNvGrpSpPr/>
          <p:nvPr/>
        </p:nvGrpSpPr>
        <p:grpSpPr>
          <a:xfrm>
            <a:off x="256031" y="858928"/>
            <a:ext cx="11284593" cy="4584384"/>
            <a:chOff x="0" y="118148"/>
            <a:chExt cx="11284593" cy="4584384"/>
          </a:xfrm>
        </p:grpSpPr>
        <p:sp>
          <p:nvSpPr>
            <p:cNvPr id="698" name="Google Shape;698;g3f2de33b0d5_0_477"/>
            <p:cNvSpPr/>
            <p:nvPr/>
          </p:nvSpPr>
          <p:spPr>
            <a:xfrm>
              <a:off x="0" y="118148"/>
              <a:ext cx="3526500" cy="21159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9" name="Google Shape;699;g3f2de33b0d5_0_477"/>
            <p:cNvSpPr txBox="1"/>
            <p:nvPr/>
          </p:nvSpPr>
          <p:spPr>
            <a:xfrm>
              <a:off x="0" y="118148"/>
              <a:ext cx="3526500" cy="2115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IN" sz="1800" b="0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1. Travel Behaviour</a:t>
              </a:r>
              <a:endParaRPr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br>
                <a:rPr lang="en-IN" sz="1800" b="0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</a:br>
              <a:r>
                <a:rPr lang="en-IN" sz="1800" b="0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Current mode, previous mode, trip purpose, trip distance, travel time, travel cost, transfers, bus-use days per week</a:t>
              </a:r>
              <a:endParaRPr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0" name="Google Shape;700;g3f2de33b0d5_0_477"/>
            <p:cNvSpPr/>
            <p:nvPr/>
          </p:nvSpPr>
          <p:spPr>
            <a:xfrm>
              <a:off x="3879046" y="118148"/>
              <a:ext cx="3526500" cy="21159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1" name="Google Shape;701;g3f2de33b0d5_0_477"/>
            <p:cNvSpPr txBox="1"/>
            <p:nvPr/>
          </p:nvSpPr>
          <p:spPr>
            <a:xfrm>
              <a:off x="3879046" y="118148"/>
              <a:ext cx="3526500" cy="2115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IN" sz="1800" b="0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2. Bus Access and Service Quality</a:t>
              </a:r>
              <a:endParaRPr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br>
                <a:rPr lang="en-IN" sz="1800" b="0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</a:br>
              <a:r>
                <a:rPr lang="en-IN" sz="1800" b="0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Distance to nearest bus stop, access/egress walking time, bus frequency, waiting time, reliability, crowding, fare, safety, comfort</a:t>
              </a:r>
              <a:endParaRPr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2" name="Google Shape;702;g3f2de33b0d5_0_477"/>
            <p:cNvSpPr/>
            <p:nvPr/>
          </p:nvSpPr>
          <p:spPr>
            <a:xfrm>
              <a:off x="7758093" y="118148"/>
              <a:ext cx="3526500" cy="21159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3" name="Google Shape;703;g3f2de33b0d5_0_477"/>
            <p:cNvSpPr txBox="1"/>
            <p:nvPr/>
          </p:nvSpPr>
          <p:spPr>
            <a:xfrm>
              <a:off x="7758093" y="118148"/>
              <a:ext cx="3526500" cy="2115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3. Road Injury Reduction Variables</a:t>
              </a: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b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</a:br>
              <a: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Previous mode risk, near-miss experience, crash/injury history, unsafe crossing near bus stop, footpath availability, lighting, crash hotspot exposure</a:t>
              </a: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4" name="Google Shape;704;g3f2de33b0d5_0_477"/>
            <p:cNvSpPr/>
            <p:nvPr/>
          </p:nvSpPr>
          <p:spPr>
            <a:xfrm>
              <a:off x="0" y="2586632"/>
              <a:ext cx="3526500" cy="21159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5" name="Google Shape;705;g3f2de33b0d5_0_477"/>
            <p:cNvSpPr txBox="1"/>
            <p:nvPr/>
          </p:nvSpPr>
          <p:spPr>
            <a:xfrm>
              <a:off x="0" y="2586632"/>
              <a:ext cx="3526500" cy="2115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4. GIS / Spatial Inputs</a:t>
              </a: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b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</a:br>
              <a: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Home lat-long, destination lat-long, bus stop location, route alignment, 500 m catchment, PM2.5 layer, crash hotspot location</a:t>
              </a: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6" name="Google Shape;706;g3f2de33b0d5_0_477"/>
            <p:cNvSpPr/>
            <p:nvPr/>
          </p:nvSpPr>
          <p:spPr>
            <a:xfrm>
              <a:off x="3879046" y="2586632"/>
              <a:ext cx="3526500" cy="21159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7" name="Google Shape;707;g3f2de33b0d5_0_477"/>
            <p:cNvSpPr txBox="1"/>
            <p:nvPr/>
          </p:nvSpPr>
          <p:spPr>
            <a:xfrm>
              <a:off x="3879046" y="2586632"/>
              <a:ext cx="3526500" cy="2115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5. Pollution Reduction Variables</a:t>
              </a: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b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</a:br>
              <a: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Previous private vehicle mode, vehicle-km reduced, route-level PM2.5/NO2 exposure, roadside waiting exposure, exposure before and after bus use</a:t>
              </a: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8" name="Google Shape;708;g3f2de33b0d5_0_477"/>
            <p:cNvSpPr/>
            <p:nvPr/>
          </p:nvSpPr>
          <p:spPr>
            <a:xfrm>
              <a:off x="7758093" y="2586632"/>
              <a:ext cx="3526500" cy="21159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9" name="Google Shape;709;g3f2de33b0d5_0_477"/>
            <p:cNvSpPr txBox="1"/>
            <p:nvPr/>
          </p:nvSpPr>
          <p:spPr>
            <a:xfrm>
              <a:off x="7758093" y="2586632"/>
              <a:ext cx="3526500" cy="2115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6. Control Variables</a:t>
              </a: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b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</a:br>
              <a:r>
                <a:rPr lang="en-IN" sz="1800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Age, gender, income, education, occupation, vehicle ownership, disability/mobility limitation, city/ward, baseline health condition</a:t>
              </a:r>
              <a:endParaRPr sz="18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10" name="Google Shape;710;g3f2de33b0d5_0_477"/>
          <p:cNvSpPr txBox="1"/>
          <p:nvPr/>
        </p:nvSpPr>
        <p:spPr>
          <a:xfrm>
            <a:off x="256031" y="5462796"/>
            <a:ext cx="1063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across models</a:t>
            </a:r>
            <a:b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inputs feed ITHIM, HIA/CRA, DiD, GLM/Regression, Ordered Logit, and GIS exposure models to estimate active travel gains, pollution reduction, injury reduction, stress reduction, DALYs averted, and hospitalisation cost savings.</a:t>
            </a:r>
            <a:endParaRPr/>
          </a:p>
        </p:txBody>
      </p:sp>
      <p:sp>
        <p:nvSpPr>
          <p:cNvPr id="19" name="Google Shape;676;g3f2de33b0d5_0_458">
            <a:extLst>
              <a:ext uri="{FF2B5EF4-FFF2-40B4-BE49-F238E27FC236}">
                <a16:creationId xmlns:a16="http://schemas.microsoft.com/office/drawing/2014/main" id="{AD372E9C-BA41-4634-96CE-A8BE0A9DC407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r>
              <a:rPr lang="en-IN" sz="1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36;g3f2de33b0d5_0_143">
            <a:extLst>
              <a:ext uri="{FF2B5EF4-FFF2-40B4-BE49-F238E27FC236}">
                <a16:creationId xmlns:a16="http://schemas.microsoft.com/office/drawing/2014/main" id="{154DD07B-D17A-4EEE-8C75-DF92681AD886}"/>
              </a:ext>
            </a:extLst>
          </p:cNvPr>
          <p:cNvSpPr txBox="1">
            <a:spLocks/>
          </p:cNvSpPr>
          <p:nvPr/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300"/>
              </a:spcBef>
            </a:pPr>
            <a:r>
              <a:rPr lang="en-IN"/>
              <a:t>Source: CEEW compilation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f2de33b0d5_0_498"/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Expected Outputs from M2: Health Co-benefits Model</a:t>
            </a:r>
            <a:endParaRPr sz="1600" b="0">
              <a:solidFill>
                <a:srgbClr val="009CD8"/>
              </a:solidFill>
            </a:endParaRPr>
          </a:p>
        </p:txBody>
      </p:sp>
      <p:grpSp>
        <p:nvGrpSpPr>
          <p:cNvPr id="719" name="Google Shape;719;g3f2de33b0d5_0_498"/>
          <p:cNvGrpSpPr/>
          <p:nvPr/>
        </p:nvGrpSpPr>
        <p:grpSpPr>
          <a:xfrm>
            <a:off x="346189" y="744422"/>
            <a:ext cx="11359862" cy="4614988"/>
            <a:chOff x="90158" y="3642"/>
            <a:chExt cx="11359862" cy="4614988"/>
          </a:xfrm>
        </p:grpSpPr>
        <p:sp>
          <p:nvSpPr>
            <p:cNvPr id="720" name="Google Shape;720;g3f2de33b0d5_0_498"/>
            <p:cNvSpPr/>
            <p:nvPr/>
          </p:nvSpPr>
          <p:spPr>
            <a:xfrm>
              <a:off x="90158" y="3642"/>
              <a:ext cx="3549900" cy="2130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1" name="Google Shape;721;g3f2de33b0d5_0_498"/>
            <p:cNvSpPr txBox="1"/>
            <p:nvPr/>
          </p:nvSpPr>
          <p:spPr>
            <a:xfrm>
              <a:off x="90158" y="3642"/>
              <a:ext cx="3549900" cy="213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Active Travel Benefits</a:t>
              </a:r>
              <a:endParaRPr dirty="0">
                <a:solidFill>
                  <a:schemeClr val="dk1"/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b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Extra walking minutes gained through bus access and egress</a:t>
              </a:r>
              <a:b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Share of users achieving recommended daily physical activity</a:t>
              </a:r>
              <a:b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DALYs averted from increased physical activity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722" name="Google Shape;722;g3f2de33b0d5_0_498"/>
            <p:cNvSpPr/>
            <p:nvPr/>
          </p:nvSpPr>
          <p:spPr>
            <a:xfrm>
              <a:off x="3995139" y="3642"/>
              <a:ext cx="3549900" cy="2130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723" name="Google Shape;723;g3f2de33b0d5_0_498"/>
            <p:cNvSpPr txBox="1"/>
            <p:nvPr/>
          </p:nvSpPr>
          <p:spPr>
            <a:xfrm>
              <a:off x="3995139" y="3642"/>
              <a:ext cx="3549900" cy="213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Air Pollution Benefits</a:t>
              </a:r>
              <a:endParaRPr>
                <a:solidFill>
                  <a:schemeClr val="dk1"/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Reduction in PM2.5 / NO2 exposure during commute</a:t>
              </a: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Reduction in private vehicle-km due to bus mode shift</a:t>
              </a: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Respiratory and cardiovascular health-risk reduction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4" name="Google Shape;724;g3f2de33b0d5_0_498"/>
            <p:cNvSpPr/>
            <p:nvPr/>
          </p:nvSpPr>
          <p:spPr>
            <a:xfrm>
              <a:off x="7900120" y="3642"/>
              <a:ext cx="3549900" cy="2130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5" name="Google Shape;725;g3f2de33b0d5_0_498"/>
            <p:cNvSpPr txBox="1"/>
            <p:nvPr/>
          </p:nvSpPr>
          <p:spPr>
            <a:xfrm>
              <a:off x="7900120" y="3642"/>
              <a:ext cx="3549900" cy="213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Road Safety Benefits</a:t>
              </a:r>
              <a:endParaRPr dirty="0">
                <a:solidFill>
                  <a:schemeClr val="dk1"/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b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Reduction in crash and injury exposure after shifting to bus</a:t>
              </a:r>
              <a:b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Near-miss / injury risk reduction for bus users</a:t>
              </a:r>
              <a:b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Fatalities and serious injuries avoided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726" name="Google Shape;726;g3f2de33b0d5_0_498"/>
            <p:cNvSpPr/>
            <p:nvPr/>
          </p:nvSpPr>
          <p:spPr>
            <a:xfrm>
              <a:off x="2042648" y="2488630"/>
              <a:ext cx="3549900" cy="2130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7" name="Google Shape;727;g3f2de33b0d5_0_498"/>
            <p:cNvSpPr txBox="1"/>
            <p:nvPr/>
          </p:nvSpPr>
          <p:spPr>
            <a:xfrm>
              <a:off x="2042648" y="2488630"/>
              <a:ext cx="3549900" cy="213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Commute Stress Benefits</a:t>
              </a:r>
              <a:endParaRPr>
                <a:solidFill>
                  <a:schemeClr val="dk1"/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Reduction in commute stress score</a:t>
              </a: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Reduction in high-stress commuters</a:t>
              </a: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Improved perceived safety, reliability, comfort and affordability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8" name="Google Shape;728;g3f2de33b0d5_0_498"/>
            <p:cNvSpPr/>
            <p:nvPr/>
          </p:nvSpPr>
          <p:spPr>
            <a:xfrm>
              <a:off x="5947630" y="2488630"/>
              <a:ext cx="3549900" cy="2130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9" name="Google Shape;729;g3f2de33b0d5_0_498"/>
            <p:cNvSpPr txBox="1"/>
            <p:nvPr/>
          </p:nvSpPr>
          <p:spPr>
            <a:xfrm>
              <a:off x="5947630" y="2488630"/>
              <a:ext cx="3549900" cy="213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Monetised Health Benefits</a:t>
              </a:r>
              <a:endParaRPr>
                <a:solidFill>
                  <a:schemeClr val="dk1"/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Hospitalisation cost saved</a:t>
              </a: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Economic value of DALYs averted</a:t>
              </a:r>
              <a:b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IN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Health return on bus investment / Health SROI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730" name="Google Shape;730;g3f2de33b0d5_0_498"/>
          <p:cNvSpPr txBox="1"/>
          <p:nvPr/>
        </p:nvSpPr>
        <p:spPr>
          <a:xfrm>
            <a:off x="395707" y="5363042"/>
            <a:ext cx="10635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 Output Format: City-wise health co-benefits</a:t>
            </a:r>
            <a:b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Group-wise benefits by gender, income and vulnerability</a:t>
            </a:r>
            <a:b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Comparison of Group A and Group B cities</a:t>
            </a:r>
            <a:b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Policy-ready indicators for MRV dashboard</a:t>
            </a:r>
            <a:endParaRPr dirty="0"/>
          </a:p>
        </p:txBody>
      </p:sp>
      <p:sp>
        <p:nvSpPr>
          <p:cNvPr id="17" name="Google Shape;676;g3f2de33b0d5_0_458">
            <a:extLst>
              <a:ext uri="{FF2B5EF4-FFF2-40B4-BE49-F238E27FC236}">
                <a16:creationId xmlns:a16="http://schemas.microsoft.com/office/drawing/2014/main" id="{382D19D1-72AB-44CF-8916-90E24C63739E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r>
              <a:rPr lang="en-IN" sz="1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336;g3f2de33b0d5_0_143">
            <a:extLst>
              <a:ext uri="{FF2B5EF4-FFF2-40B4-BE49-F238E27FC236}">
                <a16:creationId xmlns:a16="http://schemas.microsoft.com/office/drawing/2014/main" id="{DD3F47DA-68AC-4737-8C39-7AC590DF578A}"/>
              </a:ext>
            </a:extLst>
          </p:cNvPr>
          <p:cNvSpPr txBox="1">
            <a:spLocks/>
          </p:cNvSpPr>
          <p:nvPr/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300"/>
              </a:spcBef>
            </a:pPr>
            <a:r>
              <a:rPr lang="en-IN"/>
              <a:t>Source: CEEW compilation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2de33b0d5_0_556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Criteria for study geography selection</a:t>
            </a:r>
            <a:endParaRPr/>
          </a:p>
        </p:txBody>
      </p:sp>
      <p:sp>
        <p:nvSpPr>
          <p:cNvPr id="736" name="Google Shape;736;g3f2de33b0d5_0_556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737" name="Google Shape;737;g3f2de33b0d5_0_556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21</a:t>
            </a:fld>
            <a:r>
              <a:rPr lang="en-IN"/>
              <a:t>|</a:t>
            </a:r>
            <a:endParaRPr/>
          </a:p>
        </p:txBody>
      </p:sp>
      <p:sp>
        <p:nvSpPr>
          <p:cNvPr id="738" name="Google Shape;738;g3f2de33b0d5_0_556"/>
          <p:cNvSpPr txBox="1"/>
          <p:nvPr/>
        </p:nvSpPr>
        <p:spPr>
          <a:xfrm>
            <a:off x="1218775" y="988525"/>
            <a:ext cx="5072700" cy="4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Population: </a:t>
            </a:r>
            <a:r>
              <a:rPr lang="en-IN" sz="160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Below 10 lakh</a:t>
            </a:r>
            <a:r>
              <a:rPr lang="en-IN" sz="150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IN" sz="15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10 to 40 lakh - </a:t>
            </a:r>
            <a:r>
              <a:rPr lang="en-IN" sz="15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Large</a:t>
            </a:r>
            <a: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40 lakh to 1 Crore - </a:t>
            </a:r>
            <a:r>
              <a:rPr lang="en-IN" sz="15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Metro</a:t>
            </a:r>
            <a: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1 Crore and above - </a:t>
            </a:r>
            <a:r>
              <a:rPr lang="en-IN" sz="15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Mega</a:t>
            </a:r>
            <a: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 b="0" i="0" u="none" strike="noStrike" cap="none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Socio-economic status (annual per capita income): </a:t>
            </a:r>
            <a:r>
              <a:rPr lang="en-IN" sz="16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Below INR 95000 - Low income, INR 95000 to 370000 - Lower middle income, Above INR 370000 - Upper middle income</a:t>
            </a:r>
            <a: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 b="0" i="0" u="none" strike="noStrike" cap="none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Extent of PT supply(Buses per lakh population): </a:t>
            </a:r>
            <a:r>
              <a:rPr lang="en-IN" sz="16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Above 60 - LOS 1, 40 to 60 - LOS 2, 20 to 40 - LOS 3, Below 20 - LOS 4</a:t>
            </a:r>
            <a:endParaRPr sz="1600" b="1" i="0" u="none" strike="noStrike" cap="none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Annual PM2.5 levels: </a:t>
            </a:r>
            <a:r>
              <a:rPr lang="en-IN" sz="16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Below 40 </a:t>
            </a:r>
            <a:r>
              <a:rPr lang="en-IN" sz="1600" b="1" i="0" u="none" strike="noStrike" cap="none" dirty="0" err="1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μg</a:t>
            </a:r>
            <a:r>
              <a:rPr lang="en-IN" sz="16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/m3 - Compliant, Above 40 </a:t>
            </a:r>
            <a:r>
              <a:rPr lang="en-IN" sz="1600" b="1" i="0" u="none" strike="noStrike" cap="none" dirty="0" err="1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μg</a:t>
            </a:r>
            <a:r>
              <a:rPr lang="en-IN" sz="16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/m3 - Non-compliant </a:t>
            </a:r>
            <a:br>
              <a:rPr lang="en-IN" sz="16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i="0" u="none" strike="noStrike" cap="none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0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Climate vulnerability </a:t>
            </a:r>
            <a:r>
              <a:rPr lang="en-IN" sz="1600" b="1" i="0" u="none" strike="noStrike" cap="none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(exposure to events - floods, droughts, cyclones): [High(0.41-1), Medium(0.21-0.40), Low(0.00-0.20)]</a:t>
            </a:r>
            <a:endParaRPr sz="1600" b="1" i="0" u="none" strike="noStrike" cap="none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9" name="Google Shape;739;g3f2de33b0d5_0_556" title="grou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516" y="988525"/>
            <a:ext cx="714426" cy="7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g3f2de33b0d5_0_556" title="money-exchan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516" y="2014850"/>
            <a:ext cx="714426" cy="7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g3f2de33b0d5_0_556" title="bu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518" y="3071797"/>
            <a:ext cx="714426" cy="7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g3f2de33b0d5_0_556" title="air-pollution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9568" y="4050184"/>
            <a:ext cx="864325" cy="86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g3f2de33b0d5_0_556" title="climate-chan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825" y="5009250"/>
            <a:ext cx="864325" cy="864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A962F1-76B3-40B9-920D-0B2F6B71F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69401"/>
              </p:ext>
            </p:extLst>
          </p:nvPr>
        </p:nvGraphicFramePr>
        <p:xfrm>
          <a:off x="6886575" y="984125"/>
          <a:ext cx="4793632" cy="4889450"/>
        </p:xfrm>
        <a:graphic>
          <a:graphicData uri="http://schemas.openxmlformats.org/drawingml/2006/table">
            <a:tbl>
              <a:tblPr firstRow="1" firstCol="1" bandRow="1">
                <a:tableStyleId>{84079B24-CE5E-4152-BB4C-792983D8DC11}</a:tableStyleId>
              </a:tblPr>
              <a:tblGrid>
                <a:gridCol w="1298594">
                  <a:extLst>
                    <a:ext uri="{9D8B030D-6E8A-4147-A177-3AD203B41FA5}">
                      <a16:colId xmlns:a16="http://schemas.microsoft.com/office/drawing/2014/main" val="575457595"/>
                    </a:ext>
                  </a:extLst>
                </a:gridCol>
                <a:gridCol w="3495038">
                  <a:extLst>
                    <a:ext uri="{9D8B030D-6E8A-4147-A177-3AD203B41FA5}">
                      <a16:colId xmlns:a16="http://schemas.microsoft.com/office/drawing/2014/main" val="1625155714"/>
                    </a:ext>
                  </a:extLst>
                </a:gridCol>
              </a:tblGrid>
              <a:tr h="3055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Non-negotiable characteristics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5528955"/>
                  </a:ext>
                </a:extLst>
              </a:tr>
              <a:tr h="213913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 A: Cities with operational bus systems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 system must have been operational for at least 2–3 years (so baseline behaviour has stabilised, not still in adoption/novelty phase)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Route and ridership data must be retrievable (GTFS, STU records, or at minimum, manual counts)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4202185"/>
                  </a:ext>
                </a:extLst>
              </a:tr>
              <a:tr h="24447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 B: Cities where buses are soon to be deployed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Deployment date must be confirmed and fall within the data collection window — not "planned" or "under discussion." If the launch could slip past the study period, </a:t>
                      </a:r>
                      <a:r>
                        <a:rPr lang="en-IN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DiD</a:t>
                      </a:r>
                      <a:r>
                        <a:rPr lang="en-IN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becomes unusable, and you lose the pre/post comparison entirely. A pre-deployment baseline survey must still be feasible.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386169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f2de33b0d5_0_569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 dirty="0"/>
              <a:t>Geographies in focus</a:t>
            </a:r>
            <a:endParaRPr dirty="0"/>
          </a:p>
        </p:txBody>
      </p:sp>
      <p:sp>
        <p:nvSpPr>
          <p:cNvPr id="750" name="Google Shape;750;g3f2de33b0d5_0_569"/>
          <p:cNvSpPr txBox="1">
            <a:spLocks noGrp="1"/>
          </p:cNvSpPr>
          <p:nvPr>
            <p:ph type="body" idx="1"/>
          </p:nvPr>
        </p:nvSpPr>
        <p:spPr>
          <a:xfrm>
            <a:off x="395700" y="901250"/>
            <a:ext cx="5584764" cy="48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5079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1600" b="1" dirty="0"/>
              <a:t>Group A: Cities with bus systems</a:t>
            </a:r>
            <a:endParaRPr dirty="0"/>
          </a:p>
          <a:p>
            <a:pPr marL="5079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b="1" dirty="0"/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 dirty="0">
                <a:solidFill>
                  <a:schemeClr val="accent1"/>
                </a:solidFill>
              </a:rPr>
              <a:t>Bengaluru: A megacity in South India featuring </a:t>
            </a:r>
            <a:endParaRPr b="1" dirty="0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Presence of BMTC/DULT like agencies which excel in urban bus management</a:t>
            </a:r>
            <a:endParaRPr dirty="0"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An essential site for studying resilience amid vulnerabilities, such as seasonal flooding and congestion</a:t>
            </a:r>
            <a:endParaRPr dirty="0"/>
          </a:p>
          <a:p>
            <a:pPr marL="507999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400" dirty="0"/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 dirty="0">
                <a:solidFill>
                  <a:schemeClr val="accent1"/>
                </a:solidFill>
              </a:rPr>
              <a:t>Jaipur: One of the fastest-growing cities in Northern India with</a:t>
            </a:r>
            <a:endParaRPr b="1" dirty="0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A fleet of buses operational for more than 10 years, and new bus inductions are scheduled in the coming year</a:t>
            </a:r>
            <a:endParaRPr dirty="0"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A heavy tourist population mix in its service coverage</a:t>
            </a:r>
            <a:endParaRPr dirty="0"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Heavy air pollution during the winter season</a:t>
            </a:r>
          </a:p>
          <a:p>
            <a:pPr marL="507999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050" dirty="0"/>
          </a:p>
          <a:p>
            <a:pPr marL="507999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400" dirty="0"/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 dirty="0">
                <a:solidFill>
                  <a:schemeClr val="accent1"/>
                </a:solidFill>
              </a:rPr>
              <a:t>Bhubaneswar: An emerging city in eastern India with </a:t>
            </a:r>
            <a:endParaRPr b="1" dirty="0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A modern, award-winning, tech-enabled, inclusive transit system under CRUT like agencies</a:t>
            </a:r>
            <a:endParaRPr dirty="0"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High climate vulnerability, especially heavy rains and cyclones.</a:t>
            </a:r>
            <a:endParaRPr sz="1400" dirty="0"/>
          </a:p>
        </p:txBody>
      </p:sp>
      <p:sp>
        <p:nvSpPr>
          <p:cNvPr id="751" name="Google Shape;751;g3f2de33b0d5_0_569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752" name="Google Shape;752;g3f2de33b0d5_0_569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22</a:t>
            </a:fld>
            <a:r>
              <a:rPr lang="en-IN"/>
              <a:t>|</a:t>
            </a:r>
            <a:endParaRPr/>
          </a:p>
        </p:txBody>
      </p:sp>
      <p:pic>
        <p:nvPicPr>
          <p:cNvPr id="753" name="Google Shape;753;g3f2de33b0d5_0_5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4258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g3f2de33b0d5_0_569"/>
          <p:cNvSpPr txBox="1"/>
          <p:nvPr/>
        </p:nvSpPr>
        <p:spPr>
          <a:xfrm>
            <a:off x="6947300" y="1829637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6500-7000 buses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f2de33b0d5_0_569"/>
          <p:cNvSpPr txBox="1"/>
          <p:nvPr/>
        </p:nvSpPr>
        <p:spPr>
          <a:xfrm>
            <a:off x="9499439" y="1716139"/>
            <a:ext cx="17307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 million </a:t>
            </a:r>
            <a:r>
              <a:rPr lang="en-IN" sz="1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i="1" dirty="0">
                <a:latin typeface="Calibri"/>
                <a:ea typeface="Calibri"/>
                <a:cs typeface="Calibri"/>
                <a:sym typeface="Calibri"/>
              </a:rPr>
              <a:t>Mega city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6" name="Google Shape;756;g3f2de33b0d5_0_5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29094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7" name="Google Shape;757;g3f2de33b0d5_0_569"/>
          <p:cNvCxnSpPr/>
          <p:nvPr/>
        </p:nvCxnSpPr>
        <p:spPr>
          <a:xfrm>
            <a:off x="477325" y="2717874"/>
            <a:ext cx="1109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58" name="Google Shape;758;g3f2de33b0d5_0_569"/>
          <p:cNvCxnSpPr/>
          <p:nvPr/>
        </p:nvCxnSpPr>
        <p:spPr>
          <a:xfrm>
            <a:off x="434895" y="4380203"/>
            <a:ext cx="1109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759" name="Google Shape;759;g3f2de33b0d5_0_5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9258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g3f2de33b0d5_0_569"/>
          <p:cNvSpPr txBox="1"/>
          <p:nvPr/>
        </p:nvSpPr>
        <p:spPr>
          <a:xfrm>
            <a:off x="7002300" y="3179599"/>
            <a:ext cx="15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300-400 buses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(+450 in coming years)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3f2de33b0d5_0_569"/>
          <p:cNvSpPr txBox="1"/>
          <p:nvPr/>
        </p:nvSpPr>
        <p:spPr>
          <a:xfrm>
            <a:off x="9557124" y="3291173"/>
            <a:ext cx="186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4.5 million </a:t>
            </a:r>
            <a:r>
              <a:rPr lang="en-IN" sz="1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i="1" dirty="0">
                <a:latin typeface="Calibri"/>
                <a:ea typeface="Calibri"/>
                <a:cs typeface="Calibri"/>
                <a:sym typeface="Calibri"/>
              </a:rPr>
              <a:t>Metro city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2" name="Google Shape;762;g3f2de33b0d5_0_5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4094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g3f2de33b0d5_0_5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9258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g3f2de33b0d5_0_569"/>
          <p:cNvSpPr txBox="1"/>
          <p:nvPr/>
        </p:nvSpPr>
        <p:spPr>
          <a:xfrm>
            <a:off x="7002300" y="4865512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500+ buses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3f2de33b0d5_0_569"/>
          <p:cNvSpPr txBox="1"/>
          <p:nvPr/>
        </p:nvSpPr>
        <p:spPr>
          <a:xfrm>
            <a:off x="9557124" y="4752941"/>
            <a:ext cx="186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1.4 million </a:t>
            </a:r>
            <a:r>
              <a:rPr lang="en-IN" sz="1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i="1" dirty="0">
                <a:latin typeface="Calibri"/>
                <a:ea typeface="Calibri"/>
                <a:cs typeface="Calibri"/>
                <a:sym typeface="Calibri"/>
              </a:rPr>
              <a:t>Large city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6" name="Google Shape;766;g3f2de33b0d5_0_5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4094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F955C45-BDE0-4BEC-A639-D064112F2BF8}"/>
              </a:ext>
            </a:extLst>
          </p:cNvPr>
          <p:cNvSpPr/>
          <p:nvPr/>
        </p:nvSpPr>
        <p:spPr>
          <a:xfrm>
            <a:off x="477325" y="4380203"/>
            <a:ext cx="11102450" cy="1460858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8344A-697B-455D-9182-01F82747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B cities – Comprehensive list shared in inception report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BAE2C-B799-47B6-B4E3-D35BC0DB7AE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Source: CEEW compilation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FE4AE-28A1-4686-8AED-10AA1E210B6C}"/>
              </a:ext>
            </a:extLst>
          </p:cNvPr>
          <p:cNvSpPr/>
          <p:nvPr/>
        </p:nvSpPr>
        <p:spPr>
          <a:xfrm>
            <a:off x="395707" y="750744"/>
            <a:ext cx="11546757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75756"/>
                </a:solidFill>
                <a:latin typeface="Calibri" panose="020F0502020204030204" pitchFamily="34" charset="0"/>
              </a:rPr>
              <a:t>Group B: Cities with no operational bus systems</a:t>
            </a:r>
            <a:endParaRPr lang="en-US" dirty="0"/>
          </a:p>
          <a:p>
            <a:br>
              <a:rPr lang="en-US" dirty="0"/>
            </a:br>
            <a:r>
              <a:rPr lang="en-US" b="1" dirty="0">
                <a:solidFill>
                  <a:srgbClr val="009ED8"/>
                </a:solidFill>
                <a:latin typeface="Calibri" panose="020F0502020204030204" pitchFamily="34" charset="0"/>
              </a:rPr>
              <a:t>Jodhpur: Blue City, Tourism Hotspot</a:t>
            </a:r>
            <a:endParaRPr lang="en-US" dirty="0"/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Major tourism and heritage city known for </a:t>
            </a:r>
            <a:r>
              <a:rPr lang="en-US" dirty="0" err="1">
                <a:solidFill>
                  <a:srgbClr val="666666"/>
                </a:solidFill>
                <a:latin typeface="Calibri" panose="020F0502020204030204" pitchFamily="34" charset="0"/>
              </a:rPr>
              <a:t>Mehrangarh</a:t>
            </a: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 Fort and the “Blue City” landscape.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Important regional </a:t>
            </a:r>
            <a:r>
              <a:rPr lang="en-US" dirty="0" err="1">
                <a:solidFill>
                  <a:srgbClr val="666666"/>
                </a:solidFill>
                <a:latin typeface="Calibri" panose="020F0502020204030204" pitchFamily="34" charset="0"/>
              </a:rPr>
              <a:t>centre</a:t>
            </a: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 for handicrafts, </a:t>
            </a:r>
            <a:r>
              <a:rPr lang="en-US" dirty="0" err="1">
                <a:solidFill>
                  <a:srgbClr val="666666"/>
                </a:solidFill>
                <a:latin typeface="Calibri" panose="020F0502020204030204" pitchFamily="34" charset="0"/>
              </a:rPr>
              <a:t>defence</a:t>
            </a: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 establishments, and desert trade.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br>
              <a:rPr lang="en-US" dirty="0"/>
            </a:br>
            <a:r>
              <a:rPr lang="en-US" b="1" dirty="0">
                <a:solidFill>
                  <a:srgbClr val="009ED8"/>
                </a:solidFill>
                <a:latin typeface="Calibri" panose="020F0502020204030204" pitchFamily="34" charset="0"/>
              </a:rPr>
              <a:t>Haridwar: One of the important Hindu pilgrimage Cities</a:t>
            </a:r>
            <a:endParaRPr lang="en-US" dirty="0"/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One of the seven holiest Hindu pilgrimage cities situated along the Ganga River.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Hosts major religious gatherings like </a:t>
            </a:r>
            <a:r>
              <a:rPr lang="en-US" dirty="0" err="1">
                <a:solidFill>
                  <a:srgbClr val="666666"/>
                </a:solidFill>
                <a:latin typeface="Calibri" panose="020F0502020204030204" pitchFamily="34" charset="0"/>
              </a:rPr>
              <a:t>Kumbh</a:t>
            </a: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 Mela and attracts millions of tourists annually.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br>
              <a:rPr lang="en-US" dirty="0"/>
            </a:br>
            <a:r>
              <a:rPr lang="en-US" b="1" dirty="0">
                <a:solidFill>
                  <a:srgbClr val="009ED8"/>
                </a:solidFill>
                <a:latin typeface="Calibri" panose="020F0502020204030204" pitchFamily="34" charset="0"/>
              </a:rPr>
              <a:t>Gaya: A globally significant Buddhist and Hindu pilgrimage city </a:t>
            </a:r>
            <a:endParaRPr lang="en-US" dirty="0"/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Important religious destination for both Hindu rituals and Buddhist pilgrimage tourism.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Home to nearby Bodh Gaya, where Gautama Buddha attained enlightenment.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br>
              <a:rPr lang="en-US" dirty="0"/>
            </a:br>
            <a:r>
              <a:rPr lang="en-US" b="1" dirty="0">
                <a:solidFill>
                  <a:srgbClr val="009ED8"/>
                </a:solidFill>
                <a:latin typeface="Calibri" panose="020F0502020204030204" pitchFamily="34" charset="0"/>
              </a:rPr>
              <a:t>Bilaspur: An important railway, educational, and administrative hub </a:t>
            </a:r>
            <a:endParaRPr lang="en-US" dirty="0"/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Key railway and administrative hub in central India with strong regional connectivity.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Emerging educational and commercial </a:t>
            </a:r>
            <a:r>
              <a:rPr lang="en-US" dirty="0" err="1">
                <a:solidFill>
                  <a:srgbClr val="666666"/>
                </a:solidFill>
                <a:latin typeface="Calibri" panose="020F0502020204030204" pitchFamily="34" charset="0"/>
              </a:rPr>
              <a:t>centre</a:t>
            </a: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 supporting nearby industrial and mining regions.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br>
              <a:rPr lang="en-US" dirty="0"/>
            </a:br>
            <a:r>
              <a:rPr lang="en-US" b="1" dirty="0">
                <a:solidFill>
                  <a:srgbClr val="009ED8"/>
                </a:solidFill>
                <a:latin typeface="Calibri" panose="020F0502020204030204" pitchFamily="34" charset="0"/>
              </a:rPr>
              <a:t>Tirupati: prominent pilgrimage and temple city in Andhra Pradesh </a:t>
            </a:r>
            <a:endParaRPr lang="en-US" dirty="0"/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Home to the Tirumala </a:t>
            </a:r>
            <a:r>
              <a:rPr lang="en-US" dirty="0" err="1">
                <a:solidFill>
                  <a:srgbClr val="666666"/>
                </a:solidFill>
                <a:latin typeface="Calibri" panose="020F0502020204030204" pitchFamily="34" charset="0"/>
              </a:rPr>
              <a:t>Venkateswara</a:t>
            </a: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 Temple, one of the world’s most visited temples.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Growing educational and tourism economy supported by religious travel.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br>
              <a:rPr lang="en-US" dirty="0"/>
            </a:br>
            <a:r>
              <a:rPr lang="en-US" b="1" dirty="0">
                <a:solidFill>
                  <a:srgbClr val="009ED8"/>
                </a:solidFill>
                <a:latin typeface="Calibri" panose="020F0502020204030204" pitchFamily="34" charset="0"/>
              </a:rPr>
              <a:t>Puducherry: coastal union territory city with French Colonial heritage and tourism </a:t>
            </a:r>
            <a:endParaRPr lang="en-US" dirty="0"/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Famous for French architecture, beaches, and cultural tourism.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pPr marL="45720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Emerging </a:t>
            </a:r>
            <a:r>
              <a:rPr lang="en-US" dirty="0" err="1">
                <a:solidFill>
                  <a:srgbClr val="666666"/>
                </a:solidFill>
                <a:latin typeface="Calibri" panose="020F0502020204030204" pitchFamily="34" charset="0"/>
              </a:rPr>
              <a:t>centre</a:t>
            </a: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</a:rPr>
              <a:t> for education, wellness tourism, and small-scale industries.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8" name="Google Shape;799;g3f2de33b0d5_0_614">
            <a:extLst>
              <a:ext uri="{FF2B5EF4-FFF2-40B4-BE49-F238E27FC236}">
                <a16:creationId xmlns:a16="http://schemas.microsoft.com/office/drawing/2014/main" id="{31150DAA-C2A8-4FE4-8DAA-E0E912FA0061}"/>
              </a:ext>
            </a:extLst>
          </p:cNvPr>
          <p:cNvSpPr txBox="1">
            <a:spLocks/>
          </p:cNvSpPr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23</a:t>
            </a:fld>
            <a:r>
              <a:rPr lang="en-IN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812454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f2de33b0d5_0_614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 dirty="0"/>
              <a:t>Geographies in focus</a:t>
            </a:r>
            <a:endParaRPr dirty="0"/>
          </a:p>
        </p:txBody>
      </p:sp>
      <p:sp>
        <p:nvSpPr>
          <p:cNvPr id="797" name="Google Shape;797;g3f2de33b0d5_0_614"/>
          <p:cNvSpPr txBox="1">
            <a:spLocks noGrp="1"/>
          </p:cNvSpPr>
          <p:nvPr>
            <p:ph type="body" idx="1"/>
          </p:nvPr>
        </p:nvSpPr>
        <p:spPr>
          <a:xfrm>
            <a:off x="395700" y="901250"/>
            <a:ext cx="5293200" cy="48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5079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1600" b="1" dirty="0"/>
              <a:t>Group B: Cities with soon to be operational bus systems</a:t>
            </a:r>
            <a:endParaRPr dirty="0"/>
          </a:p>
          <a:p>
            <a:pPr marL="5079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b="1" dirty="0"/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 dirty="0">
                <a:solidFill>
                  <a:schemeClr val="accent1"/>
                </a:solidFill>
              </a:rPr>
              <a:t>Jodhpur: An emerging city in North India </a:t>
            </a:r>
            <a:endParaRPr b="1" dirty="0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First-time adopter of formal bus transportation</a:t>
            </a:r>
            <a:endParaRPr dirty="0"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An essential site for studying resilience amid extreme heat and air pollution.</a:t>
            </a:r>
          </a:p>
          <a:p>
            <a:pPr marL="507999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/>
          </a:p>
          <a:p>
            <a:pPr marL="507999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400" dirty="0"/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 dirty="0">
                <a:solidFill>
                  <a:schemeClr val="accent1"/>
                </a:solidFill>
              </a:rPr>
              <a:t>Puducherry: An important tourist destination in South India</a:t>
            </a:r>
            <a:endParaRPr b="1" dirty="0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First-time adopter of electric buses</a:t>
            </a:r>
            <a:endParaRPr sz="1400" dirty="0"/>
          </a:p>
          <a:p>
            <a:pPr marL="914389" lvl="1" indent="-3936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IN" sz="1400" dirty="0"/>
              <a:t>The city faces risks of heavy seasonal rains and frequent flooding</a:t>
            </a:r>
            <a:endParaRPr sz="1600" b="1" dirty="0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600" b="1" dirty="0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600" b="1" dirty="0">
              <a:solidFill>
                <a:schemeClr val="accent1"/>
              </a:solidFill>
            </a:endParaRPr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 dirty="0">
                <a:solidFill>
                  <a:schemeClr val="accent1"/>
                </a:solidFill>
              </a:rPr>
              <a:t>Gandhinagar: One of India’s very few planned cities</a:t>
            </a:r>
            <a:endParaRPr b="1" dirty="0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First time adopter of electric buses</a:t>
            </a: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40 e-buses are already deployed in Phase 1</a:t>
            </a:r>
            <a:endParaRPr sz="1400" dirty="0"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 dirty="0"/>
              <a:t>Have already set up a Special Purpose Vehicle (SPV) for e-bus operations under the PM e-Bus </a:t>
            </a:r>
            <a:r>
              <a:rPr lang="en-IN" sz="1400" dirty="0" err="1"/>
              <a:t>Sewa</a:t>
            </a:r>
            <a:r>
              <a:rPr lang="en-IN" sz="1400" dirty="0"/>
              <a:t> scheme</a:t>
            </a:r>
            <a:endParaRPr sz="1400" dirty="0"/>
          </a:p>
        </p:txBody>
      </p:sp>
      <p:sp>
        <p:nvSpPr>
          <p:cNvPr id="798" name="Google Shape;798;g3f2de33b0d5_0_614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799" name="Google Shape;799;g3f2de33b0d5_0_614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24</a:t>
            </a:fld>
            <a:r>
              <a:rPr lang="en-IN"/>
              <a:t>|</a:t>
            </a:r>
            <a:endParaRPr/>
          </a:p>
        </p:txBody>
      </p:sp>
      <p:pic>
        <p:nvPicPr>
          <p:cNvPr id="800" name="Google Shape;800;g3f2de33b0d5_0_6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4258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g3f2de33b0d5_0_614"/>
          <p:cNvSpPr txBox="1"/>
          <p:nvPr/>
        </p:nvSpPr>
        <p:spPr>
          <a:xfrm>
            <a:off x="6947300" y="1829637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IN"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e-buses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3f2de33b0d5_0_614"/>
          <p:cNvSpPr txBox="1"/>
          <p:nvPr/>
        </p:nvSpPr>
        <p:spPr>
          <a:xfrm>
            <a:off x="9502135" y="1727925"/>
            <a:ext cx="1818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1.2 million </a:t>
            </a:r>
            <a:r>
              <a:rPr lang="en-IN" sz="1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i="1" dirty="0">
                <a:latin typeface="Calibri"/>
                <a:ea typeface="Calibri"/>
                <a:cs typeface="Calibri"/>
                <a:sym typeface="Calibri"/>
              </a:rPr>
              <a:t>Large city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3" name="Google Shape;803;g3f2de33b0d5_0_6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29094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4" name="Google Shape;804;g3f2de33b0d5_0_614"/>
          <p:cNvCxnSpPr/>
          <p:nvPr/>
        </p:nvCxnSpPr>
        <p:spPr>
          <a:xfrm>
            <a:off x="477325" y="2717874"/>
            <a:ext cx="1109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805" name="Google Shape;805;g3f2de33b0d5_0_614"/>
          <p:cNvCxnSpPr/>
          <p:nvPr/>
        </p:nvCxnSpPr>
        <p:spPr>
          <a:xfrm>
            <a:off x="434895" y="4380203"/>
            <a:ext cx="1109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806" name="Google Shape;806;g3f2de33b0d5_0_6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9258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f2de33b0d5_0_614"/>
          <p:cNvSpPr txBox="1"/>
          <p:nvPr/>
        </p:nvSpPr>
        <p:spPr>
          <a:xfrm>
            <a:off x="7002300" y="3395149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75 e-buses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g3f2de33b0d5_0_614"/>
          <p:cNvSpPr txBox="1"/>
          <p:nvPr/>
        </p:nvSpPr>
        <p:spPr>
          <a:xfrm>
            <a:off x="9557124" y="3287449"/>
            <a:ext cx="186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0.35 million </a:t>
            </a:r>
            <a:r>
              <a:rPr lang="en-IN" sz="1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i="1" dirty="0">
                <a:latin typeface="Calibri"/>
                <a:ea typeface="Calibri"/>
                <a:cs typeface="Calibri"/>
                <a:sym typeface="Calibri"/>
              </a:rPr>
              <a:t>Medium city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9" name="Google Shape;809;g3f2de33b0d5_0_6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4094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g3f2de33b0d5_0_6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9258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g3f2de33b0d5_0_614"/>
          <p:cNvSpPr txBox="1"/>
          <p:nvPr/>
        </p:nvSpPr>
        <p:spPr>
          <a:xfrm>
            <a:off x="7002300" y="4865512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e-buses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g3f2de33b0d5_0_614"/>
          <p:cNvSpPr txBox="1"/>
          <p:nvPr/>
        </p:nvSpPr>
        <p:spPr>
          <a:xfrm>
            <a:off x="9557124" y="4757811"/>
            <a:ext cx="186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dirty="0">
                <a:latin typeface="Calibri"/>
                <a:ea typeface="Calibri"/>
                <a:cs typeface="Calibri"/>
                <a:sym typeface="Calibri"/>
              </a:rPr>
              <a:t>0.3</a:t>
            </a:r>
            <a:r>
              <a:rPr lang="en-IN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million </a:t>
            </a:r>
            <a:r>
              <a:rPr lang="en-IN" sz="1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i="1" dirty="0">
                <a:latin typeface="Calibri"/>
                <a:ea typeface="Calibri"/>
                <a:cs typeface="Calibri"/>
                <a:sym typeface="Calibri"/>
              </a:rPr>
              <a:t>Medium city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3" name="Google Shape;813;g3f2de33b0d5_0_6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4094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811;g3f2de33b0d5_0_614">
            <a:extLst>
              <a:ext uri="{FF2B5EF4-FFF2-40B4-BE49-F238E27FC236}">
                <a16:creationId xmlns:a16="http://schemas.microsoft.com/office/drawing/2014/main" id="{0E73EC62-0A7D-4767-BA75-CAEA5049FF0D}"/>
              </a:ext>
            </a:extLst>
          </p:cNvPr>
          <p:cNvSpPr txBox="1"/>
          <p:nvPr/>
        </p:nvSpPr>
        <p:spPr>
          <a:xfrm>
            <a:off x="434895" y="5816855"/>
            <a:ext cx="656740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400"/>
            </a:pPr>
            <a:r>
              <a:rPr lang="en-IN" sz="1600" b="1" i="1" dirty="0">
                <a:latin typeface="Calibri"/>
                <a:ea typeface="Calibri"/>
                <a:cs typeface="Calibri"/>
                <a:sym typeface="Calibri"/>
              </a:rPr>
              <a:t>*MOHUA suggestions - Udaipur</a:t>
            </a:r>
            <a:r>
              <a:rPr lang="en-IN" sz="1600" b="1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Bhavnagar/Jamnagar, Chandigarh</a:t>
            </a:r>
            <a:endParaRPr sz="1600" b="1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g3f2de33b0d5_0_590"/>
          <p:cNvPicPr preferRelativeResize="0"/>
          <p:nvPr/>
        </p:nvPicPr>
        <p:blipFill rotWithShape="1">
          <a:blip r:embed="rId3">
            <a:alphaModFix/>
          </a:blip>
          <a:srcRect l="3223" t="14177" b="10652"/>
          <a:stretch/>
        </p:blipFill>
        <p:spPr>
          <a:xfrm>
            <a:off x="7712170" y="1097577"/>
            <a:ext cx="4244903" cy="466284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g3f2de33b0d5_0_590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 dirty="0">
                <a:solidFill>
                  <a:schemeClr val="accent1"/>
                </a:solidFill>
              </a:rPr>
              <a:t>Our project can create a cumulative benefit assessment for 100+ PM e-Bus </a:t>
            </a:r>
            <a:r>
              <a:rPr lang="en-IN" dirty="0" err="1">
                <a:solidFill>
                  <a:schemeClr val="accent1"/>
                </a:solidFill>
              </a:rPr>
              <a:t>Sewa</a:t>
            </a:r>
            <a:r>
              <a:rPr lang="en-IN" dirty="0">
                <a:solidFill>
                  <a:schemeClr val="accent1"/>
                </a:solidFill>
              </a:rPr>
              <a:t> cities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74" name="Google Shape;774;g3f2de33b0d5_0_590"/>
          <p:cNvSpPr txBox="1">
            <a:spLocks noGrp="1"/>
          </p:cNvSpPr>
          <p:nvPr>
            <p:ph type="body" idx="1"/>
          </p:nvPr>
        </p:nvSpPr>
        <p:spPr>
          <a:xfrm>
            <a:off x="338050" y="919368"/>
            <a:ext cx="34953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IN" sz="1400">
                <a:solidFill>
                  <a:schemeClr val="dk1"/>
                </a:solidFill>
              </a:rPr>
              <a:t>As part of the Government of India’s </a:t>
            </a:r>
            <a:r>
              <a:rPr lang="en-IN" sz="1400" i="1">
                <a:solidFill>
                  <a:schemeClr val="dk1"/>
                </a:solidFill>
              </a:rPr>
              <a:t>PM e-Bus Sewa </a:t>
            </a:r>
            <a:r>
              <a:rPr lang="en-IN" sz="1400">
                <a:solidFill>
                  <a:schemeClr val="dk1"/>
                </a:solidFill>
              </a:rPr>
              <a:t>scheme, </a:t>
            </a:r>
            <a:r>
              <a:rPr lang="en-IN" sz="1400" b="1">
                <a:solidFill>
                  <a:schemeClr val="dk1"/>
                </a:solidFill>
              </a:rPr>
              <a:t>10,000 electric buses will be deployed in 100+ Indian cities</a:t>
            </a:r>
            <a:r>
              <a:rPr lang="en-IN" sz="1400">
                <a:solidFill>
                  <a:schemeClr val="dk1"/>
                </a:solidFill>
              </a:rPr>
              <a:t>. The main criterion for this scheme is a city population between 3 and 40 lakh.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75" name="Google Shape;775;g3f2de33b0d5_0_590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g3f2de33b0d5_0_590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1,2,3. Census 2011; 4. </a:t>
            </a:r>
            <a:r>
              <a:rPr lang="en-IN" u="sng">
                <a:solidFill>
                  <a:schemeClr val="hlink"/>
                </a:solidFill>
                <a:hlinkClick r:id="rId4"/>
              </a:rPr>
              <a:t>PIB 2025</a:t>
            </a:r>
            <a:r>
              <a:rPr lang="en-IN"/>
              <a:t>, 5. </a:t>
            </a:r>
            <a:r>
              <a:rPr lang="en-IN" u="sng">
                <a:solidFill>
                  <a:schemeClr val="hlink"/>
                </a:solidFill>
                <a:hlinkClick r:id="rId5"/>
              </a:rPr>
              <a:t>PIB 2024</a:t>
            </a:r>
            <a:r>
              <a:rPr lang="en-IN"/>
              <a:t>, 6. </a:t>
            </a:r>
            <a:r>
              <a:rPr lang="en-IN" u="sng">
                <a:solidFill>
                  <a:schemeClr val="hlink"/>
                </a:solidFill>
                <a:hlinkClick r:id="rId6"/>
              </a:rPr>
              <a:t>Colliers 2025</a:t>
            </a:r>
            <a:r>
              <a:rPr lang="en-IN"/>
              <a:t>, 7. </a:t>
            </a:r>
            <a:r>
              <a:rPr lang="en-IN" u="sng">
                <a:solidFill>
                  <a:schemeClr val="hlink"/>
                </a:solidFill>
                <a:hlinkClick r:id="rId7"/>
              </a:rPr>
              <a:t>MoEFCC</a:t>
            </a:r>
            <a:r>
              <a:rPr lang="en-IN"/>
              <a:t>; 8. </a:t>
            </a:r>
            <a:r>
              <a:rPr lang="en-IN" u="sng">
                <a:solidFill>
                  <a:schemeClr val="hlink"/>
                </a:solidFill>
                <a:hlinkClick r:id="rId8"/>
              </a:rPr>
              <a:t>Ramanna 2025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UT: Union territory</a:t>
            </a:r>
            <a:endParaRPr/>
          </a:p>
        </p:txBody>
      </p:sp>
      <p:sp>
        <p:nvSpPr>
          <p:cNvPr id="777" name="Google Shape;777;g3f2de33b0d5_0_590"/>
          <p:cNvSpPr txBox="1"/>
          <p:nvPr/>
        </p:nvSpPr>
        <p:spPr>
          <a:xfrm>
            <a:off x="7668124" y="851195"/>
            <a:ext cx="43692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IN" sz="1200" b="0" i="1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Figure 1: PM-eBus Sewa covers 117 cities across 26 states &amp; UTs</a:t>
            </a:r>
            <a:endParaRPr sz="1200" b="0" i="1" u="none" strike="noStrike" cap="non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8" name="Google Shape;778;g3f2de33b0d5_0_59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5707" y="2282662"/>
            <a:ext cx="794001" cy="794001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g3f2de33b0d5_0_590"/>
          <p:cNvSpPr txBox="1"/>
          <p:nvPr/>
        </p:nvSpPr>
        <p:spPr>
          <a:xfrm>
            <a:off x="1189701" y="2310330"/>
            <a:ext cx="2643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India has 450+ cities with a population above 1 lakh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I cities</a:t>
            </a:r>
            <a:r>
              <a:rPr lang="en-IN" sz="14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0" name="Google Shape;780;g3f2de33b0d5_0_590"/>
          <p:cNvGrpSpPr/>
          <p:nvPr/>
        </p:nvGrpSpPr>
        <p:grpSpPr>
          <a:xfrm>
            <a:off x="792706" y="3165565"/>
            <a:ext cx="255792" cy="2540208"/>
            <a:chOff x="792706" y="1871330"/>
            <a:chExt cx="255792" cy="1510500"/>
          </a:xfrm>
        </p:grpSpPr>
        <p:cxnSp>
          <p:nvCxnSpPr>
            <p:cNvPr id="781" name="Google Shape;781;g3f2de33b0d5_0_590"/>
            <p:cNvCxnSpPr/>
            <p:nvPr/>
          </p:nvCxnSpPr>
          <p:spPr>
            <a:xfrm>
              <a:off x="792707" y="1871330"/>
              <a:ext cx="0" cy="1510500"/>
            </a:xfrm>
            <a:prstGeom prst="straightConnector1">
              <a:avLst/>
            </a:prstGeom>
            <a:noFill/>
            <a:ln w="9525" cap="flat" cmpd="sng">
              <a:solidFill>
                <a:srgbClr val="009C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2" name="Google Shape;782;g3f2de33b0d5_0_590"/>
            <p:cNvCxnSpPr/>
            <p:nvPr/>
          </p:nvCxnSpPr>
          <p:spPr>
            <a:xfrm>
              <a:off x="792706" y="2199708"/>
              <a:ext cx="249300" cy="0"/>
            </a:xfrm>
            <a:prstGeom prst="straightConnector1">
              <a:avLst/>
            </a:prstGeom>
            <a:noFill/>
            <a:ln w="9525" cap="flat" cmpd="sng">
              <a:solidFill>
                <a:srgbClr val="009C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3" name="Google Shape;783;g3f2de33b0d5_0_590"/>
            <p:cNvCxnSpPr/>
            <p:nvPr/>
          </p:nvCxnSpPr>
          <p:spPr>
            <a:xfrm>
              <a:off x="799198" y="2756144"/>
              <a:ext cx="249300" cy="0"/>
            </a:xfrm>
            <a:prstGeom prst="straightConnector1">
              <a:avLst/>
            </a:prstGeom>
            <a:noFill/>
            <a:ln w="9525" cap="flat" cmpd="sng">
              <a:solidFill>
                <a:srgbClr val="009C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4" name="Google Shape;784;g3f2de33b0d5_0_590"/>
            <p:cNvCxnSpPr/>
            <p:nvPr/>
          </p:nvCxnSpPr>
          <p:spPr>
            <a:xfrm>
              <a:off x="792706" y="3381694"/>
              <a:ext cx="249300" cy="0"/>
            </a:xfrm>
            <a:prstGeom prst="straightConnector1">
              <a:avLst/>
            </a:prstGeom>
            <a:noFill/>
            <a:ln w="9525" cap="flat" cmpd="sng">
              <a:solidFill>
                <a:srgbClr val="009CD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85" name="Google Shape;785;g3f2de33b0d5_0_590"/>
          <p:cNvSpPr txBox="1"/>
          <p:nvPr/>
        </p:nvSpPr>
        <p:spPr>
          <a:xfrm>
            <a:off x="1189702" y="3368091"/>
            <a:ext cx="2643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300+ cities with a population between 1 and 3 lakh</a:t>
            </a:r>
            <a:r>
              <a:rPr lang="en-IN" sz="14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1" i="0" u="none" strike="sngStrike" cap="none" baseline="30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g3f2de33b0d5_0_590"/>
          <p:cNvSpPr txBox="1"/>
          <p:nvPr/>
        </p:nvSpPr>
        <p:spPr>
          <a:xfrm>
            <a:off x="1189700" y="4365135"/>
            <a:ext cx="2410800" cy="523200"/>
          </a:xfrm>
          <a:prstGeom prst="rect">
            <a:avLst/>
          </a:prstGeom>
          <a:solidFill>
            <a:srgbClr val="C4EEF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140+ cities </a:t>
            </a: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a population between 3 and 40 lakh</a:t>
            </a:r>
            <a:r>
              <a:rPr lang="en-IN" sz="14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1" i="0" u="none" strike="noStrike" cap="none" baseline="30000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g3f2de33b0d5_0_590"/>
          <p:cNvSpPr txBox="1"/>
          <p:nvPr/>
        </p:nvSpPr>
        <p:spPr>
          <a:xfrm>
            <a:off x="1189701" y="5438816"/>
            <a:ext cx="2410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cities with a population above 40 lakh</a:t>
            </a:r>
            <a:r>
              <a:rPr lang="en-IN" sz="14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1" i="0" u="none" strike="noStrike" cap="none" baseline="30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8" name="Google Shape;788;g3f2de33b0d5_0_590"/>
          <p:cNvCxnSpPr>
            <a:stCxn id="786" idx="3"/>
          </p:cNvCxnSpPr>
          <p:nvPr/>
        </p:nvCxnSpPr>
        <p:spPr>
          <a:xfrm rot="10800000" flipH="1">
            <a:off x="3600500" y="3338535"/>
            <a:ext cx="630000" cy="1288200"/>
          </a:xfrm>
          <a:prstGeom prst="curvedConnector3">
            <a:avLst>
              <a:gd name="adj1" fmla="val 49995"/>
            </a:avLst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789" name="Google Shape;789;g3f2de33b0d5_0_590"/>
          <p:cNvGraphicFramePr/>
          <p:nvPr/>
        </p:nvGraphicFramePr>
        <p:xfrm>
          <a:off x="4230385" y="1169464"/>
          <a:ext cx="3284525" cy="3911640"/>
        </p:xfrm>
        <a:graphic>
          <a:graphicData uri="http://schemas.openxmlformats.org/drawingml/2006/table">
            <a:tbl>
              <a:tblPr>
                <a:noFill/>
                <a:tableStyleId>{583EE7CF-7BAA-4A01-AA68-861A26D7AAE2}</a:tableStyleId>
              </a:tblPr>
              <a:tblGrid>
                <a:gridCol w="328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These cities are growing</a:t>
                      </a:r>
                      <a:endParaRPr sz="14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86B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 population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share amongst India’s Class I cities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45% of India’s start-ups 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originated from non-metro cities, falling within this population range</a:t>
                      </a:r>
                      <a:r>
                        <a:rPr lang="en-IN" sz="1400" u="none" strike="noStrike" cap="none" baseline="30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strike="noStrike" cap="none" baseline="30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capital investments 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flexible workspaces, residential projects, data centres, etc.</a:t>
                      </a:r>
                      <a:r>
                        <a:rPr lang="en-IN" sz="1400" u="none" strike="noStrike" cap="none" baseline="30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strike="noStrike" cap="none" baseline="30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These cities also face challenges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 out of the 131 NCAP cities 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 India; these cities consistently struggle with </a:t>
                      </a: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air quality 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throughout the year.</a:t>
                      </a:r>
                      <a:r>
                        <a:rPr lang="en-IN" sz="1400" u="none" strike="noStrike" cap="none" baseline="30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strike="noStrike" cap="none" baseline="30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Unchecked urban expansion 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 low-density development due to lack of regulated planning.</a:t>
                      </a:r>
                      <a:r>
                        <a:rPr lang="en-IN" sz="1400" u="none" strike="noStrike" cap="none" baseline="30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400" u="none" strike="noStrike" cap="none" baseline="30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0" name="Google Shape;790;g3f2de33b0d5_0_590"/>
          <p:cNvSpPr txBox="1"/>
          <p:nvPr/>
        </p:nvSpPr>
        <p:spPr>
          <a:xfrm>
            <a:off x="1189622" y="4074893"/>
            <a:ext cx="226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PM e-Bus Sewa focus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g3f2de33b0d5_0_590"/>
          <p:cNvSpPr txBox="1"/>
          <p:nvPr/>
        </p:nvSpPr>
        <p:spPr>
          <a:xfrm>
            <a:off x="7668124" y="5850294"/>
            <a:ext cx="2595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Authors’ compilation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A2AE7-E740-44D1-9396-CEAD2C51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Updates on Bhubaneswar - </a:t>
            </a:r>
            <a:r>
              <a:rPr lang="en-IN" i="1" dirty="0">
                <a:hlinkClick r:id="rId2"/>
              </a:rPr>
              <a:t>link</a:t>
            </a:r>
            <a:endParaRPr lang="en-IN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04016-9FC8-42CF-98CF-15924C1B66A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Source: CEEW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03431-CE66-4503-84E2-54DEE20F7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07" y="683628"/>
            <a:ext cx="11284400" cy="5327601"/>
          </a:xfrm>
          <a:prstGeom prst="rect">
            <a:avLst/>
          </a:prstGeom>
        </p:spPr>
      </p:pic>
      <p:sp>
        <p:nvSpPr>
          <p:cNvPr id="6" name="Google Shape;799;g3f2de33b0d5_0_614">
            <a:extLst>
              <a:ext uri="{FF2B5EF4-FFF2-40B4-BE49-F238E27FC236}">
                <a16:creationId xmlns:a16="http://schemas.microsoft.com/office/drawing/2014/main" id="{CB4FAF8A-691F-4698-8245-13F9D5F783F6}"/>
              </a:ext>
            </a:extLst>
          </p:cNvPr>
          <p:cNvSpPr txBox="1">
            <a:spLocks/>
          </p:cNvSpPr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26</a:t>
            </a:fld>
            <a:r>
              <a:rPr lang="en-IN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947607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C7A51-C32B-44AC-B987-CC2CC382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Scaling e-bus planning using ready-to-use tools </a:t>
            </a:r>
            <a:r>
              <a:rPr lang="en-IN" i="1" dirty="0"/>
              <a:t>(especially for newer cities)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FFE5A-497C-49FE-B936-B6B62231CA7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Source: CEEW compilation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A22B7-7D17-4203-BF6D-95D66C1E5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068" y="1124086"/>
            <a:ext cx="9781863" cy="4914764"/>
          </a:xfrm>
          <a:prstGeom prst="rect">
            <a:avLst/>
          </a:prstGeom>
        </p:spPr>
      </p:pic>
      <p:sp>
        <p:nvSpPr>
          <p:cNvPr id="41" name="Google Shape;799;g3f2de33b0d5_0_614">
            <a:extLst>
              <a:ext uri="{FF2B5EF4-FFF2-40B4-BE49-F238E27FC236}">
                <a16:creationId xmlns:a16="http://schemas.microsoft.com/office/drawing/2014/main" id="{04A49AD3-7217-4EBE-9031-50C687283E36}"/>
              </a:ext>
            </a:extLst>
          </p:cNvPr>
          <p:cNvSpPr txBox="1">
            <a:spLocks/>
          </p:cNvSpPr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27</a:t>
            </a:fld>
            <a:r>
              <a:rPr lang="en-IN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257848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1287-0197-40AF-908A-28EE723C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outputs till now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5F86E-D40B-44AC-8B67-C4FBBD8D2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04C06-3705-4881-8B2B-24C2C4A4A9F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401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5767-7454-496F-AE2B-3727AB3E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00" y="2882650"/>
            <a:ext cx="11284400" cy="794000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98AFE-2222-467A-90C5-7F3E59F7B74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053926"/>
      </p:ext>
    </p:extLst>
  </p:cSld>
  <p:clrMapOvr>
    <a:masterClrMapping/>
  </p:clrMapOvr>
</p:sld>
</file>

<file path=ppt/theme/theme1.xml><?xml version="1.0" encoding="utf-8"?>
<a:theme xmlns:a="http://schemas.openxmlformats.org/drawingml/2006/main" name="CEEW - PPT Template 28Mar18">
  <a:themeElements>
    <a:clrScheme name="CEEW">
      <a:dk1>
        <a:srgbClr val="000000"/>
      </a:dk1>
      <a:lt1>
        <a:srgbClr val="FFFFFF"/>
      </a:lt1>
      <a:dk2>
        <a:srgbClr val="777877"/>
      </a:dk2>
      <a:lt2>
        <a:srgbClr val="FFFFFE"/>
      </a:lt2>
      <a:accent1>
        <a:srgbClr val="009ED8"/>
      </a:accent1>
      <a:accent2>
        <a:srgbClr val="F16223"/>
      </a:accent2>
      <a:accent3>
        <a:srgbClr val="86BB3F"/>
      </a:accent3>
      <a:accent4>
        <a:srgbClr val="929497"/>
      </a:accent4>
      <a:accent5>
        <a:srgbClr val="FFFFFE"/>
      </a:accent5>
      <a:accent6>
        <a:srgbClr val="FFFFFE"/>
      </a:accent6>
      <a:hlink>
        <a:srgbClr val="0D81B9"/>
      </a:hlink>
      <a:folHlink>
        <a:srgbClr val="0D81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4718</Words>
  <Application>Microsoft Office PowerPoint</Application>
  <PresentationFormat>Widescreen</PresentationFormat>
  <Paragraphs>612</Paragraphs>
  <Slides>29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Calibri</vt:lpstr>
      <vt:lpstr>Arial</vt:lpstr>
      <vt:lpstr>CEEW - PPT Template 28Mar18</vt:lpstr>
      <vt:lpstr>Efficiency and Bus Fleet Management: Strategic Communications and quantifying GHG and other co-benefits (#BBUS)</vt:lpstr>
      <vt:lpstr>Impacting sustainable development at scale with data, integrated analysis, and strategic outreach</vt:lpstr>
      <vt:lpstr>The project’s key components </vt:lpstr>
      <vt:lpstr>Deep dive in M1 : Socio Economic co-benefit model  Literature Review — Geographic Coverage &amp; Key Sources  (n = 27)</vt:lpstr>
      <vt:lpstr>Deep dive in M1 : Socio Economic co-benefit model  Detailed analysis of Model and parameters </vt:lpstr>
      <vt:lpstr>Deep dive in M1 : Socio Economic co-benefit model   Groupwise Model Selection</vt:lpstr>
      <vt:lpstr>Key Variables </vt:lpstr>
      <vt:lpstr>Vulnerability Index : Construction </vt:lpstr>
      <vt:lpstr>Group A cities: Design and framework</vt:lpstr>
      <vt:lpstr>Group B cities study design and framework</vt:lpstr>
      <vt:lpstr>Deep dive in M3 : GHG emission and Mitigation co-benefit model  Literature Review — Geographic Coverage &amp; Key Sources  (n = 12)</vt:lpstr>
      <vt:lpstr>Deep dive on existing available GHG calculation tools online </vt:lpstr>
      <vt:lpstr>Final model framework and parameters for M3- GHG emission and mitigation Group A cities with existing bus services / Other Modes   </vt:lpstr>
      <vt:lpstr>Final model framework and parameters for M3- GHG emission and mitigation Group B  cities with no bus services -    </vt:lpstr>
      <vt:lpstr>Deep dive in M2: Health Co-benefits Model Literature review — geographic coverage &amp; key papers (n= 11 papers)</vt:lpstr>
      <vt:lpstr>Deep dive in M2: Health Co-benefits Model Pathways of Health Benefits from Bus-Based Public Transport</vt:lpstr>
      <vt:lpstr>Deep dive in M2: Health Co-benefits Model Models identified from literature</vt:lpstr>
      <vt:lpstr>Deep dive in M2: Health Co-benefits Model Groupwise Model Selection</vt:lpstr>
      <vt:lpstr>Common Input Variables across M2 Models</vt:lpstr>
      <vt:lpstr>Expected Outputs from M2: Health Co-benefits Model</vt:lpstr>
      <vt:lpstr>Criteria for study geography selection</vt:lpstr>
      <vt:lpstr>Geographies in focus</vt:lpstr>
      <vt:lpstr>Group B cities – Comprehensive list shared in inception report</vt:lpstr>
      <vt:lpstr>Geographies in focus</vt:lpstr>
      <vt:lpstr>Our project can create a cumulative benefit assessment for 100+ PM e-Bus Sewa cities</vt:lpstr>
      <vt:lpstr>Updates on Bhubaneswar - link</vt:lpstr>
      <vt:lpstr>Scaling e-bus planning using ready-to-use tools (especially for newer cities)</vt:lpstr>
      <vt:lpstr>Major outputs till now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Efficiency and Bus Fleet Management: Strategic Communications and quantifying GHG and other co-benefits (#BBUS)</dc:title>
  <cp:lastModifiedBy>Samradh Singh</cp:lastModifiedBy>
  <cp:revision>20</cp:revision>
  <dcterms:modified xsi:type="dcterms:W3CDTF">2026-07-02T10:18:12Z</dcterms:modified>
</cp:coreProperties>
</file>
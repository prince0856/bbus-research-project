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 id="214748365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7" roundtripDataSignature="AMtx7mhRbdHVi/TIJZ1qEAQJMlX50EN0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E31916-F7FA-4C17-88A9-D1F31D617FD5}">
  <a:tblStyle styleId="{45E31916-F7FA-4C17-88A9-D1F31D617FD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4FFDD6A-01B7-48A3-BB6C-044644F34459}"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5B9DEEB-F167-4F85-A006-A59B1BA32655}"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8697CA2-5F76-4046-85EA-60F236C5EB1A}" styleName="Table_3">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customschemas.google.com/relationships/presentationmetadata" Target="meta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1f07bbfc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5" name="Google Shape;85;g3a1f07bbfc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502f38a39_2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f502f38a39_2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502f38a39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f502f38a39_2_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502f38a39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f502f38a39_2_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502f38a39_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f502f38a39_2_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502f38a39_2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f502f38a39_2_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502f38a39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f502f38a39_2_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8175270f4_5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3f8175270f4_5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81e6d320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f81e6d320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81e6d3204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f81e6d3204_0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556ffc7f3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f556ffc7f3_0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f556ffc7f3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3f556ffc7f3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3f556ffc7f3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556ffc7f3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f556ffc7f3_3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g3f556ffc7f3_3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f5680ae14a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g3f5680ae14a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3f5680ae14a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f8288f73f0_3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3f8288f73f0_3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g3f8288f73f0_3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f8288f73f0_3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3f8288f73f0_3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g3f8288f73f0_3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f8288f73f0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f8288f73f0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3f8288f73f0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f8288f73f0_3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f8288f73f0_3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g3f8288f73f0_3_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f8288f73f0_3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f8288f73f0_3_1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3f8288f73f0_3_1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25"/>
          <p:cNvSpPr/>
          <p:nvPr/>
        </p:nvSpPr>
        <p:spPr>
          <a:xfrm>
            <a:off x="3834064" y="0"/>
            <a:ext cx="8386000" cy="6858000"/>
          </a:xfrm>
          <a:prstGeom prst="rect">
            <a:avLst/>
          </a:prstGeom>
          <a:solidFill>
            <a:srgbClr val="E9E9E9"/>
          </a:solidFill>
          <a:ln>
            <a:noFill/>
          </a:ln>
          <a:effectLst>
            <a:outerShdw blurRad="40000" rotWithShape="0" dir="5400000" dist="23000">
              <a:srgbClr val="000000">
                <a:alpha val="32941"/>
              </a:srgbClr>
            </a:outerShdw>
          </a:effectLst>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2400" u="none" cap="none" strike="noStrike">
              <a:solidFill>
                <a:schemeClr val="lt1"/>
              </a:solidFill>
              <a:latin typeface="Calibri"/>
              <a:ea typeface="Calibri"/>
              <a:cs typeface="Calibri"/>
              <a:sym typeface="Calibri"/>
            </a:endParaRPr>
          </a:p>
        </p:txBody>
      </p:sp>
      <p:sp>
        <p:nvSpPr>
          <p:cNvPr id="18" name="Google Shape;18;p25"/>
          <p:cNvSpPr txBox="1"/>
          <p:nvPr>
            <p:ph type="title"/>
          </p:nvPr>
        </p:nvSpPr>
        <p:spPr>
          <a:xfrm>
            <a:off x="4165600" y="2695073"/>
            <a:ext cx="7812400" cy="1315600"/>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lt1"/>
              </a:buClr>
              <a:buSzPts val="3600"/>
              <a:buFont typeface="Calibri"/>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 type="body"/>
          </p:nvPr>
        </p:nvSpPr>
        <p:spPr>
          <a:xfrm>
            <a:off x="4165600" y="4319588"/>
            <a:ext cx="4540400" cy="1803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33"/>
              </a:spcBef>
              <a:spcAft>
                <a:spcPts val="0"/>
              </a:spcAft>
              <a:buClr>
                <a:schemeClr val="dk1"/>
              </a:buClr>
              <a:buSzPts val="2000"/>
              <a:buNone/>
              <a:defRPr sz="2667"/>
            </a:lvl1pPr>
            <a:lvl2pPr indent="-342900" lvl="1" marL="914400" algn="l">
              <a:lnSpc>
                <a:spcPct val="100000"/>
              </a:lnSpc>
              <a:spcBef>
                <a:spcPts val="480"/>
              </a:spcBef>
              <a:spcAft>
                <a:spcPts val="0"/>
              </a:spcAft>
              <a:buClr>
                <a:schemeClr val="dk1"/>
              </a:buClr>
              <a:buSzPts val="1800"/>
              <a:buChar char="–"/>
              <a:defRPr/>
            </a:lvl2pPr>
            <a:lvl3pPr indent="-342900" lvl="2" marL="1371600" algn="l">
              <a:lnSpc>
                <a:spcPct val="100000"/>
              </a:lnSpc>
              <a:spcBef>
                <a:spcPts val="480"/>
              </a:spcBef>
              <a:spcAft>
                <a:spcPts val="0"/>
              </a:spcAft>
              <a:buClr>
                <a:schemeClr val="dk1"/>
              </a:buClr>
              <a:buSzPts val="1800"/>
              <a:buChar char="•"/>
              <a:defRPr/>
            </a:lvl3pPr>
            <a:lvl4pPr indent="-342900" lvl="3" marL="1828800" algn="l">
              <a:lnSpc>
                <a:spcPct val="100000"/>
              </a:lnSpc>
              <a:spcBef>
                <a:spcPts val="480"/>
              </a:spcBef>
              <a:spcAft>
                <a:spcPts val="0"/>
              </a:spcAft>
              <a:buClr>
                <a:schemeClr val="dk1"/>
              </a:buClr>
              <a:buSzPts val="1800"/>
              <a:buChar char="–"/>
              <a:defRPr/>
            </a:lvl4pPr>
            <a:lvl5pPr indent="-342900" lvl="4" marL="2286000" algn="l">
              <a:lnSpc>
                <a:spcPct val="100000"/>
              </a:lnSpc>
              <a:spcBef>
                <a:spcPts val="480"/>
              </a:spcBef>
              <a:spcAft>
                <a:spcPts val="0"/>
              </a:spcAft>
              <a:buClr>
                <a:schemeClr val="dk1"/>
              </a:buClr>
              <a:buSzPts val="1800"/>
              <a:buChar char="»"/>
              <a:defRPr/>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sp>
        <p:nvSpPr>
          <p:cNvPr id="20" name="Google Shape;20;p25"/>
          <p:cNvSpPr txBox="1"/>
          <p:nvPr>
            <p:ph idx="2" type="body"/>
          </p:nvPr>
        </p:nvSpPr>
        <p:spPr>
          <a:xfrm>
            <a:off x="4165600" y="6303963"/>
            <a:ext cx="7812400" cy="40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27"/>
              </a:spcBef>
              <a:spcAft>
                <a:spcPts val="0"/>
              </a:spcAft>
              <a:buClr>
                <a:schemeClr val="dk1"/>
              </a:buClr>
              <a:buSzPts val="1600"/>
              <a:buNone/>
              <a:defRPr sz="2133"/>
            </a:lvl1pPr>
            <a:lvl2pPr indent="-342900" lvl="1" marL="914400" algn="l">
              <a:lnSpc>
                <a:spcPct val="100000"/>
              </a:lnSpc>
              <a:spcBef>
                <a:spcPts val="480"/>
              </a:spcBef>
              <a:spcAft>
                <a:spcPts val="0"/>
              </a:spcAft>
              <a:buClr>
                <a:schemeClr val="dk1"/>
              </a:buClr>
              <a:buSzPts val="1800"/>
              <a:buChar char="–"/>
              <a:defRPr/>
            </a:lvl2pPr>
            <a:lvl3pPr indent="-342900" lvl="2" marL="1371600" algn="l">
              <a:lnSpc>
                <a:spcPct val="100000"/>
              </a:lnSpc>
              <a:spcBef>
                <a:spcPts val="480"/>
              </a:spcBef>
              <a:spcAft>
                <a:spcPts val="0"/>
              </a:spcAft>
              <a:buClr>
                <a:schemeClr val="dk1"/>
              </a:buClr>
              <a:buSzPts val="1800"/>
              <a:buChar char="•"/>
              <a:defRPr/>
            </a:lvl3pPr>
            <a:lvl4pPr indent="-342900" lvl="3" marL="1828800" algn="l">
              <a:lnSpc>
                <a:spcPct val="100000"/>
              </a:lnSpc>
              <a:spcBef>
                <a:spcPts val="480"/>
              </a:spcBef>
              <a:spcAft>
                <a:spcPts val="0"/>
              </a:spcAft>
              <a:buClr>
                <a:schemeClr val="dk1"/>
              </a:buClr>
              <a:buSzPts val="1800"/>
              <a:buChar char="–"/>
              <a:defRPr/>
            </a:lvl4pPr>
            <a:lvl5pPr indent="-342900" lvl="4" marL="2286000" algn="l">
              <a:lnSpc>
                <a:spcPct val="100000"/>
              </a:lnSpc>
              <a:spcBef>
                <a:spcPts val="480"/>
              </a:spcBef>
              <a:spcAft>
                <a:spcPts val="0"/>
              </a:spcAft>
              <a:buClr>
                <a:schemeClr val="dk1"/>
              </a:buClr>
              <a:buSzPts val="1800"/>
              <a:buChar char="»"/>
              <a:defRPr/>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pic>
        <p:nvPicPr>
          <p:cNvPr id="21" name="Google Shape;21;p25"/>
          <p:cNvPicPr preferRelativeResize="0"/>
          <p:nvPr/>
        </p:nvPicPr>
        <p:blipFill rotWithShape="1">
          <a:blip r:embed="rId2">
            <a:alphaModFix/>
          </a:blip>
          <a:srcRect b="0" l="0" r="0" t="0"/>
          <a:stretch/>
        </p:blipFill>
        <p:spPr>
          <a:xfrm>
            <a:off x="634134" y="2839400"/>
            <a:ext cx="2480433" cy="1315600"/>
          </a:xfrm>
          <a:prstGeom prst="rect">
            <a:avLst/>
          </a:prstGeom>
          <a:noFill/>
          <a:ln>
            <a:noFill/>
          </a:ln>
        </p:spPr>
      </p:pic>
      <p:pic>
        <p:nvPicPr>
          <p:cNvPr id="22" name="Google Shape;22;p25"/>
          <p:cNvPicPr preferRelativeResize="0"/>
          <p:nvPr/>
        </p:nvPicPr>
        <p:blipFill rotWithShape="1">
          <a:blip r:embed="rId3">
            <a:alphaModFix/>
          </a:blip>
          <a:srcRect b="0" l="0" r="0" t="0"/>
          <a:stretch/>
        </p:blipFill>
        <p:spPr>
          <a:xfrm>
            <a:off x="634134" y="2349773"/>
            <a:ext cx="2619359" cy="196981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Layout">
  <p:cSld name="Section Layout">
    <p:spTree>
      <p:nvGrpSpPr>
        <p:cNvPr id="23" name="Shape 23"/>
        <p:cNvGrpSpPr/>
        <p:nvPr/>
      </p:nvGrpSpPr>
      <p:grpSpPr>
        <a:xfrm>
          <a:off x="0" y="0"/>
          <a:ext cx="0" cy="0"/>
          <a:chOff x="0" y="0"/>
          <a:chExt cx="0" cy="0"/>
        </a:xfrm>
      </p:grpSpPr>
      <p:sp>
        <p:nvSpPr>
          <p:cNvPr id="24" name="Google Shape;24;p27"/>
          <p:cNvSpPr txBox="1"/>
          <p:nvPr>
            <p:ph type="title"/>
          </p:nvPr>
        </p:nvSpPr>
        <p:spPr>
          <a:xfrm>
            <a:off x="661288" y="4389057"/>
            <a:ext cx="11411200" cy="589200"/>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accent1"/>
              </a:buClr>
              <a:buSzPts val="2800"/>
              <a:buFont typeface="Calibri"/>
              <a:buNone/>
              <a:defRPr sz="3733">
                <a:solidFill>
                  <a:srgbClr val="009C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 type="body"/>
          </p:nvPr>
        </p:nvSpPr>
        <p:spPr>
          <a:xfrm>
            <a:off x="582992" y="4005943"/>
            <a:ext cx="11413200" cy="356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33"/>
              </a:spcBef>
              <a:spcAft>
                <a:spcPts val="0"/>
              </a:spcAft>
              <a:buClr>
                <a:schemeClr val="dk1"/>
              </a:buClr>
              <a:buSzPts val="2000"/>
              <a:buNone/>
              <a:defRPr sz="2667">
                <a:solidFill>
                  <a:srgbClr val="575756"/>
                </a:solidFill>
              </a:defRPr>
            </a:lvl1pPr>
            <a:lvl2pPr indent="-342900" lvl="1" marL="914400" algn="l">
              <a:lnSpc>
                <a:spcPct val="100000"/>
              </a:lnSpc>
              <a:spcBef>
                <a:spcPts val="480"/>
              </a:spcBef>
              <a:spcAft>
                <a:spcPts val="0"/>
              </a:spcAft>
              <a:buClr>
                <a:schemeClr val="dk1"/>
              </a:buClr>
              <a:buSzPts val="1800"/>
              <a:buChar char="–"/>
              <a:defRPr/>
            </a:lvl2pPr>
            <a:lvl3pPr indent="-342900" lvl="2" marL="1371600" algn="l">
              <a:lnSpc>
                <a:spcPct val="100000"/>
              </a:lnSpc>
              <a:spcBef>
                <a:spcPts val="480"/>
              </a:spcBef>
              <a:spcAft>
                <a:spcPts val="0"/>
              </a:spcAft>
              <a:buClr>
                <a:schemeClr val="dk1"/>
              </a:buClr>
              <a:buSzPts val="1800"/>
              <a:buChar char="•"/>
              <a:defRPr/>
            </a:lvl3pPr>
            <a:lvl4pPr indent="-342900" lvl="3" marL="1828800" algn="l">
              <a:lnSpc>
                <a:spcPct val="100000"/>
              </a:lnSpc>
              <a:spcBef>
                <a:spcPts val="480"/>
              </a:spcBef>
              <a:spcAft>
                <a:spcPts val="0"/>
              </a:spcAft>
              <a:buClr>
                <a:schemeClr val="dk1"/>
              </a:buClr>
              <a:buSzPts val="1800"/>
              <a:buChar char="–"/>
              <a:defRPr/>
            </a:lvl4pPr>
            <a:lvl5pPr indent="-342900" lvl="4" marL="2286000" algn="l">
              <a:lnSpc>
                <a:spcPct val="100000"/>
              </a:lnSpc>
              <a:spcBef>
                <a:spcPts val="480"/>
              </a:spcBef>
              <a:spcAft>
                <a:spcPts val="0"/>
              </a:spcAft>
              <a:buClr>
                <a:schemeClr val="dk1"/>
              </a:buClr>
              <a:buSzPts val="1800"/>
              <a:buChar char="»"/>
              <a:defRPr/>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sp>
        <p:nvSpPr>
          <p:cNvPr id="26" name="Google Shape;26;p27"/>
          <p:cNvSpPr txBox="1"/>
          <p:nvPr>
            <p:ph idx="12" type="sldNum"/>
          </p:nvPr>
        </p:nvSpPr>
        <p:spPr>
          <a:xfrm>
            <a:off x="-276585" y="6235395"/>
            <a:ext cx="77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r>
              <a:rPr lang="en-IN"/>
              <a:t>|</a:t>
            </a:r>
            <a:endParaRPr/>
          </a:p>
        </p:txBody>
      </p:sp>
      <p:cxnSp>
        <p:nvCxnSpPr>
          <p:cNvPr id="27" name="Google Shape;27;p27"/>
          <p:cNvCxnSpPr/>
          <p:nvPr/>
        </p:nvCxnSpPr>
        <p:spPr>
          <a:xfrm flipH="1" rot="10800000">
            <a:off x="395705" y="6408357"/>
            <a:ext cx="10315200" cy="9600"/>
          </a:xfrm>
          <a:prstGeom prst="straightConnector1">
            <a:avLst/>
          </a:prstGeom>
          <a:noFill/>
          <a:ln cap="flat" cmpd="sng" w="9525">
            <a:solidFill>
              <a:srgbClr val="8D8F93"/>
            </a:solidFill>
            <a:prstDash val="solid"/>
            <a:round/>
            <a:headEnd len="sm" w="sm" type="none"/>
            <a:tailEnd len="sm" w="sm" type="none"/>
          </a:ln>
        </p:spPr>
      </p:cxnSp>
      <p:pic>
        <p:nvPicPr>
          <p:cNvPr id="28" name="Google Shape;28;p27"/>
          <p:cNvPicPr preferRelativeResize="0"/>
          <p:nvPr/>
        </p:nvPicPr>
        <p:blipFill rotWithShape="1">
          <a:blip r:embed="rId2">
            <a:alphaModFix/>
          </a:blip>
          <a:srcRect b="0" l="0" r="0" t="0"/>
          <a:stretch/>
        </p:blipFill>
        <p:spPr>
          <a:xfrm>
            <a:off x="10842215" y="5869659"/>
            <a:ext cx="1152389" cy="86662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9" name="Shape 29"/>
        <p:cNvGrpSpPr/>
        <p:nvPr/>
      </p:nvGrpSpPr>
      <p:grpSpPr>
        <a:xfrm>
          <a:off x="0" y="0"/>
          <a:ext cx="0" cy="0"/>
          <a:chOff x="0" y="0"/>
          <a:chExt cx="0" cy="0"/>
        </a:xfrm>
      </p:grpSpPr>
      <p:sp>
        <p:nvSpPr>
          <p:cNvPr id="30" name="Google Shape;30;p26"/>
          <p:cNvSpPr txBox="1"/>
          <p:nvPr>
            <p:ph type="title"/>
          </p:nvPr>
        </p:nvSpPr>
        <p:spPr>
          <a:xfrm>
            <a:off x="395707" y="194428"/>
            <a:ext cx="11284400" cy="794000"/>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accent1"/>
              </a:buClr>
              <a:buSzPts val="2400"/>
              <a:buFont typeface="Calibri"/>
              <a:buNone/>
              <a:defRPr b="1" sz="2200" cap="none">
                <a:solidFill>
                  <a:srgbClr val="009C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6"/>
          <p:cNvSpPr txBox="1"/>
          <p:nvPr>
            <p:ph idx="1" type="body"/>
          </p:nvPr>
        </p:nvSpPr>
        <p:spPr>
          <a:xfrm>
            <a:off x="395705" y="988341"/>
            <a:ext cx="11284400" cy="4784800"/>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587"/>
              </a:spcBef>
              <a:spcAft>
                <a:spcPts val="0"/>
              </a:spcAft>
              <a:buClr>
                <a:schemeClr val="dk1"/>
              </a:buClr>
              <a:buSzPts val="2200"/>
              <a:buChar char="•"/>
              <a:defRPr>
                <a:solidFill>
                  <a:srgbClr val="575756"/>
                </a:solidFill>
                <a:latin typeface="Calibri"/>
                <a:ea typeface="Calibri"/>
                <a:cs typeface="Calibri"/>
                <a:sym typeface="Calibri"/>
              </a:defRPr>
            </a:lvl1pPr>
            <a:lvl2pPr indent="-355600" lvl="1" marL="914400" algn="l">
              <a:lnSpc>
                <a:spcPct val="100000"/>
              </a:lnSpc>
              <a:spcBef>
                <a:spcPts val="533"/>
              </a:spcBef>
              <a:spcAft>
                <a:spcPts val="0"/>
              </a:spcAft>
              <a:buClr>
                <a:schemeClr val="dk1"/>
              </a:buClr>
              <a:buSzPts val="2000"/>
              <a:buChar char="–"/>
              <a:defRPr>
                <a:latin typeface="Calibri"/>
                <a:ea typeface="Calibri"/>
                <a:cs typeface="Calibri"/>
                <a:sym typeface="Calibri"/>
              </a:defRPr>
            </a:lvl2pPr>
            <a:lvl3pPr indent="-342900" lvl="2" marL="1371600" algn="l">
              <a:lnSpc>
                <a:spcPct val="100000"/>
              </a:lnSpc>
              <a:spcBef>
                <a:spcPts val="480"/>
              </a:spcBef>
              <a:spcAft>
                <a:spcPts val="0"/>
              </a:spcAft>
              <a:buClr>
                <a:schemeClr val="dk1"/>
              </a:buClr>
              <a:buSzPts val="1800"/>
              <a:buChar char="•"/>
              <a:defRPr sz="2400">
                <a:latin typeface="Calibri"/>
                <a:ea typeface="Calibri"/>
                <a:cs typeface="Calibri"/>
                <a:sym typeface="Calibri"/>
              </a:defRPr>
            </a:lvl3pPr>
            <a:lvl4pPr indent="-342900" lvl="3" marL="1828800" algn="l">
              <a:lnSpc>
                <a:spcPct val="100000"/>
              </a:lnSpc>
              <a:spcBef>
                <a:spcPts val="480"/>
              </a:spcBef>
              <a:spcAft>
                <a:spcPts val="0"/>
              </a:spcAft>
              <a:buClr>
                <a:schemeClr val="dk1"/>
              </a:buClr>
              <a:buSzPts val="1800"/>
              <a:buChar char="–"/>
              <a:defRPr>
                <a:latin typeface="Arial"/>
                <a:ea typeface="Arial"/>
                <a:cs typeface="Arial"/>
                <a:sym typeface="Arial"/>
              </a:defRPr>
            </a:lvl4pPr>
            <a:lvl5pPr indent="-330200" lvl="4" marL="2286000" algn="l">
              <a:lnSpc>
                <a:spcPct val="100000"/>
              </a:lnSpc>
              <a:spcBef>
                <a:spcPts val="427"/>
              </a:spcBef>
              <a:spcAft>
                <a:spcPts val="0"/>
              </a:spcAft>
              <a:buClr>
                <a:schemeClr val="dk1"/>
              </a:buClr>
              <a:buSzPts val="1600"/>
              <a:buChar char="»"/>
              <a:defRPr>
                <a:latin typeface="Arial"/>
                <a:ea typeface="Arial"/>
                <a:cs typeface="Arial"/>
                <a:sym typeface="Arial"/>
              </a:defRPr>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cxnSp>
        <p:nvCxnSpPr>
          <p:cNvPr id="32" name="Google Shape;32;p26"/>
          <p:cNvCxnSpPr/>
          <p:nvPr/>
        </p:nvCxnSpPr>
        <p:spPr>
          <a:xfrm flipH="1" rot="10800000">
            <a:off x="395705" y="6408357"/>
            <a:ext cx="10315200" cy="9600"/>
          </a:xfrm>
          <a:prstGeom prst="straightConnector1">
            <a:avLst/>
          </a:prstGeom>
          <a:noFill/>
          <a:ln cap="flat" cmpd="sng" w="9525">
            <a:solidFill>
              <a:srgbClr val="8D8F93"/>
            </a:solidFill>
            <a:prstDash val="solid"/>
            <a:round/>
            <a:headEnd len="sm" w="sm" type="none"/>
            <a:tailEnd len="sm" w="sm" type="none"/>
          </a:ln>
        </p:spPr>
      </p:cxnSp>
      <p:sp>
        <p:nvSpPr>
          <p:cNvPr id="33" name="Google Shape;33;p26"/>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lvl1pPr indent="-228600" lvl="0" marL="457200" algn="l">
              <a:lnSpc>
                <a:spcPct val="100000"/>
              </a:lnSpc>
              <a:spcBef>
                <a:spcPts val="240"/>
              </a:spcBef>
              <a:spcAft>
                <a:spcPts val="0"/>
              </a:spcAft>
              <a:buClr>
                <a:schemeClr val="dk1"/>
              </a:buClr>
              <a:buSzPts val="900"/>
              <a:buNone/>
              <a:defRPr b="0" sz="1200" cap="none">
                <a:solidFill>
                  <a:srgbClr val="9D9D9C"/>
                </a:solidFill>
              </a:defRPr>
            </a:lvl1pPr>
            <a:lvl2pPr indent="-228600" lvl="1" marL="914400" algn="l">
              <a:lnSpc>
                <a:spcPct val="100000"/>
              </a:lnSpc>
              <a:spcBef>
                <a:spcPts val="533"/>
              </a:spcBef>
              <a:spcAft>
                <a:spcPts val="0"/>
              </a:spcAft>
              <a:buClr>
                <a:schemeClr val="dk1"/>
              </a:buClr>
              <a:buSzPts val="2000"/>
              <a:buNone/>
              <a:defRPr/>
            </a:lvl2pPr>
            <a:lvl3pPr indent="-228600" lvl="2" marL="1371600" algn="l">
              <a:lnSpc>
                <a:spcPct val="100000"/>
              </a:lnSpc>
              <a:spcBef>
                <a:spcPts val="480"/>
              </a:spcBef>
              <a:spcAft>
                <a:spcPts val="0"/>
              </a:spcAft>
              <a:buClr>
                <a:schemeClr val="dk1"/>
              </a:buClr>
              <a:buSzPts val="1800"/>
              <a:buNone/>
              <a:defRPr/>
            </a:lvl3pPr>
            <a:lvl4pPr indent="-228600" lvl="3" marL="1828800" algn="l">
              <a:lnSpc>
                <a:spcPct val="100000"/>
              </a:lnSpc>
              <a:spcBef>
                <a:spcPts val="480"/>
              </a:spcBef>
              <a:spcAft>
                <a:spcPts val="0"/>
              </a:spcAft>
              <a:buClr>
                <a:schemeClr val="dk1"/>
              </a:buClr>
              <a:buSzPts val="1800"/>
              <a:buNone/>
              <a:defRPr/>
            </a:lvl4pPr>
            <a:lvl5pPr indent="-228600" lvl="4" marL="2286000" algn="l">
              <a:lnSpc>
                <a:spcPct val="100000"/>
              </a:lnSpc>
              <a:spcBef>
                <a:spcPts val="427"/>
              </a:spcBef>
              <a:spcAft>
                <a:spcPts val="0"/>
              </a:spcAft>
              <a:buClr>
                <a:schemeClr val="dk1"/>
              </a:buClr>
              <a:buSzPts val="1600"/>
              <a:buNone/>
              <a:defRPr/>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pic>
        <p:nvPicPr>
          <p:cNvPr id="34" name="Google Shape;34;p26"/>
          <p:cNvPicPr preferRelativeResize="0"/>
          <p:nvPr/>
        </p:nvPicPr>
        <p:blipFill rotWithShape="1">
          <a:blip r:embed="rId2">
            <a:alphaModFix/>
          </a:blip>
          <a:srcRect b="0" l="0" r="0" t="0"/>
          <a:stretch/>
        </p:blipFill>
        <p:spPr>
          <a:xfrm>
            <a:off x="10842215" y="5869659"/>
            <a:ext cx="1152389" cy="86662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35" name="Shape 35"/>
        <p:cNvGrpSpPr/>
        <p:nvPr/>
      </p:nvGrpSpPr>
      <p:grpSpPr>
        <a:xfrm>
          <a:off x="0" y="0"/>
          <a:ext cx="0" cy="0"/>
          <a:chOff x="0" y="0"/>
          <a:chExt cx="0" cy="0"/>
        </a:xfrm>
      </p:grpSpPr>
      <p:sp>
        <p:nvSpPr>
          <p:cNvPr id="36" name="Google Shape;36;p28"/>
          <p:cNvSpPr txBox="1"/>
          <p:nvPr>
            <p:ph type="title"/>
          </p:nvPr>
        </p:nvSpPr>
        <p:spPr>
          <a:xfrm>
            <a:off x="354419" y="226512"/>
            <a:ext cx="11228000" cy="893600"/>
          </a:xfrm>
          <a:prstGeom prst="rect">
            <a:avLst/>
          </a:prstGeom>
          <a:noFill/>
          <a:ln>
            <a:noFill/>
          </a:ln>
        </p:spPr>
        <p:txBody>
          <a:bodyPr anchorCtr="0" anchor="t" bIns="45700" lIns="0" spcFirstLastPara="1" rIns="0" wrap="square" tIns="45700">
            <a:noAutofit/>
          </a:bodyPr>
          <a:lstStyle>
            <a:lvl1pPr lvl="0" algn="l">
              <a:lnSpc>
                <a:spcPct val="100000"/>
              </a:lnSpc>
              <a:spcBef>
                <a:spcPts val="0"/>
              </a:spcBef>
              <a:spcAft>
                <a:spcPts val="0"/>
              </a:spcAft>
              <a:buClr>
                <a:schemeClr val="accent1"/>
              </a:buClr>
              <a:buSzPts val="2400"/>
              <a:buFont typeface="Calibri"/>
              <a:buNone/>
              <a:defRPr b="1" sz="220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8"/>
          <p:cNvSpPr txBox="1"/>
          <p:nvPr>
            <p:ph idx="1" type="body"/>
          </p:nvPr>
        </p:nvSpPr>
        <p:spPr>
          <a:xfrm>
            <a:off x="354419" y="1152456"/>
            <a:ext cx="5640000" cy="4526000"/>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587"/>
              </a:spcBef>
              <a:spcAft>
                <a:spcPts val="0"/>
              </a:spcAft>
              <a:buClr>
                <a:schemeClr val="dk1"/>
              </a:buClr>
              <a:buSzPts val="2200"/>
              <a:buChar char="•"/>
              <a:defRPr sz="2933">
                <a:solidFill>
                  <a:srgbClr val="575756"/>
                </a:solidFill>
              </a:defRPr>
            </a:lvl1pPr>
            <a:lvl2pPr indent="-355600" lvl="1" marL="914400" algn="l">
              <a:lnSpc>
                <a:spcPct val="100000"/>
              </a:lnSpc>
              <a:spcBef>
                <a:spcPts val="533"/>
              </a:spcBef>
              <a:spcAft>
                <a:spcPts val="0"/>
              </a:spcAft>
              <a:buClr>
                <a:schemeClr val="dk1"/>
              </a:buClr>
              <a:buSzPts val="2000"/>
              <a:buChar char="–"/>
              <a:defRPr sz="2667"/>
            </a:lvl2pPr>
            <a:lvl3pPr indent="-342900" lvl="2" marL="1371600" algn="l">
              <a:lnSpc>
                <a:spcPct val="100000"/>
              </a:lnSpc>
              <a:spcBef>
                <a:spcPts val="480"/>
              </a:spcBef>
              <a:spcAft>
                <a:spcPts val="0"/>
              </a:spcAft>
              <a:buClr>
                <a:schemeClr val="dk1"/>
              </a:buClr>
              <a:buSzPts val="1800"/>
              <a:buChar char="•"/>
              <a:defRPr sz="2400"/>
            </a:lvl3pPr>
            <a:lvl4pPr indent="-330200" lvl="3" marL="1828800" algn="l">
              <a:lnSpc>
                <a:spcPct val="100000"/>
              </a:lnSpc>
              <a:spcBef>
                <a:spcPts val="427"/>
              </a:spcBef>
              <a:spcAft>
                <a:spcPts val="0"/>
              </a:spcAft>
              <a:buClr>
                <a:schemeClr val="dk1"/>
              </a:buClr>
              <a:buSzPts val="1600"/>
              <a:buChar char="–"/>
              <a:defRPr sz="2133"/>
            </a:lvl4pPr>
            <a:lvl5pPr indent="-330200" lvl="4" marL="2286000" algn="l">
              <a:lnSpc>
                <a:spcPct val="100000"/>
              </a:lnSpc>
              <a:spcBef>
                <a:spcPts val="427"/>
              </a:spcBef>
              <a:spcAft>
                <a:spcPts val="0"/>
              </a:spcAft>
              <a:buClr>
                <a:schemeClr val="dk1"/>
              </a:buClr>
              <a:buSzPts val="1600"/>
              <a:buChar char="»"/>
              <a:defRPr sz="2133"/>
            </a:lvl5pPr>
            <a:lvl6pPr indent="-342900" lvl="5" marL="2743200" algn="l">
              <a:lnSpc>
                <a:spcPct val="100000"/>
              </a:lnSpc>
              <a:spcBef>
                <a:spcPts val="480"/>
              </a:spcBef>
              <a:spcAft>
                <a:spcPts val="0"/>
              </a:spcAft>
              <a:buClr>
                <a:schemeClr val="dk1"/>
              </a:buClr>
              <a:buSzPts val="1800"/>
              <a:buChar char="•"/>
              <a:defRPr sz="2400"/>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38" name="Google Shape;38;p28"/>
          <p:cNvSpPr txBox="1"/>
          <p:nvPr>
            <p:ph idx="2" type="body"/>
          </p:nvPr>
        </p:nvSpPr>
        <p:spPr>
          <a:xfrm>
            <a:off x="6197600" y="1152456"/>
            <a:ext cx="5384800" cy="4526000"/>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587"/>
              </a:spcBef>
              <a:spcAft>
                <a:spcPts val="0"/>
              </a:spcAft>
              <a:buClr>
                <a:schemeClr val="dk1"/>
              </a:buClr>
              <a:buSzPts val="2200"/>
              <a:buChar char="•"/>
              <a:defRPr sz="2933">
                <a:solidFill>
                  <a:srgbClr val="575756"/>
                </a:solidFill>
              </a:defRPr>
            </a:lvl1pPr>
            <a:lvl2pPr indent="-355600" lvl="1" marL="914400" algn="l">
              <a:lnSpc>
                <a:spcPct val="100000"/>
              </a:lnSpc>
              <a:spcBef>
                <a:spcPts val="533"/>
              </a:spcBef>
              <a:spcAft>
                <a:spcPts val="0"/>
              </a:spcAft>
              <a:buClr>
                <a:schemeClr val="dk1"/>
              </a:buClr>
              <a:buSzPts val="2000"/>
              <a:buChar char="–"/>
              <a:defRPr sz="2667"/>
            </a:lvl2pPr>
            <a:lvl3pPr indent="-342900" lvl="2" marL="1371600" algn="l">
              <a:lnSpc>
                <a:spcPct val="100000"/>
              </a:lnSpc>
              <a:spcBef>
                <a:spcPts val="480"/>
              </a:spcBef>
              <a:spcAft>
                <a:spcPts val="0"/>
              </a:spcAft>
              <a:buClr>
                <a:schemeClr val="dk1"/>
              </a:buClr>
              <a:buSzPts val="1800"/>
              <a:buChar char="•"/>
              <a:defRPr sz="2400"/>
            </a:lvl3pPr>
            <a:lvl4pPr indent="-330200" lvl="3" marL="1828800" algn="l">
              <a:lnSpc>
                <a:spcPct val="100000"/>
              </a:lnSpc>
              <a:spcBef>
                <a:spcPts val="427"/>
              </a:spcBef>
              <a:spcAft>
                <a:spcPts val="0"/>
              </a:spcAft>
              <a:buClr>
                <a:schemeClr val="dk1"/>
              </a:buClr>
              <a:buSzPts val="1600"/>
              <a:buChar char="–"/>
              <a:defRPr sz="2133"/>
            </a:lvl4pPr>
            <a:lvl5pPr indent="-330200" lvl="4" marL="2286000" algn="l">
              <a:lnSpc>
                <a:spcPct val="100000"/>
              </a:lnSpc>
              <a:spcBef>
                <a:spcPts val="427"/>
              </a:spcBef>
              <a:spcAft>
                <a:spcPts val="0"/>
              </a:spcAft>
              <a:buClr>
                <a:schemeClr val="dk1"/>
              </a:buClr>
              <a:buSzPts val="1600"/>
              <a:buChar char="»"/>
              <a:defRPr sz="2133"/>
            </a:lvl5pPr>
            <a:lvl6pPr indent="-342900" lvl="5" marL="2743200" algn="l">
              <a:lnSpc>
                <a:spcPct val="100000"/>
              </a:lnSpc>
              <a:spcBef>
                <a:spcPts val="480"/>
              </a:spcBef>
              <a:spcAft>
                <a:spcPts val="0"/>
              </a:spcAft>
              <a:buClr>
                <a:schemeClr val="dk1"/>
              </a:buClr>
              <a:buSzPts val="1800"/>
              <a:buChar char="•"/>
              <a:defRPr sz="2400"/>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39" name="Google Shape;39;p28"/>
          <p:cNvSpPr txBox="1"/>
          <p:nvPr>
            <p:ph idx="3" type="body"/>
          </p:nvPr>
        </p:nvSpPr>
        <p:spPr>
          <a:xfrm>
            <a:off x="354419" y="6475387"/>
            <a:ext cx="6340000" cy="383200"/>
          </a:xfrm>
          <a:prstGeom prst="rect">
            <a:avLst/>
          </a:prstGeom>
          <a:noFill/>
          <a:ln>
            <a:noFill/>
          </a:ln>
        </p:spPr>
        <p:txBody>
          <a:bodyPr anchorCtr="0" anchor="ctr" bIns="45700" lIns="0" spcFirstLastPara="1" rIns="91425" wrap="square" tIns="45700">
            <a:noAutofit/>
          </a:bodyPr>
          <a:lstStyle>
            <a:lvl1pPr indent="-228600" lvl="0" marL="457200" algn="l">
              <a:lnSpc>
                <a:spcPct val="100000"/>
              </a:lnSpc>
              <a:spcBef>
                <a:spcPts val="240"/>
              </a:spcBef>
              <a:spcAft>
                <a:spcPts val="0"/>
              </a:spcAft>
              <a:buClr>
                <a:schemeClr val="dk1"/>
              </a:buClr>
              <a:buSzPts val="900"/>
              <a:buNone/>
              <a:defRPr b="0" sz="1200" cap="none">
                <a:solidFill>
                  <a:srgbClr val="9D9D9C"/>
                </a:solidFill>
              </a:defRPr>
            </a:lvl1pPr>
            <a:lvl2pPr indent="-228600" lvl="1" marL="914400" algn="l">
              <a:lnSpc>
                <a:spcPct val="100000"/>
              </a:lnSpc>
              <a:spcBef>
                <a:spcPts val="533"/>
              </a:spcBef>
              <a:spcAft>
                <a:spcPts val="0"/>
              </a:spcAft>
              <a:buClr>
                <a:schemeClr val="dk1"/>
              </a:buClr>
              <a:buSzPts val="2000"/>
              <a:buNone/>
              <a:defRPr/>
            </a:lvl2pPr>
            <a:lvl3pPr indent="-228600" lvl="2" marL="1371600" algn="l">
              <a:lnSpc>
                <a:spcPct val="100000"/>
              </a:lnSpc>
              <a:spcBef>
                <a:spcPts val="480"/>
              </a:spcBef>
              <a:spcAft>
                <a:spcPts val="0"/>
              </a:spcAft>
              <a:buClr>
                <a:schemeClr val="dk1"/>
              </a:buClr>
              <a:buSzPts val="1800"/>
              <a:buNone/>
              <a:defRPr/>
            </a:lvl3pPr>
            <a:lvl4pPr indent="-228600" lvl="3" marL="1828800" algn="l">
              <a:lnSpc>
                <a:spcPct val="100000"/>
              </a:lnSpc>
              <a:spcBef>
                <a:spcPts val="480"/>
              </a:spcBef>
              <a:spcAft>
                <a:spcPts val="0"/>
              </a:spcAft>
              <a:buClr>
                <a:schemeClr val="dk1"/>
              </a:buClr>
              <a:buSzPts val="1800"/>
              <a:buNone/>
              <a:defRPr/>
            </a:lvl4pPr>
            <a:lvl5pPr indent="-228600" lvl="4" marL="2286000" algn="l">
              <a:lnSpc>
                <a:spcPct val="100000"/>
              </a:lnSpc>
              <a:spcBef>
                <a:spcPts val="427"/>
              </a:spcBef>
              <a:spcAft>
                <a:spcPts val="0"/>
              </a:spcAft>
              <a:buClr>
                <a:schemeClr val="dk1"/>
              </a:buClr>
              <a:buSzPts val="1600"/>
              <a:buNone/>
              <a:defRPr/>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cxnSp>
        <p:nvCxnSpPr>
          <p:cNvPr id="40" name="Google Shape;40;p28"/>
          <p:cNvCxnSpPr/>
          <p:nvPr/>
        </p:nvCxnSpPr>
        <p:spPr>
          <a:xfrm flipH="1" rot="10800000">
            <a:off x="395705" y="6408357"/>
            <a:ext cx="10315200" cy="9600"/>
          </a:xfrm>
          <a:prstGeom prst="straightConnector1">
            <a:avLst/>
          </a:prstGeom>
          <a:noFill/>
          <a:ln cap="flat" cmpd="sng" w="9525">
            <a:solidFill>
              <a:srgbClr val="8D8F93"/>
            </a:solidFill>
            <a:prstDash val="solid"/>
            <a:round/>
            <a:headEnd len="sm" w="sm" type="none"/>
            <a:tailEnd len="sm" w="sm" type="none"/>
          </a:ln>
        </p:spPr>
      </p:cxnSp>
      <p:pic>
        <p:nvPicPr>
          <p:cNvPr id="41" name="Google Shape;41;p28"/>
          <p:cNvPicPr preferRelativeResize="0"/>
          <p:nvPr/>
        </p:nvPicPr>
        <p:blipFill rotWithShape="1">
          <a:blip r:embed="rId2">
            <a:alphaModFix/>
          </a:blip>
          <a:srcRect b="0" l="0" r="0" t="0"/>
          <a:stretch/>
        </p:blipFill>
        <p:spPr>
          <a:xfrm>
            <a:off x="10842215" y="5869659"/>
            <a:ext cx="1152389" cy="86662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9" name="Shape 49"/>
        <p:cNvGrpSpPr/>
        <p:nvPr/>
      </p:nvGrpSpPr>
      <p:grpSpPr>
        <a:xfrm>
          <a:off x="0" y="0"/>
          <a:ext cx="0" cy="0"/>
          <a:chOff x="0" y="0"/>
          <a:chExt cx="0" cy="0"/>
        </a:xfrm>
      </p:grpSpPr>
      <p:sp>
        <p:nvSpPr>
          <p:cNvPr id="50" name="Google Shape;50;g3f502f38a39_2_20"/>
          <p:cNvSpPr txBox="1"/>
          <p:nvPr>
            <p:ph type="title"/>
          </p:nvPr>
        </p:nvSpPr>
        <p:spPr>
          <a:xfrm>
            <a:off x="395707" y="194428"/>
            <a:ext cx="11284400" cy="794000"/>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accent1"/>
              </a:buClr>
              <a:buSzPts val="2400"/>
              <a:buFont typeface="Calibri"/>
              <a:buNone/>
              <a:defRPr b="1" sz="2300" cap="none">
                <a:solidFill>
                  <a:srgbClr val="009CD8"/>
                </a:solidFill>
                <a:latin typeface="Calibri"/>
                <a:ea typeface="Calibri"/>
                <a:cs typeface="Calibri"/>
                <a:sym typeface="Calibri"/>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1" name="Google Shape;51;g3f502f38a39_2_20"/>
          <p:cNvSpPr txBox="1"/>
          <p:nvPr>
            <p:ph idx="1" type="body"/>
          </p:nvPr>
        </p:nvSpPr>
        <p:spPr>
          <a:xfrm>
            <a:off x="395705" y="988341"/>
            <a:ext cx="11284400" cy="4784800"/>
          </a:xfrm>
          <a:prstGeom prst="rect">
            <a:avLst/>
          </a:prstGeom>
          <a:noFill/>
          <a:ln>
            <a:noFill/>
          </a:ln>
        </p:spPr>
        <p:txBody>
          <a:bodyPr anchorCtr="0" anchor="t" bIns="45700" lIns="91425" spcFirstLastPara="1" rIns="91425" wrap="square" tIns="45700">
            <a:normAutofit/>
          </a:bodyPr>
          <a:lstStyle>
            <a:lvl1pPr indent="-374650" lvl="0" marL="457200" algn="l">
              <a:lnSpc>
                <a:spcPct val="100000"/>
              </a:lnSpc>
              <a:spcBef>
                <a:spcPts val="500"/>
              </a:spcBef>
              <a:spcAft>
                <a:spcPts val="0"/>
              </a:spcAft>
              <a:buClr>
                <a:schemeClr val="dk1"/>
              </a:buClr>
              <a:buSzPts val="2300"/>
              <a:buChar char="•"/>
              <a:defRPr>
                <a:solidFill>
                  <a:srgbClr val="575756"/>
                </a:solidFill>
                <a:latin typeface="Calibri"/>
                <a:ea typeface="Calibri"/>
                <a:cs typeface="Calibri"/>
                <a:sym typeface="Calibri"/>
              </a:defRPr>
            </a:lvl1pPr>
            <a:lvl2pPr indent="-355600" lvl="1" marL="914400" algn="l">
              <a:lnSpc>
                <a:spcPct val="100000"/>
              </a:lnSpc>
              <a:spcBef>
                <a:spcPts val="500"/>
              </a:spcBef>
              <a:spcAft>
                <a:spcPts val="0"/>
              </a:spcAft>
              <a:buClr>
                <a:schemeClr val="dk1"/>
              </a:buClr>
              <a:buSzPts val="2000"/>
              <a:buChar char="–"/>
              <a:defRPr>
                <a:latin typeface="Calibri"/>
                <a:ea typeface="Calibri"/>
                <a:cs typeface="Calibri"/>
                <a:sym typeface="Calibri"/>
              </a:defRPr>
            </a:lvl2pPr>
            <a:lvl3pPr indent="-349250" lvl="2" marL="1371600" algn="l">
              <a:lnSpc>
                <a:spcPct val="100000"/>
              </a:lnSpc>
              <a:spcBef>
                <a:spcPts val="500"/>
              </a:spcBef>
              <a:spcAft>
                <a:spcPts val="0"/>
              </a:spcAft>
              <a:buClr>
                <a:schemeClr val="dk1"/>
              </a:buClr>
              <a:buSzPts val="1900"/>
              <a:buChar char="•"/>
              <a:defRPr sz="2400">
                <a:latin typeface="Calibri"/>
                <a:ea typeface="Calibri"/>
                <a:cs typeface="Calibri"/>
                <a:sym typeface="Calibri"/>
              </a:defRPr>
            </a:lvl3pPr>
            <a:lvl4pPr indent="-349250" lvl="3" marL="1828800" algn="l">
              <a:lnSpc>
                <a:spcPct val="100000"/>
              </a:lnSpc>
              <a:spcBef>
                <a:spcPts val="500"/>
              </a:spcBef>
              <a:spcAft>
                <a:spcPts val="0"/>
              </a:spcAft>
              <a:buClr>
                <a:schemeClr val="dk1"/>
              </a:buClr>
              <a:buSzPts val="1900"/>
              <a:buChar char="–"/>
              <a:defRPr>
                <a:latin typeface="Arial"/>
                <a:ea typeface="Arial"/>
                <a:cs typeface="Arial"/>
                <a:sym typeface="Arial"/>
              </a:defRPr>
            </a:lvl4pPr>
            <a:lvl5pPr indent="-330200" lvl="4" marL="2286000" algn="l">
              <a:lnSpc>
                <a:spcPct val="100000"/>
              </a:lnSpc>
              <a:spcBef>
                <a:spcPts val="400"/>
              </a:spcBef>
              <a:spcAft>
                <a:spcPts val="0"/>
              </a:spcAft>
              <a:buClr>
                <a:schemeClr val="dk1"/>
              </a:buClr>
              <a:buSzPts val="1600"/>
              <a:buChar char="»"/>
              <a:defRPr>
                <a:latin typeface="Arial"/>
                <a:ea typeface="Arial"/>
                <a:cs typeface="Arial"/>
                <a:sym typeface="Arial"/>
              </a:defRPr>
            </a:lvl5pPr>
            <a:lvl6pPr indent="-349250" lvl="5" marL="2743200" algn="l">
              <a:lnSpc>
                <a:spcPct val="100000"/>
              </a:lnSpc>
              <a:spcBef>
                <a:spcPts val="500"/>
              </a:spcBef>
              <a:spcAft>
                <a:spcPts val="0"/>
              </a:spcAft>
              <a:buClr>
                <a:schemeClr val="dk1"/>
              </a:buClr>
              <a:buSzPts val="1900"/>
              <a:buChar char="•"/>
              <a:defRPr/>
            </a:lvl6pPr>
            <a:lvl7pPr indent="-349250" lvl="6" marL="3200400" algn="l">
              <a:lnSpc>
                <a:spcPct val="100000"/>
              </a:lnSpc>
              <a:spcBef>
                <a:spcPts val="500"/>
              </a:spcBef>
              <a:spcAft>
                <a:spcPts val="0"/>
              </a:spcAft>
              <a:buClr>
                <a:schemeClr val="dk1"/>
              </a:buClr>
              <a:buSzPts val="1900"/>
              <a:buChar char="•"/>
              <a:defRPr/>
            </a:lvl7pPr>
            <a:lvl8pPr indent="-349250" lvl="7" marL="3657600" algn="l">
              <a:lnSpc>
                <a:spcPct val="100000"/>
              </a:lnSpc>
              <a:spcBef>
                <a:spcPts val="500"/>
              </a:spcBef>
              <a:spcAft>
                <a:spcPts val="0"/>
              </a:spcAft>
              <a:buClr>
                <a:schemeClr val="dk1"/>
              </a:buClr>
              <a:buSzPts val="1900"/>
              <a:buChar char="•"/>
              <a:defRPr/>
            </a:lvl8pPr>
            <a:lvl9pPr indent="-349250" lvl="8" marL="4114800" algn="l">
              <a:lnSpc>
                <a:spcPct val="100000"/>
              </a:lnSpc>
              <a:spcBef>
                <a:spcPts val="500"/>
              </a:spcBef>
              <a:spcAft>
                <a:spcPts val="0"/>
              </a:spcAft>
              <a:buClr>
                <a:schemeClr val="dk1"/>
              </a:buClr>
              <a:buSzPts val="1900"/>
              <a:buChar char="•"/>
              <a:defRPr/>
            </a:lvl9pPr>
          </a:lstStyle>
          <a:p/>
        </p:txBody>
      </p:sp>
      <p:cxnSp>
        <p:nvCxnSpPr>
          <p:cNvPr id="52" name="Google Shape;52;g3f502f38a39_2_20"/>
          <p:cNvCxnSpPr/>
          <p:nvPr/>
        </p:nvCxnSpPr>
        <p:spPr>
          <a:xfrm flipH="1" rot="10800000">
            <a:off x="395705" y="6408357"/>
            <a:ext cx="10315200" cy="9600"/>
          </a:xfrm>
          <a:prstGeom prst="straightConnector1">
            <a:avLst/>
          </a:prstGeom>
          <a:noFill/>
          <a:ln cap="flat" cmpd="sng" w="9525">
            <a:solidFill>
              <a:srgbClr val="8D8F93"/>
            </a:solidFill>
            <a:prstDash val="solid"/>
            <a:round/>
            <a:headEnd len="sm" w="sm" type="none"/>
            <a:tailEnd len="sm" w="sm" type="none"/>
          </a:ln>
        </p:spPr>
      </p:cxnSp>
      <p:sp>
        <p:nvSpPr>
          <p:cNvPr id="53" name="Google Shape;53;g3f502f38a39_2_20"/>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lvl1pPr indent="-228600" lvl="0" marL="457200" algn="l">
              <a:lnSpc>
                <a:spcPct val="100000"/>
              </a:lnSpc>
              <a:spcBef>
                <a:spcPts val="300"/>
              </a:spcBef>
              <a:spcAft>
                <a:spcPts val="0"/>
              </a:spcAft>
              <a:buClr>
                <a:schemeClr val="dk1"/>
              </a:buClr>
              <a:buSzPts val="900"/>
              <a:buNone/>
              <a:defRPr b="0" sz="1200" cap="none">
                <a:solidFill>
                  <a:srgbClr val="9D9D9C"/>
                </a:solidFill>
              </a:defRPr>
            </a:lvl1pPr>
            <a:lvl2pPr indent="-228600" lvl="1" marL="914400" algn="l">
              <a:lnSpc>
                <a:spcPct val="100000"/>
              </a:lnSpc>
              <a:spcBef>
                <a:spcPts val="500"/>
              </a:spcBef>
              <a:spcAft>
                <a:spcPts val="0"/>
              </a:spcAft>
              <a:buClr>
                <a:schemeClr val="dk1"/>
              </a:buClr>
              <a:buSzPts val="2000"/>
              <a:buNone/>
              <a:defRPr/>
            </a:lvl2pPr>
            <a:lvl3pPr indent="-228600" lvl="2" marL="1371600" algn="l">
              <a:lnSpc>
                <a:spcPct val="100000"/>
              </a:lnSpc>
              <a:spcBef>
                <a:spcPts val="500"/>
              </a:spcBef>
              <a:spcAft>
                <a:spcPts val="0"/>
              </a:spcAft>
              <a:buClr>
                <a:schemeClr val="dk1"/>
              </a:buClr>
              <a:buSzPts val="1900"/>
              <a:buNone/>
              <a:defRPr/>
            </a:lvl3pPr>
            <a:lvl4pPr indent="-228600" lvl="3" marL="1828800" algn="l">
              <a:lnSpc>
                <a:spcPct val="100000"/>
              </a:lnSpc>
              <a:spcBef>
                <a:spcPts val="500"/>
              </a:spcBef>
              <a:spcAft>
                <a:spcPts val="0"/>
              </a:spcAft>
              <a:buClr>
                <a:schemeClr val="dk1"/>
              </a:buClr>
              <a:buSzPts val="1900"/>
              <a:buNone/>
              <a:defRPr/>
            </a:lvl4pPr>
            <a:lvl5pPr indent="-228600" lvl="4" marL="2286000" algn="l">
              <a:lnSpc>
                <a:spcPct val="100000"/>
              </a:lnSpc>
              <a:spcBef>
                <a:spcPts val="400"/>
              </a:spcBef>
              <a:spcAft>
                <a:spcPts val="0"/>
              </a:spcAft>
              <a:buClr>
                <a:schemeClr val="dk1"/>
              </a:buClr>
              <a:buSzPts val="1600"/>
              <a:buNone/>
              <a:defRPr/>
            </a:lvl5pPr>
            <a:lvl6pPr indent="-349250" lvl="5" marL="2743200" algn="l">
              <a:lnSpc>
                <a:spcPct val="100000"/>
              </a:lnSpc>
              <a:spcBef>
                <a:spcPts val="500"/>
              </a:spcBef>
              <a:spcAft>
                <a:spcPts val="0"/>
              </a:spcAft>
              <a:buClr>
                <a:schemeClr val="dk1"/>
              </a:buClr>
              <a:buSzPts val="1900"/>
              <a:buChar char="•"/>
              <a:defRPr/>
            </a:lvl6pPr>
            <a:lvl7pPr indent="-349250" lvl="6" marL="3200400" algn="l">
              <a:lnSpc>
                <a:spcPct val="100000"/>
              </a:lnSpc>
              <a:spcBef>
                <a:spcPts val="500"/>
              </a:spcBef>
              <a:spcAft>
                <a:spcPts val="0"/>
              </a:spcAft>
              <a:buClr>
                <a:schemeClr val="dk1"/>
              </a:buClr>
              <a:buSzPts val="1900"/>
              <a:buChar char="•"/>
              <a:defRPr/>
            </a:lvl7pPr>
            <a:lvl8pPr indent="-349250" lvl="7" marL="3657600" algn="l">
              <a:lnSpc>
                <a:spcPct val="100000"/>
              </a:lnSpc>
              <a:spcBef>
                <a:spcPts val="500"/>
              </a:spcBef>
              <a:spcAft>
                <a:spcPts val="0"/>
              </a:spcAft>
              <a:buClr>
                <a:schemeClr val="dk1"/>
              </a:buClr>
              <a:buSzPts val="1900"/>
              <a:buChar char="•"/>
              <a:defRPr/>
            </a:lvl8pPr>
            <a:lvl9pPr indent="-349250" lvl="8" marL="4114800" algn="l">
              <a:lnSpc>
                <a:spcPct val="100000"/>
              </a:lnSpc>
              <a:spcBef>
                <a:spcPts val="500"/>
              </a:spcBef>
              <a:spcAft>
                <a:spcPts val="0"/>
              </a:spcAft>
              <a:buClr>
                <a:schemeClr val="dk1"/>
              </a:buClr>
              <a:buSzPts val="1900"/>
              <a:buChar char="•"/>
              <a:defRPr/>
            </a:lvl9pPr>
          </a:lstStyle>
          <a:p/>
        </p:txBody>
      </p:sp>
      <p:pic>
        <p:nvPicPr>
          <p:cNvPr id="54" name="Google Shape;54;g3f502f38a39_2_20"/>
          <p:cNvPicPr preferRelativeResize="0"/>
          <p:nvPr/>
        </p:nvPicPr>
        <p:blipFill rotWithShape="1">
          <a:blip r:embed="rId2">
            <a:alphaModFix/>
          </a:blip>
          <a:srcRect b="0" l="0" r="0" t="0"/>
          <a:stretch/>
        </p:blipFill>
        <p:spPr>
          <a:xfrm>
            <a:off x="10842215" y="5869659"/>
            <a:ext cx="1152389" cy="86662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5" name="Shape 55"/>
        <p:cNvGrpSpPr/>
        <p:nvPr/>
      </p:nvGrpSpPr>
      <p:grpSpPr>
        <a:xfrm>
          <a:off x="0" y="0"/>
          <a:ext cx="0" cy="0"/>
          <a:chOff x="0" y="0"/>
          <a:chExt cx="0" cy="0"/>
        </a:xfrm>
      </p:grpSpPr>
      <p:sp>
        <p:nvSpPr>
          <p:cNvPr id="56" name="Google Shape;56;g3f502f38a39_2_7"/>
          <p:cNvSpPr/>
          <p:nvPr/>
        </p:nvSpPr>
        <p:spPr>
          <a:xfrm>
            <a:off x="3834064" y="0"/>
            <a:ext cx="8386000" cy="6858000"/>
          </a:xfrm>
          <a:prstGeom prst="rect">
            <a:avLst/>
          </a:prstGeom>
          <a:solidFill>
            <a:srgbClr val="E9E9E9"/>
          </a:solidFill>
          <a:ln>
            <a:noFill/>
          </a:ln>
          <a:effectLst>
            <a:outerShdw blurRad="40000" rotWithShape="0" dir="5400000" dist="23000">
              <a:srgbClr val="000000">
                <a:alpha val="32941"/>
              </a:srgbClr>
            </a:outerShdw>
          </a:effectLst>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2400" u="none" cap="none" strike="noStrike">
              <a:solidFill>
                <a:schemeClr val="lt1"/>
              </a:solidFill>
              <a:latin typeface="Calibri"/>
              <a:ea typeface="Calibri"/>
              <a:cs typeface="Calibri"/>
              <a:sym typeface="Calibri"/>
            </a:endParaRPr>
          </a:p>
        </p:txBody>
      </p:sp>
      <p:sp>
        <p:nvSpPr>
          <p:cNvPr id="57" name="Google Shape;57;g3f502f38a39_2_7"/>
          <p:cNvSpPr txBox="1"/>
          <p:nvPr>
            <p:ph type="title"/>
          </p:nvPr>
        </p:nvSpPr>
        <p:spPr>
          <a:xfrm>
            <a:off x="4165600" y="2695073"/>
            <a:ext cx="7812400" cy="1315600"/>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lt1"/>
              </a:buClr>
              <a:buSzPts val="3600"/>
              <a:buFont typeface="Calibri"/>
              <a:buNone/>
              <a:defRPr sz="4800">
                <a:solidFill>
                  <a:schemeClr val="l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8" name="Google Shape;58;g3f502f38a39_2_7"/>
          <p:cNvSpPr txBox="1"/>
          <p:nvPr>
            <p:ph idx="1" type="body"/>
          </p:nvPr>
        </p:nvSpPr>
        <p:spPr>
          <a:xfrm>
            <a:off x="4165600" y="4319588"/>
            <a:ext cx="4540400" cy="1803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00"/>
              </a:spcBef>
              <a:spcAft>
                <a:spcPts val="0"/>
              </a:spcAft>
              <a:buClr>
                <a:schemeClr val="dk1"/>
              </a:buClr>
              <a:buSzPts val="2000"/>
              <a:buNone/>
              <a:defRPr sz="2700"/>
            </a:lvl1pPr>
            <a:lvl2pPr indent="-349250" lvl="1" marL="914400" algn="l">
              <a:lnSpc>
                <a:spcPct val="100000"/>
              </a:lnSpc>
              <a:spcBef>
                <a:spcPts val="500"/>
              </a:spcBef>
              <a:spcAft>
                <a:spcPts val="0"/>
              </a:spcAft>
              <a:buClr>
                <a:schemeClr val="dk1"/>
              </a:buClr>
              <a:buSzPts val="1900"/>
              <a:buChar char="–"/>
              <a:defRPr/>
            </a:lvl2pPr>
            <a:lvl3pPr indent="-349250" lvl="2" marL="1371600" algn="l">
              <a:lnSpc>
                <a:spcPct val="100000"/>
              </a:lnSpc>
              <a:spcBef>
                <a:spcPts val="500"/>
              </a:spcBef>
              <a:spcAft>
                <a:spcPts val="0"/>
              </a:spcAft>
              <a:buClr>
                <a:schemeClr val="dk1"/>
              </a:buClr>
              <a:buSzPts val="1900"/>
              <a:buChar char="•"/>
              <a:defRPr/>
            </a:lvl3pPr>
            <a:lvl4pPr indent="-349250" lvl="3" marL="1828800" algn="l">
              <a:lnSpc>
                <a:spcPct val="100000"/>
              </a:lnSpc>
              <a:spcBef>
                <a:spcPts val="500"/>
              </a:spcBef>
              <a:spcAft>
                <a:spcPts val="0"/>
              </a:spcAft>
              <a:buClr>
                <a:schemeClr val="dk1"/>
              </a:buClr>
              <a:buSzPts val="1900"/>
              <a:buChar char="–"/>
              <a:defRPr/>
            </a:lvl4pPr>
            <a:lvl5pPr indent="-349250" lvl="4" marL="2286000" algn="l">
              <a:lnSpc>
                <a:spcPct val="100000"/>
              </a:lnSpc>
              <a:spcBef>
                <a:spcPts val="500"/>
              </a:spcBef>
              <a:spcAft>
                <a:spcPts val="0"/>
              </a:spcAft>
              <a:buClr>
                <a:schemeClr val="dk1"/>
              </a:buClr>
              <a:buSzPts val="1900"/>
              <a:buChar char="»"/>
              <a:defRPr/>
            </a:lvl5pPr>
            <a:lvl6pPr indent="-349250" lvl="5" marL="2743200" algn="l">
              <a:lnSpc>
                <a:spcPct val="100000"/>
              </a:lnSpc>
              <a:spcBef>
                <a:spcPts val="500"/>
              </a:spcBef>
              <a:spcAft>
                <a:spcPts val="0"/>
              </a:spcAft>
              <a:buClr>
                <a:schemeClr val="dk1"/>
              </a:buClr>
              <a:buSzPts val="1900"/>
              <a:buChar char="•"/>
              <a:defRPr/>
            </a:lvl6pPr>
            <a:lvl7pPr indent="-349250" lvl="6" marL="3200400" algn="l">
              <a:lnSpc>
                <a:spcPct val="100000"/>
              </a:lnSpc>
              <a:spcBef>
                <a:spcPts val="500"/>
              </a:spcBef>
              <a:spcAft>
                <a:spcPts val="0"/>
              </a:spcAft>
              <a:buClr>
                <a:schemeClr val="dk1"/>
              </a:buClr>
              <a:buSzPts val="1900"/>
              <a:buChar char="•"/>
              <a:defRPr/>
            </a:lvl7pPr>
            <a:lvl8pPr indent="-349250" lvl="7" marL="3657600" algn="l">
              <a:lnSpc>
                <a:spcPct val="100000"/>
              </a:lnSpc>
              <a:spcBef>
                <a:spcPts val="500"/>
              </a:spcBef>
              <a:spcAft>
                <a:spcPts val="0"/>
              </a:spcAft>
              <a:buClr>
                <a:schemeClr val="dk1"/>
              </a:buClr>
              <a:buSzPts val="1900"/>
              <a:buChar char="•"/>
              <a:defRPr/>
            </a:lvl8pPr>
            <a:lvl9pPr indent="-349250" lvl="8" marL="4114800" algn="l">
              <a:lnSpc>
                <a:spcPct val="100000"/>
              </a:lnSpc>
              <a:spcBef>
                <a:spcPts val="500"/>
              </a:spcBef>
              <a:spcAft>
                <a:spcPts val="0"/>
              </a:spcAft>
              <a:buClr>
                <a:schemeClr val="dk1"/>
              </a:buClr>
              <a:buSzPts val="1900"/>
              <a:buChar char="•"/>
              <a:defRPr/>
            </a:lvl9pPr>
          </a:lstStyle>
          <a:p/>
        </p:txBody>
      </p:sp>
      <p:sp>
        <p:nvSpPr>
          <p:cNvPr id="59" name="Google Shape;59;g3f502f38a39_2_7"/>
          <p:cNvSpPr txBox="1"/>
          <p:nvPr>
            <p:ph idx="2" type="body"/>
          </p:nvPr>
        </p:nvSpPr>
        <p:spPr>
          <a:xfrm>
            <a:off x="4165600" y="6303963"/>
            <a:ext cx="7812400" cy="40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00"/>
              </a:spcBef>
              <a:spcAft>
                <a:spcPts val="0"/>
              </a:spcAft>
              <a:buClr>
                <a:schemeClr val="dk1"/>
              </a:buClr>
              <a:buSzPts val="1600"/>
              <a:buNone/>
              <a:defRPr sz="2100"/>
            </a:lvl1pPr>
            <a:lvl2pPr indent="-349250" lvl="1" marL="914400" algn="l">
              <a:lnSpc>
                <a:spcPct val="100000"/>
              </a:lnSpc>
              <a:spcBef>
                <a:spcPts val="500"/>
              </a:spcBef>
              <a:spcAft>
                <a:spcPts val="0"/>
              </a:spcAft>
              <a:buClr>
                <a:schemeClr val="dk1"/>
              </a:buClr>
              <a:buSzPts val="1900"/>
              <a:buChar char="–"/>
              <a:defRPr/>
            </a:lvl2pPr>
            <a:lvl3pPr indent="-349250" lvl="2" marL="1371600" algn="l">
              <a:lnSpc>
                <a:spcPct val="100000"/>
              </a:lnSpc>
              <a:spcBef>
                <a:spcPts val="500"/>
              </a:spcBef>
              <a:spcAft>
                <a:spcPts val="0"/>
              </a:spcAft>
              <a:buClr>
                <a:schemeClr val="dk1"/>
              </a:buClr>
              <a:buSzPts val="1900"/>
              <a:buChar char="•"/>
              <a:defRPr/>
            </a:lvl3pPr>
            <a:lvl4pPr indent="-349250" lvl="3" marL="1828800" algn="l">
              <a:lnSpc>
                <a:spcPct val="100000"/>
              </a:lnSpc>
              <a:spcBef>
                <a:spcPts val="500"/>
              </a:spcBef>
              <a:spcAft>
                <a:spcPts val="0"/>
              </a:spcAft>
              <a:buClr>
                <a:schemeClr val="dk1"/>
              </a:buClr>
              <a:buSzPts val="1900"/>
              <a:buChar char="–"/>
              <a:defRPr/>
            </a:lvl4pPr>
            <a:lvl5pPr indent="-349250" lvl="4" marL="2286000" algn="l">
              <a:lnSpc>
                <a:spcPct val="100000"/>
              </a:lnSpc>
              <a:spcBef>
                <a:spcPts val="500"/>
              </a:spcBef>
              <a:spcAft>
                <a:spcPts val="0"/>
              </a:spcAft>
              <a:buClr>
                <a:schemeClr val="dk1"/>
              </a:buClr>
              <a:buSzPts val="1900"/>
              <a:buChar char="»"/>
              <a:defRPr/>
            </a:lvl5pPr>
            <a:lvl6pPr indent="-349250" lvl="5" marL="2743200" algn="l">
              <a:lnSpc>
                <a:spcPct val="100000"/>
              </a:lnSpc>
              <a:spcBef>
                <a:spcPts val="500"/>
              </a:spcBef>
              <a:spcAft>
                <a:spcPts val="0"/>
              </a:spcAft>
              <a:buClr>
                <a:schemeClr val="dk1"/>
              </a:buClr>
              <a:buSzPts val="1900"/>
              <a:buChar char="•"/>
              <a:defRPr/>
            </a:lvl6pPr>
            <a:lvl7pPr indent="-349250" lvl="6" marL="3200400" algn="l">
              <a:lnSpc>
                <a:spcPct val="100000"/>
              </a:lnSpc>
              <a:spcBef>
                <a:spcPts val="500"/>
              </a:spcBef>
              <a:spcAft>
                <a:spcPts val="0"/>
              </a:spcAft>
              <a:buClr>
                <a:schemeClr val="dk1"/>
              </a:buClr>
              <a:buSzPts val="1900"/>
              <a:buChar char="•"/>
              <a:defRPr/>
            </a:lvl7pPr>
            <a:lvl8pPr indent="-349250" lvl="7" marL="3657600" algn="l">
              <a:lnSpc>
                <a:spcPct val="100000"/>
              </a:lnSpc>
              <a:spcBef>
                <a:spcPts val="500"/>
              </a:spcBef>
              <a:spcAft>
                <a:spcPts val="0"/>
              </a:spcAft>
              <a:buClr>
                <a:schemeClr val="dk1"/>
              </a:buClr>
              <a:buSzPts val="1900"/>
              <a:buChar char="•"/>
              <a:defRPr/>
            </a:lvl8pPr>
            <a:lvl9pPr indent="-349250" lvl="8" marL="4114800" algn="l">
              <a:lnSpc>
                <a:spcPct val="100000"/>
              </a:lnSpc>
              <a:spcBef>
                <a:spcPts val="500"/>
              </a:spcBef>
              <a:spcAft>
                <a:spcPts val="0"/>
              </a:spcAft>
              <a:buClr>
                <a:schemeClr val="dk1"/>
              </a:buClr>
              <a:buSzPts val="1900"/>
              <a:buChar char="•"/>
              <a:defRPr/>
            </a:lvl9pPr>
          </a:lstStyle>
          <a:p/>
        </p:txBody>
      </p:sp>
      <p:pic>
        <p:nvPicPr>
          <p:cNvPr id="60" name="Google Shape;60;g3f502f38a39_2_7"/>
          <p:cNvPicPr preferRelativeResize="0"/>
          <p:nvPr/>
        </p:nvPicPr>
        <p:blipFill rotWithShape="1">
          <a:blip r:embed="rId2">
            <a:alphaModFix/>
          </a:blip>
          <a:srcRect b="0" l="0" r="0" t="0"/>
          <a:stretch/>
        </p:blipFill>
        <p:spPr>
          <a:xfrm>
            <a:off x="634134" y="2839400"/>
            <a:ext cx="2480433" cy="1315600"/>
          </a:xfrm>
          <a:prstGeom prst="rect">
            <a:avLst/>
          </a:prstGeom>
          <a:noFill/>
          <a:ln>
            <a:noFill/>
          </a:ln>
        </p:spPr>
      </p:pic>
      <p:pic>
        <p:nvPicPr>
          <p:cNvPr id="61" name="Google Shape;61;g3f502f38a39_2_7"/>
          <p:cNvPicPr preferRelativeResize="0"/>
          <p:nvPr/>
        </p:nvPicPr>
        <p:blipFill rotWithShape="1">
          <a:blip r:embed="rId3">
            <a:alphaModFix/>
          </a:blip>
          <a:srcRect b="0" l="0" r="0" t="0"/>
          <a:stretch/>
        </p:blipFill>
        <p:spPr>
          <a:xfrm>
            <a:off x="634134" y="2349773"/>
            <a:ext cx="2619359" cy="196981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Layout">
  <p:cSld name="Section Layout">
    <p:spTree>
      <p:nvGrpSpPr>
        <p:cNvPr id="62" name="Shape 62"/>
        <p:cNvGrpSpPr/>
        <p:nvPr/>
      </p:nvGrpSpPr>
      <p:grpSpPr>
        <a:xfrm>
          <a:off x="0" y="0"/>
          <a:ext cx="0" cy="0"/>
          <a:chOff x="0" y="0"/>
          <a:chExt cx="0" cy="0"/>
        </a:xfrm>
      </p:grpSpPr>
      <p:sp>
        <p:nvSpPr>
          <p:cNvPr id="63" name="Google Shape;63;g3f502f38a39_2_14"/>
          <p:cNvSpPr txBox="1"/>
          <p:nvPr>
            <p:ph type="title"/>
          </p:nvPr>
        </p:nvSpPr>
        <p:spPr>
          <a:xfrm>
            <a:off x="661288" y="4389057"/>
            <a:ext cx="11411200" cy="589200"/>
          </a:xfrm>
          <a:prstGeom prst="rect">
            <a:avLst/>
          </a:prstGeom>
          <a:noFill/>
          <a:ln>
            <a:noFill/>
          </a:ln>
        </p:spPr>
        <p:txBody>
          <a:bodyPr anchorCtr="0" anchor="t" bIns="45700" lIns="0" spcFirstLastPara="1" rIns="0" wrap="square" tIns="45700">
            <a:normAutofit/>
          </a:bodyPr>
          <a:lstStyle>
            <a:lvl1pPr lvl="0" algn="l">
              <a:lnSpc>
                <a:spcPct val="100000"/>
              </a:lnSpc>
              <a:spcBef>
                <a:spcPts val="0"/>
              </a:spcBef>
              <a:spcAft>
                <a:spcPts val="0"/>
              </a:spcAft>
              <a:buClr>
                <a:schemeClr val="accent1"/>
              </a:buClr>
              <a:buSzPts val="2800"/>
              <a:buFont typeface="Calibri"/>
              <a:buNone/>
              <a:defRPr sz="3700">
                <a:solidFill>
                  <a:srgbClr val="009CD8"/>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64" name="Google Shape;64;g3f502f38a39_2_14"/>
          <p:cNvSpPr txBox="1"/>
          <p:nvPr>
            <p:ph idx="1" type="body"/>
          </p:nvPr>
        </p:nvSpPr>
        <p:spPr>
          <a:xfrm>
            <a:off x="582992" y="4005943"/>
            <a:ext cx="11413200" cy="356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00"/>
              </a:spcBef>
              <a:spcAft>
                <a:spcPts val="0"/>
              </a:spcAft>
              <a:buClr>
                <a:schemeClr val="dk1"/>
              </a:buClr>
              <a:buSzPts val="2000"/>
              <a:buNone/>
              <a:defRPr sz="2700">
                <a:solidFill>
                  <a:srgbClr val="575756"/>
                </a:solidFill>
              </a:defRPr>
            </a:lvl1pPr>
            <a:lvl2pPr indent="-349250" lvl="1" marL="914400" algn="l">
              <a:lnSpc>
                <a:spcPct val="100000"/>
              </a:lnSpc>
              <a:spcBef>
                <a:spcPts val="500"/>
              </a:spcBef>
              <a:spcAft>
                <a:spcPts val="0"/>
              </a:spcAft>
              <a:buClr>
                <a:schemeClr val="dk1"/>
              </a:buClr>
              <a:buSzPts val="1900"/>
              <a:buChar char="–"/>
              <a:defRPr/>
            </a:lvl2pPr>
            <a:lvl3pPr indent="-349250" lvl="2" marL="1371600" algn="l">
              <a:lnSpc>
                <a:spcPct val="100000"/>
              </a:lnSpc>
              <a:spcBef>
                <a:spcPts val="500"/>
              </a:spcBef>
              <a:spcAft>
                <a:spcPts val="0"/>
              </a:spcAft>
              <a:buClr>
                <a:schemeClr val="dk1"/>
              </a:buClr>
              <a:buSzPts val="1900"/>
              <a:buChar char="•"/>
              <a:defRPr/>
            </a:lvl3pPr>
            <a:lvl4pPr indent="-349250" lvl="3" marL="1828800" algn="l">
              <a:lnSpc>
                <a:spcPct val="100000"/>
              </a:lnSpc>
              <a:spcBef>
                <a:spcPts val="500"/>
              </a:spcBef>
              <a:spcAft>
                <a:spcPts val="0"/>
              </a:spcAft>
              <a:buClr>
                <a:schemeClr val="dk1"/>
              </a:buClr>
              <a:buSzPts val="1900"/>
              <a:buChar char="–"/>
              <a:defRPr/>
            </a:lvl4pPr>
            <a:lvl5pPr indent="-349250" lvl="4" marL="2286000" algn="l">
              <a:lnSpc>
                <a:spcPct val="100000"/>
              </a:lnSpc>
              <a:spcBef>
                <a:spcPts val="500"/>
              </a:spcBef>
              <a:spcAft>
                <a:spcPts val="0"/>
              </a:spcAft>
              <a:buClr>
                <a:schemeClr val="dk1"/>
              </a:buClr>
              <a:buSzPts val="1900"/>
              <a:buChar char="»"/>
              <a:defRPr/>
            </a:lvl5pPr>
            <a:lvl6pPr indent="-349250" lvl="5" marL="2743200" algn="l">
              <a:lnSpc>
                <a:spcPct val="100000"/>
              </a:lnSpc>
              <a:spcBef>
                <a:spcPts val="500"/>
              </a:spcBef>
              <a:spcAft>
                <a:spcPts val="0"/>
              </a:spcAft>
              <a:buClr>
                <a:schemeClr val="dk1"/>
              </a:buClr>
              <a:buSzPts val="1900"/>
              <a:buChar char="•"/>
              <a:defRPr/>
            </a:lvl6pPr>
            <a:lvl7pPr indent="-349250" lvl="6" marL="3200400" algn="l">
              <a:lnSpc>
                <a:spcPct val="100000"/>
              </a:lnSpc>
              <a:spcBef>
                <a:spcPts val="500"/>
              </a:spcBef>
              <a:spcAft>
                <a:spcPts val="0"/>
              </a:spcAft>
              <a:buClr>
                <a:schemeClr val="dk1"/>
              </a:buClr>
              <a:buSzPts val="1900"/>
              <a:buChar char="•"/>
              <a:defRPr/>
            </a:lvl7pPr>
            <a:lvl8pPr indent="-349250" lvl="7" marL="3657600" algn="l">
              <a:lnSpc>
                <a:spcPct val="100000"/>
              </a:lnSpc>
              <a:spcBef>
                <a:spcPts val="500"/>
              </a:spcBef>
              <a:spcAft>
                <a:spcPts val="0"/>
              </a:spcAft>
              <a:buClr>
                <a:schemeClr val="dk1"/>
              </a:buClr>
              <a:buSzPts val="1900"/>
              <a:buChar char="•"/>
              <a:defRPr/>
            </a:lvl8pPr>
            <a:lvl9pPr indent="-349250" lvl="8" marL="4114800" algn="l">
              <a:lnSpc>
                <a:spcPct val="100000"/>
              </a:lnSpc>
              <a:spcBef>
                <a:spcPts val="500"/>
              </a:spcBef>
              <a:spcAft>
                <a:spcPts val="0"/>
              </a:spcAft>
              <a:buClr>
                <a:schemeClr val="dk1"/>
              </a:buClr>
              <a:buSzPts val="1900"/>
              <a:buChar char="•"/>
              <a:defRPr/>
            </a:lvl9pPr>
          </a:lstStyle>
          <a:p/>
        </p:txBody>
      </p:sp>
      <p:sp>
        <p:nvSpPr>
          <p:cNvPr id="65" name="Google Shape;65;g3f502f38a39_2_14"/>
          <p:cNvSpPr txBox="1"/>
          <p:nvPr>
            <p:ph idx="12" type="sldNum"/>
          </p:nvPr>
        </p:nvSpPr>
        <p:spPr>
          <a:xfrm>
            <a:off x="-276585" y="6235395"/>
            <a:ext cx="773200" cy="3652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r>
              <a:rPr lang="en-IN"/>
              <a:t>|</a:t>
            </a:r>
            <a:endParaRPr/>
          </a:p>
        </p:txBody>
      </p:sp>
      <p:cxnSp>
        <p:nvCxnSpPr>
          <p:cNvPr id="66" name="Google Shape;66;g3f502f38a39_2_14"/>
          <p:cNvCxnSpPr/>
          <p:nvPr/>
        </p:nvCxnSpPr>
        <p:spPr>
          <a:xfrm flipH="1" rot="10800000">
            <a:off x="395705" y="6408357"/>
            <a:ext cx="10315200" cy="9600"/>
          </a:xfrm>
          <a:prstGeom prst="straightConnector1">
            <a:avLst/>
          </a:prstGeom>
          <a:noFill/>
          <a:ln cap="flat" cmpd="sng" w="9525">
            <a:solidFill>
              <a:srgbClr val="8D8F93"/>
            </a:solidFill>
            <a:prstDash val="solid"/>
            <a:round/>
            <a:headEnd len="sm" w="sm" type="none"/>
            <a:tailEnd len="sm" w="sm" type="none"/>
          </a:ln>
        </p:spPr>
      </p:cxnSp>
      <p:pic>
        <p:nvPicPr>
          <p:cNvPr id="67" name="Google Shape;67;g3f502f38a39_2_14"/>
          <p:cNvPicPr preferRelativeResize="0"/>
          <p:nvPr/>
        </p:nvPicPr>
        <p:blipFill rotWithShape="1">
          <a:blip r:embed="rId2">
            <a:alphaModFix/>
          </a:blip>
          <a:srcRect b="0" l="0" r="0" t="0"/>
          <a:stretch/>
        </p:blipFill>
        <p:spPr>
          <a:xfrm>
            <a:off x="10842215" y="5869659"/>
            <a:ext cx="1152389" cy="86662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68" name="Shape 68"/>
        <p:cNvGrpSpPr/>
        <p:nvPr/>
      </p:nvGrpSpPr>
      <p:grpSpPr>
        <a:xfrm>
          <a:off x="0" y="0"/>
          <a:ext cx="0" cy="0"/>
          <a:chOff x="0" y="0"/>
          <a:chExt cx="0" cy="0"/>
        </a:xfrm>
      </p:grpSpPr>
      <p:sp>
        <p:nvSpPr>
          <p:cNvPr id="69" name="Google Shape;69;g3f502f38a39_2_26"/>
          <p:cNvSpPr txBox="1"/>
          <p:nvPr>
            <p:ph type="title"/>
          </p:nvPr>
        </p:nvSpPr>
        <p:spPr>
          <a:xfrm>
            <a:off x="354419" y="226512"/>
            <a:ext cx="11228000" cy="893600"/>
          </a:xfrm>
          <a:prstGeom prst="rect">
            <a:avLst/>
          </a:prstGeom>
          <a:noFill/>
          <a:ln>
            <a:noFill/>
          </a:ln>
        </p:spPr>
        <p:txBody>
          <a:bodyPr anchorCtr="0" anchor="t" bIns="45700" lIns="0" spcFirstLastPara="1" rIns="0" wrap="square" tIns="45700">
            <a:noAutofit/>
          </a:bodyPr>
          <a:lstStyle>
            <a:lvl1pPr lvl="0" algn="l">
              <a:lnSpc>
                <a:spcPct val="100000"/>
              </a:lnSpc>
              <a:spcBef>
                <a:spcPts val="0"/>
              </a:spcBef>
              <a:spcAft>
                <a:spcPts val="0"/>
              </a:spcAft>
              <a:buClr>
                <a:schemeClr val="accent1"/>
              </a:buClr>
              <a:buSzPts val="2400"/>
              <a:buFont typeface="Calibri"/>
              <a:buNone/>
              <a:defRPr b="1" sz="2300" cap="none">
                <a:solidFill>
                  <a:schemeClr val="accen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70" name="Google Shape;70;g3f502f38a39_2_26"/>
          <p:cNvSpPr txBox="1"/>
          <p:nvPr>
            <p:ph idx="1" type="body"/>
          </p:nvPr>
        </p:nvSpPr>
        <p:spPr>
          <a:xfrm>
            <a:off x="354419" y="1152456"/>
            <a:ext cx="5640000" cy="4526000"/>
          </a:xfrm>
          <a:prstGeom prst="rect">
            <a:avLst/>
          </a:prstGeom>
          <a:noFill/>
          <a:ln>
            <a:noFill/>
          </a:ln>
        </p:spPr>
        <p:txBody>
          <a:bodyPr anchorCtr="0" anchor="t" bIns="45700" lIns="91425" spcFirstLastPara="1" rIns="91425" wrap="square" tIns="45700">
            <a:normAutofit/>
          </a:bodyPr>
          <a:lstStyle>
            <a:lvl1pPr indent="-374650" lvl="0" marL="457200" algn="l">
              <a:lnSpc>
                <a:spcPct val="100000"/>
              </a:lnSpc>
              <a:spcBef>
                <a:spcPts val="500"/>
              </a:spcBef>
              <a:spcAft>
                <a:spcPts val="0"/>
              </a:spcAft>
              <a:buClr>
                <a:schemeClr val="dk1"/>
              </a:buClr>
              <a:buSzPts val="2300"/>
              <a:buChar char="•"/>
              <a:defRPr sz="2900">
                <a:solidFill>
                  <a:srgbClr val="575756"/>
                </a:solidFill>
              </a:defRPr>
            </a:lvl1pPr>
            <a:lvl2pPr indent="-355600" lvl="1" marL="914400" algn="l">
              <a:lnSpc>
                <a:spcPct val="100000"/>
              </a:lnSpc>
              <a:spcBef>
                <a:spcPts val="500"/>
              </a:spcBef>
              <a:spcAft>
                <a:spcPts val="0"/>
              </a:spcAft>
              <a:buClr>
                <a:schemeClr val="dk1"/>
              </a:buClr>
              <a:buSzPts val="2000"/>
              <a:buChar char="–"/>
              <a:defRPr sz="2700"/>
            </a:lvl2pPr>
            <a:lvl3pPr indent="-349250" lvl="2" marL="1371600" algn="l">
              <a:lnSpc>
                <a:spcPct val="100000"/>
              </a:lnSpc>
              <a:spcBef>
                <a:spcPts val="500"/>
              </a:spcBef>
              <a:spcAft>
                <a:spcPts val="0"/>
              </a:spcAft>
              <a:buClr>
                <a:schemeClr val="dk1"/>
              </a:buClr>
              <a:buSzPts val="1900"/>
              <a:buChar char="•"/>
              <a:defRPr sz="2400"/>
            </a:lvl3pPr>
            <a:lvl4pPr indent="-330200" lvl="3" marL="1828800" algn="l">
              <a:lnSpc>
                <a:spcPct val="100000"/>
              </a:lnSpc>
              <a:spcBef>
                <a:spcPts val="400"/>
              </a:spcBef>
              <a:spcAft>
                <a:spcPts val="0"/>
              </a:spcAft>
              <a:buClr>
                <a:schemeClr val="dk1"/>
              </a:buClr>
              <a:buSzPts val="1600"/>
              <a:buChar char="–"/>
              <a:defRPr sz="2100"/>
            </a:lvl4pPr>
            <a:lvl5pPr indent="-330200" lvl="4" marL="2286000" algn="l">
              <a:lnSpc>
                <a:spcPct val="100000"/>
              </a:lnSpc>
              <a:spcBef>
                <a:spcPts val="400"/>
              </a:spcBef>
              <a:spcAft>
                <a:spcPts val="0"/>
              </a:spcAft>
              <a:buClr>
                <a:schemeClr val="dk1"/>
              </a:buClr>
              <a:buSzPts val="1600"/>
              <a:buChar char="»"/>
              <a:defRPr sz="2100"/>
            </a:lvl5pPr>
            <a:lvl6pPr indent="-349250" lvl="5" marL="2743200" algn="l">
              <a:lnSpc>
                <a:spcPct val="100000"/>
              </a:lnSpc>
              <a:spcBef>
                <a:spcPts val="500"/>
              </a:spcBef>
              <a:spcAft>
                <a:spcPts val="0"/>
              </a:spcAft>
              <a:buClr>
                <a:schemeClr val="dk1"/>
              </a:buClr>
              <a:buSzPts val="1900"/>
              <a:buChar char="•"/>
              <a:defRPr sz="2400"/>
            </a:lvl6pPr>
            <a:lvl7pPr indent="-349250" lvl="6" marL="3200400" algn="l">
              <a:lnSpc>
                <a:spcPct val="100000"/>
              </a:lnSpc>
              <a:spcBef>
                <a:spcPts val="500"/>
              </a:spcBef>
              <a:spcAft>
                <a:spcPts val="0"/>
              </a:spcAft>
              <a:buClr>
                <a:schemeClr val="dk1"/>
              </a:buClr>
              <a:buSzPts val="1900"/>
              <a:buChar char="•"/>
              <a:defRPr sz="2400"/>
            </a:lvl7pPr>
            <a:lvl8pPr indent="-349250" lvl="7" marL="3657600" algn="l">
              <a:lnSpc>
                <a:spcPct val="100000"/>
              </a:lnSpc>
              <a:spcBef>
                <a:spcPts val="500"/>
              </a:spcBef>
              <a:spcAft>
                <a:spcPts val="0"/>
              </a:spcAft>
              <a:buClr>
                <a:schemeClr val="dk1"/>
              </a:buClr>
              <a:buSzPts val="1900"/>
              <a:buChar char="•"/>
              <a:defRPr sz="2400"/>
            </a:lvl8pPr>
            <a:lvl9pPr indent="-349250" lvl="8" marL="4114800" algn="l">
              <a:lnSpc>
                <a:spcPct val="100000"/>
              </a:lnSpc>
              <a:spcBef>
                <a:spcPts val="500"/>
              </a:spcBef>
              <a:spcAft>
                <a:spcPts val="0"/>
              </a:spcAft>
              <a:buClr>
                <a:schemeClr val="dk1"/>
              </a:buClr>
              <a:buSzPts val="1900"/>
              <a:buChar char="•"/>
              <a:defRPr sz="2400"/>
            </a:lvl9pPr>
          </a:lstStyle>
          <a:p/>
        </p:txBody>
      </p:sp>
      <p:sp>
        <p:nvSpPr>
          <p:cNvPr id="71" name="Google Shape;71;g3f502f38a39_2_26"/>
          <p:cNvSpPr txBox="1"/>
          <p:nvPr>
            <p:ph idx="2" type="body"/>
          </p:nvPr>
        </p:nvSpPr>
        <p:spPr>
          <a:xfrm>
            <a:off x="6197600" y="1152456"/>
            <a:ext cx="5384800" cy="4526000"/>
          </a:xfrm>
          <a:prstGeom prst="rect">
            <a:avLst/>
          </a:prstGeom>
          <a:noFill/>
          <a:ln>
            <a:noFill/>
          </a:ln>
        </p:spPr>
        <p:txBody>
          <a:bodyPr anchorCtr="0" anchor="t" bIns="45700" lIns="91425" spcFirstLastPara="1" rIns="91425" wrap="square" tIns="45700">
            <a:normAutofit/>
          </a:bodyPr>
          <a:lstStyle>
            <a:lvl1pPr indent="-374650" lvl="0" marL="457200" algn="l">
              <a:lnSpc>
                <a:spcPct val="100000"/>
              </a:lnSpc>
              <a:spcBef>
                <a:spcPts val="500"/>
              </a:spcBef>
              <a:spcAft>
                <a:spcPts val="0"/>
              </a:spcAft>
              <a:buClr>
                <a:schemeClr val="dk1"/>
              </a:buClr>
              <a:buSzPts val="2300"/>
              <a:buChar char="•"/>
              <a:defRPr sz="2900">
                <a:solidFill>
                  <a:srgbClr val="575756"/>
                </a:solidFill>
              </a:defRPr>
            </a:lvl1pPr>
            <a:lvl2pPr indent="-355600" lvl="1" marL="914400" algn="l">
              <a:lnSpc>
                <a:spcPct val="100000"/>
              </a:lnSpc>
              <a:spcBef>
                <a:spcPts val="500"/>
              </a:spcBef>
              <a:spcAft>
                <a:spcPts val="0"/>
              </a:spcAft>
              <a:buClr>
                <a:schemeClr val="dk1"/>
              </a:buClr>
              <a:buSzPts val="2000"/>
              <a:buChar char="–"/>
              <a:defRPr sz="2700"/>
            </a:lvl2pPr>
            <a:lvl3pPr indent="-349250" lvl="2" marL="1371600" algn="l">
              <a:lnSpc>
                <a:spcPct val="100000"/>
              </a:lnSpc>
              <a:spcBef>
                <a:spcPts val="500"/>
              </a:spcBef>
              <a:spcAft>
                <a:spcPts val="0"/>
              </a:spcAft>
              <a:buClr>
                <a:schemeClr val="dk1"/>
              </a:buClr>
              <a:buSzPts val="1900"/>
              <a:buChar char="•"/>
              <a:defRPr sz="2400"/>
            </a:lvl3pPr>
            <a:lvl4pPr indent="-330200" lvl="3" marL="1828800" algn="l">
              <a:lnSpc>
                <a:spcPct val="100000"/>
              </a:lnSpc>
              <a:spcBef>
                <a:spcPts val="400"/>
              </a:spcBef>
              <a:spcAft>
                <a:spcPts val="0"/>
              </a:spcAft>
              <a:buClr>
                <a:schemeClr val="dk1"/>
              </a:buClr>
              <a:buSzPts val="1600"/>
              <a:buChar char="–"/>
              <a:defRPr sz="2100"/>
            </a:lvl4pPr>
            <a:lvl5pPr indent="-330200" lvl="4" marL="2286000" algn="l">
              <a:lnSpc>
                <a:spcPct val="100000"/>
              </a:lnSpc>
              <a:spcBef>
                <a:spcPts val="400"/>
              </a:spcBef>
              <a:spcAft>
                <a:spcPts val="0"/>
              </a:spcAft>
              <a:buClr>
                <a:schemeClr val="dk1"/>
              </a:buClr>
              <a:buSzPts val="1600"/>
              <a:buChar char="»"/>
              <a:defRPr sz="2100"/>
            </a:lvl5pPr>
            <a:lvl6pPr indent="-349250" lvl="5" marL="2743200" algn="l">
              <a:lnSpc>
                <a:spcPct val="100000"/>
              </a:lnSpc>
              <a:spcBef>
                <a:spcPts val="500"/>
              </a:spcBef>
              <a:spcAft>
                <a:spcPts val="0"/>
              </a:spcAft>
              <a:buClr>
                <a:schemeClr val="dk1"/>
              </a:buClr>
              <a:buSzPts val="1900"/>
              <a:buChar char="•"/>
              <a:defRPr sz="2400"/>
            </a:lvl6pPr>
            <a:lvl7pPr indent="-349250" lvl="6" marL="3200400" algn="l">
              <a:lnSpc>
                <a:spcPct val="100000"/>
              </a:lnSpc>
              <a:spcBef>
                <a:spcPts val="500"/>
              </a:spcBef>
              <a:spcAft>
                <a:spcPts val="0"/>
              </a:spcAft>
              <a:buClr>
                <a:schemeClr val="dk1"/>
              </a:buClr>
              <a:buSzPts val="1900"/>
              <a:buChar char="•"/>
              <a:defRPr sz="2400"/>
            </a:lvl7pPr>
            <a:lvl8pPr indent="-349250" lvl="7" marL="3657600" algn="l">
              <a:lnSpc>
                <a:spcPct val="100000"/>
              </a:lnSpc>
              <a:spcBef>
                <a:spcPts val="500"/>
              </a:spcBef>
              <a:spcAft>
                <a:spcPts val="0"/>
              </a:spcAft>
              <a:buClr>
                <a:schemeClr val="dk1"/>
              </a:buClr>
              <a:buSzPts val="1900"/>
              <a:buChar char="•"/>
              <a:defRPr sz="2400"/>
            </a:lvl8pPr>
            <a:lvl9pPr indent="-349250" lvl="8" marL="4114800" algn="l">
              <a:lnSpc>
                <a:spcPct val="100000"/>
              </a:lnSpc>
              <a:spcBef>
                <a:spcPts val="500"/>
              </a:spcBef>
              <a:spcAft>
                <a:spcPts val="0"/>
              </a:spcAft>
              <a:buClr>
                <a:schemeClr val="dk1"/>
              </a:buClr>
              <a:buSzPts val="1900"/>
              <a:buChar char="•"/>
              <a:defRPr sz="2400"/>
            </a:lvl9pPr>
          </a:lstStyle>
          <a:p/>
        </p:txBody>
      </p:sp>
      <p:sp>
        <p:nvSpPr>
          <p:cNvPr id="72" name="Google Shape;72;g3f502f38a39_2_26"/>
          <p:cNvSpPr txBox="1"/>
          <p:nvPr>
            <p:ph idx="3" type="body"/>
          </p:nvPr>
        </p:nvSpPr>
        <p:spPr>
          <a:xfrm>
            <a:off x="354419" y="6475387"/>
            <a:ext cx="6340000" cy="383200"/>
          </a:xfrm>
          <a:prstGeom prst="rect">
            <a:avLst/>
          </a:prstGeom>
          <a:noFill/>
          <a:ln>
            <a:noFill/>
          </a:ln>
        </p:spPr>
        <p:txBody>
          <a:bodyPr anchorCtr="0" anchor="ctr" bIns="45700" lIns="0" spcFirstLastPara="1" rIns="91425" wrap="square" tIns="45700">
            <a:noAutofit/>
          </a:bodyPr>
          <a:lstStyle>
            <a:lvl1pPr indent="-228600" lvl="0" marL="457200" algn="l">
              <a:lnSpc>
                <a:spcPct val="100000"/>
              </a:lnSpc>
              <a:spcBef>
                <a:spcPts val="300"/>
              </a:spcBef>
              <a:spcAft>
                <a:spcPts val="0"/>
              </a:spcAft>
              <a:buClr>
                <a:schemeClr val="dk1"/>
              </a:buClr>
              <a:buSzPts val="900"/>
              <a:buNone/>
              <a:defRPr b="0" sz="1200" cap="none">
                <a:solidFill>
                  <a:srgbClr val="9D9D9C"/>
                </a:solidFill>
              </a:defRPr>
            </a:lvl1pPr>
            <a:lvl2pPr indent="-228600" lvl="1" marL="914400" algn="l">
              <a:lnSpc>
                <a:spcPct val="100000"/>
              </a:lnSpc>
              <a:spcBef>
                <a:spcPts val="500"/>
              </a:spcBef>
              <a:spcAft>
                <a:spcPts val="0"/>
              </a:spcAft>
              <a:buClr>
                <a:schemeClr val="dk1"/>
              </a:buClr>
              <a:buSzPts val="2000"/>
              <a:buNone/>
              <a:defRPr/>
            </a:lvl2pPr>
            <a:lvl3pPr indent="-228600" lvl="2" marL="1371600" algn="l">
              <a:lnSpc>
                <a:spcPct val="100000"/>
              </a:lnSpc>
              <a:spcBef>
                <a:spcPts val="500"/>
              </a:spcBef>
              <a:spcAft>
                <a:spcPts val="0"/>
              </a:spcAft>
              <a:buClr>
                <a:schemeClr val="dk1"/>
              </a:buClr>
              <a:buSzPts val="1900"/>
              <a:buNone/>
              <a:defRPr/>
            </a:lvl3pPr>
            <a:lvl4pPr indent="-228600" lvl="3" marL="1828800" algn="l">
              <a:lnSpc>
                <a:spcPct val="100000"/>
              </a:lnSpc>
              <a:spcBef>
                <a:spcPts val="500"/>
              </a:spcBef>
              <a:spcAft>
                <a:spcPts val="0"/>
              </a:spcAft>
              <a:buClr>
                <a:schemeClr val="dk1"/>
              </a:buClr>
              <a:buSzPts val="1900"/>
              <a:buNone/>
              <a:defRPr/>
            </a:lvl4pPr>
            <a:lvl5pPr indent="-228600" lvl="4" marL="2286000" algn="l">
              <a:lnSpc>
                <a:spcPct val="100000"/>
              </a:lnSpc>
              <a:spcBef>
                <a:spcPts val="400"/>
              </a:spcBef>
              <a:spcAft>
                <a:spcPts val="0"/>
              </a:spcAft>
              <a:buClr>
                <a:schemeClr val="dk1"/>
              </a:buClr>
              <a:buSzPts val="1600"/>
              <a:buNone/>
              <a:defRPr/>
            </a:lvl5pPr>
            <a:lvl6pPr indent="-349250" lvl="5" marL="2743200" algn="l">
              <a:lnSpc>
                <a:spcPct val="100000"/>
              </a:lnSpc>
              <a:spcBef>
                <a:spcPts val="500"/>
              </a:spcBef>
              <a:spcAft>
                <a:spcPts val="0"/>
              </a:spcAft>
              <a:buClr>
                <a:schemeClr val="dk1"/>
              </a:buClr>
              <a:buSzPts val="1900"/>
              <a:buChar char="•"/>
              <a:defRPr/>
            </a:lvl6pPr>
            <a:lvl7pPr indent="-349250" lvl="6" marL="3200400" algn="l">
              <a:lnSpc>
                <a:spcPct val="100000"/>
              </a:lnSpc>
              <a:spcBef>
                <a:spcPts val="500"/>
              </a:spcBef>
              <a:spcAft>
                <a:spcPts val="0"/>
              </a:spcAft>
              <a:buClr>
                <a:schemeClr val="dk1"/>
              </a:buClr>
              <a:buSzPts val="1900"/>
              <a:buChar char="•"/>
              <a:defRPr/>
            </a:lvl7pPr>
            <a:lvl8pPr indent="-349250" lvl="7" marL="3657600" algn="l">
              <a:lnSpc>
                <a:spcPct val="100000"/>
              </a:lnSpc>
              <a:spcBef>
                <a:spcPts val="500"/>
              </a:spcBef>
              <a:spcAft>
                <a:spcPts val="0"/>
              </a:spcAft>
              <a:buClr>
                <a:schemeClr val="dk1"/>
              </a:buClr>
              <a:buSzPts val="1900"/>
              <a:buChar char="•"/>
              <a:defRPr/>
            </a:lvl8pPr>
            <a:lvl9pPr indent="-349250" lvl="8" marL="4114800" algn="l">
              <a:lnSpc>
                <a:spcPct val="100000"/>
              </a:lnSpc>
              <a:spcBef>
                <a:spcPts val="500"/>
              </a:spcBef>
              <a:spcAft>
                <a:spcPts val="0"/>
              </a:spcAft>
              <a:buClr>
                <a:schemeClr val="dk1"/>
              </a:buClr>
              <a:buSzPts val="1900"/>
              <a:buChar char="•"/>
              <a:defRPr/>
            </a:lvl9pPr>
          </a:lstStyle>
          <a:p/>
        </p:txBody>
      </p:sp>
      <p:cxnSp>
        <p:nvCxnSpPr>
          <p:cNvPr id="73" name="Google Shape;73;g3f502f38a39_2_26"/>
          <p:cNvCxnSpPr/>
          <p:nvPr/>
        </p:nvCxnSpPr>
        <p:spPr>
          <a:xfrm flipH="1" rot="10800000">
            <a:off x="395705" y="6408357"/>
            <a:ext cx="10315200" cy="9600"/>
          </a:xfrm>
          <a:prstGeom prst="straightConnector1">
            <a:avLst/>
          </a:prstGeom>
          <a:noFill/>
          <a:ln cap="flat" cmpd="sng" w="9525">
            <a:solidFill>
              <a:srgbClr val="8D8F93"/>
            </a:solidFill>
            <a:prstDash val="solid"/>
            <a:round/>
            <a:headEnd len="sm" w="sm" type="none"/>
            <a:tailEnd len="sm" w="sm" type="none"/>
          </a:ln>
        </p:spPr>
      </p:cxnSp>
      <p:pic>
        <p:nvPicPr>
          <p:cNvPr id="74" name="Google Shape;74;g3f502f38a39_2_26"/>
          <p:cNvPicPr preferRelativeResize="0"/>
          <p:nvPr/>
        </p:nvPicPr>
        <p:blipFill rotWithShape="1">
          <a:blip r:embed="rId2">
            <a:alphaModFix/>
          </a:blip>
          <a:srcRect b="0" l="0" r="0" t="0"/>
          <a:stretch/>
        </p:blipFill>
        <p:spPr>
          <a:xfrm>
            <a:off x="10842215" y="5869659"/>
            <a:ext cx="1152389" cy="86662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374317" y="194428"/>
            <a:ext cx="11411200" cy="911200"/>
          </a:xfrm>
          <a:prstGeom prst="rect">
            <a:avLst/>
          </a:prstGeom>
          <a:noFill/>
          <a:ln>
            <a:noFill/>
          </a:ln>
        </p:spPr>
        <p:txBody>
          <a:bodyPr anchorCtr="0" anchor="t" bIns="45700" lIns="0" spcFirstLastPara="1" rIns="0" wrap="square" tIns="45700">
            <a:normAutofit/>
          </a:bodyPr>
          <a:lstStyle>
            <a:lvl1pPr lvl="0" marR="0" rtl="0" algn="l">
              <a:lnSpc>
                <a:spcPct val="100000"/>
              </a:lnSpc>
              <a:spcBef>
                <a:spcPts val="0"/>
              </a:spcBef>
              <a:spcAft>
                <a:spcPts val="0"/>
              </a:spcAft>
              <a:buClr>
                <a:schemeClr val="accent1"/>
              </a:buClr>
              <a:buSzPts val="2400"/>
              <a:buFont typeface="Calibri"/>
              <a:buNone/>
              <a:defRPr b="1" i="0" sz="24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377509" y="1105471"/>
            <a:ext cx="11390000" cy="4940400"/>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374317" y="6356351"/>
            <a:ext cx="2844800" cy="365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9D9D9C"/>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4165600" y="6356351"/>
            <a:ext cx="3860800" cy="365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600" u="none" cap="none" strike="noStrike">
                <a:solidFill>
                  <a:srgbClr val="9D9D9C"/>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9415604" y="6590193"/>
            <a:ext cx="2844800" cy="3652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15" name="Google Shape;15;p24"/>
          <p:cNvPicPr preferRelativeResize="0"/>
          <p:nvPr/>
        </p:nvPicPr>
        <p:blipFill rotWithShape="1">
          <a:blip r:embed="rId1">
            <a:alphaModFix/>
          </a:blip>
          <a:srcRect b="0" l="0" r="0" t="0"/>
          <a:stretch/>
        </p:blipFill>
        <p:spPr>
          <a:xfrm>
            <a:off x="10861468" y="6179275"/>
            <a:ext cx="1022449" cy="54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 name="Shape 42"/>
        <p:cNvGrpSpPr/>
        <p:nvPr/>
      </p:nvGrpSpPr>
      <p:grpSpPr>
        <a:xfrm>
          <a:off x="0" y="0"/>
          <a:ext cx="0" cy="0"/>
          <a:chOff x="0" y="0"/>
          <a:chExt cx="0" cy="0"/>
        </a:xfrm>
      </p:grpSpPr>
      <p:sp>
        <p:nvSpPr>
          <p:cNvPr id="43" name="Google Shape;43;g3f502f38a39_2_0"/>
          <p:cNvSpPr txBox="1"/>
          <p:nvPr>
            <p:ph type="title"/>
          </p:nvPr>
        </p:nvSpPr>
        <p:spPr>
          <a:xfrm>
            <a:off x="374317" y="194428"/>
            <a:ext cx="11411200" cy="911200"/>
          </a:xfrm>
          <a:prstGeom prst="rect">
            <a:avLst/>
          </a:prstGeom>
          <a:noFill/>
          <a:ln>
            <a:noFill/>
          </a:ln>
        </p:spPr>
        <p:txBody>
          <a:bodyPr anchorCtr="0" anchor="t" bIns="45700" lIns="0" spcFirstLastPara="1" rIns="0" wrap="square" tIns="45700">
            <a:normAutofit/>
          </a:bodyPr>
          <a:lstStyle>
            <a:lvl1pPr lvl="0" marR="0" rtl="0" algn="l">
              <a:lnSpc>
                <a:spcPct val="100000"/>
              </a:lnSpc>
              <a:spcBef>
                <a:spcPts val="0"/>
              </a:spcBef>
              <a:spcAft>
                <a:spcPts val="0"/>
              </a:spcAft>
              <a:buClr>
                <a:schemeClr val="accent1"/>
              </a:buClr>
              <a:buSzPts val="2400"/>
              <a:buFont typeface="Calibri"/>
              <a:buNone/>
              <a:defRPr b="1" i="0" sz="24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44" name="Google Shape;44;g3f502f38a39_2_0"/>
          <p:cNvSpPr txBox="1"/>
          <p:nvPr>
            <p:ph idx="1" type="body"/>
          </p:nvPr>
        </p:nvSpPr>
        <p:spPr>
          <a:xfrm>
            <a:off x="377509" y="1105471"/>
            <a:ext cx="11390000" cy="4940400"/>
          </a:xfrm>
          <a:prstGeom prst="rect">
            <a:avLst/>
          </a:prstGeom>
          <a:noFill/>
          <a:ln>
            <a:noFill/>
          </a:ln>
        </p:spPr>
        <p:txBody>
          <a:bodyPr anchorCtr="0" anchor="t" bIns="45700" lIns="91425" spcFirstLastPara="1" rIns="91425" wrap="square" tIns="45700">
            <a:normAutofit/>
          </a:bodyPr>
          <a:lstStyle>
            <a:lvl1pPr indent="-374650" lvl="0" marL="457200" marR="0" rtl="0" algn="l">
              <a:lnSpc>
                <a:spcPct val="100000"/>
              </a:lnSpc>
              <a:spcBef>
                <a:spcPts val="40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9250" lvl="2" marL="1371600" marR="0" rtl="0" algn="l">
              <a:lnSpc>
                <a:spcPct val="100000"/>
              </a:lnSpc>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3pPr>
            <a:lvl4pPr indent="-349250" lvl="3" marL="1828800" marR="0" rtl="0" algn="l">
              <a:lnSpc>
                <a:spcPct val="100000"/>
              </a:lnSpc>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5" name="Google Shape;45;g3f502f38a39_2_0"/>
          <p:cNvSpPr txBox="1"/>
          <p:nvPr>
            <p:ph idx="10" type="dt"/>
          </p:nvPr>
        </p:nvSpPr>
        <p:spPr>
          <a:xfrm>
            <a:off x="374317" y="6356351"/>
            <a:ext cx="2844800" cy="365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200" u="none" cap="none" strike="noStrike">
                <a:solidFill>
                  <a:srgbClr val="9D9D9C"/>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9pPr>
          </a:lstStyle>
          <a:p/>
        </p:txBody>
      </p:sp>
      <p:sp>
        <p:nvSpPr>
          <p:cNvPr id="46" name="Google Shape;46;g3f502f38a39_2_0"/>
          <p:cNvSpPr txBox="1"/>
          <p:nvPr>
            <p:ph idx="11" type="ftr"/>
          </p:nvPr>
        </p:nvSpPr>
        <p:spPr>
          <a:xfrm>
            <a:off x="4165600" y="6356351"/>
            <a:ext cx="3860800" cy="365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600" u="none" cap="none" strike="noStrike">
                <a:solidFill>
                  <a:srgbClr val="9D9D9C"/>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500"/>
              <a:buFont typeface="Arial"/>
              <a:buNone/>
              <a:defRPr b="0" i="0" sz="2400" u="none" cap="none" strike="noStrike">
                <a:solidFill>
                  <a:schemeClr val="dk1"/>
                </a:solidFill>
                <a:latin typeface="Calibri"/>
                <a:ea typeface="Calibri"/>
                <a:cs typeface="Calibri"/>
                <a:sym typeface="Calibri"/>
              </a:defRPr>
            </a:lvl9pPr>
          </a:lstStyle>
          <a:p/>
        </p:txBody>
      </p:sp>
      <p:sp>
        <p:nvSpPr>
          <p:cNvPr id="47" name="Google Shape;47;g3f502f38a39_2_0"/>
          <p:cNvSpPr txBox="1"/>
          <p:nvPr>
            <p:ph idx="12" type="sldNum"/>
          </p:nvPr>
        </p:nvSpPr>
        <p:spPr>
          <a:xfrm>
            <a:off x="9415604" y="6590193"/>
            <a:ext cx="2844800" cy="3652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8" name="Google Shape;48;g3f502f38a39_2_0"/>
          <p:cNvPicPr preferRelativeResize="0"/>
          <p:nvPr/>
        </p:nvPicPr>
        <p:blipFill rotWithShape="1">
          <a:blip r:embed="rId1">
            <a:alphaModFix/>
          </a:blip>
          <a:srcRect b="0" l="0" r="0" t="0"/>
          <a:stretch/>
        </p:blipFill>
        <p:spPr>
          <a:xfrm>
            <a:off x="10861468" y="6179275"/>
            <a:ext cx="1022449" cy="54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https://colab.research.google.com/drive/1IuqGo55BqcTKaHaY95NbHHXM66iIrTBt?usp=sharing" TargetMode="Externa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
          <p:cNvSpPr txBox="1"/>
          <p:nvPr>
            <p:ph type="title"/>
          </p:nvPr>
        </p:nvSpPr>
        <p:spPr>
          <a:xfrm>
            <a:off x="4165600" y="2567453"/>
            <a:ext cx="7812300" cy="2072400"/>
          </a:xfrm>
          <a:prstGeom prst="rect">
            <a:avLst/>
          </a:prstGeom>
          <a:noFill/>
          <a:ln>
            <a:noFill/>
          </a:ln>
        </p:spPr>
        <p:txBody>
          <a:bodyPr anchorCtr="0" anchor="t" bIns="60925" lIns="0" spcFirstLastPara="1" rIns="0" wrap="square" tIns="60925">
            <a:spAutoFit/>
          </a:bodyPr>
          <a:lstStyle/>
          <a:p>
            <a:pPr indent="0" lvl="0" marL="0" rtl="0" algn="l">
              <a:lnSpc>
                <a:spcPct val="100000"/>
              </a:lnSpc>
              <a:spcBef>
                <a:spcPts val="0"/>
              </a:spcBef>
              <a:spcAft>
                <a:spcPts val="0"/>
              </a:spcAft>
              <a:buClr>
                <a:srgbClr val="6C6E71"/>
              </a:buClr>
              <a:buSzPts val="3200"/>
              <a:buNone/>
            </a:pPr>
            <a:r>
              <a:rPr lang="en-IN" sz="3466">
                <a:solidFill>
                  <a:srgbClr val="6C6E71"/>
                </a:solidFill>
              </a:rPr>
              <a:t>Efficiency and Bus Fleet Management: Strategic Communications and quantifying GHG and other co-benefits (#BBUS)</a:t>
            </a:r>
            <a:endParaRPr sz="3466">
              <a:solidFill>
                <a:srgbClr val="6C6E71"/>
              </a:solidFill>
            </a:endParaRPr>
          </a:p>
          <a:p>
            <a:pPr indent="0" lvl="0" marL="0" rtl="0" algn="l">
              <a:lnSpc>
                <a:spcPct val="100000"/>
              </a:lnSpc>
              <a:spcBef>
                <a:spcPts val="0"/>
              </a:spcBef>
              <a:spcAft>
                <a:spcPts val="0"/>
              </a:spcAft>
              <a:buClr>
                <a:srgbClr val="6C6E71"/>
              </a:buClr>
              <a:buSzPts val="3200"/>
              <a:buNone/>
            </a:pPr>
            <a:r>
              <a:rPr lang="en-IN" sz="2266">
                <a:solidFill>
                  <a:schemeClr val="accent1"/>
                </a:solidFill>
              </a:rPr>
              <a:t>Case Application - Amritsar (M1, M2&amp; M3 model) </a:t>
            </a:r>
            <a:endParaRPr sz="2266">
              <a:solidFill>
                <a:schemeClr val="accent1"/>
              </a:solidFill>
            </a:endParaRPr>
          </a:p>
        </p:txBody>
      </p:sp>
      <p:sp>
        <p:nvSpPr>
          <p:cNvPr id="80" name="Google Shape;80;p1"/>
          <p:cNvSpPr txBox="1"/>
          <p:nvPr>
            <p:ph idx="1" type="body"/>
          </p:nvPr>
        </p:nvSpPr>
        <p:spPr>
          <a:xfrm>
            <a:off x="4165600" y="5392367"/>
            <a:ext cx="4540500" cy="629100"/>
          </a:xfrm>
          <a:prstGeom prst="rect">
            <a:avLst/>
          </a:prstGeom>
          <a:noFill/>
          <a:ln>
            <a:noFill/>
          </a:ln>
        </p:spPr>
        <p:txBody>
          <a:bodyPr anchorCtr="0" anchor="t" bIns="60925" lIns="121900" spcFirstLastPara="1" rIns="121900" wrap="square" tIns="60925">
            <a:noAutofit/>
          </a:bodyPr>
          <a:lstStyle/>
          <a:p>
            <a:pPr indent="0" lvl="0" marL="0" rtl="0" algn="l">
              <a:lnSpc>
                <a:spcPct val="80000"/>
              </a:lnSpc>
              <a:spcBef>
                <a:spcPts val="427"/>
              </a:spcBef>
              <a:spcAft>
                <a:spcPts val="0"/>
              </a:spcAft>
              <a:buClr>
                <a:srgbClr val="6C6E71"/>
              </a:buClr>
              <a:buSzPts val="1120"/>
              <a:buNone/>
            </a:pPr>
            <a:r>
              <a:t/>
            </a:r>
            <a:endParaRPr sz="1627">
              <a:solidFill>
                <a:srgbClr val="6C6E71"/>
              </a:solidFill>
            </a:endParaRPr>
          </a:p>
          <a:p>
            <a:pPr indent="0" lvl="0" marL="0" rtl="0" algn="l">
              <a:lnSpc>
                <a:spcPct val="80000"/>
              </a:lnSpc>
              <a:spcBef>
                <a:spcPts val="427"/>
              </a:spcBef>
              <a:spcAft>
                <a:spcPts val="0"/>
              </a:spcAft>
              <a:buClr>
                <a:srgbClr val="6C6E71"/>
              </a:buClr>
              <a:buSzPts val="1120"/>
              <a:buNone/>
            </a:pPr>
            <a:r>
              <a:rPr lang="en-IN" sz="1627">
                <a:solidFill>
                  <a:srgbClr val="6C6E71"/>
                </a:solidFill>
              </a:rPr>
              <a:t>July 2026</a:t>
            </a:r>
            <a:endParaRPr b="1" sz="2000">
              <a:solidFill>
                <a:schemeClr val="accent1"/>
              </a:solidFill>
            </a:endParaRPr>
          </a:p>
        </p:txBody>
      </p:sp>
      <p:sp>
        <p:nvSpPr>
          <p:cNvPr id="81" name="Google Shape;81;p1"/>
          <p:cNvSpPr txBox="1"/>
          <p:nvPr>
            <p:ph idx="2" type="body"/>
          </p:nvPr>
        </p:nvSpPr>
        <p:spPr>
          <a:xfrm>
            <a:off x="4165600" y="6303963"/>
            <a:ext cx="7812400" cy="401600"/>
          </a:xfrm>
          <a:prstGeom prst="rect">
            <a:avLst/>
          </a:prstGeom>
          <a:noFill/>
          <a:ln>
            <a:noFill/>
          </a:ln>
        </p:spPr>
        <p:txBody>
          <a:bodyPr anchorCtr="0" anchor="t" bIns="60925" lIns="121900" spcFirstLastPara="1" rIns="121900" wrap="square" tIns="60925">
            <a:normAutofit/>
          </a:bodyPr>
          <a:lstStyle/>
          <a:p>
            <a:pPr indent="0" lvl="0" marL="0" rtl="0" algn="l">
              <a:lnSpc>
                <a:spcPct val="100000"/>
              </a:lnSpc>
              <a:spcBef>
                <a:spcPts val="0"/>
              </a:spcBef>
              <a:spcAft>
                <a:spcPts val="0"/>
              </a:spcAft>
              <a:buSzPts val="1300"/>
              <a:buNone/>
            </a:pPr>
            <a:r>
              <a:rPr lang="en-IN" sz="1733">
                <a:solidFill>
                  <a:srgbClr val="575756"/>
                </a:solidFill>
              </a:rPr>
              <a:t>© Council on Energy, Environment and Water, 2026</a:t>
            </a:r>
            <a:endParaRPr>
              <a:solidFill>
                <a:srgbClr val="575756"/>
              </a:solidFill>
            </a:endParaRPr>
          </a:p>
        </p:txBody>
      </p:sp>
      <p:sp>
        <p:nvSpPr>
          <p:cNvPr id="82" name="Google Shape;82;p1"/>
          <p:cNvSpPr txBox="1"/>
          <p:nvPr/>
        </p:nvSpPr>
        <p:spPr>
          <a:xfrm>
            <a:off x="-35733" y="53575"/>
            <a:ext cx="3839600" cy="62923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489"/>
              <a:buFont typeface="Arial"/>
              <a:buNone/>
            </a:pPr>
            <a:r>
              <a:t/>
            </a:r>
            <a:endParaRPr b="0" i="0" sz="2489" u="none" cap="none" strike="noStrike">
              <a:solidFill>
                <a:srgbClr val="0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g3a1f07bbfc6_0_0"/>
          <p:cNvPicPr preferRelativeResize="0"/>
          <p:nvPr/>
        </p:nvPicPr>
        <p:blipFill rotWithShape="1">
          <a:blip r:embed="rId3">
            <a:alphaModFix/>
          </a:blip>
          <a:srcRect b="84114" l="33709" r="55109" t="0"/>
          <a:stretch/>
        </p:blipFill>
        <p:spPr>
          <a:xfrm>
            <a:off x="338550" y="1344986"/>
            <a:ext cx="400855" cy="302065"/>
          </a:xfrm>
          <a:prstGeom prst="rect">
            <a:avLst/>
          </a:prstGeom>
          <a:noFill/>
          <a:ln>
            <a:noFill/>
          </a:ln>
        </p:spPr>
      </p:pic>
      <p:sp>
        <p:nvSpPr>
          <p:cNvPr id="88" name="Google Shape;88;g3a1f07bbfc6_0_0"/>
          <p:cNvSpPr txBox="1"/>
          <p:nvPr>
            <p:ph type="title"/>
          </p:nvPr>
        </p:nvSpPr>
        <p:spPr>
          <a:xfrm>
            <a:off x="362842" y="342882"/>
            <a:ext cx="11411100" cy="589200"/>
          </a:xfrm>
          <a:prstGeom prst="rect">
            <a:avLst/>
          </a:prstGeom>
          <a:noFill/>
          <a:ln>
            <a:noFill/>
          </a:ln>
        </p:spPr>
        <p:txBody>
          <a:bodyPr anchorCtr="0" anchor="t" bIns="60925" lIns="0" spcFirstLastPara="1" rIns="0" wrap="square" tIns="60925">
            <a:noAutofit/>
          </a:bodyPr>
          <a:lstStyle/>
          <a:p>
            <a:pPr indent="0" lvl="0" marL="0" rtl="0" algn="l">
              <a:lnSpc>
                <a:spcPct val="100000"/>
              </a:lnSpc>
              <a:spcBef>
                <a:spcPts val="0"/>
              </a:spcBef>
              <a:spcAft>
                <a:spcPts val="0"/>
              </a:spcAft>
              <a:buClr>
                <a:schemeClr val="accent1"/>
              </a:buClr>
              <a:buSzPts val="2400"/>
              <a:buFont typeface="Calibri"/>
              <a:buNone/>
            </a:pPr>
            <a:r>
              <a:rPr lang="en-IN" sz="2200"/>
              <a:t>Impacting sustainable development at scale with </a:t>
            </a:r>
            <a:r>
              <a:rPr lang="en-IN" sz="2200" u="sng"/>
              <a:t>data</a:t>
            </a:r>
            <a:r>
              <a:rPr lang="en-IN" sz="2200"/>
              <a:t>, </a:t>
            </a:r>
            <a:r>
              <a:rPr lang="en-IN" sz="2200" u="sng"/>
              <a:t>integrated analysis</a:t>
            </a:r>
            <a:r>
              <a:rPr lang="en-IN" sz="2200"/>
              <a:t>, and </a:t>
            </a:r>
            <a:r>
              <a:rPr lang="en-IN" sz="2200" u="sng"/>
              <a:t>strategic outreach</a:t>
            </a:r>
            <a:endParaRPr sz="2200" u="sng"/>
          </a:p>
        </p:txBody>
      </p:sp>
      <p:sp>
        <p:nvSpPr>
          <p:cNvPr id="89" name="Google Shape;89;g3a1f07bbfc6_0_0"/>
          <p:cNvSpPr/>
          <p:nvPr/>
        </p:nvSpPr>
        <p:spPr>
          <a:xfrm>
            <a:off x="5248125" y="5794458"/>
            <a:ext cx="1790100" cy="383100"/>
          </a:xfrm>
          <a:prstGeom prst="rect">
            <a:avLst/>
          </a:prstGeom>
          <a:solidFill>
            <a:srgbClr val="E9E9E9">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Emerging Economies</a:t>
            </a:r>
            <a:endParaRPr b="0" i="0" sz="1400" u="none" cap="none" strike="noStrike">
              <a:solidFill>
                <a:srgbClr val="000000"/>
              </a:solidFill>
              <a:latin typeface="Arial"/>
              <a:ea typeface="Arial"/>
              <a:cs typeface="Arial"/>
              <a:sym typeface="Arial"/>
            </a:endParaRPr>
          </a:p>
        </p:txBody>
      </p:sp>
      <p:sp>
        <p:nvSpPr>
          <p:cNvPr id="90" name="Google Shape;90;g3a1f07bbfc6_0_0"/>
          <p:cNvSpPr/>
          <p:nvPr/>
        </p:nvSpPr>
        <p:spPr>
          <a:xfrm>
            <a:off x="310088" y="5790904"/>
            <a:ext cx="2568000" cy="384000"/>
          </a:xfrm>
          <a:prstGeom prst="rect">
            <a:avLst/>
          </a:prstGeom>
          <a:solidFill>
            <a:srgbClr val="E9E9E9">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CEEW Green Finance Centre</a:t>
            </a:r>
            <a:endParaRPr b="0" i="0" sz="1400" u="none" cap="none" strike="noStrike">
              <a:solidFill>
                <a:srgbClr val="000000"/>
              </a:solidFill>
              <a:latin typeface="Arial"/>
              <a:ea typeface="Arial"/>
              <a:cs typeface="Arial"/>
              <a:sym typeface="Arial"/>
            </a:endParaRPr>
          </a:p>
        </p:txBody>
      </p:sp>
      <p:sp>
        <p:nvSpPr>
          <p:cNvPr id="91" name="Google Shape;91;g3a1f07bbfc6_0_0"/>
          <p:cNvSpPr/>
          <p:nvPr/>
        </p:nvSpPr>
        <p:spPr>
          <a:xfrm>
            <a:off x="7314991" y="5788600"/>
            <a:ext cx="1389000" cy="384000"/>
          </a:xfrm>
          <a:prstGeom prst="rect">
            <a:avLst/>
          </a:prstGeom>
          <a:solidFill>
            <a:srgbClr val="E9E9E9">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UP State Office</a:t>
            </a:r>
            <a:endParaRPr b="0" i="0" sz="1400" u="none" cap="none" strike="noStrike">
              <a:solidFill>
                <a:srgbClr val="000000"/>
              </a:solidFill>
              <a:latin typeface="Arial"/>
              <a:ea typeface="Arial"/>
              <a:cs typeface="Arial"/>
              <a:sym typeface="Arial"/>
            </a:endParaRPr>
          </a:p>
        </p:txBody>
      </p:sp>
      <p:cxnSp>
        <p:nvCxnSpPr>
          <p:cNvPr id="92" name="Google Shape;92;g3a1f07bbfc6_0_0"/>
          <p:cNvCxnSpPr/>
          <p:nvPr/>
        </p:nvCxnSpPr>
        <p:spPr>
          <a:xfrm>
            <a:off x="9078215" y="1190790"/>
            <a:ext cx="0" cy="4981800"/>
          </a:xfrm>
          <a:prstGeom prst="straightConnector1">
            <a:avLst/>
          </a:prstGeom>
          <a:noFill/>
          <a:ln cap="flat" cmpd="sng" w="12700">
            <a:solidFill>
              <a:srgbClr val="009CD8"/>
            </a:solidFill>
            <a:prstDash val="solid"/>
            <a:round/>
            <a:headEnd len="sm" w="sm" type="none"/>
            <a:tailEnd len="sm" w="sm" type="none"/>
          </a:ln>
        </p:spPr>
      </p:cxnSp>
      <p:grpSp>
        <p:nvGrpSpPr>
          <p:cNvPr id="93" name="Google Shape;93;g3a1f07bbfc6_0_0"/>
          <p:cNvGrpSpPr/>
          <p:nvPr/>
        </p:nvGrpSpPr>
        <p:grpSpPr>
          <a:xfrm>
            <a:off x="310605" y="1262056"/>
            <a:ext cx="2461419" cy="2995124"/>
            <a:chOff x="310621" y="1400956"/>
            <a:chExt cx="2715000" cy="2995124"/>
          </a:xfrm>
        </p:grpSpPr>
        <p:cxnSp>
          <p:nvCxnSpPr>
            <p:cNvPr id="94" name="Google Shape;94;g3a1f07bbfc6_0_0"/>
            <p:cNvCxnSpPr/>
            <p:nvPr/>
          </p:nvCxnSpPr>
          <p:spPr>
            <a:xfrm>
              <a:off x="725127" y="1736439"/>
              <a:ext cx="1647600" cy="0"/>
            </a:xfrm>
            <a:prstGeom prst="straightConnector1">
              <a:avLst/>
            </a:prstGeom>
            <a:noFill/>
            <a:ln cap="flat" cmpd="sng" w="12700">
              <a:solidFill>
                <a:schemeClr val="accent2"/>
              </a:solidFill>
              <a:prstDash val="lgDash"/>
              <a:round/>
              <a:headEnd len="sm" w="sm" type="none"/>
              <a:tailEnd len="sm" w="sm" type="none"/>
            </a:ln>
          </p:spPr>
        </p:cxnSp>
        <p:sp>
          <p:nvSpPr>
            <p:cNvPr id="95" name="Google Shape;95;g3a1f07bbfc6_0_0"/>
            <p:cNvSpPr/>
            <p:nvPr/>
          </p:nvSpPr>
          <p:spPr>
            <a:xfrm>
              <a:off x="310621" y="2385771"/>
              <a:ext cx="2705100" cy="402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Energy Transitions</a:t>
              </a:r>
              <a:endParaRPr b="0" i="0" sz="1400" u="none" cap="none" strike="noStrike">
                <a:solidFill>
                  <a:srgbClr val="000000"/>
                </a:solidFill>
                <a:latin typeface="Arial"/>
                <a:ea typeface="Arial"/>
                <a:cs typeface="Arial"/>
                <a:sym typeface="Arial"/>
              </a:endParaRPr>
            </a:p>
          </p:txBody>
        </p:sp>
        <p:sp>
          <p:nvSpPr>
            <p:cNvPr id="96" name="Google Shape;96;g3a1f07bbfc6_0_0"/>
            <p:cNvSpPr/>
            <p:nvPr/>
          </p:nvSpPr>
          <p:spPr>
            <a:xfrm>
              <a:off x="310621" y="3459108"/>
              <a:ext cx="2705100" cy="4017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Industrial Sustainability</a:t>
              </a:r>
              <a:endParaRPr b="0" i="0" sz="1400" u="none" cap="none" strike="noStrike">
                <a:solidFill>
                  <a:srgbClr val="000000"/>
                </a:solidFill>
                <a:latin typeface="Arial"/>
                <a:ea typeface="Arial"/>
                <a:cs typeface="Arial"/>
                <a:sym typeface="Arial"/>
              </a:endParaRPr>
            </a:p>
          </p:txBody>
        </p:sp>
        <p:sp>
          <p:nvSpPr>
            <p:cNvPr id="97" name="Google Shape;97;g3a1f07bbfc6_0_0"/>
            <p:cNvSpPr/>
            <p:nvPr/>
          </p:nvSpPr>
          <p:spPr>
            <a:xfrm>
              <a:off x="310621" y="3994980"/>
              <a:ext cx="2705100" cy="4011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Sustainable Livelihoods</a:t>
              </a:r>
              <a:endParaRPr b="0" i="0" sz="1400" u="none" cap="none" strike="noStrike">
                <a:solidFill>
                  <a:srgbClr val="000000"/>
                </a:solidFill>
                <a:latin typeface="Arial"/>
                <a:ea typeface="Arial"/>
                <a:cs typeface="Arial"/>
                <a:sym typeface="Arial"/>
              </a:endParaRPr>
            </a:p>
          </p:txBody>
        </p:sp>
        <p:sp>
          <p:nvSpPr>
            <p:cNvPr id="98" name="Google Shape;98;g3a1f07bbfc6_0_0"/>
            <p:cNvSpPr/>
            <p:nvPr/>
          </p:nvSpPr>
          <p:spPr>
            <a:xfrm>
              <a:off x="310621" y="1849103"/>
              <a:ext cx="2705100" cy="402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Low-carbon Economy</a:t>
              </a:r>
              <a:endParaRPr b="0" i="0" sz="1400" u="none" cap="none" strike="noStrike">
                <a:solidFill>
                  <a:srgbClr val="000000"/>
                </a:solidFill>
                <a:latin typeface="Arial"/>
                <a:ea typeface="Arial"/>
                <a:cs typeface="Arial"/>
                <a:sym typeface="Arial"/>
              </a:endParaRPr>
            </a:p>
          </p:txBody>
        </p:sp>
        <p:sp>
          <p:nvSpPr>
            <p:cNvPr id="99" name="Google Shape;99;g3a1f07bbfc6_0_0"/>
            <p:cNvSpPr/>
            <p:nvPr/>
          </p:nvSpPr>
          <p:spPr>
            <a:xfrm>
              <a:off x="310621" y="2922439"/>
              <a:ext cx="2715000" cy="4026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Power Markets</a:t>
              </a:r>
              <a:endParaRPr b="0" i="0" sz="1400" u="none" cap="none" strike="noStrike">
                <a:solidFill>
                  <a:srgbClr val="000000"/>
                </a:solidFill>
                <a:latin typeface="Arial"/>
                <a:ea typeface="Arial"/>
                <a:cs typeface="Arial"/>
                <a:sym typeface="Arial"/>
              </a:endParaRPr>
            </a:p>
          </p:txBody>
        </p:sp>
        <p:sp>
          <p:nvSpPr>
            <p:cNvPr id="100" name="Google Shape;100;g3a1f07bbfc6_0_0"/>
            <p:cNvSpPr/>
            <p:nvPr/>
          </p:nvSpPr>
          <p:spPr>
            <a:xfrm>
              <a:off x="562056" y="1400956"/>
              <a:ext cx="1930800" cy="402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IN" sz="1600" u="none" cap="none" strike="noStrike">
                  <a:solidFill>
                    <a:srgbClr val="F16223"/>
                  </a:solidFill>
                  <a:latin typeface="Calibri"/>
                  <a:ea typeface="Calibri"/>
                  <a:cs typeface="Calibri"/>
                  <a:sym typeface="Calibri"/>
                </a:rPr>
                <a:t>T</a:t>
              </a:r>
              <a:r>
                <a:rPr b="1" i="1" lang="en-IN" sz="1300" u="none" cap="none" strike="noStrike">
                  <a:solidFill>
                    <a:srgbClr val="F16223"/>
                  </a:solidFill>
                  <a:latin typeface="Calibri"/>
                  <a:ea typeface="Calibri"/>
                  <a:cs typeface="Calibri"/>
                  <a:sym typeface="Calibri"/>
                </a:rPr>
                <a:t>RANSFORMATIONS</a:t>
              </a:r>
              <a:endParaRPr b="0" i="1" sz="1400" u="none" cap="none" strike="noStrike">
                <a:solidFill>
                  <a:srgbClr val="000000"/>
                </a:solidFill>
                <a:latin typeface="Arial"/>
                <a:ea typeface="Arial"/>
                <a:cs typeface="Arial"/>
                <a:sym typeface="Arial"/>
              </a:endParaRPr>
            </a:p>
          </p:txBody>
        </p:sp>
      </p:grpSp>
      <p:grpSp>
        <p:nvGrpSpPr>
          <p:cNvPr id="101" name="Google Shape;101;g3a1f07bbfc6_0_0"/>
          <p:cNvGrpSpPr/>
          <p:nvPr/>
        </p:nvGrpSpPr>
        <p:grpSpPr>
          <a:xfrm>
            <a:off x="3436062" y="1259620"/>
            <a:ext cx="2452444" cy="2997614"/>
            <a:chOff x="3305715" y="1398520"/>
            <a:chExt cx="2705100" cy="2997614"/>
          </a:xfrm>
        </p:grpSpPr>
        <p:sp>
          <p:nvSpPr>
            <p:cNvPr id="102" name="Google Shape;102;g3a1f07bbfc6_0_0"/>
            <p:cNvSpPr/>
            <p:nvPr/>
          </p:nvSpPr>
          <p:spPr>
            <a:xfrm>
              <a:off x="3385658" y="1398520"/>
              <a:ext cx="1995300" cy="402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IN" sz="1600" u="none" cap="none" strike="noStrike">
                  <a:solidFill>
                    <a:srgbClr val="86BB3F"/>
                  </a:solidFill>
                  <a:latin typeface="Calibri"/>
                  <a:ea typeface="Calibri"/>
                  <a:cs typeface="Calibri"/>
                  <a:sym typeface="Calibri"/>
                </a:rPr>
                <a:t>Q</a:t>
              </a:r>
              <a:r>
                <a:rPr b="1" i="1" lang="en-IN" sz="1300" u="none" cap="none" strike="noStrike">
                  <a:solidFill>
                    <a:srgbClr val="86BB3F"/>
                  </a:solidFill>
                  <a:latin typeface="Calibri"/>
                  <a:ea typeface="Calibri"/>
                  <a:cs typeface="Calibri"/>
                  <a:sym typeface="Calibri"/>
                </a:rPr>
                <a:t>UALITY OF LIFE</a:t>
              </a:r>
              <a:endParaRPr b="0" i="0" sz="1400" u="none" cap="none" strike="noStrike">
                <a:solidFill>
                  <a:srgbClr val="000000"/>
                </a:solidFill>
                <a:latin typeface="Arial"/>
                <a:ea typeface="Arial"/>
                <a:cs typeface="Arial"/>
                <a:sym typeface="Arial"/>
              </a:endParaRPr>
            </a:p>
          </p:txBody>
        </p:sp>
        <p:cxnSp>
          <p:nvCxnSpPr>
            <p:cNvPr id="103" name="Google Shape;103;g3a1f07bbfc6_0_0"/>
            <p:cNvCxnSpPr/>
            <p:nvPr/>
          </p:nvCxnSpPr>
          <p:spPr>
            <a:xfrm>
              <a:off x="3716954" y="1739306"/>
              <a:ext cx="1348200" cy="0"/>
            </a:xfrm>
            <a:prstGeom prst="straightConnector1">
              <a:avLst/>
            </a:prstGeom>
            <a:noFill/>
            <a:ln cap="flat" cmpd="sng" w="12700">
              <a:solidFill>
                <a:schemeClr val="accent3"/>
              </a:solidFill>
              <a:prstDash val="lgDash"/>
              <a:round/>
              <a:headEnd len="sm" w="sm" type="none"/>
              <a:tailEnd len="sm" w="sm" type="none"/>
            </a:ln>
          </p:spPr>
        </p:cxnSp>
        <p:sp>
          <p:nvSpPr>
            <p:cNvPr id="104" name="Google Shape;104;g3a1f07bbfc6_0_0"/>
            <p:cNvSpPr/>
            <p:nvPr/>
          </p:nvSpPr>
          <p:spPr>
            <a:xfrm>
              <a:off x="3305715" y="1849103"/>
              <a:ext cx="2705100" cy="38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Clean Air</a:t>
              </a:r>
              <a:endParaRPr b="0" i="0" sz="1400" u="none" cap="none" strike="noStrike">
                <a:solidFill>
                  <a:srgbClr val="000000"/>
                </a:solidFill>
                <a:latin typeface="Arial"/>
                <a:ea typeface="Arial"/>
                <a:cs typeface="Arial"/>
                <a:sym typeface="Arial"/>
              </a:endParaRPr>
            </a:p>
          </p:txBody>
        </p:sp>
        <p:sp>
          <p:nvSpPr>
            <p:cNvPr id="105" name="Google Shape;105;g3a1f07bbfc6_0_0"/>
            <p:cNvSpPr/>
            <p:nvPr/>
          </p:nvSpPr>
          <p:spPr>
            <a:xfrm>
              <a:off x="3305715" y="4008234"/>
              <a:ext cx="2705100" cy="387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Sustainable Mobility</a:t>
              </a:r>
              <a:endParaRPr b="0" i="0" sz="1400" u="none" cap="none" strike="noStrike">
                <a:solidFill>
                  <a:srgbClr val="000000"/>
                </a:solidFill>
                <a:latin typeface="Arial"/>
                <a:ea typeface="Arial"/>
                <a:cs typeface="Arial"/>
                <a:sym typeface="Arial"/>
              </a:endParaRPr>
            </a:p>
          </p:txBody>
        </p:sp>
        <p:sp>
          <p:nvSpPr>
            <p:cNvPr id="106" name="Google Shape;106;g3a1f07bbfc6_0_0"/>
            <p:cNvSpPr/>
            <p:nvPr/>
          </p:nvSpPr>
          <p:spPr>
            <a:xfrm>
              <a:off x="3305715" y="2374716"/>
              <a:ext cx="2705100" cy="402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Sustainable Water</a:t>
              </a:r>
              <a:endParaRPr b="0" i="0" sz="1400" u="none" cap="none" strike="noStrike">
                <a:solidFill>
                  <a:srgbClr val="000000"/>
                </a:solidFill>
                <a:latin typeface="Arial"/>
                <a:ea typeface="Arial"/>
                <a:cs typeface="Arial"/>
                <a:sym typeface="Arial"/>
              </a:endParaRPr>
            </a:p>
          </p:txBody>
        </p:sp>
        <p:sp>
          <p:nvSpPr>
            <p:cNvPr id="107" name="Google Shape;107;g3a1f07bbfc6_0_0"/>
            <p:cNvSpPr/>
            <p:nvPr/>
          </p:nvSpPr>
          <p:spPr>
            <a:xfrm>
              <a:off x="3305715" y="2922772"/>
              <a:ext cx="2705100" cy="39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Sustainable Food Systems</a:t>
              </a:r>
              <a:endParaRPr b="0" i="0" sz="1400" u="none" cap="none" strike="noStrike">
                <a:solidFill>
                  <a:srgbClr val="000000"/>
                </a:solidFill>
                <a:latin typeface="Arial"/>
                <a:ea typeface="Arial"/>
                <a:cs typeface="Arial"/>
                <a:sym typeface="Arial"/>
              </a:endParaRPr>
            </a:p>
          </p:txBody>
        </p:sp>
        <p:sp>
          <p:nvSpPr>
            <p:cNvPr id="108" name="Google Shape;108;g3a1f07bbfc6_0_0"/>
            <p:cNvSpPr/>
            <p:nvPr/>
          </p:nvSpPr>
          <p:spPr>
            <a:xfrm>
              <a:off x="3305715" y="3465504"/>
              <a:ext cx="2705100" cy="39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Sustainable Cooling</a:t>
              </a:r>
              <a:endParaRPr b="0" i="0" sz="1400" u="none" cap="none" strike="noStrike">
                <a:solidFill>
                  <a:srgbClr val="000000"/>
                </a:solidFill>
                <a:latin typeface="Arial"/>
                <a:ea typeface="Arial"/>
                <a:cs typeface="Arial"/>
                <a:sym typeface="Arial"/>
              </a:endParaRPr>
            </a:p>
          </p:txBody>
        </p:sp>
      </p:grpSp>
      <p:cxnSp>
        <p:nvCxnSpPr>
          <p:cNvPr id="109" name="Google Shape;109;g3a1f07bbfc6_0_0"/>
          <p:cNvCxnSpPr/>
          <p:nvPr/>
        </p:nvCxnSpPr>
        <p:spPr>
          <a:xfrm>
            <a:off x="288414" y="5546523"/>
            <a:ext cx="8440800" cy="26400"/>
          </a:xfrm>
          <a:prstGeom prst="straightConnector1">
            <a:avLst/>
          </a:prstGeom>
          <a:noFill/>
          <a:ln cap="flat" cmpd="sng" w="12700">
            <a:solidFill>
              <a:schemeClr val="accent4"/>
            </a:solidFill>
            <a:prstDash val="lgDash"/>
            <a:round/>
            <a:headEnd len="sm" w="sm" type="none"/>
            <a:tailEnd len="sm" w="sm" type="none"/>
          </a:ln>
        </p:spPr>
      </p:cxnSp>
      <p:sp>
        <p:nvSpPr>
          <p:cNvPr id="110" name="Google Shape;110;g3a1f07bbfc6_0_0"/>
          <p:cNvSpPr/>
          <p:nvPr/>
        </p:nvSpPr>
        <p:spPr>
          <a:xfrm>
            <a:off x="3849191" y="5356172"/>
            <a:ext cx="1790100" cy="402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IN" sz="1600" u="none" cap="none" strike="noStrike">
                <a:solidFill>
                  <a:srgbClr val="595A59"/>
                </a:solidFill>
                <a:latin typeface="Calibri"/>
                <a:ea typeface="Calibri"/>
                <a:cs typeface="Calibri"/>
                <a:sym typeface="Calibri"/>
              </a:rPr>
              <a:t>S</a:t>
            </a:r>
            <a:r>
              <a:rPr b="1" i="1" lang="en-IN" sz="1300" u="none" cap="none" strike="noStrike">
                <a:solidFill>
                  <a:srgbClr val="595A59"/>
                </a:solidFill>
                <a:latin typeface="Calibri"/>
                <a:ea typeface="Calibri"/>
                <a:cs typeface="Calibri"/>
                <a:sym typeface="Calibri"/>
              </a:rPr>
              <a:t>PECIAL INITIATIVES</a:t>
            </a:r>
            <a:endParaRPr b="0" i="0" sz="1400" u="none" cap="none" strike="noStrike">
              <a:solidFill>
                <a:srgbClr val="000000"/>
              </a:solidFill>
              <a:latin typeface="Arial"/>
              <a:ea typeface="Arial"/>
              <a:cs typeface="Arial"/>
              <a:sym typeface="Arial"/>
            </a:endParaRPr>
          </a:p>
        </p:txBody>
      </p:sp>
      <p:sp>
        <p:nvSpPr>
          <p:cNvPr id="111" name="Google Shape;111;g3a1f07bbfc6_0_0"/>
          <p:cNvSpPr/>
          <p:nvPr/>
        </p:nvSpPr>
        <p:spPr>
          <a:xfrm>
            <a:off x="3184396" y="5801264"/>
            <a:ext cx="1790100" cy="383100"/>
          </a:xfrm>
          <a:prstGeom prst="rect">
            <a:avLst/>
          </a:prstGeom>
          <a:solidFill>
            <a:srgbClr val="E9E9E9">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Powering Livelihoods</a:t>
            </a:r>
            <a:endParaRPr b="0" i="0" sz="1400" u="none" cap="none" strike="noStrike">
              <a:solidFill>
                <a:srgbClr val="000000"/>
              </a:solidFill>
              <a:latin typeface="Arial"/>
              <a:ea typeface="Arial"/>
              <a:cs typeface="Arial"/>
              <a:sym typeface="Arial"/>
            </a:endParaRPr>
          </a:p>
        </p:txBody>
      </p:sp>
      <p:grpSp>
        <p:nvGrpSpPr>
          <p:cNvPr id="112" name="Google Shape;112;g3a1f07bbfc6_0_0"/>
          <p:cNvGrpSpPr/>
          <p:nvPr/>
        </p:nvGrpSpPr>
        <p:grpSpPr>
          <a:xfrm>
            <a:off x="6508076" y="1258498"/>
            <a:ext cx="2433297" cy="2982753"/>
            <a:chOff x="6508076" y="1258498"/>
            <a:chExt cx="2433297" cy="2982753"/>
          </a:xfrm>
        </p:grpSpPr>
        <p:grpSp>
          <p:nvGrpSpPr>
            <p:cNvPr id="113" name="Google Shape;113;g3a1f07bbfc6_0_0"/>
            <p:cNvGrpSpPr/>
            <p:nvPr/>
          </p:nvGrpSpPr>
          <p:grpSpPr>
            <a:xfrm>
              <a:off x="6508076" y="1258498"/>
              <a:ext cx="2432862" cy="2443299"/>
              <a:chOff x="6529905" y="1397398"/>
              <a:chExt cx="2683501" cy="2443299"/>
            </a:xfrm>
          </p:grpSpPr>
          <p:cxnSp>
            <p:nvCxnSpPr>
              <p:cNvPr id="114" name="Google Shape;114;g3a1f07bbfc6_0_0"/>
              <p:cNvCxnSpPr/>
              <p:nvPr/>
            </p:nvCxnSpPr>
            <p:spPr>
              <a:xfrm>
                <a:off x="6940213" y="1741860"/>
                <a:ext cx="873300" cy="0"/>
              </a:xfrm>
              <a:prstGeom prst="straightConnector1">
                <a:avLst/>
              </a:prstGeom>
              <a:noFill/>
              <a:ln cap="flat" cmpd="sng" w="12700">
                <a:solidFill>
                  <a:schemeClr val="accent1"/>
                </a:solidFill>
                <a:prstDash val="lgDash"/>
                <a:round/>
                <a:headEnd len="sm" w="sm" type="none"/>
                <a:tailEnd len="sm" w="sm" type="none"/>
              </a:ln>
            </p:spPr>
          </p:cxnSp>
          <p:sp>
            <p:nvSpPr>
              <p:cNvPr id="115" name="Google Shape;115;g3a1f07bbfc6_0_0"/>
              <p:cNvSpPr/>
              <p:nvPr/>
            </p:nvSpPr>
            <p:spPr>
              <a:xfrm>
                <a:off x="6529905" y="3448297"/>
                <a:ext cx="2683500" cy="392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Climate Resilience</a:t>
                </a:r>
                <a:endParaRPr b="0" i="0" sz="1400" u="none" cap="none" strike="noStrike">
                  <a:solidFill>
                    <a:srgbClr val="000000"/>
                  </a:solidFill>
                  <a:latin typeface="Arial"/>
                  <a:ea typeface="Arial"/>
                  <a:cs typeface="Arial"/>
                  <a:sym typeface="Arial"/>
                </a:endParaRPr>
              </a:p>
            </p:txBody>
          </p:sp>
          <p:sp>
            <p:nvSpPr>
              <p:cNvPr id="116" name="Google Shape;116;g3a1f07bbfc6_0_0"/>
              <p:cNvSpPr/>
              <p:nvPr/>
            </p:nvSpPr>
            <p:spPr>
              <a:xfrm>
                <a:off x="6529906" y="1866103"/>
                <a:ext cx="2683500" cy="361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Sustainable Finance</a:t>
                </a:r>
                <a:endParaRPr b="0" i="0" sz="1400" u="none" cap="none" strike="noStrike">
                  <a:solidFill>
                    <a:srgbClr val="000000"/>
                  </a:solidFill>
                  <a:latin typeface="Arial"/>
                  <a:ea typeface="Arial"/>
                  <a:cs typeface="Arial"/>
                  <a:sym typeface="Arial"/>
                </a:endParaRPr>
              </a:p>
            </p:txBody>
          </p:sp>
          <p:sp>
            <p:nvSpPr>
              <p:cNvPr id="117" name="Google Shape;117;g3a1f07bbfc6_0_0"/>
              <p:cNvSpPr/>
              <p:nvPr/>
            </p:nvSpPr>
            <p:spPr>
              <a:xfrm>
                <a:off x="6529905" y="2374594"/>
                <a:ext cx="2683500" cy="396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Technology Futures</a:t>
                </a:r>
                <a:endParaRPr b="0" i="0" sz="1400" u="none" cap="none" strike="noStrike">
                  <a:solidFill>
                    <a:srgbClr val="000000"/>
                  </a:solidFill>
                  <a:latin typeface="Arial"/>
                  <a:ea typeface="Arial"/>
                  <a:cs typeface="Arial"/>
                  <a:sym typeface="Arial"/>
                </a:endParaRPr>
              </a:p>
            </p:txBody>
          </p:sp>
          <p:sp>
            <p:nvSpPr>
              <p:cNvPr id="118" name="Google Shape;118;g3a1f07bbfc6_0_0"/>
              <p:cNvSpPr/>
              <p:nvPr/>
            </p:nvSpPr>
            <p:spPr>
              <a:xfrm>
                <a:off x="6529905" y="2918074"/>
                <a:ext cx="2683500" cy="383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Circular Economy</a:t>
                </a:r>
                <a:endParaRPr b="0" i="0" sz="1400" u="none" cap="none" strike="noStrike">
                  <a:solidFill>
                    <a:srgbClr val="000000"/>
                  </a:solidFill>
                  <a:latin typeface="Arial"/>
                  <a:ea typeface="Arial"/>
                  <a:cs typeface="Arial"/>
                  <a:sym typeface="Arial"/>
                </a:endParaRPr>
              </a:p>
            </p:txBody>
          </p:sp>
          <p:sp>
            <p:nvSpPr>
              <p:cNvPr id="119" name="Google Shape;119;g3a1f07bbfc6_0_0"/>
              <p:cNvSpPr/>
              <p:nvPr/>
            </p:nvSpPr>
            <p:spPr>
              <a:xfrm>
                <a:off x="6800539" y="1397398"/>
                <a:ext cx="1078200" cy="402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IN" sz="1600" u="none" cap="none" strike="noStrike">
                    <a:solidFill>
                      <a:srgbClr val="009ED8"/>
                    </a:solidFill>
                    <a:latin typeface="Calibri"/>
                    <a:ea typeface="Calibri"/>
                    <a:cs typeface="Calibri"/>
                    <a:sym typeface="Calibri"/>
                  </a:rPr>
                  <a:t>E</a:t>
                </a:r>
                <a:r>
                  <a:rPr b="1" i="1" lang="en-IN" sz="1300" u="none" cap="none" strike="noStrike">
                    <a:solidFill>
                      <a:srgbClr val="009ED8"/>
                    </a:solidFill>
                    <a:latin typeface="Calibri"/>
                    <a:ea typeface="Calibri"/>
                    <a:cs typeface="Calibri"/>
                    <a:sym typeface="Calibri"/>
                  </a:rPr>
                  <a:t>NABLERS</a:t>
                </a:r>
                <a:endParaRPr b="0" i="0" sz="1400" u="none" cap="none" strike="noStrike">
                  <a:solidFill>
                    <a:srgbClr val="000000"/>
                  </a:solidFill>
                  <a:latin typeface="Arial"/>
                  <a:ea typeface="Arial"/>
                  <a:cs typeface="Arial"/>
                  <a:sym typeface="Arial"/>
                </a:endParaRPr>
              </a:p>
            </p:txBody>
          </p:sp>
        </p:grpSp>
        <p:sp>
          <p:nvSpPr>
            <p:cNvPr id="120" name="Google Shape;120;g3a1f07bbfc6_0_0"/>
            <p:cNvSpPr/>
            <p:nvPr/>
          </p:nvSpPr>
          <p:spPr>
            <a:xfrm>
              <a:off x="6508373" y="3848851"/>
              <a:ext cx="2433000" cy="392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595A59"/>
                  </a:solidFill>
                  <a:latin typeface="Calibri"/>
                  <a:ea typeface="Calibri"/>
                  <a:cs typeface="Calibri"/>
                  <a:sym typeface="Calibri"/>
                </a:rPr>
                <a:t>International Cooperation</a:t>
              </a:r>
              <a:endParaRPr b="0" i="0" sz="1400" u="none" cap="none" strike="noStrike">
                <a:solidFill>
                  <a:srgbClr val="000000"/>
                </a:solidFill>
                <a:latin typeface="Arial"/>
                <a:ea typeface="Arial"/>
                <a:cs typeface="Arial"/>
                <a:sym typeface="Arial"/>
              </a:endParaRPr>
            </a:p>
          </p:txBody>
        </p:sp>
      </p:grpSp>
      <p:grpSp>
        <p:nvGrpSpPr>
          <p:cNvPr id="121" name="Google Shape;121;g3a1f07bbfc6_0_0"/>
          <p:cNvGrpSpPr/>
          <p:nvPr/>
        </p:nvGrpSpPr>
        <p:grpSpPr>
          <a:xfrm>
            <a:off x="6595372" y="2019295"/>
            <a:ext cx="429325" cy="2143136"/>
            <a:chOff x="6296456" y="2056960"/>
            <a:chExt cx="2444906" cy="2143136"/>
          </a:xfrm>
        </p:grpSpPr>
        <p:cxnSp>
          <p:nvCxnSpPr>
            <p:cNvPr id="122" name="Google Shape;122;g3a1f07bbfc6_0_0"/>
            <p:cNvCxnSpPr/>
            <p:nvPr/>
          </p:nvCxnSpPr>
          <p:spPr>
            <a:xfrm>
              <a:off x="6308355" y="2056960"/>
              <a:ext cx="2433000" cy="0"/>
            </a:xfrm>
            <a:prstGeom prst="straightConnector1">
              <a:avLst/>
            </a:prstGeom>
            <a:noFill/>
            <a:ln cap="flat" cmpd="sng" w="19050">
              <a:solidFill>
                <a:srgbClr val="00B0F0"/>
              </a:solidFill>
              <a:prstDash val="solid"/>
              <a:round/>
              <a:headEnd len="sm" w="sm" type="none"/>
              <a:tailEnd len="sm" w="sm" type="none"/>
            </a:ln>
          </p:spPr>
        </p:cxnSp>
        <p:cxnSp>
          <p:nvCxnSpPr>
            <p:cNvPr id="123" name="Google Shape;123;g3a1f07bbfc6_0_0"/>
            <p:cNvCxnSpPr/>
            <p:nvPr/>
          </p:nvCxnSpPr>
          <p:spPr>
            <a:xfrm>
              <a:off x="6308362" y="2599885"/>
              <a:ext cx="2433000" cy="0"/>
            </a:xfrm>
            <a:prstGeom prst="straightConnector1">
              <a:avLst/>
            </a:prstGeom>
            <a:noFill/>
            <a:ln cap="flat" cmpd="sng" w="19050">
              <a:solidFill>
                <a:srgbClr val="00B0F0"/>
              </a:solidFill>
              <a:prstDash val="solid"/>
              <a:round/>
              <a:headEnd len="sm" w="sm" type="none"/>
              <a:tailEnd len="sm" w="sm" type="none"/>
            </a:ln>
          </p:spPr>
        </p:cxnSp>
        <p:cxnSp>
          <p:nvCxnSpPr>
            <p:cNvPr id="124" name="Google Shape;124;g3a1f07bbfc6_0_0"/>
            <p:cNvCxnSpPr/>
            <p:nvPr/>
          </p:nvCxnSpPr>
          <p:spPr>
            <a:xfrm>
              <a:off x="6308361" y="3126143"/>
              <a:ext cx="2433000" cy="0"/>
            </a:xfrm>
            <a:prstGeom prst="straightConnector1">
              <a:avLst/>
            </a:prstGeom>
            <a:noFill/>
            <a:ln cap="flat" cmpd="sng" w="19050">
              <a:solidFill>
                <a:srgbClr val="00B0F0"/>
              </a:solidFill>
              <a:prstDash val="solid"/>
              <a:round/>
              <a:headEnd len="sm" w="sm" type="none"/>
              <a:tailEnd len="sm" w="sm" type="none"/>
            </a:ln>
          </p:spPr>
        </p:cxnSp>
        <p:cxnSp>
          <p:nvCxnSpPr>
            <p:cNvPr id="125" name="Google Shape;125;g3a1f07bbfc6_0_0"/>
            <p:cNvCxnSpPr/>
            <p:nvPr/>
          </p:nvCxnSpPr>
          <p:spPr>
            <a:xfrm>
              <a:off x="6308361" y="3671457"/>
              <a:ext cx="2433000" cy="0"/>
            </a:xfrm>
            <a:prstGeom prst="straightConnector1">
              <a:avLst/>
            </a:prstGeom>
            <a:noFill/>
            <a:ln cap="flat" cmpd="sng" w="19050">
              <a:solidFill>
                <a:srgbClr val="00B0F0"/>
              </a:solidFill>
              <a:prstDash val="solid"/>
              <a:round/>
              <a:headEnd len="sm" w="sm" type="none"/>
              <a:tailEnd len="sm" w="sm" type="none"/>
            </a:ln>
          </p:spPr>
        </p:cxnSp>
        <p:cxnSp>
          <p:nvCxnSpPr>
            <p:cNvPr id="126" name="Google Shape;126;g3a1f07bbfc6_0_0"/>
            <p:cNvCxnSpPr/>
            <p:nvPr/>
          </p:nvCxnSpPr>
          <p:spPr>
            <a:xfrm>
              <a:off x="6296456" y="4200096"/>
              <a:ext cx="2433000" cy="0"/>
            </a:xfrm>
            <a:prstGeom prst="straightConnector1">
              <a:avLst/>
            </a:prstGeom>
            <a:noFill/>
            <a:ln cap="flat" cmpd="sng" w="19050">
              <a:solidFill>
                <a:srgbClr val="00B0F0"/>
              </a:solidFill>
              <a:prstDash val="solid"/>
              <a:round/>
              <a:headEnd len="sm" w="sm" type="none"/>
              <a:tailEnd len="sm" w="sm" type="none"/>
            </a:ln>
          </p:spPr>
        </p:cxnSp>
      </p:grpSp>
      <p:grpSp>
        <p:nvGrpSpPr>
          <p:cNvPr id="127" name="Google Shape;127;g3a1f07bbfc6_0_0"/>
          <p:cNvGrpSpPr/>
          <p:nvPr/>
        </p:nvGrpSpPr>
        <p:grpSpPr>
          <a:xfrm>
            <a:off x="3532460" y="2019295"/>
            <a:ext cx="429326" cy="2162186"/>
            <a:chOff x="6296456" y="2047435"/>
            <a:chExt cx="2444907" cy="2162186"/>
          </a:xfrm>
        </p:grpSpPr>
        <p:cxnSp>
          <p:nvCxnSpPr>
            <p:cNvPr id="128" name="Google Shape;128;g3a1f07bbfc6_0_0"/>
            <p:cNvCxnSpPr/>
            <p:nvPr/>
          </p:nvCxnSpPr>
          <p:spPr>
            <a:xfrm>
              <a:off x="6308357" y="2047435"/>
              <a:ext cx="2433000" cy="0"/>
            </a:xfrm>
            <a:prstGeom prst="straightConnector1">
              <a:avLst/>
            </a:prstGeom>
            <a:noFill/>
            <a:ln cap="flat" cmpd="sng" w="19050">
              <a:solidFill>
                <a:srgbClr val="92D050"/>
              </a:solidFill>
              <a:prstDash val="solid"/>
              <a:round/>
              <a:headEnd len="sm" w="sm" type="none"/>
              <a:tailEnd len="sm" w="sm" type="none"/>
            </a:ln>
          </p:spPr>
        </p:cxnSp>
        <p:cxnSp>
          <p:nvCxnSpPr>
            <p:cNvPr id="129" name="Google Shape;129;g3a1f07bbfc6_0_0"/>
            <p:cNvCxnSpPr/>
            <p:nvPr/>
          </p:nvCxnSpPr>
          <p:spPr>
            <a:xfrm>
              <a:off x="6308362" y="2599885"/>
              <a:ext cx="2433000" cy="0"/>
            </a:xfrm>
            <a:prstGeom prst="straightConnector1">
              <a:avLst/>
            </a:prstGeom>
            <a:noFill/>
            <a:ln cap="flat" cmpd="sng" w="19050">
              <a:solidFill>
                <a:srgbClr val="92D050"/>
              </a:solidFill>
              <a:prstDash val="solid"/>
              <a:round/>
              <a:headEnd len="sm" w="sm" type="none"/>
              <a:tailEnd len="sm" w="sm" type="none"/>
            </a:ln>
          </p:spPr>
        </p:cxnSp>
        <p:cxnSp>
          <p:nvCxnSpPr>
            <p:cNvPr id="130" name="Google Shape;130;g3a1f07bbfc6_0_0"/>
            <p:cNvCxnSpPr/>
            <p:nvPr/>
          </p:nvCxnSpPr>
          <p:spPr>
            <a:xfrm>
              <a:off x="6308361" y="3135668"/>
              <a:ext cx="2433000" cy="0"/>
            </a:xfrm>
            <a:prstGeom prst="straightConnector1">
              <a:avLst/>
            </a:prstGeom>
            <a:noFill/>
            <a:ln cap="flat" cmpd="sng" w="19050">
              <a:solidFill>
                <a:srgbClr val="92D050"/>
              </a:solidFill>
              <a:prstDash val="solid"/>
              <a:round/>
              <a:headEnd len="sm" w="sm" type="none"/>
              <a:tailEnd len="sm" w="sm" type="none"/>
            </a:ln>
          </p:spPr>
        </p:cxnSp>
        <p:cxnSp>
          <p:nvCxnSpPr>
            <p:cNvPr id="131" name="Google Shape;131;g3a1f07bbfc6_0_0"/>
            <p:cNvCxnSpPr/>
            <p:nvPr/>
          </p:nvCxnSpPr>
          <p:spPr>
            <a:xfrm>
              <a:off x="6308363" y="3680982"/>
              <a:ext cx="2433000" cy="0"/>
            </a:xfrm>
            <a:prstGeom prst="straightConnector1">
              <a:avLst/>
            </a:prstGeom>
            <a:noFill/>
            <a:ln cap="flat" cmpd="sng" w="19050">
              <a:solidFill>
                <a:srgbClr val="92D050"/>
              </a:solidFill>
              <a:prstDash val="solid"/>
              <a:round/>
              <a:headEnd len="sm" w="sm" type="none"/>
              <a:tailEnd len="sm" w="sm" type="none"/>
            </a:ln>
          </p:spPr>
        </p:cxnSp>
        <p:cxnSp>
          <p:nvCxnSpPr>
            <p:cNvPr id="132" name="Google Shape;132;g3a1f07bbfc6_0_0"/>
            <p:cNvCxnSpPr/>
            <p:nvPr/>
          </p:nvCxnSpPr>
          <p:spPr>
            <a:xfrm>
              <a:off x="6296456" y="4209621"/>
              <a:ext cx="2433000" cy="0"/>
            </a:xfrm>
            <a:prstGeom prst="straightConnector1">
              <a:avLst/>
            </a:prstGeom>
            <a:noFill/>
            <a:ln cap="flat" cmpd="sng" w="19050">
              <a:solidFill>
                <a:srgbClr val="92D050"/>
              </a:solidFill>
              <a:prstDash val="solid"/>
              <a:round/>
              <a:headEnd len="sm" w="sm" type="none"/>
              <a:tailEnd len="sm" w="sm" type="none"/>
            </a:ln>
          </p:spPr>
        </p:cxnSp>
      </p:grpSp>
      <p:grpSp>
        <p:nvGrpSpPr>
          <p:cNvPr id="133" name="Google Shape;133;g3a1f07bbfc6_0_0"/>
          <p:cNvGrpSpPr/>
          <p:nvPr/>
        </p:nvGrpSpPr>
        <p:grpSpPr>
          <a:xfrm>
            <a:off x="430755" y="2019295"/>
            <a:ext cx="429325" cy="2162186"/>
            <a:chOff x="6296456" y="2047435"/>
            <a:chExt cx="2444906" cy="2162186"/>
          </a:xfrm>
        </p:grpSpPr>
        <p:cxnSp>
          <p:nvCxnSpPr>
            <p:cNvPr id="134" name="Google Shape;134;g3a1f07bbfc6_0_0"/>
            <p:cNvCxnSpPr/>
            <p:nvPr/>
          </p:nvCxnSpPr>
          <p:spPr>
            <a:xfrm>
              <a:off x="6308357" y="2047435"/>
              <a:ext cx="2433000" cy="0"/>
            </a:xfrm>
            <a:prstGeom prst="straightConnector1">
              <a:avLst/>
            </a:prstGeom>
            <a:noFill/>
            <a:ln cap="flat" cmpd="sng" w="19050">
              <a:solidFill>
                <a:schemeClr val="accent2"/>
              </a:solidFill>
              <a:prstDash val="solid"/>
              <a:round/>
              <a:headEnd len="sm" w="sm" type="none"/>
              <a:tailEnd len="sm" w="sm" type="none"/>
            </a:ln>
          </p:spPr>
        </p:cxnSp>
        <p:cxnSp>
          <p:nvCxnSpPr>
            <p:cNvPr id="135" name="Google Shape;135;g3a1f07bbfc6_0_0"/>
            <p:cNvCxnSpPr/>
            <p:nvPr/>
          </p:nvCxnSpPr>
          <p:spPr>
            <a:xfrm>
              <a:off x="6308362" y="2599885"/>
              <a:ext cx="2433000" cy="0"/>
            </a:xfrm>
            <a:prstGeom prst="straightConnector1">
              <a:avLst/>
            </a:prstGeom>
            <a:noFill/>
            <a:ln cap="flat" cmpd="sng" w="19050">
              <a:solidFill>
                <a:schemeClr val="accent2"/>
              </a:solidFill>
              <a:prstDash val="solid"/>
              <a:round/>
              <a:headEnd len="sm" w="sm" type="none"/>
              <a:tailEnd len="sm" w="sm" type="none"/>
            </a:ln>
          </p:spPr>
        </p:cxnSp>
        <p:cxnSp>
          <p:nvCxnSpPr>
            <p:cNvPr id="136" name="Google Shape;136;g3a1f07bbfc6_0_0"/>
            <p:cNvCxnSpPr/>
            <p:nvPr/>
          </p:nvCxnSpPr>
          <p:spPr>
            <a:xfrm>
              <a:off x="6308361" y="3135668"/>
              <a:ext cx="2433000" cy="0"/>
            </a:xfrm>
            <a:prstGeom prst="straightConnector1">
              <a:avLst/>
            </a:prstGeom>
            <a:noFill/>
            <a:ln cap="flat" cmpd="sng" w="19050">
              <a:solidFill>
                <a:schemeClr val="accent2"/>
              </a:solidFill>
              <a:prstDash val="solid"/>
              <a:round/>
              <a:headEnd len="sm" w="sm" type="none"/>
              <a:tailEnd len="sm" w="sm" type="none"/>
            </a:ln>
          </p:spPr>
        </p:cxnSp>
        <p:cxnSp>
          <p:nvCxnSpPr>
            <p:cNvPr id="137" name="Google Shape;137;g3a1f07bbfc6_0_0"/>
            <p:cNvCxnSpPr/>
            <p:nvPr/>
          </p:nvCxnSpPr>
          <p:spPr>
            <a:xfrm>
              <a:off x="6308361" y="3661932"/>
              <a:ext cx="2433000" cy="0"/>
            </a:xfrm>
            <a:prstGeom prst="straightConnector1">
              <a:avLst/>
            </a:prstGeom>
            <a:noFill/>
            <a:ln cap="flat" cmpd="sng" w="19050">
              <a:solidFill>
                <a:schemeClr val="accent2"/>
              </a:solidFill>
              <a:prstDash val="solid"/>
              <a:round/>
              <a:headEnd len="sm" w="sm" type="none"/>
              <a:tailEnd len="sm" w="sm" type="none"/>
            </a:ln>
          </p:spPr>
        </p:cxnSp>
        <p:cxnSp>
          <p:nvCxnSpPr>
            <p:cNvPr id="138" name="Google Shape;138;g3a1f07bbfc6_0_0"/>
            <p:cNvCxnSpPr/>
            <p:nvPr/>
          </p:nvCxnSpPr>
          <p:spPr>
            <a:xfrm>
              <a:off x="6296456" y="4209621"/>
              <a:ext cx="2433000" cy="0"/>
            </a:xfrm>
            <a:prstGeom prst="straightConnector1">
              <a:avLst/>
            </a:prstGeom>
            <a:noFill/>
            <a:ln cap="flat" cmpd="sng" w="19050">
              <a:solidFill>
                <a:schemeClr val="accent2"/>
              </a:solidFill>
              <a:prstDash val="solid"/>
              <a:round/>
              <a:headEnd len="sm" w="sm" type="none"/>
              <a:tailEnd len="sm" w="sm" type="none"/>
            </a:ln>
          </p:spPr>
        </p:cxnSp>
      </p:grpSp>
      <p:pic>
        <p:nvPicPr>
          <p:cNvPr id="139" name="Google Shape;139;g3a1f07bbfc6_0_0"/>
          <p:cNvPicPr preferRelativeResize="0"/>
          <p:nvPr/>
        </p:nvPicPr>
        <p:blipFill rotWithShape="1">
          <a:blip r:embed="rId3">
            <a:alphaModFix/>
          </a:blip>
          <a:srcRect b="83573" l="86245" r="0" t="0"/>
          <a:stretch/>
        </p:blipFill>
        <p:spPr>
          <a:xfrm>
            <a:off x="6441000" y="1319521"/>
            <a:ext cx="493051" cy="312330"/>
          </a:xfrm>
          <a:prstGeom prst="rect">
            <a:avLst/>
          </a:prstGeom>
          <a:noFill/>
          <a:ln>
            <a:noFill/>
          </a:ln>
        </p:spPr>
      </p:pic>
      <p:pic>
        <p:nvPicPr>
          <p:cNvPr id="140" name="Google Shape;140;g3a1f07bbfc6_0_0"/>
          <p:cNvPicPr preferRelativeResize="0"/>
          <p:nvPr/>
        </p:nvPicPr>
        <p:blipFill rotWithShape="1">
          <a:blip r:embed="rId3">
            <a:alphaModFix/>
          </a:blip>
          <a:srcRect b="84432" l="47168" r="39627" t="0"/>
          <a:stretch/>
        </p:blipFill>
        <p:spPr>
          <a:xfrm>
            <a:off x="3405927" y="1329734"/>
            <a:ext cx="473343" cy="295987"/>
          </a:xfrm>
          <a:prstGeom prst="rect">
            <a:avLst/>
          </a:prstGeom>
          <a:noFill/>
          <a:ln>
            <a:noFill/>
          </a:ln>
        </p:spPr>
      </p:pic>
      <p:sp>
        <p:nvSpPr>
          <p:cNvPr id="141" name="Google Shape;141;g3a1f07bbfc6_0_0"/>
          <p:cNvSpPr txBox="1"/>
          <p:nvPr/>
        </p:nvSpPr>
        <p:spPr>
          <a:xfrm>
            <a:off x="9224133" y="1172273"/>
            <a:ext cx="2912400" cy="458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009ED8"/>
                </a:solidFill>
                <a:latin typeface="Calibri"/>
                <a:ea typeface="Calibri"/>
                <a:cs typeface="Calibri"/>
                <a:sym typeface="Calibri"/>
              </a:rPr>
              <a:t>390+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575756"/>
                </a:solidFill>
                <a:latin typeface="Calibri"/>
                <a:ea typeface="Calibri"/>
                <a:cs typeface="Calibri"/>
                <a:sym typeface="Calibri"/>
              </a:rPr>
              <a:t>Multidisciplinary team</a:t>
            </a:r>
            <a:endParaRPr b="0" i="0" sz="1400" u="none" cap="none" strike="noStrike">
              <a:solidFill>
                <a:srgbClr val="57575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000000"/>
                </a:solidFill>
                <a:latin typeface="Calibri"/>
                <a:ea typeface="Calibri"/>
                <a:cs typeface="Calibri"/>
                <a:sym typeface="Calibri"/>
              </a:rPr>
              <a:t>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009ED8"/>
                </a:solidFill>
                <a:latin typeface="Calibri"/>
                <a:ea typeface="Calibri"/>
                <a:cs typeface="Calibri"/>
                <a:sym typeface="Calibri"/>
              </a:rPr>
              <a:t>550+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575756"/>
                </a:solidFill>
                <a:latin typeface="Calibri"/>
                <a:ea typeface="Calibri"/>
                <a:cs typeface="Calibri"/>
                <a:sym typeface="Calibri"/>
              </a:rPr>
              <a:t>Peer-reviewed publications</a:t>
            </a:r>
            <a:endParaRPr b="0" i="0" sz="1400" u="none" cap="none" strike="noStrike">
              <a:solidFill>
                <a:srgbClr val="57575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009ED8"/>
                </a:solidFill>
                <a:latin typeface="Calibri"/>
                <a:ea typeface="Calibri"/>
                <a:cs typeface="Calibri"/>
                <a:sym typeface="Calibri"/>
              </a:rPr>
              <a:t>700+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575756"/>
                </a:solidFill>
                <a:latin typeface="Calibri"/>
                <a:ea typeface="Calibri"/>
                <a:cs typeface="Calibri"/>
                <a:sym typeface="Calibri"/>
              </a:rPr>
              <a:t>Convenings </a:t>
            </a:r>
            <a:endParaRPr b="0" i="0" sz="1400" u="none" cap="none" strike="noStrike">
              <a:solidFill>
                <a:srgbClr val="57575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009ED8"/>
                </a:solidFill>
                <a:latin typeface="Calibri"/>
                <a:ea typeface="Calibri"/>
                <a:cs typeface="Calibri"/>
                <a:sym typeface="Calibri"/>
              </a:rPr>
              <a:t>400 million+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575756"/>
                </a:solidFill>
                <a:latin typeface="Calibri"/>
                <a:ea typeface="Calibri"/>
                <a:cs typeface="Calibri"/>
                <a:sym typeface="Calibri"/>
              </a:rPr>
              <a:t>Lives impacted </a:t>
            </a:r>
            <a:endParaRPr b="0" i="0" sz="1400" u="none" cap="none" strike="noStrike">
              <a:solidFill>
                <a:srgbClr val="57575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009ED8"/>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IN" sz="1200" u="none" cap="none" strike="noStrike">
                <a:solidFill>
                  <a:srgbClr val="575756"/>
                </a:solidFill>
                <a:latin typeface="Calibri"/>
                <a:ea typeface="Calibri"/>
                <a:cs typeface="Calibri"/>
                <a:sym typeface="Calibri"/>
              </a:rPr>
              <a:t>Union ministries supported</a:t>
            </a:r>
            <a:endParaRPr b="0" i="0" sz="1200" u="none" cap="none" strike="noStrike">
              <a:solidFill>
                <a:srgbClr val="575756"/>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000" u="none" cap="none" strike="noStrike">
              <a:solidFill>
                <a:srgbClr val="575756"/>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al"/>
              <a:buNone/>
            </a:pPr>
            <a:r>
              <a:rPr b="1" i="0" lang="en-IN" sz="2800" u="none" cap="none" strike="noStrike">
                <a:solidFill>
                  <a:schemeClr val="accent1"/>
                </a:solidFill>
                <a:latin typeface="Calibri"/>
                <a:ea typeface="Calibri"/>
                <a:cs typeface="Calibri"/>
                <a:sym typeface="Calibri"/>
              </a:rPr>
              <a:t>20+</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0" i="0" lang="en-IN" sz="1200" u="none" cap="none" strike="noStrike">
                <a:solidFill>
                  <a:srgbClr val="575756"/>
                </a:solidFill>
                <a:latin typeface="Calibri"/>
                <a:ea typeface="Calibri"/>
                <a:cs typeface="Calibri"/>
                <a:sym typeface="Calibri"/>
              </a:rPr>
              <a:t>State governments supported</a:t>
            </a:r>
            <a:endParaRPr b="0" i="0" sz="1200" u="none" cap="none" strike="noStrike">
              <a:solidFill>
                <a:srgbClr val="575756"/>
              </a:solidFill>
              <a:latin typeface="Calibri"/>
              <a:ea typeface="Calibri"/>
              <a:cs typeface="Calibri"/>
              <a:sym typeface="Calibri"/>
            </a:endParaRPr>
          </a:p>
        </p:txBody>
      </p:sp>
      <p:sp>
        <p:nvSpPr>
          <p:cNvPr id="142" name="Google Shape;142;g3a1f07bbfc6_0_0"/>
          <p:cNvSpPr txBox="1"/>
          <p:nvPr>
            <p:ph idx="12" type="sldNum"/>
          </p:nvPr>
        </p:nvSpPr>
        <p:spPr>
          <a:xfrm>
            <a:off x="-276585" y="6235395"/>
            <a:ext cx="773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IN"/>
              <a:t>‹#›</a:t>
            </a:fld>
            <a:r>
              <a:rPr lang="en-IN"/>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f502f38a39_2_33"/>
          <p:cNvSpPr txBox="1"/>
          <p:nvPr>
            <p:ph type="title"/>
          </p:nvPr>
        </p:nvSpPr>
        <p:spPr>
          <a:xfrm>
            <a:off x="395707" y="194428"/>
            <a:ext cx="11284400" cy="794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M1-Socio economic co-benefit </a:t>
            </a:r>
            <a:endParaRPr/>
          </a:p>
          <a:p>
            <a:pPr indent="0" lvl="0" marL="0" rtl="0" algn="l">
              <a:lnSpc>
                <a:spcPct val="100000"/>
              </a:lnSpc>
              <a:spcBef>
                <a:spcPts val="0"/>
              </a:spcBef>
              <a:spcAft>
                <a:spcPts val="0"/>
              </a:spcAft>
              <a:buSzPts val="2400"/>
              <a:buNone/>
            </a:pPr>
            <a:r>
              <a:rPr b="0" lang="en-IN" sz="1500"/>
              <a:t>Premise for the analysis</a:t>
            </a:r>
            <a:endParaRPr b="0" sz="1500"/>
          </a:p>
          <a:p>
            <a:pPr indent="0" lvl="0" marL="0" rtl="0" algn="l">
              <a:lnSpc>
                <a:spcPct val="100000"/>
              </a:lnSpc>
              <a:spcBef>
                <a:spcPts val="0"/>
              </a:spcBef>
              <a:spcAft>
                <a:spcPts val="0"/>
              </a:spcAft>
              <a:buSzPts val="2400"/>
              <a:buNone/>
            </a:pPr>
            <a:r>
              <a:t/>
            </a:r>
            <a:endParaRPr/>
          </a:p>
        </p:txBody>
      </p:sp>
      <p:sp>
        <p:nvSpPr>
          <p:cNvPr id="148" name="Google Shape;148;g3f502f38a39_2_33"/>
          <p:cNvSpPr txBox="1"/>
          <p:nvPr>
            <p:ph idx="1" type="body"/>
          </p:nvPr>
        </p:nvSpPr>
        <p:spPr>
          <a:xfrm>
            <a:off x="395700" y="988332"/>
            <a:ext cx="11284400" cy="5805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500"/>
              </a:spcBef>
              <a:spcAft>
                <a:spcPts val="0"/>
              </a:spcAft>
              <a:buSzPts val="2300"/>
              <a:buNone/>
            </a:pPr>
            <a:r>
              <a:rPr lang="en-IN"/>
              <a:t>&gt;&gt; Using Amritsar OD survey conducted on September,2025 we did a Difference in Difference analysis for monthly travel expenditure.</a:t>
            </a:r>
            <a:endParaRPr/>
          </a:p>
          <a:p>
            <a:pPr indent="0" lvl="0" marL="0" rtl="0" algn="l">
              <a:lnSpc>
                <a:spcPct val="100000"/>
              </a:lnSpc>
              <a:spcBef>
                <a:spcPts val="500"/>
              </a:spcBef>
              <a:spcAft>
                <a:spcPts val="0"/>
              </a:spcAft>
              <a:buSzPts val="2300"/>
              <a:buNone/>
            </a:pPr>
            <a:r>
              <a:t/>
            </a:r>
            <a:endParaRPr/>
          </a:p>
          <a:p>
            <a:pPr indent="0" lvl="0" marL="0" rtl="0" algn="l">
              <a:lnSpc>
                <a:spcPct val="100000"/>
              </a:lnSpc>
              <a:spcBef>
                <a:spcPts val="500"/>
              </a:spcBef>
              <a:spcAft>
                <a:spcPts val="0"/>
              </a:spcAft>
              <a:buSzPts val="2300"/>
              <a:buNone/>
            </a:pPr>
            <a:r>
              <a:rPr lang="en-IN"/>
              <a:t>&gt;&gt; There were a total of 705 respondents from 36 different survey locations scattered across the city.</a:t>
            </a:r>
            <a:endParaRPr/>
          </a:p>
          <a:p>
            <a:pPr indent="0" lvl="0" marL="0" rtl="0" algn="l">
              <a:lnSpc>
                <a:spcPct val="100000"/>
              </a:lnSpc>
              <a:spcBef>
                <a:spcPts val="500"/>
              </a:spcBef>
              <a:spcAft>
                <a:spcPts val="0"/>
              </a:spcAft>
              <a:buSzPts val="2300"/>
              <a:buNone/>
            </a:pPr>
            <a:r>
              <a:t/>
            </a:r>
            <a:endParaRPr/>
          </a:p>
          <a:p>
            <a:pPr indent="0" lvl="0" marL="0" rtl="0" algn="l">
              <a:lnSpc>
                <a:spcPct val="100000"/>
              </a:lnSpc>
              <a:spcBef>
                <a:spcPts val="500"/>
              </a:spcBef>
              <a:spcAft>
                <a:spcPts val="0"/>
              </a:spcAft>
              <a:buSzPts val="2300"/>
              <a:buNone/>
            </a:pPr>
            <a:r>
              <a:rPr lang="en-IN"/>
              <a:t>&gt;&gt; for the analysis we made the following assumptions.</a:t>
            </a:r>
            <a:endParaRPr/>
          </a:p>
          <a:p>
            <a:pPr indent="0" lvl="0" marL="609600" rtl="0" algn="l">
              <a:lnSpc>
                <a:spcPct val="100000"/>
              </a:lnSpc>
              <a:spcBef>
                <a:spcPts val="500"/>
              </a:spcBef>
              <a:spcAft>
                <a:spcPts val="0"/>
              </a:spcAft>
              <a:buSzPts val="2300"/>
              <a:buNone/>
            </a:pPr>
            <a:r>
              <a:t/>
            </a:r>
            <a:endParaRPr/>
          </a:p>
          <a:p>
            <a:pPr indent="-450850" lvl="0" marL="609600" rtl="0" algn="l">
              <a:lnSpc>
                <a:spcPct val="100000"/>
              </a:lnSpc>
              <a:spcBef>
                <a:spcPts val="500"/>
              </a:spcBef>
              <a:spcAft>
                <a:spcPts val="0"/>
              </a:spcAft>
              <a:buSzPts val="2300"/>
              <a:buAutoNum type="arabicPeriod"/>
            </a:pPr>
            <a:r>
              <a:rPr lang="en-IN"/>
              <a:t>Income wasn’t part of the survey so imputed it from PLFS 2025 based on profession.</a:t>
            </a:r>
            <a:endParaRPr/>
          </a:p>
          <a:p>
            <a:pPr indent="0" lvl="0" marL="609600" rtl="0" algn="l">
              <a:lnSpc>
                <a:spcPct val="100000"/>
              </a:lnSpc>
              <a:spcBef>
                <a:spcPts val="500"/>
              </a:spcBef>
              <a:spcAft>
                <a:spcPts val="0"/>
              </a:spcAft>
              <a:buSzPts val="2300"/>
              <a:buNone/>
            </a:pPr>
            <a:r>
              <a:t/>
            </a:r>
            <a:endParaRPr/>
          </a:p>
          <a:p>
            <a:pPr indent="-450850" lvl="0" marL="609600" rtl="0" algn="l">
              <a:lnSpc>
                <a:spcPct val="100000"/>
              </a:lnSpc>
              <a:spcBef>
                <a:spcPts val="500"/>
              </a:spcBef>
              <a:spcAft>
                <a:spcPts val="0"/>
              </a:spcAft>
              <a:buSzPts val="2300"/>
              <a:buAutoNum type="arabicPeriod"/>
            </a:pPr>
            <a:r>
              <a:rPr lang="en-IN"/>
              <a:t>Used low ambition modal shift randomly assigned to survey respondents to make a pseudo longitudinal data.</a:t>
            </a:r>
            <a:endParaRPr/>
          </a:p>
        </p:txBody>
      </p:sp>
      <p:sp>
        <p:nvSpPr>
          <p:cNvPr id="149" name="Google Shape;149;g3f502f38a39_2_33"/>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f502f38a39_2_40"/>
          <p:cNvSpPr txBox="1"/>
          <p:nvPr>
            <p:ph type="title"/>
          </p:nvPr>
        </p:nvSpPr>
        <p:spPr>
          <a:xfrm>
            <a:off x="395707" y="194428"/>
            <a:ext cx="11284400" cy="794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Pre-Treatment</a:t>
            </a:r>
            <a:endParaRPr/>
          </a:p>
          <a:p>
            <a:pPr indent="0" lvl="0" marL="0" rtl="0" algn="l">
              <a:lnSpc>
                <a:spcPct val="100000"/>
              </a:lnSpc>
              <a:spcBef>
                <a:spcPts val="0"/>
              </a:spcBef>
              <a:spcAft>
                <a:spcPts val="0"/>
              </a:spcAft>
              <a:buSzPts val="2400"/>
              <a:buNone/>
            </a:pPr>
            <a:r>
              <a:rPr b="0" lang="en-IN" sz="1900"/>
              <a:t>The baseline</a:t>
            </a:r>
            <a:endParaRPr b="0" sz="1900"/>
          </a:p>
        </p:txBody>
      </p:sp>
      <p:sp>
        <p:nvSpPr>
          <p:cNvPr id="155" name="Google Shape;155;g3f502f38a39_2_40"/>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t/>
            </a:r>
            <a:endParaRPr/>
          </a:p>
        </p:txBody>
      </p:sp>
      <p:sp>
        <p:nvSpPr>
          <p:cNvPr id="156" name="Google Shape;156;g3f502f38a39_2_40"/>
          <p:cNvSpPr/>
          <p:nvPr/>
        </p:nvSpPr>
        <p:spPr>
          <a:xfrm>
            <a:off x="351440" y="1463040"/>
            <a:ext cx="2606000" cy="1417200"/>
          </a:xfrm>
          <a:prstGeom prst="rect">
            <a:avLst/>
          </a:prstGeom>
          <a:solidFill>
            <a:srgbClr val="F7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3f502f38a39_2_40"/>
          <p:cNvSpPr/>
          <p:nvPr/>
        </p:nvSpPr>
        <p:spPr>
          <a:xfrm>
            <a:off x="3396440" y="1463040"/>
            <a:ext cx="2606000" cy="1417200"/>
          </a:xfrm>
          <a:prstGeom prst="rect">
            <a:avLst/>
          </a:prstGeom>
          <a:solidFill>
            <a:srgbClr val="F7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3f502f38a39_2_40"/>
          <p:cNvSpPr/>
          <p:nvPr/>
        </p:nvSpPr>
        <p:spPr>
          <a:xfrm>
            <a:off x="6387607" y="1463040"/>
            <a:ext cx="2606000" cy="1417200"/>
          </a:xfrm>
          <a:prstGeom prst="rect">
            <a:avLst/>
          </a:prstGeom>
          <a:solidFill>
            <a:srgbClr val="F7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f502f38a39_2_40"/>
          <p:cNvSpPr/>
          <p:nvPr/>
        </p:nvSpPr>
        <p:spPr>
          <a:xfrm>
            <a:off x="9378773" y="1463040"/>
            <a:ext cx="2606000" cy="1417200"/>
          </a:xfrm>
          <a:prstGeom prst="rect">
            <a:avLst/>
          </a:prstGeom>
          <a:solidFill>
            <a:srgbClr val="F7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0" name="Google Shape;160;g3f502f38a39_2_40"/>
          <p:cNvPicPr preferRelativeResize="0"/>
          <p:nvPr/>
        </p:nvPicPr>
        <p:blipFill rotWithShape="1">
          <a:blip r:embed="rId3">
            <a:alphaModFix/>
          </a:blip>
          <a:srcRect b="0" l="0" r="0" t="0"/>
          <a:stretch/>
        </p:blipFill>
        <p:spPr>
          <a:xfrm>
            <a:off x="517240" y="1637308"/>
            <a:ext cx="274320" cy="274320"/>
          </a:xfrm>
          <a:prstGeom prst="rect">
            <a:avLst/>
          </a:prstGeom>
          <a:noFill/>
          <a:ln>
            <a:noFill/>
          </a:ln>
        </p:spPr>
      </p:pic>
      <p:pic>
        <p:nvPicPr>
          <p:cNvPr descr="preencoded.png" id="161" name="Google Shape;161;g3f502f38a39_2_40"/>
          <p:cNvPicPr preferRelativeResize="0"/>
          <p:nvPr/>
        </p:nvPicPr>
        <p:blipFill rotWithShape="1">
          <a:blip r:embed="rId4">
            <a:alphaModFix/>
          </a:blip>
          <a:srcRect b="0" l="0" r="0" t="0"/>
          <a:stretch/>
        </p:blipFill>
        <p:spPr>
          <a:xfrm>
            <a:off x="3593415" y="1637308"/>
            <a:ext cx="274320" cy="274320"/>
          </a:xfrm>
          <a:prstGeom prst="rect">
            <a:avLst/>
          </a:prstGeom>
          <a:noFill/>
          <a:ln>
            <a:noFill/>
          </a:ln>
        </p:spPr>
      </p:pic>
      <p:pic>
        <p:nvPicPr>
          <p:cNvPr descr="preencoded.png" id="162" name="Google Shape;162;g3f502f38a39_2_40"/>
          <p:cNvPicPr preferRelativeResize="0"/>
          <p:nvPr/>
        </p:nvPicPr>
        <p:blipFill rotWithShape="1">
          <a:blip r:embed="rId5">
            <a:alphaModFix/>
          </a:blip>
          <a:srcRect b="0" l="0" r="0" t="0"/>
          <a:stretch/>
        </p:blipFill>
        <p:spPr>
          <a:xfrm>
            <a:off x="6539856" y="1637308"/>
            <a:ext cx="274320" cy="274320"/>
          </a:xfrm>
          <a:prstGeom prst="rect">
            <a:avLst/>
          </a:prstGeom>
          <a:noFill/>
          <a:ln>
            <a:noFill/>
          </a:ln>
        </p:spPr>
      </p:pic>
      <p:pic>
        <p:nvPicPr>
          <p:cNvPr descr="preencoded.png" id="163" name="Google Shape;163;g3f502f38a39_2_40"/>
          <p:cNvPicPr preferRelativeResize="0"/>
          <p:nvPr/>
        </p:nvPicPr>
        <p:blipFill rotWithShape="1">
          <a:blip r:embed="rId6">
            <a:alphaModFix/>
          </a:blip>
          <a:srcRect b="0" l="0" r="0" t="0"/>
          <a:stretch/>
        </p:blipFill>
        <p:spPr>
          <a:xfrm>
            <a:off x="9486297" y="1637308"/>
            <a:ext cx="274320" cy="274320"/>
          </a:xfrm>
          <a:prstGeom prst="rect">
            <a:avLst/>
          </a:prstGeom>
          <a:noFill/>
          <a:ln>
            <a:noFill/>
          </a:ln>
        </p:spPr>
      </p:pic>
      <p:sp>
        <p:nvSpPr>
          <p:cNvPr id="164" name="Google Shape;164;g3f502f38a39_2_40"/>
          <p:cNvSpPr/>
          <p:nvPr/>
        </p:nvSpPr>
        <p:spPr>
          <a:xfrm>
            <a:off x="517240" y="1920240"/>
            <a:ext cx="214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324F"/>
              </a:buClr>
              <a:buSzPts val="2700"/>
              <a:buFont typeface="Cambria"/>
              <a:buNone/>
            </a:pPr>
            <a:r>
              <a:rPr b="1" i="0" lang="en-IN" sz="2700" u="none" cap="none" strike="noStrike">
                <a:solidFill>
                  <a:srgbClr val="16324F"/>
                </a:solidFill>
                <a:latin typeface="Cambria"/>
                <a:ea typeface="Cambria"/>
                <a:cs typeface="Cambria"/>
                <a:sym typeface="Cambria"/>
              </a:rPr>
              <a:t>705</a:t>
            </a:r>
            <a:endParaRPr b="0" i="0" sz="2700" u="none" cap="none" strike="noStrike">
              <a:solidFill>
                <a:schemeClr val="dk1"/>
              </a:solidFill>
              <a:latin typeface="Calibri"/>
              <a:ea typeface="Calibri"/>
              <a:cs typeface="Calibri"/>
              <a:sym typeface="Calibri"/>
            </a:endParaRPr>
          </a:p>
        </p:txBody>
      </p:sp>
      <p:pic>
        <p:nvPicPr>
          <p:cNvPr id="165" name="Google Shape;165;g3f502f38a39_2_40"/>
          <p:cNvPicPr preferRelativeResize="0"/>
          <p:nvPr/>
        </p:nvPicPr>
        <p:blipFill rotWithShape="1">
          <a:blip r:embed="rId7">
            <a:alphaModFix/>
          </a:blip>
          <a:srcRect b="0" l="0" r="0" t="0"/>
          <a:stretch/>
        </p:blipFill>
        <p:spPr>
          <a:xfrm>
            <a:off x="351440" y="3502507"/>
            <a:ext cx="5943600" cy="2788800"/>
          </a:xfrm>
          <a:prstGeom prst="rect">
            <a:avLst/>
          </a:prstGeom>
          <a:noFill/>
          <a:ln>
            <a:noFill/>
          </a:ln>
        </p:spPr>
      </p:pic>
      <p:sp>
        <p:nvSpPr>
          <p:cNvPr id="166" name="Google Shape;166;g3f502f38a39_2_40"/>
          <p:cNvSpPr txBox="1"/>
          <p:nvPr/>
        </p:nvSpPr>
        <p:spPr>
          <a:xfrm>
            <a:off x="351433" y="3182800"/>
            <a:ext cx="5163600" cy="492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600"/>
              <a:buFont typeface="Arial"/>
              <a:buNone/>
            </a:pPr>
            <a:r>
              <a:rPr b="0" i="0" lang="en-IN" sz="1600" u="none" cap="none" strike="noStrike">
                <a:solidFill>
                  <a:schemeClr val="dk1"/>
                </a:solidFill>
                <a:latin typeface="Calibri"/>
                <a:ea typeface="Calibri"/>
                <a:cs typeface="Calibri"/>
                <a:sym typeface="Calibri"/>
              </a:rPr>
              <a:t>Pre-Treatment transport expenditure</a:t>
            </a:r>
            <a:endParaRPr b="0" i="0" sz="1600" u="none" cap="none" strike="noStrike">
              <a:solidFill>
                <a:schemeClr val="dk1"/>
              </a:solidFill>
              <a:latin typeface="Calibri"/>
              <a:ea typeface="Calibri"/>
              <a:cs typeface="Calibri"/>
              <a:sym typeface="Calibri"/>
            </a:endParaRPr>
          </a:p>
        </p:txBody>
      </p:sp>
      <p:sp>
        <p:nvSpPr>
          <p:cNvPr id="167" name="Google Shape;167;g3f502f38a39_2_40"/>
          <p:cNvSpPr txBox="1"/>
          <p:nvPr/>
        </p:nvSpPr>
        <p:spPr>
          <a:xfrm>
            <a:off x="395700" y="2280417"/>
            <a:ext cx="5163600" cy="410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100"/>
              <a:buFont typeface="Arial"/>
              <a:buNone/>
            </a:pPr>
            <a:r>
              <a:rPr b="0" i="0" lang="en-IN" sz="1100" u="none" cap="none" strike="noStrike">
                <a:solidFill>
                  <a:schemeClr val="dk1"/>
                </a:solidFill>
                <a:latin typeface="Calibri"/>
                <a:ea typeface="Calibri"/>
                <a:cs typeface="Calibri"/>
                <a:sym typeface="Calibri"/>
              </a:rPr>
              <a:t>Sample size</a:t>
            </a:r>
            <a:endParaRPr b="0" i="0" sz="1100" u="none" cap="none" strike="noStrike">
              <a:solidFill>
                <a:schemeClr val="dk1"/>
              </a:solidFill>
              <a:latin typeface="Calibri"/>
              <a:ea typeface="Calibri"/>
              <a:cs typeface="Calibri"/>
              <a:sym typeface="Calibri"/>
            </a:endParaRPr>
          </a:p>
        </p:txBody>
      </p:sp>
      <p:sp>
        <p:nvSpPr>
          <p:cNvPr id="168" name="Google Shape;168;g3f502f38a39_2_40"/>
          <p:cNvSpPr/>
          <p:nvPr/>
        </p:nvSpPr>
        <p:spPr>
          <a:xfrm>
            <a:off x="3584448" y="1920240"/>
            <a:ext cx="214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324F"/>
              </a:buClr>
              <a:buSzPts val="2700"/>
              <a:buFont typeface="Cambria"/>
              <a:buNone/>
            </a:pPr>
            <a:r>
              <a:rPr b="1" i="0" lang="en-IN" sz="2700" u="none" cap="none" strike="noStrike">
                <a:solidFill>
                  <a:srgbClr val="16324F"/>
                </a:solidFill>
                <a:latin typeface="Cambria"/>
                <a:ea typeface="Cambria"/>
                <a:cs typeface="Cambria"/>
                <a:sym typeface="Cambria"/>
              </a:rPr>
              <a:t>36</a:t>
            </a:r>
            <a:endParaRPr b="0" i="0" sz="2700" u="none" cap="none" strike="noStrike">
              <a:solidFill>
                <a:schemeClr val="dk1"/>
              </a:solidFill>
              <a:latin typeface="Calibri"/>
              <a:ea typeface="Calibri"/>
              <a:cs typeface="Calibri"/>
              <a:sym typeface="Calibri"/>
            </a:endParaRPr>
          </a:p>
        </p:txBody>
      </p:sp>
      <p:sp>
        <p:nvSpPr>
          <p:cNvPr id="169" name="Google Shape;169;g3f502f38a39_2_40"/>
          <p:cNvSpPr/>
          <p:nvPr/>
        </p:nvSpPr>
        <p:spPr>
          <a:xfrm>
            <a:off x="3552331" y="2318610"/>
            <a:ext cx="22404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100"/>
              <a:buFont typeface="Calibri"/>
              <a:buNone/>
            </a:pPr>
            <a:r>
              <a:rPr b="0" i="0" lang="en-IN" sz="1100" u="none" cap="none" strike="noStrike">
                <a:solidFill>
                  <a:schemeClr val="dk1"/>
                </a:solidFill>
                <a:latin typeface="Calibri"/>
                <a:ea typeface="Calibri"/>
                <a:cs typeface="Calibri"/>
                <a:sym typeface="Calibri"/>
              </a:rPr>
              <a:t>survey locations</a:t>
            </a:r>
            <a:endParaRPr b="0" i="0" sz="11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64748B"/>
              </a:buClr>
              <a:buSzPts val="1100"/>
              <a:buFont typeface="Calibri"/>
              <a:buNone/>
            </a:pPr>
            <a:r>
              <a:rPr b="0" i="0" lang="en-IN" sz="1100" u="none" cap="none" strike="noStrike">
                <a:solidFill>
                  <a:schemeClr val="dk1"/>
                </a:solidFill>
                <a:latin typeface="Calibri"/>
                <a:ea typeface="Calibri"/>
                <a:cs typeface="Calibri"/>
                <a:sym typeface="Calibri"/>
              </a:rPr>
              <a:t>across Amritsar</a:t>
            </a:r>
            <a:endParaRPr b="0" i="0" sz="1100" u="none" cap="none" strike="noStrike">
              <a:solidFill>
                <a:schemeClr val="dk1"/>
              </a:solidFill>
              <a:latin typeface="Calibri"/>
              <a:ea typeface="Calibri"/>
              <a:cs typeface="Calibri"/>
              <a:sym typeface="Calibri"/>
            </a:endParaRPr>
          </a:p>
        </p:txBody>
      </p:sp>
      <p:sp>
        <p:nvSpPr>
          <p:cNvPr id="170" name="Google Shape;170;g3f502f38a39_2_40"/>
          <p:cNvSpPr/>
          <p:nvPr/>
        </p:nvSpPr>
        <p:spPr>
          <a:xfrm>
            <a:off x="6511339" y="1920240"/>
            <a:ext cx="214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324F"/>
              </a:buClr>
              <a:buSzPts val="2700"/>
              <a:buFont typeface="Cambria"/>
              <a:buNone/>
            </a:pPr>
            <a:r>
              <a:rPr b="1" i="0" lang="en-IN" sz="2700" u="none" cap="none" strike="noStrike">
                <a:solidFill>
                  <a:srgbClr val="16324F"/>
                </a:solidFill>
                <a:latin typeface="Cambria"/>
                <a:ea typeface="Cambria"/>
                <a:cs typeface="Cambria"/>
                <a:sym typeface="Cambria"/>
              </a:rPr>
              <a:t>88</a:t>
            </a:r>
            <a:endParaRPr b="0" i="0" sz="2700" u="none" cap="none" strike="noStrike">
              <a:solidFill>
                <a:schemeClr val="dk1"/>
              </a:solidFill>
              <a:latin typeface="Calibri"/>
              <a:ea typeface="Calibri"/>
              <a:cs typeface="Calibri"/>
              <a:sym typeface="Calibri"/>
            </a:endParaRPr>
          </a:p>
        </p:txBody>
      </p:sp>
      <p:sp>
        <p:nvSpPr>
          <p:cNvPr id="171" name="Google Shape;171;g3f502f38a39_2_40"/>
          <p:cNvSpPr/>
          <p:nvPr/>
        </p:nvSpPr>
        <p:spPr>
          <a:xfrm>
            <a:off x="6465539" y="2318593"/>
            <a:ext cx="22404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100"/>
              <a:buFont typeface="Calibri"/>
              <a:buNone/>
            </a:pPr>
            <a:r>
              <a:rPr b="0" i="0" lang="en-IN" sz="1100" u="none" cap="none" strike="noStrike">
                <a:solidFill>
                  <a:schemeClr val="dk1"/>
                </a:solidFill>
                <a:latin typeface="Calibri"/>
                <a:ea typeface="Calibri"/>
                <a:cs typeface="Calibri"/>
                <a:sym typeface="Calibri"/>
              </a:rPr>
              <a:t>treated obs.</a:t>
            </a:r>
            <a:endParaRPr b="0" i="0" sz="11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64748B"/>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72" name="Google Shape;172;g3f502f38a39_2_40"/>
          <p:cNvSpPr/>
          <p:nvPr/>
        </p:nvSpPr>
        <p:spPr>
          <a:xfrm>
            <a:off x="9438231" y="1920240"/>
            <a:ext cx="21488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324F"/>
              </a:buClr>
              <a:buSzPts val="2700"/>
              <a:buFont typeface="Cambria"/>
              <a:buNone/>
            </a:pPr>
            <a:r>
              <a:rPr b="1" i="0" lang="en-IN" sz="2700" u="none" cap="none" strike="noStrike">
                <a:solidFill>
                  <a:srgbClr val="16324F"/>
                </a:solidFill>
                <a:latin typeface="Cambria"/>
                <a:ea typeface="Cambria"/>
                <a:cs typeface="Cambria"/>
                <a:sym typeface="Cambria"/>
              </a:rPr>
              <a:t>617</a:t>
            </a:r>
            <a:endParaRPr b="0" i="0" sz="2700" u="none" cap="none" strike="noStrike">
              <a:solidFill>
                <a:schemeClr val="dk1"/>
              </a:solidFill>
              <a:latin typeface="Calibri"/>
              <a:ea typeface="Calibri"/>
              <a:cs typeface="Calibri"/>
              <a:sym typeface="Calibri"/>
            </a:endParaRPr>
          </a:p>
        </p:txBody>
      </p:sp>
      <p:sp>
        <p:nvSpPr>
          <p:cNvPr id="173" name="Google Shape;173;g3f502f38a39_2_40"/>
          <p:cNvSpPr/>
          <p:nvPr/>
        </p:nvSpPr>
        <p:spPr>
          <a:xfrm>
            <a:off x="9486297" y="2318593"/>
            <a:ext cx="224040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4748B"/>
              </a:buClr>
              <a:buSzPts val="1100"/>
              <a:buFont typeface="Calibri"/>
              <a:buNone/>
            </a:pPr>
            <a:r>
              <a:rPr b="0" i="0" lang="en-IN" sz="1100" u="none" cap="none" strike="noStrike">
                <a:solidFill>
                  <a:schemeClr val="dk1"/>
                </a:solidFill>
                <a:latin typeface="Calibri"/>
                <a:ea typeface="Calibri"/>
                <a:cs typeface="Calibri"/>
                <a:sym typeface="Calibri"/>
              </a:rPr>
              <a:t>comparison obs.</a:t>
            </a:r>
            <a:endParaRPr b="0" i="0" sz="11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64748B"/>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74" name="Google Shape;174;g3f502f38a39_2_40"/>
          <p:cNvSpPr/>
          <p:nvPr/>
        </p:nvSpPr>
        <p:spPr>
          <a:xfrm>
            <a:off x="6903720" y="3154680"/>
            <a:ext cx="4709200" cy="3154800"/>
          </a:xfrm>
          <a:prstGeom prst="rect">
            <a:avLst/>
          </a:prstGeom>
          <a:solidFill>
            <a:srgbClr val="FBF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f502f38a39_2_40"/>
          <p:cNvSpPr/>
          <p:nvPr/>
        </p:nvSpPr>
        <p:spPr>
          <a:xfrm>
            <a:off x="7149985" y="3354848"/>
            <a:ext cx="37948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500"/>
              <a:buFont typeface="Cambria"/>
              <a:buNone/>
            </a:pPr>
            <a:r>
              <a:rPr b="1" i="0" lang="en-IN" sz="1500" u="none" cap="none" strike="noStrike">
                <a:solidFill>
                  <a:srgbClr val="1E293B"/>
                </a:solidFill>
                <a:latin typeface="Cambria"/>
                <a:ea typeface="Cambria"/>
                <a:cs typeface="Cambria"/>
                <a:sym typeface="Cambria"/>
              </a:rPr>
              <a:t>What the baseline tells us ?</a:t>
            </a:r>
            <a:endParaRPr b="0" i="0" sz="1500" u="none" cap="none" strike="noStrike">
              <a:solidFill>
                <a:schemeClr val="dk1"/>
              </a:solidFill>
              <a:latin typeface="Calibri"/>
              <a:ea typeface="Calibri"/>
              <a:cs typeface="Calibri"/>
              <a:sym typeface="Calibri"/>
            </a:endParaRPr>
          </a:p>
        </p:txBody>
      </p:sp>
      <p:sp>
        <p:nvSpPr>
          <p:cNvPr id="176" name="Google Shape;176;g3f502f38a39_2_40"/>
          <p:cNvSpPr/>
          <p:nvPr/>
        </p:nvSpPr>
        <p:spPr>
          <a:xfrm>
            <a:off x="7178040" y="3867912"/>
            <a:ext cx="4160400" cy="2286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93B"/>
              </a:buClr>
              <a:buSzPts val="1200"/>
              <a:buFont typeface="Calibri"/>
              <a:buNone/>
            </a:pPr>
            <a:r>
              <a:rPr b="0" i="0" lang="en-IN" sz="1200" u="none" cap="none" strike="noStrike">
                <a:solidFill>
                  <a:srgbClr val="1E293B"/>
                </a:solidFill>
                <a:latin typeface="Calibri"/>
                <a:ea typeface="Calibri"/>
                <a:cs typeface="Calibri"/>
                <a:sym typeface="Calibri"/>
              </a:rPr>
              <a:t>Before any bus service, treated individuals already spent about ₹80/month more on transport than control group.</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800"/>
              </a:spcBef>
              <a:spcAft>
                <a:spcPts val="0"/>
              </a:spcAft>
              <a:buClr>
                <a:srgbClr val="1E293B"/>
              </a:buClr>
              <a:buSzPts val="1200"/>
              <a:buFont typeface="Calibri"/>
              <a:buNone/>
            </a:pPr>
            <a:r>
              <a:rPr b="0" i="0" lang="en-IN" sz="1200" u="none" cap="none" strike="noStrike">
                <a:solidFill>
                  <a:srgbClr val="1E293B"/>
                </a:solidFill>
                <a:latin typeface="Calibri"/>
                <a:ea typeface="Calibri"/>
                <a:cs typeface="Calibri"/>
                <a:sym typeface="Calibri"/>
              </a:rPr>
              <a:t>This gap is exactly why we use DiD rather than a simple before/after comparison — the two groups were never identical to start with.</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800"/>
              </a:spcBef>
              <a:spcAft>
                <a:spcPts val="0"/>
              </a:spcAft>
              <a:buClr>
                <a:srgbClr val="1E293B"/>
              </a:buClr>
              <a:buSzPts val="1200"/>
              <a:buFont typeface="Calibri"/>
              <a:buNone/>
            </a:pPr>
            <a:r>
              <a:rPr b="0" i="0" lang="en-IN" sz="1200" u="none" cap="none" strike="noStrike">
                <a:solidFill>
                  <a:srgbClr val="1E293B"/>
                </a:solidFill>
                <a:latin typeface="Calibri"/>
                <a:ea typeface="Calibri"/>
                <a:cs typeface="Calibri"/>
                <a:sym typeface="Calibri"/>
              </a:rPr>
              <a:t>Treated and control groups have near-identical average vulnerability (VI ≈ 0.34 both), so the groups are comparable on this dimension.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f502f38a39_2_66"/>
          <p:cNvSpPr txBox="1"/>
          <p:nvPr>
            <p:ph type="title"/>
          </p:nvPr>
        </p:nvSpPr>
        <p:spPr>
          <a:xfrm>
            <a:off x="395707" y="194428"/>
            <a:ext cx="11284400" cy="794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Post-Treatment</a:t>
            </a:r>
            <a:endParaRPr/>
          </a:p>
        </p:txBody>
      </p:sp>
      <p:sp>
        <p:nvSpPr>
          <p:cNvPr id="182" name="Google Shape;182;g3f502f38a39_2_66"/>
          <p:cNvSpPr txBox="1"/>
          <p:nvPr>
            <p:ph idx="1" type="body"/>
          </p:nvPr>
        </p:nvSpPr>
        <p:spPr>
          <a:xfrm>
            <a:off x="395705" y="988341"/>
            <a:ext cx="11284400" cy="478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500"/>
              </a:spcBef>
              <a:spcAft>
                <a:spcPts val="0"/>
              </a:spcAft>
              <a:buSzPts val="2300"/>
              <a:buNone/>
            </a:pPr>
            <a:r>
              <a:rPr b="1" lang="en-IN"/>
              <a:t>Transport spending fell for treated individuals </a:t>
            </a:r>
            <a:endParaRPr b="1"/>
          </a:p>
        </p:txBody>
      </p:sp>
      <p:sp>
        <p:nvSpPr>
          <p:cNvPr id="183" name="Google Shape;183;g3f502f38a39_2_66"/>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rPr lang="en-IN"/>
              <a:t>Link to google colab:  </a:t>
            </a:r>
            <a:r>
              <a:rPr lang="en-IN" u="sng">
                <a:solidFill>
                  <a:schemeClr val="hlink"/>
                </a:solidFill>
                <a:hlinkClick r:id="rId3"/>
              </a:rPr>
              <a:t>https://colab.research.google.com/drive/1IuqGo55BqcTKaHaY95NbHHXM66iIrTBt?usp=sharing</a:t>
            </a:r>
            <a:endParaRPr/>
          </a:p>
        </p:txBody>
      </p:sp>
      <p:pic>
        <p:nvPicPr>
          <p:cNvPr id="184" name="Google Shape;184;g3f502f38a39_2_66"/>
          <p:cNvPicPr preferRelativeResize="0"/>
          <p:nvPr/>
        </p:nvPicPr>
        <p:blipFill rotWithShape="1">
          <a:blip r:embed="rId4">
            <a:alphaModFix/>
          </a:blip>
          <a:srcRect b="0" l="0" r="0" t="0"/>
          <a:stretch/>
        </p:blipFill>
        <p:spPr>
          <a:xfrm>
            <a:off x="548640" y="1417320"/>
            <a:ext cx="6218000" cy="4206400"/>
          </a:xfrm>
          <a:prstGeom prst="rect">
            <a:avLst/>
          </a:prstGeom>
          <a:noFill/>
          <a:ln>
            <a:noFill/>
          </a:ln>
        </p:spPr>
      </p:pic>
      <p:sp>
        <p:nvSpPr>
          <p:cNvPr id="185" name="Google Shape;185;g3f502f38a39_2_66"/>
          <p:cNvSpPr/>
          <p:nvPr/>
        </p:nvSpPr>
        <p:spPr>
          <a:xfrm>
            <a:off x="7108100" y="1094620"/>
            <a:ext cx="4572000" cy="1966000"/>
          </a:xfrm>
          <a:prstGeom prst="rect">
            <a:avLst/>
          </a:prstGeom>
          <a:solidFill>
            <a:srgbClr val="FBF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g3f502f38a39_2_66"/>
          <p:cNvSpPr/>
          <p:nvPr/>
        </p:nvSpPr>
        <p:spPr>
          <a:xfrm>
            <a:off x="7379740" y="1240747"/>
            <a:ext cx="3932000" cy="86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C08A"/>
              </a:buClr>
              <a:buSzPts val="5200"/>
              <a:buFont typeface="Cambria"/>
              <a:buNone/>
            </a:pPr>
            <a:r>
              <a:rPr b="1" i="0" lang="en-IN" sz="5200" u="none" cap="none" strike="noStrike">
                <a:solidFill>
                  <a:srgbClr val="F3C08A"/>
                </a:solidFill>
                <a:latin typeface="Arial"/>
                <a:ea typeface="Arial"/>
                <a:cs typeface="Arial"/>
                <a:sym typeface="Arial"/>
              </a:rPr>
              <a:t>-₹122</a:t>
            </a:r>
            <a:endParaRPr b="0" i="0" sz="5200" u="none" cap="none" strike="noStrike">
              <a:solidFill>
                <a:schemeClr val="dk1"/>
              </a:solidFill>
              <a:latin typeface="Arial"/>
              <a:ea typeface="Arial"/>
              <a:cs typeface="Arial"/>
              <a:sym typeface="Arial"/>
            </a:endParaRPr>
          </a:p>
        </p:txBody>
      </p:sp>
      <p:sp>
        <p:nvSpPr>
          <p:cNvPr id="187" name="Google Shape;187;g3f502f38a39_2_66"/>
          <p:cNvSpPr/>
          <p:nvPr/>
        </p:nvSpPr>
        <p:spPr>
          <a:xfrm>
            <a:off x="7428107" y="2020328"/>
            <a:ext cx="3932000" cy="914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9EEF3"/>
              </a:buClr>
              <a:buSzPts val="1200"/>
              <a:buFont typeface="Calibri"/>
              <a:buNone/>
            </a:pPr>
            <a:r>
              <a:rPr b="0" i="0" lang="en-IN" sz="1200" u="none" cap="none" strike="noStrike">
                <a:solidFill>
                  <a:schemeClr val="dk1"/>
                </a:solidFill>
                <a:latin typeface="Calibri"/>
                <a:ea typeface="Calibri"/>
                <a:cs typeface="Calibri"/>
                <a:sym typeface="Calibri"/>
              </a:rPr>
              <a:t>On average the individuals with bus access have a 122INR decline in monthly transport expenditure. This is the DID-ATT after controlling for time and location fixed effects.</a:t>
            </a:r>
            <a:endParaRPr b="0" i="0" sz="1200" u="none" cap="none" strike="noStrike">
              <a:solidFill>
                <a:schemeClr val="dk1"/>
              </a:solidFill>
              <a:latin typeface="Calibri"/>
              <a:ea typeface="Calibri"/>
              <a:cs typeface="Calibri"/>
              <a:sym typeface="Calibri"/>
            </a:endParaRPr>
          </a:p>
        </p:txBody>
      </p:sp>
      <p:sp>
        <p:nvSpPr>
          <p:cNvPr id="188" name="Google Shape;188;g3f502f38a39_2_66"/>
          <p:cNvSpPr/>
          <p:nvPr/>
        </p:nvSpPr>
        <p:spPr>
          <a:xfrm>
            <a:off x="7086600" y="3566160"/>
            <a:ext cx="4572000" cy="2057600"/>
          </a:xfrm>
          <a:prstGeom prst="rect">
            <a:avLst/>
          </a:prstGeom>
          <a:solidFill>
            <a:srgbClr val="FBF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3f502f38a39_2_66"/>
          <p:cNvSpPr/>
          <p:nvPr/>
        </p:nvSpPr>
        <p:spPr>
          <a:xfrm>
            <a:off x="7360920" y="3730752"/>
            <a:ext cx="40232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i="0" lang="en-IN" sz="1200" u="none" cap="none" strike="noStrike">
                <a:solidFill>
                  <a:srgbClr val="1E293B"/>
                </a:solidFill>
                <a:latin typeface="Calibri"/>
                <a:ea typeface="Calibri"/>
                <a:cs typeface="Calibri"/>
                <a:sym typeface="Calibri"/>
              </a:rPr>
              <a:t>Statistically significant: </a:t>
            </a:r>
            <a:r>
              <a:rPr b="0" i="0" lang="en-IN" sz="1200" u="none" cap="none" strike="noStrike">
                <a:solidFill>
                  <a:srgbClr val="64748B"/>
                </a:solidFill>
                <a:latin typeface="Calibri"/>
                <a:ea typeface="Calibri"/>
                <a:cs typeface="Calibri"/>
                <a:sym typeface="Calibri"/>
              </a:rPr>
              <a:t>p &lt; 0.001 (cluster-robust SE by location)</a:t>
            </a:r>
            <a:endParaRPr b="0" i="0" sz="1200" u="none" cap="none" strike="noStrike">
              <a:solidFill>
                <a:schemeClr val="dk1"/>
              </a:solidFill>
              <a:latin typeface="Calibri"/>
              <a:ea typeface="Calibri"/>
              <a:cs typeface="Calibri"/>
              <a:sym typeface="Calibri"/>
            </a:endParaRPr>
          </a:p>
        </p:txBody>
      </p:sp>
      <p:sp>
        <p:nvSpPr>
          <p:cNvPr id="190" name="Google Shape;190;g3f502f38a39_2_66"/>
          <p:cNvSpPr/>
          <p:nvPr/>
        </p:nvSpPr>
        <p:spPr>
          <a:xfrm>
            <a:off x="7360920" y="4224528"/>
            <a:ext cx="4023200" cy="59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93B"/>
              </a:buClr>
              <a:buSzPts val="1200"/>
              <a:buFont typeface="Calibri"/>
              <a:buNone/>
            </a:pPr>
            <a:r>
              <a:rPr b="1" i="0" lang="en-IN" sz="1200" u="none" cap="none" strike="noStrike">
                <a:solidFill>
                  <a:srgbClr val="1E293B"/>
                </a:solidFill>
                <a:latin typeface="Calibri"/>
                <a:ea typeface="Calibri"/>
                <a:cs typeface="Calibri"/>
                <a:sym typeface="Calibri"/>
              </a:rPr>
              <a:t>Comparison group: </a:t>
            </a:r>
            <a:r>
              <a:rPr b="0" i="0" lang="en-IN" sz="1200" u="none" cap="none" strike="noStrike">
                <a:solidFill>
                  <a:srgbClr val="64748B"/>
                </a:solidFill>
                <a:latin typeface="Calibri"/>
                <a:ea typeface="Calibri"/>
                <a:cs typeface="Calibri"/>
                <a:sym typeface="Calibri"/>
              </a:rPr>
              <a:t>essentially flat (+₹5, +1.6%) — the fall isn't just a citywide trend</a:t>
            </a:r>
            <a:endParaRPr b="0" i="0" sz="1200" u="none" cap="none" strike="noStrike">
              <a:solidFill>
                <a:schemeClr val="dk1"/>
              </a:solidFill>
              <a:latin typeface="Calibri"/>
              <a:ea typeface="Calibri"/>
              <a:cs typeface="Calibri"/>
              <a:sym typeface="Calibri"/>
            </a:endParaRPr>
          </a:p>
        </p:txBody>
      </p:sp>
      <p:sp>
        <p:nvSpPr>
          <p:cNvPr id="191" name="Google Shape;191;g3f502f38a39_2_66"/>
          <p:cNvSpPr/>
          <p:nvPr/>
        </p:nvSpPr>
        <p:spPr>
          <a:xfrm>
            <a:off x="7360920" y="4892040"/>
            <a:ext cx="4023200" cy="6860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93B"/>
              </a:buClr>
              <a:buSzPts val="1200"/>
              <a:buFont typeface="Calibri"/>
              <a:buNone/>
            </a:pPr>
            <a:r>
              <a:rPr b="1" i="0" lang="en-IN" sz="1200" u="none" cap="none" strike="noStrike">
                <a:solidFill>
                  <a:srgbClr val="1E293B"/>
                </a:solidFill>
                <a:latin typeface="Calibri"/>
                <a:ea typeface="Calibri"/>
                <a:cs typeface="Calibri"/>
                <a:sym typeface="Calibri"/>
              </a:rPr>
              <a:t>Treated group: </a:t>
            </a:r>
            <a:r>
              <a:rPr b="0" i="0" lang="en-IN" sz="1200" u="none" cap="none" strike="noStrike">
                <a:solidFill>
                  <a:srgbClr val="64748B"/>
                </a:solidFill>
                <a:latin typeface="Calibri"/>
                <a:ea typeface="Calibri"/>
                <a:cs typeface="Calibri"/>
                <a:sym typeface="Calibri"/>
              </a:rPr>
              <a:t>spending fell ~30%, from ₹391 to ₹274 — consistent with households substituting toward lower-cost bus trips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f502f38a39_2_80"/>
          <p:cNvSpPr txBox="1"/>
          <p:nvPr>
            <p:ph type="title"/>
          </p:nvPr>
        </p:nvSpPr>
        <p:spPr>
          <a:xfrm>
            <a:off x="395707" y="194428"/>
            <a:ext cx="11284400" cy="794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sz="1600"/>
              <a:t>The Equity lens</a:t>
            </a:r>
            <a:endParaRPr sz="1600"/>
          </a:p>
          <a:p>
            <a:pPr indent="0" lvl="0" marL="0" rtl="0" algn="l">
              <a:lnSpc>
                <a:spcPct val="100000"/>
              </a:lnSpc>
              <a:spcBef>
                <a:spcPts val="0"/>
              </a:spcBef>
              <a:spcAft>
                <a:spcPts val="0"/>
              </a:spcAft>
              <a:buSzPts val="2400"/>
              <a:buNone/>
            </a:pPr>
            <a:r>
              <a:rPr b="0" lang="en-IN" sz="1600"/>
              <a:t>Who benefits?</a:t>
            </a:r>
            <a:endParaRPr b="0" sz="1600"/>
          </a:p>
        </p:txBody>
      </p:sp>
      <p:sp>
        <p:nvSpPr>
          <p:cNvPr id="197" name="Google Shape;197;g3f502f38a39_2_80"/>
          <p:cNvSpPr txBox="1"/>
          <p:nvPr>
            <p:ph idx="1" type="body"/>
          </p:nvPr>
        </p:nvSpPr>
        <p:spPr>
          <a:xfrm>
            <a:off x="395705" y="988341"/>
            <a:ext cx="11284400" cy="478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500"/>
              </a:spcBef>
              <a:spcAft>
                <a:spcPts val="0"/>
              </a:spcAft>
              <a:buSzPts val="2300"/>
              <a:buNone/>
            </a:pPr>
            <a:r>
              <a:rPr b="1" lang="en-IN"/>
              <a:t>Savings are concentrated  among vulnerable individuals</a:t>
            </a:r>
            <a:endParaRPr b="1"/>
          </a:p>
        </p:txBody>
      </p:sp>
      <p:sp>
        <p:nvSpPr>
          <p:cNvPr id="198" name="Google Shape;198;g3f502f38a39_2_80"/>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t/>
            </a:r>
            <a:endParaRPr/>
          </a:p>
        </p:txBody>
      </p:sp>
      <p:pic>
        <p:nvPicPr>
          <p:cNvPr id="199" name="Google Shape;199;g3f502f38a39_2_80"/>
          <p:cNvPicPr preferRelativeResize="0"/>
          <p:nvPr/>
        </p:nvPicPr>
        <p:blipFill rotWithShape="1">
          <a:blip r:embed="rId3">
            <a:alphaModFix/>
          </a:blip>
          <a:srcRect b="0" l="0" r="0" t="0"/>
          <a:stretch/>
        </p:blipFill>
        <p:spPr>
          <a:xfrm>
            <a:off x="548640" y="1417320"/>
            <a:ext cx="6949600" cy="4297600"/>
          </a:xfrm>
          <a:prstGeom prst="rect">
            <a:avLst/>
          </a:prstGeom>
          <a:noFill/>
          <a:ln>
            <a:noFill/>
          </a:ln>
        </p:spPr>
      </p:pic>
      <p:sp>
        <p:nvSpPr>
          <p:cNvPr id="200" name="Google Shape;200;g3f502f38a39_2_80"/>
          <p:cNvSpPr txBox="1"/>
          <p:nvPr/>
        </p:nvSpPr>
        <p:spPr>
          <a:xfrm>
            <a:off x="1721300" y="4656933"/>
            <a:ext cx="805600" cy="472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500"/>
              <a:buFont typeface="Arial"/>
              <a:buNone/>
            </a:pPr>
            <a:r>
              <a:rPr b="0" i="0" lang="en-IN" sz="1500" u="none" cap="none" strike="noStrike">
                <a:solidFill>
                  <a:schemeClr val="dk2"/>
                </a:solidFill>
                <a:latin typeface="Calibri"/>
                <a:ea typeface="Calibri"/>
                <a:cs typeface="Calibri"/>
                <a:sym typeface="Calibri"/>
              </a:rPr>
              <a:t>Low VI</a:t>
            </a:r>
            <a:endParaRPr b="0" i="0" sz="1500" u="none" cap="none" strike="noStrike">
              <a:solidFill>
                <a:schemeClr val="dk2"/>
              </a:solidFill>
              <a:latin typeface="Calibri"/>
              <a:ea typeface="Calibri"/>
              <a:cs typeface="Calibri"/>
              <a:sym typeface="Calibri"/>
            </a:endParaRPr>
          </a:p>
        </p:txBody>
      </p:sp>
      <p:sp>
        <p:nvSpPr>
          <p:cNvPr id="201" name="Google Shape;201;g3f502f38a39_2_80"/>
          <p:cNvSpPr txBox="1"/>
          <p:nvPr/>
        </p:nvSpPr>
        <p:spPr>
          <a:xfrm>
            <a:off x="3856467" y="4656933"/>
            <a:ext cx="805600" cy="472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500"/>
              <a:buFont typeface="Arial"/>
              <a:buNone/>
            </a:pPr>
            <a:r>
              <a:rPr b="0" i="0" lang="en-IN" sz="1500" u="none" cap="none" strike="noStrike">
                <a:solidFill>
                  <a:schemeClr val="dk2"/>
                </a:solidFill>
                <a:latin typeface="Calibri"/>
                <a:ea typeface="Calibri"/>
                <a:cs typeface="Calibri"/>
                <a:sym typeface="Calibri"/>
              </a:rPr>
              <a:t>Mid VI</a:t>
            </a:r>
            <a:endParaRPr b="0" i="0" sz="1500" u="none" cap="none" strike="noStrike">
              <a:solidFill>
                <a:schemeClr val="dk2"/>
              </a:solidFill>
              <a:latin typeface="Calibri"/>
              <a:ea typeface="Calibri"/>
              <a:cs typeface="Calibri"/>
              <a:sym typeface="Calibri"/>
            </a:endParaRPr>
          </a:p>
        </p:txBody>
      </p:sp>
      <p:sp>
        <p:nvSpPr>
          <p:cNvPr id="202" name="Google Shape;202;g3f502f38a39_2_80"/>
          <p:cNvSpPr txBox="1"/>
          <p:nvPr/>
        </p:nvSpPr>
        <p:spPr>
          <a:xfrm>
            <a:off x="5991633" y="4656933"/>
            <a:ext cx="805600" cy="472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500"/>
              <a:buFont typeface="Arial"/>
              <a:buNone/>
            </a:pPr>
            <a:r>
              <a:rPr b="0" i="0" lang="en-IN" sz="1500" u="none" cap="none" strike="noStrike">
                <a:solidFill>
                  <a:schemeClr val="dk2"/>
                </a:solidFill>
                <a:latin typeface="Calibri"/>
                <a:ea typeface="Calibri"/>
                <a:cs typeface="Calibri"/>
                <a:sym typeface="Calibri"/>
              </a:rPr>
              <a:t>High VI</a:t>
            </a:r>
            <a:endParaRPr b="0" i="0" sz="1500" u="none" cap="none" strike="noStrike">
              <a:solidFill>
                <a:schemeClr val="dk2"/>
              </a:solidFill>
              <a:latin typeface="Calibri"/>
              <a:ea typeface="Calibri"/>
              <a:cs typeface="Calibri"/>
              <a:sym typeface="Calibri"/>
            </a:endParaRPr>
          </a:p>
        </p:txBody>
      </p:sp>
      <p:sp>
        <p:nvSpPr>
          <p:cNvPr id="203" name="Google Shape;203;g3f502f38a39_2_80"/>
          <p:cNvSpPr/>
          <p:nvPr/>
        </p:nvSpPr>
        <p:spPr>
          <a:xfrm>
            <a:off x="7839700" y="814900"/>
            <a:ext cx="3840400" cy="5209600"/>
          </a:xfrm>
          <a:prstGeom prst="rect">
            <a:avLst/>
          </a:prstGeom>
          <a:solidFill>
            <a:srgbClr val="FBF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3f502f38a39_2_80"/>
          <p:cNvSpPr/>
          <p:nvPr/>
        </p:nvSpPr>
        <p:spPr>
          <a:xfrm>
            <a:off x="8126807" y="1689140"/>
            <a:ext cx="3292000" cy="3383200"/>
          </a:xfrm>
          <a:prstGeom prst="rect">
            <a:avLst/>
          </a:prstGeom>
          <a:noFill/>
          <a:ln>
            <a:noFill/>
          </a:ln>
        </p:spPr>
        <p:txBody>
          <a:bodyPr anchorCtr="0" anchor="ctr" bIns="0" lIns="0" spcFirstLastPara="1" rIns="0" wrap="square" tIns="0">
            <a:noAutofit/>
          </a:bodyPr>
          <a:lstStyle/>
          <a:p>
            <a:pPr indent="-406400" lvl="0" marL="609600" marR="0" rtl="0" algn="l">
              <a:lnSpc>
                <a:spcPct val="125000"/>
              </a:lnSpc>
              <a:spcBef>
                <a:spcPts val="0"/>
              </a:spcBef>
              <a:spcAft>
                <a:spcPts val="0"/>
              </a:spcAft>
              <a:buClr>
                <a:srgbClr val="1E293B"/>
              </a:buClr>
              <a:buSzPts val="1600"/>
              <a:buFont typeface="Calibri"/>
              <a:buAutoNum type="arabicPeriod"/>
            </a:pPr>
            <a:r>
              <a:rPr b="0" i="0" lang="en-IN" sz="1600" u="none" cap="none" strike="noStrike">
                <a:solidFill>
                  <a:srgbClr val="1E293B"/>
                </a:solidFill>
                <a:latin typeface="Calibri"/>
                <a:ea typeface="Calibri"/>
                <a:cs typeface="Calibri"/>
                <a:sym typeface="Calibri"/>
              </a:rPr>
              <a:t>Low-vulnerability treated individuals track the control group — a small rise, no bus effect. They already own vehicles or have alternatives, so bus access doesn't change their spending.</a:t>
            </a:r>
            <a:endParaRPr b="0" i="0" sz="1600" u="none" cap="none" strike="noStrike">
              <a:solidFill>
                <a:schemeClr val="dk1"/>
              </a:solidFill>
              <a:latin typeface="Calibri"/>
              <a:ea typeface="Calibri"/>
              <a:cs typeface="Calibri"/>
              <a:sym typeface="Calibri"/>
            </a:endParaRPr>
          </a:p>
          <a:p>
            <a:pPr indent="-406400" lvl="0" marL="609600" marR="0" rtl="0" algn="l">
              <a:lnSpc>
                <a:spcPct val="125000"/>
              </a:lnSpc>
              <a:spcBef>
                <a:spcPts val="0"/>
              </a:spcBef>
              <a:spcAft>
                <a:spcPts val="0"/>
              </a:spcAft>
              <a:buClr>
                <a:srgbClr val="1E293B"/>
              </a:buClr>
              <a:buSzPts val="1600"/>
              <a:buFont typeface="Calibri"/>
              <a:buAutoNum type="arabicPeriod"/>
            </a:pPr>
            <a:r>
              <a:rPr b="0" i="0" lang="en-IN" sz="1600" u="none" cap="none" strike="noStrike">
                <a:solidFill>
                  <a:srgbClr val="1E293B"/>
                </a:solidFill>
                <a:latin typeface="Calibri"/>
                <a:ea typeface="Calibri"/>
                <a:cs typeface="Calibri"/>
                <a:sym typeface="Calibri"/>
              </a:rPr>
              <a:t>Mid- and high-vulnerability treated individuals cut spending by 43–48% — the group most likely to switch onto the new bus service.</a:t>
            </a:r>
            <a:endParaRPr b="0" i="0" sz="1600" u="none" cap="none" strike="noStrike">
              <a:solidFill>
                <a:schemeClr val="dk1"/>
              </a:solidFill>
              <a:latin typeface="Calibri"/>
              <a:ea typeface="Calibri"/>
              <a:cs typeface="Calibri"/>
              <a:sym typeface="Calibri"/>
            </a:endParaRPr>
          </a:p>
          <a:p>
            <a:pPr indent="-406400" lvl="0" marL="609600" marR="0" rtl="0" algn="l">
              <a:lnSpc>
                <a:spcPct val="125000"/>
              </a:lnSpc>
              <a:spcBef>
                <a:spcPts val="0"/>
              </a:spcBef>
              <a:spcAft>
                <a:spcPts val="0"/>
              </a:spcAft>
              <a:buClr>
                <a:schemeClr val="dk1"/>
              </a:buClr>
              <a:buSzPts val="1600"/>
              <a:buFont typeface="Calibri"/>
              <a:buAutoNum type="arabicPeriod"/>
            </a:pPr>
            <a:r>
              <a:rPr b="0" i="0" lang="en-IN" sz="1600" u="none" cap="none" strike="noStrike">
                <a:solidFill>
                  <a:schemeClr val="dk1"/>
                </a:solidFill>
                <a:latin typeface="Calibri"/>
                <a:ea typeface="Calibri"/>
                <a:cs typeface="Calibri"/>
                <a:sym typeface="Calibri"/>
              </a:rPr>
              <a:t>From the regression results the average saving of an individual with VI=1 is estimated to be 333 INR.</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f502f38a39_2_92"/>
          <p:cNvSpPr txBox="1"/>
          <p:nvPr>
            <p:ph type="title"/>
          </p:nvPr>
        </p:nvSpPr>
        <p:spPr>
          <a:xfrm>
            <a:off x="453807" y="3270895"/>
            <a:ext cx="11284400" cy="794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Limitations</a:t>
            </a:r>
            <a:endParaRPr/>
          </a:p>
        </p:txBody>
      </p:sp>
      <p:sp>
        <p:nvSpPr>
          <p:cNvPr id="210" name="Google Shape;210;g3f502f38a39_2_92"/>
          <p:cNvSpPr txBox="1"/>
          <p:nvPr>
            <p:ph idx="1" type="body"/>
          </p:nvPr>
        </p:nvSpPr>
        <p:spPr>
          <a:xfrm>
            <a:off x="395700" y="3753504"/>
            <a:ext cx="11284400" cy="25092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15000"/>
              </a:lnSpc>
              <a:spcBef>
                <a:spcPts val="0"/>
              </a:spcBef>
              <a:spcAft>
                <a:spcPts val="0"/>
              </a:spcAft>
              <a:buSzPct val="112745"/>
              <a:buNone/>
            </a:pPr>
            <a:r>
              <a:rPr lang="en-IN" sz="2400">
                <a:solidFill>
                  <a:srgbClr val="595959"/>
                </a:solidFill>
                <a:latin typeface="Arial"/>
                <a:ea typeface="Arial"/>
                <a:cs typeface="Arial"/>
                <a:sym typeface="Arial"/>
              </a:rPr>
              <a:t>&gt;&gt; this data is purely artificial the results should be interpreted keeping that in mind. In the original data we might get counter intuitive or even statistically insignificant results.</a:t>
            </a:r>
            <a:endParaRPr sz="2400">
              <a:solidFill>
                <a:srgbClr val="595959"/>
              </a:solidFill>
              <a:latin typeface="Arial"/>
              <a:ea typeface="Arial"/>
              <a:cs typeface="Arial"/>
              <a:sym typeface="Arial"/>
            </a:endParaRPr>
          </a:p>
          <a:p>
            <a:pPr indent="0" lvl="0" marL="0" rtl="0" algn="l">
              <a:lnSpc>
                <a:spcPct val="115000"/>
              </a:lnSpc>
              <a:spcBef>
                <a:spcPts val="1600"/>
              </a:spcBef>
              <a:spcAft>
                <a:spcPts val="0"/>
              </a:spcAft>
              <a:buClr>
                <a:schemeClr val="dk1"/>
              </a:buClr>
              <a:buSzPct val="62500"/>
              <a:buFont typeface="Arial"/>
              <a:buNone/>
            </a:pPr>
            <a:r>
              <a:rPr lang="en-IN" sz="2400">
                <a:solidFill>
                  <a:srgbClr val="595959"/>
                </a:solidFill>
                <a:latin typeface="Arial"/>
                <a:ea typeface="Arial"/>
                <a:cs typeface="Arial"/>
                <a:sym typeface="Arial"/>
              </a:rPr>
              <a:t>&gt;&gt;the control variables i used are sparse(time fixed effects and location fixed effects). For more robust estimation we need rich controls and a large sample.</a:t>
            </a:r>
            <a:endParaRPr sz="2400">
              <a:solidFill>
                <a:srgbClr val="595959"/>
              </a:solidFill>
              <a:latin typeface="Arial"/>
              <a:ea typeface="Arial"/>
              <a:cs typeface="Arial"/>
              <a:sym typeface="Arial"/>
            </a:endParaRPr>
          </a:p>
          <a:p>
            <a:pPr indent="0" lvl="0" marL="0" rtl="0" algn="l">
              <a:lnSpc>
                <a:spcPct val="115000"/>
              </a:lnSpc>
              <a:spcBef>
                <a:spcPts val="1600"/>
              </a:spcBef>
              <a:spcAft>
                <a:spcPts val="1600"/>
              </a:spcAft>
              <a:buClr>
                <a:schemeClr val="dk1"/>
              </a:buClr>
              <a:buSzPct val="62500"/>
              <a:buFont typeface="Arial"/>
              <a:buNone/>
            </a:pPr>
            <a:r>
              <a:rPr lang="en-IN" sz="2400">
                <a:solidFill>
                  <a:srgbClr val="595959"/>
                </a:solidFill>
                <a:latin typeface="Arial"/>
                <a:ea typeface="Arial"/>
                <a:cs typeface="Arial"/>
                <a:sym typeface="Arial"/>
              </a:rPr>
              <a:t>&gt;&gt;parallel trends assumption not tested. For testing we need at least 2 period pre-treatment data. </a:t>
            </a:r>
            <a:endParaRPr/>
          </a:p>
        </p:txBody>
      </p:sp>
      <p:sp>
        <p:nvSpPr>
          <p:cNvPr id="211" name="Google Shape;211;g3f502f38a39_2_92"/>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t/>
            </a:r>
            <a:endParaRPr/>
          </a:p>
        </p:txBody>
      </p:sp>
      <p:sp>
        <p:nvSpPr>
          <p:cNvPr id="212" name="Google Shape;212;g3f502f38a39_2_92"/>
          <p:cNvSpPr txBox="1"/>
          <p:nvPr>
            <p:ph type="title"/>
          </p:nvPr>
        </p:nvSpPr>
        <p:spPr>
          <a:xfrm>
            <a:off x="395707" y="66395"/>
            <a:ext cx="11284400" cy="794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Policy implications</a:t>
            </a:r>
            <a:endParaRPr/>
          </a:p>
        </p:txBody>
      </p:sp>
      <p:sp>
        <p:nvSpPr>
          <p:cNvPr id="213" name="Google Shape;213;g3f502f38a39_2_92"/>
          <p:cNvSpPr txBox="1"/>
          <p:nvPr/>
        </p:nvSpPr>
        <p:spPr>
          <a:xfrm>
            <a:off x="395700" y="613467"/>
            <a:ext cx="11095200" cy="2688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300"/>
              <a:buFont typeface="Arial"/>
              <a:buNone/>
            </a:pPr>
            <a:r>
              <a:rPr b="0" i="0" lang="en-IN" sz="2300" u="none" cap="none" strike="noStrike">
                <a:solidFill>
                  <a:srgbClr val="595959"/>
                </a:solidFill>
                <a:latin typeface="Calibri"/>
                <a:ea typeface="Calibri"/>
                <a:cs typeface="Calibri"/>
                <a:sym typeface="Calibri"/>
              </a:rPr>
              <a:t>&gt;&gt; sequence future routes and stop planning through areas with large concentration of VRU’s as the analysis suggests they are the one who will reap maximum benefits.</a:t>
            </a:r>
            <a:endParaRPr b="0" i="0" sz="23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IN" sz="2300" u="none" cap="none" strike="noStrike">
                <a:solidFill>
                  <a:srgbClr val="595959"/>
                </a:solidFill>
                <a:latin typeface="Calibri"/>
                <a:ea typeface="Calibri"/>
                <a:cs typeface="Calibri"/>
                <a:sym typeface="Calibri"/>
              </a:rPr>
              <a:t>&gt;&gt; Feeder services or better walking infrastructure to shift more people into the route buffer.</a:t>
            </a:r>
            <a:endParaRPr b="0" i="0" sz="23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IN" sz="2300" u="none" cap="none" strike="noStrike">
                <a:solidFill>
                  <a:srgbClr val="595959"/>
                </a:solidFill>
                <a:latin typeface="Calibri"/>
                <a:ea typeface="Calibri"/>
                <a:cs typeface="Calibri"/>
                <a:sym typeface="Calibri"/>
              </a:rPr>
              <a:t>&gt;&gt; Frame fares around affordability- targeted fare subsidies for high VI individuals.</a:t>
            </a:r>
            <a:endParaRPr b="0" i="0" sz="2300" u="none" cap="none" strike="noStrike">
              <a:solidFill>
                <a:srgbClr val="595959"/>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f502f38a39_2_100"/>
          <p:cNvSpPr txBox="1"/>
          <p:nvPr>
            <p:ph type="title"/>
          </p:nvPr>
        </p:nvSpPr>
        <p:spPr>
          <a:xfrm>
            <a:off x="395707" y="194428"/>
            <a:ext cx="11284400" cy="7940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Regression results</a:t>
            </a:r>
            <a:endParaRPr/>
          </a:p>
        </p:txBody>
      </p:sp>
      <p:sp>
        <p:nvSpPr>
          <p:cNvPr id="219" name="Google Shape;219;g3f502f38a39_2_100"/>
          <p:cNvSpPr txBox="1"/>
          <p:nvPr>
            <p:ph idx="1" type="body"/>
          </p:nvPr>
        </p:nvSpPr>
        <p:spPr>
          <a:xfrm>
            <a:off x="395705" y="988441"/>
            <a:ext cx="11284400" cy="478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500"/>
              </a:spcBef>
              <a:spcAft>
                <a:spcPts val="0"/>
              </a:spcAft>
              <a:buSzPts val="2300"/>
              <a:buNone/>
            </a:pPr>
            <a:r>
              <a:rPr lang="en-IN" sz="1900"/>
              <a:t>I ran two separate specifications one to get the heterogeneous treatment(equity) effect and one to verify the average treatment(no equity) effect. Both were run with only time and location fixed effects as controls. The results are given along with their p-values.</a:t>
            </a:r>
            <a:endParaRPr b="1" sz="1900">
              <a:solidFill>
                <a:schemeClr val="dk1"/>
              </a:solidFill>
            </a:endParaRPr>
          </a:p>
          <a:p>
            <a:pPr indent="0" lvl="0" marL="0" rtl="0" algn="l">
              <a:lnSpc>
                <a:spcPct val="100000"/>
              </a:lnSpc>
              <a:spcBef>
                <a:spcPts val="0"/>
              </a:spcBef>
              <a:spcAft>
                <a:spcPts val="0"/>
              </a:spcAft>
              <a:buSzPts val="2300"/>
              <a:buNone/>
            </a:pPr>
            <a:r>
              <a:t/>
            </a:r>
            <a:endParaRPr b="1" sz="1900">
              <a:solidFill>
                <a:schemeClr val="dk1"/>
              </a:solidFill>
            </a:endParaRPr>
          </a:p>
          <a:p>
            <a:pPr indent="0" lvl="0" marL="0" rtl="0" algn="l">
              <a:lnSpc>
                <a:spcPct val="100000"/>
              </a:lnSpc>
              <a:spcBef>
                <a:spcPts val="500"/>
              </a:spcBef>
              <a:spcAft>
                <a:spcPts val="0"/>
              </a:spcAft>
              <a:buSzPts val="2300"/>
              <a:buNone/>
            </a:pPr>
            <a:r>
              <a:t/>
            </a:r>
            <a:endParaRPr/>
          </a:p>
        </p:txBody>
      </p:sp>
      <p:sp>
        <p:nvSpPr>
          <p:cNvPr id="220" name="Google Shape;220;g3f502f38a39_2_100"/>
          <p:cNvSpPr txBox="1"/>
          <p:nvPr>
            <p:ph idx="2" type="body"/>
          </p:nvPr>
        </p:nvSpPr>
        <p:spPr>
          <a:xfrm>
            <a:off x="395707" y="6475388"/>
            <a:ext cx="9740800" cy="3832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t/>
            </a:r>
            <a:endParaRPr/>
          </a:p>
        </p:txBody>
      </p:sp>
      <p:graphicFrame>
        <p:nvGraphicFramePr>
          <p:cNvPr id="221" name="Google Shape;221;g3f502f38a39_2_100"/>
          <p:cNvGraphicFramePr/>
          <p:nvPr/>
        </p:nvGraphicFramePr>
        <p:xfrm>
          <a:off x="624600" y="2356033"/>
          <a:ext cx="3000000" cy="3000000"/>
        </p:xfrm>
        <a:graphic>
          <a:graphicData uri="http://schemas.openxmlformats.org/drawingml/2006/table">
            <a:tbl>
              <a:tblPr>
                <a:noFill/>
                <a:tableStyleId>{45E31916-F7FA-4C17-88A9-D1F31D617FD5}</a:tableStyleId>
              </a:tblPr>
              <a:tblGrid>
                <a:gridCol w="1201050"/>
                <a:gridCol w="1182750"/>
                <a:gridCol w="1528325"/>
              </a:tblGrid>
              <a:tr h="514225">
                <a:tc>
                  <a:txBody>
                    <a:bodyPr/>
                    <a:lstStyle/>
                    <a:p>
                      <a:pPr indent="0" lvl="0" marL="0" marR="0" rtl="0" algn="l">
                        <a:lnSpc>
                          <a:spcPct val="100000"/>
                        </a:lnSpc>
                        <a:spcBef>
                          <a:spcPts val="0"/>
                        </a:spcBef>
                        <a:spcAft>
                          <a:spcPts val="0"/>
                        </a:spcAft>
                        <a:buClr>
                          <a:srgbClr val="000000"/>
                        </a:buClr>
                        <a:buSzPts val="1600"/>
                        <a:buFont typeface="Arial"/>
                        <a:buNone/>
                      </a:pPr>
                      <a:r>
                        <a:rPr b="1" lang="en-IN" sz="1600" u="none" cap="none" strike="noStrike"/>
                        <a:t>term</a:t>
                      </a:r>
                      <a:endParaRPr b="1" sz="16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900"/>
                        <a:buFont typeface="Arial"/>
                        <a:buNone/>
                      </a:pPr>
                      <a:r>
                        <a:rPr b="1" lang="en-IN" sz="1900" u="none" cap="none" strike="noStrike"/>
                        <a:t>coef.</a:t>
                      </a:r>
                      <a:endParaRPr b="1"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900"/>
                        <a:buFont typeface="Arial"/>
                        <a:buNone/>
                      </a:pPr>
                      <a:r>
                        <a:rPr b="1" lang="en-IN" sz="1900" u="none" cap="none" strike="noStrike"/>
                        <a:t>p_values</a:t>
                      </a:r>
                      <a:endParaRPr b="1"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8D4F0"/>
                    </a:solidFill>
                  </a:tcPr>
                </a:tc>
              </a:tr>
              <a:tr h="549100">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intercept</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215.62</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&lt;0.001</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0025">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treated</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78.28</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0.012</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5025">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DID</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-8.08</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0.854</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8400">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VI*DID</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-333.16</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&lt;0.001</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70925">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VI</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140.6</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IN" sz="1900" u="none" cap="none" strike="noStrike"/>
                        <a:t>0.027</a:t>
                      </a:r>
                      <a:endParaRPr sz="1900" u="none" cap="none" strike="noStrike"/>
                    </a:p>
                  </a:txBody>
                  <a:tcPr marT="121900" marB="121900" marR="121900" marL="12190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22" name="Google Shape;222;g3f502f38a39_2_100"/>
          <p:cNvGraphicFramePr/>
          <p:nvPr/>
        </p:nvGraphicFramePr>
        <p:xfrm>
          <a:off x="6545940" y="2356027"/>
          <a:ext cx="3000000" cy="3000000"/>
        </p:xfrm>
        <a:graphic>
          <a:graphicData uri="http://schemas.openxmlformats.org/drawingml/2006/table">
            <a:tbl>
              <a:tblPr>
                <a:noFill/>
                <a:tableStyleId>{B4FFDD6A-01B7-48A3-BB6C-044644F34459}</a:tableStyleId>
              </a:tblPr>
              <a:tblGrid>
                <a:gridCol w="1585250"/>
                <a:gridCol w="1576650"/>
                <a:gridCol w="1208950"/>
              </a:tblGrid>
              <a:tr h="528250">
                <a:tc>
                  <a:txBody>
                    <a:bodyPr/>
                    <a:lstStyle/>
                    <a:p>
                      <a:pPr indent="0" lvl="0" marL="0" marR="0" rtl="0" algn="ctr">
                        <a:lnSpc>
                          <a:spcPct val="100000"/>
                        </a:lnSpc>
                        <a:spcBef>
                          <a:spcPts val="0"/>
                        </a:spcBef>
                        <a:spcAft>
                          <a:spcPts val="0"/>
                        </a:spcAft>
                        <a:buClr>
                          <a:srgbClr val="FFFFFF"/>
                        </a:buClr>
                        <a:buSzPts val="1200"/>
                        <a:buFont typeface="Calibri"/>
                        <a:buNone/>
                      </a:pPr>
                      <a:r>
                        <a:rPr b="1" lang="en-IN" sz="1900" u="none" cap="none" strike="noStrike">
                          <a:solidFill>
                            <a:schemeClr val="dk1"/>
                          </a:solidFill>
                        </a:rPr>
                        <a:t>term</a:t>
                      </a:r>
                      <a:endParaRPr sz="1900" u="none" cap="none" strike="noStrike">
                        <a:solidFill>
                          <a:schemeClr val="dk1"/>
                        </a:solidFill>
                      </a:endParaRPr>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IN" sz="1900" u="none" cap="none" strike="noStrike">
                          <a:solidFill>
                            <a:schemeClr val="dk1"/>
                          </a:solidFill>
                        </a:rPr>
                        <a:t>coef.</a:t>
                      </a:r>
                      <a:endParaRPr sz="1900" u="none" cap="none" strike="noStrike">
                        <a:solidFill>
                          <a:schemeClr val="dk1"/>
                        </a:solidFill>
                      </a:endParaRPr>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8D4F0"/>
                    </a:solidFill>
                  </a:tcPr>
                </a:tc>
                <a:tc>
                  <a:txBody>
                    <a:bodyPr/>
                    <a:lstStyle/>
                    <a:p>
                      <a:pPr indent="0" lvl="0" marL="0" marR="0" rtl="0" algn="ctr">
                        <a:lnSpc>
                          <a:spcPct val="100000"/>
                        </a:lnSpc>
                        <a:spcBef>
                          <a:spcPts val="0"/>
                        </a:spcBef>
                        <a:spcAft>
                          <a:spcPts val="0"/>
                        </a:spcAft>
                        <a:buClr>
                          <a:srgbClr val="FFFFFF"/>
                        </a:buClr>
                        <a:buSzPts val="1200"/>
                        <a:buFont typeface="Calibri"/>
                        <a:buNone/>
                      </a:pPr>
                      <a:r>
                        <a:rPr b="1" lang="en-IN" sz="1900" u="none" cap="none" strike="noStrike">
                          <a:solidFill>
                            <a:schemeClr val="dk1"/>
                          </a:solidFill>
                        </a:rPr>
                        <a:t>p_values</a:t>
                      </a:r>
                      <a:endParaRPr sz="1900" u="none" cap="none" strike="noStrike">
                        <a:solidFill>
                          <a:schemeClr val="dk1"/>
                        </a:solidFill>
                      </a:endParaRPr>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8D4F0"/>
                    </a:solidFill>
                  </a:tcPr>
                </a:tc>
              </a:tr>
              <a:tr h="593500">
                <a:tc>
                  <a:txBody>
                    <a:bodyPr/>
                    <a:lstStyle/>
                    <a:p>
                      <a:pPr indent="0" lvl="0" marL="0" marR="0" rtl="0" algn="l">
                        <a:lnSpc>
                          <a:spcPct val="100000"/>
                        </a:lnSpc>
                        <a:spcBef>
                          <a:spcPts val="0"/>
                        </a:spcBef>
                        <a:spcAft>
                          <a:spcPts val="0"/>
                        </a:spcAft>
                        <a:buClr>
                          <a:srgbClr val="1E293B"/>
                        </a:buClr>
                        <a:buSzPts val="1200"/>
                        <a:buFont typeface="Calibri"/>
                        <a:buNone/>
                      </a:pPr>
                      <a:r>
                        <a:rPr lang="en-IN" sz="1900" u="none" cap="none" strike="noStrike">
                          <a:solidFill>
                            <a:srgbClr val="1E293B"/>
                          </a:solidFill>
                        </a:rPr>
                        <a:t>Intercept</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E293B"/>
                        </a:buClr>
                        <a:buSzPts val="1200"/>
                        <a:buFont typeface="Calibri"/>
                        <a:buNone/>
                      </a:pPr>
                      <a:r>
                        <a:rPr lang="en-IN" sz="1900" u="none" cap="none" strike="noStrike">
                          <a:solidFill>
                            <a:srgbClr val="1E293B"/>
                          </a:solidFill>
                        </a:rPr>
                        <a:t>262.35</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E293B"/>
                        </a:buClr>
                        <a:buSzPts val="1200"/>
                        <a:buFont typeface="Calibri"/>
                        <a:buNone/>
                      </a:pPr>
                      <a:r>
                        <a:rPr lang="en-IN" sz="1900" u="none" cap="none" strike="noStrike">
                          <a:solidFill>
                            <a:srgbClr val="1E293B"/>
                          </a:solidFill>
                        </a:rPr>
                        <a:t>&lt;0.001</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3500">
                <a:tc>
                  <a:txBody>
                    <a:bodyPr/>
                    <a:lstStyle/>
                    <a:p>
                      <a:pPr indent="0" lvl="0" marL="0" marR="0" rtl="0" algn="l">
                        <a:lnSpc>
                          <a:spcPct val="100000"/>
                        </a:lnSpc>
                        <a:spcBef>
                          <a:spcPts val="0"/>
                        </a:spcBef>
                        <a:spcAft>
                          <a:spcPts val="0"/>
                        </a:spcAft>
                        <a:buClr>
                          <a:srgbClr val="1E293B"/>
                        </a:buClr>
                        <a:buSzPts val="1200"/>
                        <a:buFont typeface="Calibri"/>
                        <a:buNone/>
                      </a:pPr>
                      <a:r>
                        <a:rPr lang="en-IN" sz="1900" u="none" cap="none" strike="noStrike">
                          <a:solidFill>
                            <a:srgbClr val="1E293B"/>
                          </a:solidFill>
                        </a:rPr>
                        <a:t>Treated</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E293B"/>
                        </a:buClr>
                        <a:buSzPts val="1200"/>
                        <a:buFont typeface="Calibri"/>
                        <a:buNone/>
                      </a:pPr>
                      <a:r>
                        <a:rPr lang="en-IN" sz="1900" u="none" cap="none" strike="noStrike">
                          <a:solidFill>
                            <a:srgbClr val="1E293B"/>
                          </a:solidFill>
                        </a:rPr>
                        <a:t>79.00</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E293B"/>
                        </a:buClr>
                        <a:buSzPts val="1200"/>
                        <a:buFont typeface="Calibri"/>
                        <a:buNone/>
                      </a:pPr>
                      <a:r>
                        <a:rPr lang="en-IN" sz="1900" u="none" cap="none" strike="noStrike">
                          <a:solidFill>
                            <a:srgbClr val="1E293B"/>
                          </a:solidFill>
                        </a:rPr>
                        <a:t>0.011</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93500">
                <a:tc>
                  <a:txBody>
                    <a:bodyPr/>
                    <a:lstStyle/>
                    <a:p>
                      <a:pPr indent="0" lvl="0" marL="0" marR="0" rtl="0" algn="l">
                        <a:lnSpc>
                          <a:spcPct val="100000"/>
                        </a:lnSpc>
                        <a:spcBef>
                          <a:spcPts val="0"/>
                        </a:spcBef>
                        <a:spcAft>
                          <a:spcPts val="0"/>
                        </a:spcAft>
                        <a:buClr>
                          <a:srgbClr val="16324F"/>
                        </a:buClr>
                        <a:buSzPts val="1200"/>
                        <a:buFont typeface="Calibri"/>
                        <a:buNone/>
                      </a:pPr>
                      <a:r>
                        <a:rPr lang="en-IN" sz="1900" u="none" cap="none" strike="noStrike">
                          <a:solidFill>
                            <a:srgbClr val="16324F"/>
                          </a:solidFill>
                        </a:rPr>
                        <a:t>DiD (ATT)</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324F"/>
                        </a:buClr>
                        <a:buSzPts val="1200"/>
                        <a:buFont typeface="Calibri"/>
                        <a:buNone/>
                      </a:pPr>
                      <a:r>
                        <a:rPr lang="en-IN" sz="1900" u="none" cap="none" strike="noStrike">
                          <a:solidFill>
                            <a:srgbClr val="16324F"/>
                          </a:solidFill>
                        </a:rPr>
                        <a:t>−121.85</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324F"/>
                        </a:buClr>
                        <a:buSzPts val="1200"/>
                        <a:buFont typeface="Calibri"/>
                        <a:buNone/>
                      </a:pPr>
                      <a:r>
                        <a:rPr lang="en-IN" sz="1900" u="none" cap="none" strike="noStrike">
                          <a:solidFill>
                            <a:srgbClr val="16324F"/>
                          </a:solidFill>
                        </a:rPr>
                        <a:t>&lt;0.001</a:t>
                      </a:r>
                      <a:endParaRPr sz="1900" u="none" cap="none" strike="noStrike"/>
                    </a:p>
                  </a:txBody>
                  <a:tcPr marT="45725" marB="45725" marR="91475" marL="914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23" name="Google Shape;223;g3f502f38a39_2_100"/>
          <p:cNvSpPr txBox="1"/>
          <p:nvPr/>
        </p:nvSpPr>
        <p:spPr>
          <a:xfrm>
            <a:off x="6545933" y="1822433"/>
            <a:ext cx="5274000" cy="5336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n-IN" sz="1900" u="none" cap="none" strike="noStrike">
                <a:solidFill>
                  <a:schemeClr val="dk1"/>
                </a:solidFill>
                <a:latin typeface="Calibri"/>
                <a:ea typeface="Calibri"/>
                <a:cs typeface="Calibri"/>
                <a:sym typeface="Calibri"/>
              </a:rPr>
              <a:t>Without VI</a:t>
            </a:r>
            <a:endParaRPr b="1" i="0" sz="1900" u="none" cap="none" strike="noStrike">
              <a:solidFill>
                <a:schemeClr val="dk1"/>
              </a:solidFill>
              <a:latin typeface="Calibri"/>
              <a:ea typeface="Calibri"/>
              <a:cs typeface="Calibri"/>
              <a:sym typeface="Calibri"/>
            </a:endParaRPr>
          </a:p>
        </p:txBody>
      </p:sp>
      <p:sp>
        <p:nvSpPr>
          <p:cNvPr id="224" name="Google Shape;224;g3f502f38a39_2_100"/>
          <p:cNvSpPr txBox="1"/>
          <p:nvPr/>
        </p:nvSpPr>
        <p:spPr>
          <a:xfrm>
            <a:off x="587967" y="1897433"/>
            <a:ext cx="5274000" cy="5336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n-IN" sz="1900" u="none" cap="none" strike="noStrike">
                <a:solidFill>
                  <a:schemeClr val="dk1"/>
                </a:solidFill>
                <a:latin typeface="Calibri"/>
                <a:ea typeface="Calibri"/>
                <a:cs typeface="Calibri"/>
                <a:sym typeface="Calibri"/>
              </a:rPr>
              <a:t>With VI</a:t>
            </a:r>
            <a:endParaRPr b="1" i="0" sz="1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f8175270f4_5_1"/>
          <p:cNvSpPr txBox="1"/>
          <p:nvPr>
            <p:ph type="title"/>
          </p:nvPr>
        </p:nvSpPr>
        <p:spPr>
          <a:xfrm>
            <a:off x="256032" y="225653"/>
            <a:ext cx="11284500" cy="465463"/>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accent1"/>
              </a:buClr>
              <a:buSzPts val="2400"/>
              <a:buFont typeface="Calibri"/>
              <a:buNone/>
            </a:pPr>
            <a:r>
              <a:rPr lang="en-IN"/>
              <a:t>Expected Outputs from M2: Active Travel</a:t>
            </a:r>
            <a:endParaRPr b="0" sz="1600">
              <a:solidFill>
                <a:srgbClr val="009CD8"/>
              </a:solidFill>
            </a:endParaRPr>
          </a:p>
        </p:txBody>
      </p:sp>
      <p:sp>
        <p:nvSpPr>
          <p:cNvPr id="230" name="Google Shape;230;g3f8175270f4_5_1"/>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231" name="Google Shape;231;g3f8175270f4_5_1"/>
          <p:cNvSpPr txBox="1"/>
          <p:nvPr/>
        </p:nvSpPr>
        <p:spPr>
          <a:xfrm>
            <a:off x="256032" y="853677"/>
            <a:ext cx="6235994" cy="2328073"/>
          </a:xfrm>
          <a:prstGeom prst="rect">
            <a:avLst/>
          </a:prstGeom>
          <a:blipFill rotWithShape="1">
            <a:blip r:embed="rId3">
              <a:alphaModFix/>
            </a:blip>
            <a:stretch>
              <a:fillRect b="-2174" l="-610" r="0" t="-10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232" name="Google Shape;232;g3f8175270f4_5_1"/>
          <p:cNvSpPr txBox="1"/>
          <p:nvPr/>
        </p:nvSpPr>
        <p:spPr>
          <a:xfrm>
            <a:off x="5737412" y="1727416"/>
            <a:ext cx="6235994" cy="4402424"/>
          </a:xfrm>
          <a:prstGeom prst="rect">
            <a:avLst/>
          </a:prstGeom>
          <a:blipFill rotWithShape="1">
            <a:blip r:embed="rId4">
              <a:alphaModFix/>
            </a:blip>
            <a:stretch>
              <a:fillRect b="-862" l="-40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g3f81e6d3204_0_0"/>
          <p:cNvPicPr preferRelativeResize="0"/>
          <p:nvPr/>
        </p:nvPicPr>
        <p:blipFill rotWithShape="1">
          <a:blip r:embed="rId3">
            <a:alphaModFix/>
          </a:blip>
          <a:srcRect b="0" l="0" r="0" t="0"/>
          <a:stretch/>
        </p:blipFill>
        <p:spPr>
          <a:xfrm>
            <a:off x="2198281" y="938791"/>
            <a:ext cx="7795437" cy="498041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2"/>
          <p:cNvPicPr preferRelativeResize="0"/>
          <p:nvPr/>
        </p:nvPicPr>
        <p:blipFill rotWithShape="1">
          <a:blip r:embed="rId3">
            <a:alphaModFix/>
          </a:blip>
          <a:srcRect b="0" l="0" r="0" t="0"/>
          <a:stretch/>
        </p:blipFill>
        <p:spPr>
          <a:xfrm>
            <a:off x="1924493" y="747317"/>
            <a:ext cx="8343014" cy="53633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
          <p:cNvPicPr preferRelativeResize="0"/>
          <p:nvPr/>
        </p:nvPicPr>
        <p:blipFill rotWithShape="1">
          <a:blip r:embed="rId3">
            <a:alphaModFix/>
          </a:blip>
          <a:srcRect b="0" l="0" r="0" t="0"/>
          <a:stretch/>
        </p:blipFill>
        <p:spPr>
          <a:xfrm>
            <a:off x="1438940" y="744279"/>
            <a:ext cx="7790120" cy="500793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f81e6d3204_0_11"/>
          <p:cNvSpPr txBox="1"/>
          <p:nvPr>
            <p:ph type="title"/>
          </p:nvPr>
        </p:nvSpPr>
        <p:spPr>
          <a:xfrm>
            <a:off x="256032" y="225653"/>
            <a:ext cx="11284500" cy="433566"/>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Active Travel</a:t>
            </a:r>
            <a:endParaRPr b="0" sz="1600">
              <a:solidFill>
                <a:srgbClr val="009CD8"/>
              </a:solidFill>
            </a:endParaRPr>
          </a:p>
        </p:txBody>
      </p:sp>
      <p:sp>
        <p:nvSpPr>
          <p:cNvPr id="253" name="Google Shape;253;g3f81e6d3204_0_11"/>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254" name="Google Shape;254;g3f81e6d3204_0_11"/>
          <p:cNvSpPr txBox="1"/>
          <p:nvPr/>
        </p:nvSpPr>
        <p:spPr>
          <a:xfrm>
            <a:off x="418642" y="1123260"/>
            <a:ext cx="10168568" cy="1108509"/>
          </a:xfrm>
          <a:prstGeom prst="rect">
            <a:avLst/>
          </a:prstGeom>
          <a:blipFill rotWithShape="1">
            <a:blip r:embed="rId3">
              <a:alphaModFix/>
            </a:blip>
            <a:stretch>
              <a:fillRect b="-4545" l="0" r="0" t="-227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256032" y="225653"/>
            <a:ext cx="11284500" cy="433566"/>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Active Travel</a:t>
            </a:r>
            <a:endParaRPr b="0" sz="1600">
              <a:solidFill>
                <a:srgbClr val="009CD8"/>
              </a:solidFill>
            </a:endParaRPr>
          </a:p>
        </p:txBody>
      </p:sp>
      <p:sp>
        <p:nvSpPr>
          <p:cNvPr id="260" name="Google Shape;260;p4"/>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graphicFrame>
        <p:nvGraphicFramePr>
          <p:cNvPr id="261" name="Google Shape;261;p4"/>
          <p:cNvGraphicFramePr/>
          <p:nvPr/>
        </p:nvGraphicFramePr>
        <p:xfrm>
          <a:off x="453749" y="961241"/>
          <a:ext cx="3000000" cy="3000000"/>
        </p:xfrm>
        <a:graphic>
          <a:graphicData uri="http://schemas.openxmlformats.org/drawingml/2006/table">
            <a:tbl>
              <a:tblPr>
                <a:noFill/>
                <a:tableStyleId>{55B9DEEB-F167-4F85-A006-A59B1BA32655}</a:tableStyleId>
              </a:tblPr>
              <a:tblGrid>
                <a:gridCol w="2478875"/>
                <a:gridCol w="1763050"/>
                <a:gridCol w="4367825"/>
                <a:gridCol w="1740300"/>
                <a:gridCol w="934425"/>
              </a:tblGrid>
              <a:tr h="471475">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Variable</a:t>
                      </a:r>
                      <a:endParaRPr/>
                    </a:p>
                  </a:txBody>
                  <a:tcPr marT="43850" marB="43850" marR="87700" marL="8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4EEFE"/>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Variable category</a:t>
                      </a:r>
                      <a:endParaRPr/>
                    </a:p>
                  </a:txBody>
                  <a:tcPr marT="43850" marB="43850" marR="87700" marL="8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4EEFE"/>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Base/reference category</a:t>
                      </a:r>
                      <a:endParaRPr/>
                    </a:p>
                  </a:txBody>
                  <a:tcPr marT="43850" marB="43850" marR="87700" marL="8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4EEFE"/>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Coefficient (metres)</a:t>
                      </a:r>
                      <a:endParaRPr/>
                    </a:p>
                  </a:txBody>
                  <a:tcPr marT="43850" marB="43850" marR="87700" marL="8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4EEFE"/>
                    </a:solidFill>
                  </a:tcPr>
                </a:tc>
                <a:tc>
                  <a:txBody>
                    <a:bodyPr/>
                    <a:lstStyle/>
                    <a:p>
                      <a:pPr indent="0" lvl="0" marL="0" marR="0" rtl="0" algn="r">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p-value</a:t>
                      </a:r>
                      <a:endParaRPr/>
                    </a:p>
                  </a:txBody>
                  <a:tcPr marT="43850" marB="43850" marR="87700" marL="87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4EEFE"/>
                    </a:solidFill>
                  </a:tcPr>
                </a:tc>
              </a:tr>
              <a:tr h="383500">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Mode: Rickshaw</a:t>
                      </a:r>
                      <a:endParaRPr/>
                    </a:p>
                  </a:txBody>
                  <a:tcPr marT="43850" marB="43850" marR="87700" marL="87700" anchor="ctr">
                    <a:lnT cap="flat" cmpd="sng" w="12700">
                      <a:solidFill>
                        <a:schemeClr val="dk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lnT cap="flat" cmpd="sng" w="12700">
                      <a:solidFill>
                        <a:schemeClr val="dk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Two Wheeler</a:t>
                      </a:r>
                      <a:endParaRPr/>
                    </a:p>
                  </a:txBody>
                  <a:tcPr marT="43850" marB="43850" marR="87700" marL="87700" anchor="ctr">
                    <a:lnT cap="flat" cmpd="sng" w="12700">
                      <a:solidFill>
                        <a:schemeClr val="dk1"/>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+179.02</a:t>
                      </a:r>
                      <a:endParaRPr/>
                    </a:p>
                  </a:txBody>
                  <a:tcPr marT="43850" marB="43850" marR="87700" marL="87700" anchor="ctr">
                    <a:lnT cap="flat" cmpd="sng" w="12700">
                      <a:solidFill>
                        <a:schemeClr val="dk1"/>
                      </a:solidFill>
                      <a:prstDash val="solid"/>
                      <a:round/>
                      <a:headEnd len="sm" w="sm" type="none"/>
                      <a:tailEnd len="sm" w="sm" type="none"/>
                    </a:lnT>
                  </a:tcP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&lt;0.001</a:t>
                      </a:r>
                      <a:endParaRPr/>
                    </a:p>
                  </a:txBody>
                  <a:tcPr marT="43850" marB="43850" marR="87700" marL="87700" anchor="ctr">
                    <a:lnT cap="flat" cmpd="sng" w="12700">
                      <a:solidFill>
                        <a:schemeClr val="dk1"/>
                      </a:solidFill>
                      <a:prstDash val="solid"/>
                      <a:round/>
                      <a:headEnd len="sm" w="sm" type="none"/>
                      <a:tailEnd len="sm" w="sm" type="none"/>
                    </a:lnT>
                  </a:tcPr>
                </a:tc>
              </a:tr>
              <a:tr h="398175">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Age</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Continuous</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Not applicable; one-year increase</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−1.31</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0.092</a:t>
                      </a:r>
                      <a:endParaRPr/>
                    </a:p>
                  </a:txBody>
                  <a:tcPr marT="43850" marB="43850" marR="87700" marL="87700" anchor="ctr"/>
                </a:tc>
              </a:tr>
              <a:tr h="359150">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Gender: Male</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Female</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−0.31</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0.990</a:t>
                      </a:r>
                      <a:endParaRPr/>
                    </a:p>
                  </a:txBody>
                  <a:tcPr marT="43850" marB="43850" marR="87700" marL="87700" anchor="ctr"/>
                </a:tc>
              </a:tr>
              <a:tr h="341525">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Purpose: Work</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Other purpose</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−1.14</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0.965</a:t>
                      </a:r>
                      <a:endParaRPr/>
                    </a:p>
                  </a:txBody>
                  <a:tcPr marT="43850" marB="43850" marR="87700" marL="87700" anchor="ctr"/>
                </a:tc>
              </a:tr>
              <a:tr h="352550">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OD time: Short</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Long: &gt;10 min</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+8.25</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0.744</a:t>
                      </a:r>
                      <a:endParaRPr/>
                    </a:p>
                  </a:txBody>
                  <a:tcPr marT="43850" marB="43850" marR="87700" marL="87700" anchor="ctr"/>
                </a:tc>
              </a:tr>
              <a:tr h="352550">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OD fare: Low</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High: &gt;₹10</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−32.32</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0.317</a:t>
                      </a:r>
                      <a:endParaRPr/>
                    </a:p>
                  </a:txBody>
                  <a:tcPr marT="43850" marB="43850" marR="87700" marL="87700" anchor="ctr"/>
                </a:tc>
              </a:tr>
              <a:tr h="374575">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OD distance: Short</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Long: &gt;5 km</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−22.79</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0.328</a:t>
                      </a:r>
                      <a:endParaRPr/>
                    </a:p>
                  </a:txBody>
                  <a:tcPr marT="43850" marB="43850" marR="87700" marL="87700" anchor="ctr"/>
                </a:tc>
              </a:tr>
              <a:tr h="352550">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Weekly trips: High</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Low: &lt;5 trips/week</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−51.64</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0.031</a:t>
                      </a:r>
                      <a:endParaRPr/>
                    </a:p>
                  </a:txBody>
                  <a:tcPr marT="43850" marB="43850" marR="87700" marL="87700" anchor="ctr"/>
                </a:tc>
              </a:tr>
              <a:tr h="471475">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Two-wheeler ownership: Yes</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No two-wheeler owned</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+43.72</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0.089</a:t>
                      </a:r>
                      <a:endParaRPr/>
                    </a:p>
                  </a:txBody>
                  <a:tcPr marT="43850" marB="43850" marR="87700" marL="87700" anchor="ctr"/>
                </a:tc>
              </a:tr>
              <a:tr h="471475">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Four-wheeler ownership: Yes</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Binary</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No four-wheeler owned</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+24.72</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0.351</a:t>
                      </a:r>
                      <a:endParaRPr/>
                    </a:p>
                  </a:txBody>
                  <a:tcPr marT="43850" marB="43850" marR="87700" marL="87700" anchor="ctr"/>
                </a:tc>
              </a:tr>
              <a:tr h="581775">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Constant</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a:t>
                      </a:r>
                      <a:endParaRPr/>
                    </a:p>
                  </a:txBody>
                  <a:tcPr marT="43850" marB="43850" marR="87700" marL="87700"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Respondent belonging to all base categories, with age = 0</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91.14</a:t>
                      </a:r>
                      <a:endParaRPr/>
                    </a:p>
                  </a:txBody>
                  <a:tcPr marT="43850" marB="43850" marR="87700" marL="87700" anchor="ctr"/>
                </a:tc>
                <a:tc>
                  <a:txBody>
                    <a:bodyPr/>
                    <a:lstStyle/>
                    <a:p>
                      <a:pPr indent="0" lvl="0" marL="0" marR="0" rtl="0" algn="r">
                        <a:lnSpc>
                          <a:spcPct val="100000"/>
                        </a:lnSpc>
                        <a:spcBef>
                          <a:spcPts val="0"/>
                        </a:spcBef>
                        <a:spcAft>
                          <a:spcPts val="0"/>
                        </a:spcAft>
                        <a:buClr>
                          <a:srgbClr val="000000"/>
                        </a:buClr>
                        <a:buSzPts val="1400"/>
                        <a:buFont typeface="Arial"/>
                        <a:buNone/>
                      </a:pPr>
                      <a:r>
                        <a:rPr b="0" lang="en-IN" sz="1400" u="none" cap="none" strike="noStrike">
                          <a:latin typeface="Calibri"/>
                          <a:ea typeface="Calibri"/>
                          <a:cs typeface="Calibri"/>
                          <a:sym typeface="Calibri"/>
                        </a:rPr>
                        <a:t>0.120</a:t>
                      </a:r>
                      <a:endParaRPr/>
                    </a:p>
                  </a:txBody>
                  <a:tcPr marT="43850" marB="43850" marR="87700" marL="87700"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
          <p:cNvSpPr txBox="1"/>
          <p:nvPr>
            <p:ph type="title"/>
          </p:nvPr>
        </p:nvSpPr>
        <p:spPr>
          <a:xfrm>
            <a:off x="256032" y="225653"/>
            <a:ext cx="11284500" cy="433566"/>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Reduction in pollution</a:t>
            </a:r>
            <a:br>
              <a:rPr lang="en-IN"/>
            </a:br>
            <a:endParaRPr b="0" sz="1600">
              <a:solidFill>
                <a:srgbClr val="009CD8"/>
              </a:solidFill>
            </a:endParaRPr>
          </a:p>
        </p:txBody>
      </p:sp>
      <p:sp>
        <p:nvSpPr>
          <p:cNvPr id="267" name="Google Shape;267;p5"/>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268" name="Google Shape;268;p5"/>
          <p:cNvSpPr/>
          <p:nvPr/>
        </p:nvSpPr>
        <p:spPr>
          <a:xfrm>
            <a:off x="384852" y="659219"/>
            <a:ext cx="111556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16324F"/>
                </a:solidFill>
                <a:latin typeface="Cambria"/>
                <a:ea typeface="Cambria"/>
                <a:cs typeface="Cambria"/>
                <a:sym typeface="Cambria"/>
              </a:rPr>
              <a:t>What the Mumbai commute study measured</a:t>
            </a:r>
            <a:endParaRPr b="0" i="0" sz="2800" u="none" cap="none" strike="noStrike">
              <a:solidFill>
                <a:srgbClr val="000000"/>
              </a:solidFill>
              <a:latin typeface="Arial"/>
              <a:ea typeface="Arial"/>
              <a:cs typeface="Arial"/>
              <a:sym typeface="Arial"/>
            </a:endParaRPr>
          </a:p>
        </p:txBody>
      </p:sp>
      <p:sp>
        <p:nvSpPr>
          <p:cNvPr id="269" name="Google Shape;269;p5"/>
          <p:cNvSpPr/>
          <p:nvPr/>
        </p:nvSpPr>
        <p:spPr>
          <a:xfrm>
            <a:off x="384852" y="1171283"/>
            <a:ext cx="11155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1" lang="en-IN" sz="1400" u="none" cap="none" strike="noStrike">
                <a:solidFill>
                  <a:srgbClr val="64748B"/>
                </a:solidFill>
                <a:latin typeface="Calibri"/>
                <a:ea typeface="Calibri"/>
                <a:cs typeface="Calibri"/>
                <a:sym typeface="Calibri"/>
              </a:rPr>
              <a:t>A peer-reviewed foundation for the pollution &amp; GHG co-benefit model</a:t>
            </a:r>
            <a:endParaRPr b="0" i="0" sz="1400" u="none" cap="none" strike="noStrike">
              <a:solidFill>
                <a:srgbClr val="000000"/>
              </a:solidFill>
              <a:latin typeface="Arial"/>
              <a:ea typeface="Arial"/>
              <a:cs typeface="Arial"/>
              <a:sym typeface="Arial"/>
            </a:endParaRPr>
          </a:p>
        </p:txBody>
      </p:sp>
      <p:sp>
        <p:nvSpPr>
          <p:cNvPr id="270" name="Google Shape;270;p5"/>
          <p:cNvSpPr/>
          <p:nvPr/>
        </p:nvSpPr>
        <p:spPr>
          <a:xfrm>
            <a:off x="384852" y="1692491"/>
            <a:ext cx="585216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350"/>
              <a:buFont typeface="Arial"/>
              <a:buNone/>
            </a:pPr>
            <a:r>
              <a:rPr b="1" i="0" lang="en-IN" sz="1350" u="none" cap="none" strike="noStrike">
                <a:solidFill>
                  <a:srgbClr val="16324F"/>
                </a:solidFill>
                <a:latin typeface="Calibri"/>
                <a:ea typeface="Calibri"/>
                <a:cs typeface="Calibri"/>
                <a:sym typeface="Calibri"/>
              </a:rPr>
              <a:t>Purpose:  </a:t>
            </a:r>
            <a:r>
              <a:rPr b="0" i="0" lang="en-IN" sz="1350" u="none" cap="none" strike="noStrike">
                <a:solidFill>
                  <a:srgbClr val="1E293B"/>
                </a:solidFill>
                <a:latin typeface="Calibri"/>
                <a:ea typeface="Calibri"/>
                <a:cs typeface="Calibri"/>
                <a:sym typeface="Calibri"/>
              </a:rPr>
              <a:t>Compare air-pollution exposure across common commute modes and estimate inhaled dose for commuters and road-based workers.</a:t>
            </a:r>
            <a:endParaRPr b="0" i="0" sz="1350" u="none" cap="none" strike="noStrike">
              <a:solidFill>
                <a:srgbClr val="000000"/>
              </a:solidFill>
              <a:latin typeface="Arial"/>
              <a:ea typeface="Arial"/>
              <a:cs typeface="Arial"/>
              <a:sym typeface="Arial"/>
            </a:endParaRPr>
          </a:p>
        </p:txBody>
      </p:sp>
      <p:sp>
        <p:nvSpPr>
          <p:cNvPr id="271" name="Google Shape;271;p5"/>
          <p:cNvSpPr/>
          <p:nvPr/>
        </p:nvSpPr>
        <p:spPr>
          <a:xfrm>
            <a:off x="384852" y="2515451"/>
            <a:ext cx="585216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350"/>
              <a:buFont typeface="Arial"/>
              <a:buNone/>
            </a:pPr>
            <a:r>
              <a:rPr b="1" i="0" lang="en-IN" sz="1350" u="none" cap="none" strike="noStrike">
                <a:solidFill>
                  <a:srgbClr val="16324F"/>
                </a:solidFill>
                <a:latin typeface="Calibri"/>
                <a:ea typeface="Calibri"/>
                <a:cs typeface="Calibri"/>
                <a:sym typeface="Calibri"/>
              </a:rPr>
              <a:t>Design:  </a:t>
            </a:r>
            <a:r>
              <a:rPr b="0" i="0" lang="en-IN" sz="1350" u="none" cap="none" strike="noStrike">
                <a:solidFill>
                  <a:srgbClr val="1E293B"/>
                </a:solidFill>
                <a:latin typeface="Calibri"/>
                <a:ea typeface="Calibri"/>
                <a:cs typeface="Calibri"/>
                <a:sym typeface="Calibri"/>
              </a:rPr>
              <a:t>98 instrumented trips on a fixed 8.5 km Mumbai route across morning, afternoon, and evening periods, paired with an 800-person household survey.</a:t>
            </a:r>
            <a:endParaRPr b="0" i="0" sz="1350" u="none" cap="none" strike="noStrike">
              <a:solidFill>
                <a:srgbClr val="000000"/>
              </a:solidFill>
              <a:latin typeface="Arial"/>
              <a:ea typeface="Arial"/>
              <a:cs typeface="Arial"/>
              <a:sym typeface="Arial"/>
            </a:endParaRPr>
          </a:p>
        </p:txBody>
      </p:sp>
      <p:sp>
        <p:nvSpPr>
          <p:cNvPr id="272" name="Google Shape;272;p5"/>
          <p:cNvSpPr/>
          <p:nvPr/>
        </p:nvSpPr>
        <p:spPr>
          <a:xfrm>
            <a:off x="384852" y="3521291"/>
            <a:ext cx="5852160" cy="2430640"/>
          </a:xfrm>
          <a:prstGeom prst="roundRect">
            <a:avLst>
              <a:gd fmla="val 3137" name="adj"/>
            </a:avLst>
          </a:prstGeom>
          <a:solidFill>
            <a:srgbClr val="FBF3E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5"/>
          <p:cNvSpPr/>
          <p:nvPr/>
        </p:nvSpPr>
        <p:spPr>
          <a:xfrm>
            <a:off x="613452" y="3704171"/>
            <a:ext cx="5394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IN" sz="1100" u="none" cap="none" strike="noStrike">
                <a:solidFill>
                  <a:srgbClr val="16324F"/>
                </a:solidFill>
                <a:latin typeface="Calibri"/>
                <a:ea typeface="Calibri"/>
                <a:cs typeface="Calibri"/>
                <a:sym typeface="Calibri"/>
              </a:rPr>
              <a:t>MODES STUDIED</a:t>
            </a:r>
            <a:endParaRPr b="0" i="0" sz="1100" u="none" cap="none" strike="noStrike">
              <a:solidFill>
                <a:srgbClr val="000000"/>
              </a:solidFill>
              <a:latin typeface="Arial"/>
              <a:ea typeface="Arial"/>
              <a:cs typeface="Arial"/>
              <a:sym typeface="Arial"/>
            </a:endParaRPr>
          </a:p>
        </p:txBody>
      </p:sp>
      <p:sp>
        <p:nvSpPr>
          <p:cNvPr id="274" name="Google Shape;274;p5"/>
          <p:cNvSpPr/>
          <p:nvPr/>
        </p:nvSpPr>
        <p:spPr>
          <a:xfrm>
            <a:off x="613452" y="4069931"/>
            <a:ext cx="2606040" cy="457200"/>
          </a:xfrm>
          <a:prstGeom prst="roundRect">
            <a:avLst>
              <a:gd fmla="val 12000" name="adj"/>
            </a:avLst>
          </a:prstGeom>
          <a:solidFill>
            <a:srgbClr val="FFFFFF"/>
          </a:solidFill>
          <a:ln cap="flat" cmpd="sng" w="12700">
            <a:solidFill>
              <a:srgbClr val="B8D4F0"/>
            </a:solidFill>
            <a:prstDash val="solid"/>
            <a:round/>
            <a:headEnd len="sm" w="sm" type="none"/>
            <a:tailEnd len="sm" w="sm" type="none"/>
          </a:ln>
        </p:spPr>
        <p:txBody>
          <a:bodyPr anchorCtr="0" anchor="ctr" bIns="0" lIns="0" spcFirstLastPara="1" rIns="0" wrap="square" tIns="127000">
            <a:noAutofit/>
          </a:bodyPr>
          <a:lstStyle/>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1E293B"/>
                </a:solidFill>
                <a:latin typeface="Calibri"/>
                <a:ea typeface="Calibri"/>
                <a:cs typeface="Calibri"/>
                <a:sym typeface="Calibri"/>
              </a:rPr>
              <a:t>Bus</a:t>
            </a:r>
            <a:endParaRPr b="0" i="0" sz="1300" u="none" cap="none" strike="noStrike">
              <a:solidFill>
                <a:srgbClr val="000000"/>
              </a:solidFill>
              <a:latin typeface="Arial"/>
              <a:ea typeface="Arial"/>
              <a:cs typeface="Arial"/>
              <a:sym typeface="Arial"/>
            </a:endParaRPr>
          </a:p>
        </p:txBody>
      </p:sp>
      <p:sp>
        <p:nvSpPr>
          <p:cNvPr id="275" name="Google Shape;275;p5"/>
          <p:cNvSpPr/>
          <p:nvPr/>
        </p:nvSpPr>
        <p:spPr>
          <a:xfrm>
            <a:off x="3402372" y="4069931"/>
            <a:ext cx="2606040" cy="457200"/>
          </a:xfrm>
          <a:prstGeom prst="roundRect">
            <a:avLst>
              <a:gd fmla="val 12000" name="adj"/>
            </a:avLst>
          </a:prstGeom>
          <a:solidFill>
            <a:srgbClr val="FFFFFF"/>
          </a:solidFill>
          <a:ln cap="flat" cmpd="sng" w="12700">
            <a:solidFill>
              <a:srgbClr val="B8D4F0"/>
            </a:solidFill>
            <a:prstDash val="solid"/>
            <a:round/>
            <a:headEnd len="sm" w="sm" type="none"/>
            <a:tailEnd len="sm" w="sm" type="none"/>
          </a:ln>
        </p:spPr>
        <p:txBody>
          <a:bodyPr anchorCtr="0" anchor="ctr" bIns="0" lIns="0" spcFirstLastPara="1" rIns="0" wrap="square" tIns="127000">
            <a:noAutofit/>
          </a:bodyPr>
          <a:lstStyle/>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1E293B"/>
                </a:solidFill>
                <a:latin typeface="Calibri"/>
                <a:ea typeface="Calibri"/>
                <a:cs typeface="Calibri"/>
                <a:sym typeface="Calibri"/>
              </a:rPr>
              <a:t>Car</a:t>
            </a:r>
            <a:endParaRPr b="0" i="0" sz="1300" u="none" cap="none" strike="noStrike">
              <a:solidFill>
                <a:srgbClr val="000000"/>
              </a:solidFill>
              <a:latin typeface="Arial"/>
              <a:ea typeface="Arial"/>
              <a:cs typeface="Arial"/>
              <a:sym typeface="Arial"/>
            </a:endParaRPr>
          </a:p>
        </p:txBody>
      </p:sp>
      <p:sp>
        <p:nvSpPr>
          <p:cNvPr id="276" name="Google Shape;276;p5"/>
          <p:cNvSpPr/>
          <p:nvPr/>
        </p:nvSpPr>
        <p:spPr>
          <a:xfrm>
            <a:off x="613452" y="4636859"/>
            <a:ext cx="2606040" cy="457200"/>
          </a:xfrm>
          <a:prstGeom prst="roundRect">
            <a:avLst>
              <a:gd fmla="val 12000" name="adj"/>
            </a:avLst>
          </a:prstGeom>
          <a:solidFill>
            <a:srgbClr val="FFFFFF"/>
          </a:solidFill>
          <a:ln cap="flat" cmpd="sng" w="12700">
            <a:solidFill>
              <a:srgbClr val="B8D4F0"/>
            </a:solidFill>
            <a:prstDash val="solid"/>
            <a:round/>
            <a:headEnd len="sm" w="sm" type="none"/>
            <a:tailEnd len="sm" w="sm" type="none"/>
          </a:ln>
        </p:spPr>
        <p:txBody>
          <a:bodyPr anchorCtr="0" anchor="ctr" bIns="0" lIns="0" spcFirstLastPara="1" rIns="0" wrap="square" tIns="127000">
            <a:noAutofit/>
          </a:bodyPr>
          <a:lstStyle/>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1E293B"/>
                </a:solidFill>
                <a:latin typeface="Calibri"/>
                <a:ea typeface="Calibri"/>
                <a:cs typeface="Calibri"/>
                <a:sym typeface="Calibri"/>
              </a:rPr>
              <a:t>Auto-rickshaw</a:t>
            </a:r>
            <a:endParaRPr b="0" i="0" sz="1300" u="none" cap="none" strike="noStrike">
              <a:solidFill>
                <a:srgbClr val="000000"/>
              </a:solidFill>
              <a:latin typeface="Arial"/>
              <a:ea typeface="Arial"/>
              <a:cs typeface="Arial"/>
              <a:sym typeface="Arial"/>
            </a:endParaRPr>
          </a:p>
        </p:txBody>
      </p:sp>
      <p:sp>
        <p:nvSpPr>
          <p:cNvPr id="277" name="Google Shape;277;p5"/>
          <p:cNvSpPr/>
          <p:nvPr/>
        </p:nvSpPr>
        <p:spPr>
          <a:xfrm>
            <a:off x="3402372" y="4636859"/>
            <a:ext cx="2606040" cy="457200"/>
          </a:xfrm>
          <a:prstGeom prst="roundRect">
            <a:avLst>
              <a:gd fmla="val 12000" name="adj"/>
            </a:avLst>
          </a:prstGeom>
          <a:solidFill>
            <a:srgbClr val="FFFFFF"/>
          </a:solidFill>
          <a:ln cap="flat" cmpd="sng" w="12700">
            <a:solidFill>
              <a:srgbClr val="B8D4F0"/>
            </a:solidFill>
            <a:prstDash val="solid"/>
            <a:round/>
            <a:headEnd len="sm" w="sm" type="none"/>
            <a:tailEnd len="sm" w="sm" type="none"/>
          </a:ln>
        </p:spPr>
        <p:txBody>
          <a:bodyPr anchorCtr="0" anchor="ctr" bIns="0" lIns="0" spcFirstLastPara="1" rIns="0" wrap="square" tIns="127000">
            <a:noAutofit/>
          </a:bodyPr>
          <a:lstStyle/>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1E293B"/>
                </a:solidFill>
                <a:latin typeface="Calibri"/>
                <a:ea typeface="Calibri"/>
                <a:cs typeface="Calibri"/>
                <a:sym typeface="Calibri"/>
              </a:rPr>
              <a:t>Motorbike</a:t>
            </a:r>
            <a:endParaRPr b="0" i="0" sz="1300" u="none" cap="none" strike="noStrike">
              <a:solidFill>
                <a:srgbClr val="000000"/>
              </a:solidFill>
              <a:latin typeface="Arial"/>
              <a:ea typeface="Arial"/>
              <a:cs typeface="Arial"/>
              <a:sym typeface="Arial"/>
            </a:endParaRPr>
          </a:p>
        </p:txBody>
      </p:sp>
      <p:sp>
        <p:nvSpPr>
          <p:cNvPr id="278" name="Google Shape;278;p5"/>
          <p:cNvSpPr/>
          <p:nvPr/>
        </p:nvSpPr>
        <p:spPr>
          <a:xfrm>
            <a:off x="613452" y="5203787"/>
            <a:ext cx="2606040" cy="457200"/>
          </a:xfrm>
          <a:prstGeom prst="roundRect">
            <a:avLst>
              <a:gd fmla="val 12000" name="adj"/>
            </a:avLst>
          </a:prstGeom>
          <a:solidFill>
            <a:srgbClr val="FFFFFF"/>
          </a:solidFill>
          <a:ln cap="flat" cmpd="sng" w="12700">
            <a:solidFill>
              <a:srgbClr val="B8D4F0"/>
            </a:solidFill>
            <a:prstDash val="solid"/>
            <a:round/>
            <a:headEnd len="sm" w="sm" type="none"/>
            <a:tailEnd len="sm" w="sm" type="none"/>
          </a:ln>
        </p:spPr>
        <p:txBody>
          <a:bodyPr anchorCtr="0" anchor="ctr" bIns="0" lIns="0" spcFirstLastPara="1" rIns="0" wrap="square" tIns="127000">
            <a:noAutofit/>
          </a:bodyPr>
          <a:lstStyle/>
          <a:p>
            <a:pPr indent="0" lvl="0" marL="0" marR="0" rtl="0" algn="l">
              <a:lnSpc>
                <a:spcPct val="100000"/>
              </a:lnSpc>
              <a:spcBef>
                <a:spcPts val="0"/>
              </a:spcBef>
              <a:spcAft>
                <a:spcPts val="0"/>
              </a:spcAft>
              <a:buClr>
                <a:srgbClr val="000000"/>
              </a:buClr>
              <a:buSzPts val="1300"/>
              <a:buFont typeface="Arial"/>
              <a:buNone/>
            </a:pPr>
            <a:r>
              <a:rPr b="0" i="0" lang="en-IN" sz="1300" u="none" cap="none" strike="noStrike">
                <a:solidFill>
                  <a:srgbClr val="1E293B"/>
                </a:solidFill>
                <a:latin typeface="Calibri"/>
                <a:ea typeface="Calibri"/>
                <a:cs typeface="Calibri"/>
                <a:sym typeface="Calibri"/>
              </a:rPr>
              <a:t>Suburban train</a:t>
            </a:r>
            <a:endParaRPr b="0" i="0" sz="1300" u="none" cap="none" strike="noStrike">
              <a:solidFill>
                <a:srgbClr val="000000"/>
              </a:solidFill>
              <a:latin typeface="Arial"/>
              <a:ea typeface="Arial"/>
              <a:cs typeface="Arial"/>
              <a:sym typeface="Arial"/>
            </a:endParaRPr>
          </a:p>
        </p:txBody>
      </p:sp>
      <p:sp>
        <p:nvSpPr>
          <p:cNvPr id="279" name="Google Shape;279;p5"/>
          <p:cNvSpPr/>
          <p:nvPr/>
        </p:nvSpPr>
        <p:spPr>
          <a:xfrm>
            <a:off x="613452" y="5660987"/>
            <a:ext cx="53949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0" i="1" lang="en-IN" sz="1150" u="none" cap="none" strike="noStrike">
                <a:solidFill>
                  <a:srgbClr val="64748B"/>
                </a:solidFill>
                <a:latin typeface="Calibri"/>
                <a:ea typeface="Calibri"/>
                <a:cs typeface="Calibri"/>
                <a:sym typeface="Calibri"/>
              </a:rPr>
              <a:t>Pollutants covered: PM₁ • PM₂.₅ • PM₁₀ • CO • TVOC</a:t>
            </a:r>
            <a:endParaRPr b="0" i="0" sz="1150" u="none" cap="none" strike="noStrike">
              <a:solidFill>
                <a:srgbClr val="000000"/>
              </a:solidFill>
              <a:latin typeface="Arial"/>
              <a:ea typeface="Arial"/>
              <a:cs typeface="Arial"/>
              <a:sym typeface="Arial"/>
            </a:endParaRPr>
          </a:p>
        </p:txBody>
      </p:sp>
      <p:sp>
        <p:nvSpPr>
          <p:cNvPr id="280" name="Google Shape;280;p5"/>
          <p:cNvSpPr/>
          <p:nvPr/>
        </p:nvSpPr>
        <p:spPr>
          <a:xfrm>
            <a:off x="6648492" y="1692491"/>
            <a:ext cx="2423160" cy="1234440"/>
          </a:xfrm>
          <a:prstGeom prst="roundRect">
            <a:avLst>
              <a:gd fmla="val 5926" name="adj"/>
            </a:avLst>
          </a:prstGeom>
          <a:solidFill>
            <a:srgbClr val="F7F9FA"/>
          </a:solidFill>
          <a:ln cap="flat" cmpd="sng" w="12700">
            <a:solidFill>
              <a:srgbClr val="B8D4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5"/>
          <p:cNvSpPr/>
          <p:nvPr/>
        </p:nvSpPr>
        <p:spPr>
          <a:xfrm>
            <a:off x="6648492" y="1829651"/>
            <a:ext cx="24231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rgbClr val="16324F"/>
                </a:solidFill>
                <a:latin typeface="Cambria"/>
                <a:ea typeface="Cambria"/>
                <a:cs typeface="Cambria"/>
                <a:sym typeface="Cambria"/>
              </a:rPr>
              <a:t>98</a:t>
            </a:r>
            <a:endParaRPr b="0" i="0" sz="3000" u="none" cap="none" strike="noStrike">
              <a:solidFill>
                <a:srgbClr val="000000"/>
              </a:solidFill>
              <a:latin typeface="Arial"/>
              <a:ea typeface="Arial"/>
              <a:cs typeface="Arial"/>
              <a:sym typeface="Arial"/>
            </a:endParaRPr>
          </a:p>
        </p:txBody>
      </p:sp>
      <p:sp>
        <p:nvSpPr>
          <p:cNvPr id="282" name="Google Shape;282;p5"/>
          <p:cNvSpPr/>
          <p:nvPr/>
        </p:nvSpPr>
        <p:spPr>
          <a:xfrm>
            <a:off x="6648492" y="2469731"/>
            <a:ext cx="2423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IN" sz="1150" u="none" cap="none" strike="noStrike">
                <a:solidFill>
                  <a:srgbClr val="64748B"/>
                </a:solidFill>
                <a:latin typeface="Calibri"/>
                <a:ea typeface="Calibri"/>
                <a:cs typeface="Calibri"/>
                <a:sym typeface="Calibri"/>
              </a:rPr>
              <a:t>instrumented trips</a:t>
            </a:r>
            <a:endParaRPr b="0" i="0" sz="1150" u="none" cap="none" strike="noStrike">
              <a:solidFill>
                <a:srgbClr val="000000"/>
              </a:solidFill>
              <a:latin typeface="Arial"/>
              <a:ea typeface="Arial"/>
              <a:cs typeface="Arial"/>
              <a:sym typeface="Arial"/>
            </a:endParaRPr>
          </a:p>
        </p:txBody>
      </p:sp>
      <p:sp>
        <p:nvSpPr>
          <p:cNvPr id="283" name="Google Shape;283;p5"/>
          <p:cNvSpPr/>
          <p:nvPr/>
        </p:nvSpPr>
        <p:spPr>
          <a:xfrm>
            <a:off x="9254532" y="1692491"/>
            <a:ext cx="2423160" cy="1234440"/>
          </a:xfrm>
          <a:prstGeom prst="roundRect">
            <a:avLst>
              <a:gd fmla="val 5926" name="adj"/>
            </a:avLst>
          </a:prstGeom>
          <a:solidFill>
            <a:srgbClr val="F7F9FA"/>
          </a:solidFill>
          <a:ln cap="flat" cmpd="sng" w="12700">
            <a:solidFill>
              <a:srgbClr val="B8D4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5"/>
          <p:cNvSpPr/>
          <p:nvPr/>
        </p:nvSpPr>
        <p:spPr>
          <a:xfrm>
            <a:off x="9254532" y="1829651"/>
            <a:ext cx="24231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rgbClr val="16324F"/>
                </a:solidFill>
                <a:latin typeface="Cambria"/>
                <a:ea typeface="Cambria"/>
                <a:cs typeface="Cambria"/>
                <a:sym typeface="Cambria"/>
              </a:rPr>
              <a:t>8.5 km</a:t>
            </a:r>
            <a:endParaRPr b="0" i="0" sz="3000" u="none" cap="none" strike="noStrike">
              <a:solidFill>
                <a:srgbClr val="000000"/>
              </a:solidFill>
              <a:latin typeface="Arial"/>
              <a:ea typeface="Arial"/>
              <a:cs typeface="Arial"/>
              <a:sym typeface="Arial"/>
            </a:endParaRPr>
          </a:p>
        </p:txBody>
      </p:sp>
      <p:sp>
        <p:nvSpPr>
          <p:cNvPr id="285" name="Google Shape;285;p5"/>
          <p:cNvSpPr/>
          <p:nvPr/>
        </p:nvSpPr>
        <p:spPr>
          <a:xfrm>
            <a:off x="9254532" y="2469731"/>
            <a:ext cx="2423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IN" sz="1150" u="none" cap="none" strike="noStrike">
                <a:solidFill>
                  <a:srgbClr val="64748B"/>
                </a:solidFill>
                <a:latin typeface="Calibri"/>
                <a:ea typeface="Calibri"/>
                <a:cs typeface="Calibri"/>
                <a:sym typeface="Calibri"/>
              </a:rPr>
              <a:t>fixed Mumbai route</a:t>
            </a:r>
            <a:endParaRPr b="0" i="0" sz="1150" u="none" cap="none" strike="noStrike">
              <a:solidFill>
                <a:srgbClr val="000000"/>
              </a:solidFill>
              <a:latin typeface="Arial"/>
              <a:ea typeface="Arial"/>
              <a:cs typeface="Arial"/>
              <a:sym typeface="Arial"/>
            </a:endParaRPr>
          </a:p>
        </p:txBody>
      </p:sp>
      <p:sp>
        <p:nvSpPr>
          <p:cNvPr id="286" name="Google Shape;286;p5"/>
          <p:cNvSpPr/>
          <p:nvPr/>
        </p:nvSpPr>
        <p:spPr>
          <a:xfrm>
            <a:off x="6648492" y="3109811"/>
            <a:ext cx="2423160" cy="1234440"/>
          </a:xfrm>
          <a:prstGeom prst="roundRect">
            <a:avLst>
              <a:gd fmla="val 5926" name="adj"/>
            </a:avLst>
          </a:prstGeom>
          <a:solidFill>
            <a:srgbClr val="F7F9FA"/>
          </a:solidFill>
          <a:ln cap="flat" cmpd="sng" w="12700">
            <a:solidFill>
              <a:srgbClr val="B8D4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5"/>
          <p:cNvSpPr/>
          <p:nvPr/>
        </p:nvSpPr>
        <p:spPr>
          <a:xfrm>
            <a:off x="6648492" y="3246971"/>
            <a:ext cx="24231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rgbClr val="16324F"/>
                </a:solidFill>
                <a:latin typeface="Cambria"/>
                <a:ea typeface="Cambria"/>
                <a:cs typeface="Cambria"/>
                <a:sym typeface="Cambria"/>
              </a:rPr>
              <a:t>3</a:t>
            </a:r>
            <a:endParaRPr b="0" i="0" sz="3000" u="none" cap="none" strike="noStrike">
              <a:solidFill>
                <a:srgbClr val="000000"/>
              </a:solidFill>
              <a:latin typeface="Arial"/>
              <a:ea typeface="Arial"/>
              <a:cs typeface="Arial"/>
              <a:sym typeface="Arial"/>
            </a:endParaRPr>
          </a:p>
        </p:txBody>
      </p:sp>
      <p:sp>
        <p:nvSpPr>
          <p:cNvPr id="288" name="Google Shape;288;p5"/>
          <p:cNvSpPr/>
          <p:nvPr/>
        </p:nvSpPr>
        <p:spPr>
          <a:xfrm>
            <a:off x="6648492" y="3887051"/>
            <a:ext cx="2423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IN" sz="1150" u="none" cap="none" strike="noStrike">
                <a:solidFill>
                  <a:srgbClr val="64748B"/>
                </a:solidFill>
                <a:latin typeface="Calibri"/>
                <a:ea typeface="Calibri"/>
                <a:cs typeface="Calibri"/>
                <a:sym typeface="Calibri"/>
              </a:rPr>
              <a:t>daily traffic periods</a:t>
            </a:r>
            <a:endParaRPr b="0" i="0" sz="1150" u="none" cap="none" strike="noStrike">
              <a:solidFill>
                <a:srgbClr val="000000"/>
              </a:solidFill>
              <a:latin typeface="Arial"/>
              <a:ea typeface="Arial"/>
              <a:cs typeface="Arial"/>
              <a:sym typeface="Arial"/>
            </a:endParaRPr>
          </a:p>
        </p:txBody>
      </p:sp>
      <p:sp>
        <p:nvSpPr>
          <p:cNvPr id="289" name="Google Shape;289;p5"/>
          <p:cNvSpPr/>
          <p:nvPr/>
        </p:nvSpPr>
        <p:spPr>
          <a:xfrm>
            <a:off x="9254532" y="3109811"/>
            <a:ext cx="2423160" cy="1234440"/>
          </a:xfrm>
          <a:prstGeom prst="roundRect">
            <a:avLst>
              <a:gd fmla="val 5926" name="adj"/>
            </a:avLst>
          </a:prstGeom>
          <a:solidFill>
            <a:srgbClr val="F7F9FA"/>
          </a:solidFill>
          <a:ln cap="flat" cmpd="sng" w="12700">
            <a:solidFill>
              <a:srgbClr val="B8D4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5"/>
          <p:cNvSpPr/>
          <p:nvPr/>
        </p:nvSpPr>
        <p:spPr>
          <a:xfrm>
            <a:off x="9254532" y="3246971"/>
            <a:ext cx="242316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rgbClr val="16324F"/>
                </a:solidFill>
                <a:latin typeface="Cambria"/>
                <a:ea typeface="Cambria"/>
                <a:cs typeface="Cambria"/>
                <a:sym typeface="Cambria"/>
              </a:rPr>
              <a:t>800</a:t>
            </a:r>
            <a:endParaRPr b="0" i="0" sz="3000" u="none" cap="none" strike="noStrike">
              <a:solidFill>
                <a:srgbClr val="000000"/>
              </a:solidFill>
              <a:latin typeface="Arial"/>
              <a:ea typeface="Arial"/>
              <a:cs typeface="Arial"/>
              <a:sym typeface="Arial"/>
            </a:endParaRPr>
          </a:p>
        </p:txBody>
      </p:sp>
      <p:sp>
        <p:nvSpPr>
          <p:cNvPr id="291" name="Google Shape;291;p5"/>
          <p:cNvSpPr/>
          <p:nvPr/>
        </p:nvSpPr>
        <p:spPr>
          <a:xfrm>
            <a:off x="9254532" y="3887051"/>
            <a:ext cx="2423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IN" sz="1150" u="none" cap="none" strike="noStrike">
                <a:solidFill>
                  <a:srgbClr val="64748B"/>
                </a:solidFill>
                <a:latin typeface="Calibri"/>
                <a:ea typeface="Calibri"/>
                <a:cs typeface="Calibri"/>
                <a:sym typeface="Calibri"/>
              </a:rPr>
              <a:t>survey participants</a:t>
            </a:r>
            <a:endParaRPr b="0" i="0" sz="1150" u="none" cap="none" strike="noStrike">
              <a:solidFill>
                <a:srgbClr val="000000"/>
              </a:solidFill>
              <a:latin typeface="Arial"/>
              <a:ea typeface="Arial"/>
              <a:cs typeface="Arial"/>
              <a:sym typeface="Arial"/>
            </a:endParaRPr>
          </a:p>
        </p:txBody>
      </p:sp>
      <p:sp>
        <p:nvSpPr>
          <p:cNvPr id="292" name="Google Shape;292;p5"/>
          <p:cNvSpPr/>
          <p:nvPr/>
        </p:nvSpPr>
        <p:spPr>
          <a:xfrm>
            <a:off x="6648492" y="4755731"/>
            <a:ext cx="4892040" cy="1097280"/>
          </a:xfrm>
          <a:prstGeom prst="roundRect">
            <a:avLst>
              <a:gd fmla="val 6667" name="adj"/>
            </a:avLst>
          </a:prstGeom>
          <a:solidFill>
            <a:srgbClr val="1632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5"/>
          <p:cNvSpPr/>
          <p:nvPr/>
        </p:nvSpPr>
        <p:spPr>
          <a:xfrm>
            <a:off x="6922812" y="4892891"/>
            <a:ext cx="438912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00000"/>
              </a:buClr>
              <a:buSzPts val="1300"/>
              <a:buFont typeface="Arial"/>
              <a:buNone/>
            </a:pPr>
            <a:r>
              <a:rPr b="1" i="0" lang="en-IN" sz="1300" u="none" cap="none" strike="noStrike">
                <a:solidFill>
                  <a:srgbClr val="FFFFFF"/>
                </a:solidFill>
                <a:latin typeface="Calibri"/>
                <a:ea typeface="Calibri"/>
                <a:cs typeface="Calibri"/>
                <a:sym typeface="Calibri"/>
              </a:rPr>
              <a:t>Key idea:  </a:t>
            </a:r>
            <a:r>
              <a:rPr b="0" i="0" lang="en-IN" sz="1300" u="none" cap="none" strike="noStrike">
                <a:solidFill>
                  <a:srgbClr val="E2E8F0"/>
                </a:solidFill>
                <a:latin typeface="Calibri"/>
                <a:ea typeface="Calibri"/>
                <a:cs typeface="Calibri"/>
                <a:sym typeface="Calibri"/>
              </a:rPr>
              <a:t>exposure is not concentration alone - it also depends on time spent inside that mode.</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6"/>
          <p:cNvSpPr txBox="1"/>
          <p:nvPr>
            <p:ph type="title"/>
          </p:nvPr>
        </p:nvSpPr>
        <p:spPr>
          <a:xfrm>
            <a:off x="256032" y="225653"/>
            <a:ext cx="11284500" cy="433566"/>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Reduction in pollution</a:t>
            </a:r>
            <a:br>
              <a:rPr lang="en-IN"/>
            </a:br>
            <a:endParaRPr b="0" sz="1600">
              <a:solidFill>
                <a:srgbClr val="009CD8"/>
              </a:solidFill>
            </a:endParaRPr>
          </a:p>
        </p:txBody>
      </p:sp>
      <p:sp>
        <p:nvSpPr>
          <p:cNvPr id="299" name="Google Shape;299;p6"/>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00" name="Google Shape;300;p6"/>
          <p:cNvSpPr/>
          <p:nvPr/>
        </p:nvSpPr>
        <p:spPr>
          <a:xfrm>
            <a:off x="384852" y="721563"/>
            <a:ext cx="111556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16324F"/>
                </a:solidFill>
                <a:latin typeface="Cambria"/>
                <a:ea typeface="Cambria"/>
                <a:cs typeface="Cambria"/>
                <a:sym typeface="Cambria"/>
              </a:rPr>
              <a:t>Main pollution-exposure findings</a:t>
            </a:r>
            <a:endParaRPr b="0" i="0" sz="2800" u="none" cap="none" strike="noStrike">
              <a:solidFill>
                <a:srgbClr val="000000"/>
              </a:solidFill>
              <a:latin typeface="Arial"/>
              <a:ea typeface="Arial"/>
              <a:cs typeface="Arial"/>
              <a:sym typeface="Arial"/>
            </a:endParaRPr>
          </a:p>
        </p:txBody>
      </p:sp>
      <p:sp>
        <p:nvSpPr>
          <p:cNvPr id="301" name="Google Shape;301;p6"/>
          <p:cNvSpPr/>
          <p:nvPr/>
        </p:nvSpPr>
        <p:spPr>
          <a:xfrm>
            <a:off x="384852" y="1233627"/>
            <a:ext cx="11155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1" lang="en-IN" sz="1400" u="none" cap="none" strike="noStrike">
                <a:solidFill>
                  <a:srgbClr val="64748B"/>
                </a:solidFill>
                <a:latin typeface="Calibri"/>
                <a:ea typeface="Calibri"/>
                <a:cs typeface="Calibri"/>
                <a:sym typeface="Calibri"/>
              </a:rPr>
              <a:t>Which mode drives which pollutant — and why bus riders still lose out</a:t>
            </a:r>
            <a:endParaRPr b="0" i="0" sz="1400" u="none" cap="none" strike="noStrike">
              <a:solidFill>
                <a:srgbClr val="000000"/>
              </a:solidFill>
              <a:latin typeface="Arial"/>
              <a:ea typeface="Arial"/>
              <a:cs typeface="Arial"/>
              <a:sym typeface="Arial"/>
            </a:endParaRPr>
          </a:p>
        </p:txBody>
      </p:sp>
      <p:sp>
        <p:nvSpPr>
          <p:cNvPr id="302" name="Google Shape;302;p6"/>
          <p:cNvSpPr/>
          <p:nvPr/>
        </p:nvSpPr>
        <p:spPr>
          <a:xfrm>
            <a:off x="384852" y="1709115"/>
            <a:ext cx="2606040" cy="1783080"/>
          </a:xfrm>
          <a:prstGeom prst="roundRect">
            <a:avLst>
              <a:gd fmla="val 4103" name="adj"/>
            </a:avLst>
          </a:prstGeom>
          <a:solidFill>
            <a:srgbClr val="F7F9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6"/>
          <p:cNvSpPr/>
          <p:nvPr/>
        </p:nvSpPr>
        <p:spPr>
          <a:xfrm>
            <a:off x="567732" y="1891995"/>
            <a:ext cx="411480" cy="411480"/>
          </a:xfrm>
          <a:prstGeom prst="roundRect">
            <a:avLst>
              <a:gd fmla="val 111111" name="adj"/>
            </a:avLst>
          </a:prstGeom>
          <a:solidFill>
            <a:srgbClr val="009CD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6"/>
          <p:cNvSpPr/>
          <p:nvPr/>
        </p:nvSpPr>
        <p:spPr>
          <a:xfrm>
            <a:off x="567732" y="2440635"/>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IN" sz="1500" u="none" cap="none" strike="noStrike">
                <a:solidFill>
                  <a:srgbClr val="16324F"/>
                </a:solidFill>
                <a:latin typeface="Calibri"/>
                <a:ea typeface="Calibri"/>
                <a:cs typeface="Calibri"/>
                <a:sym typeface="Calibri"/>
              </a:rPr>
              <a:t>Auto-rickshaw</a:t>
            </a:r>
            <a:endParaRPr b="0" i="0" sz="1500" u="none" cap="none" strike="noStrike">
              <a:solidFill>
                <a:srgbClr val="000000"/>
              </a:solidFill>
              <a:latin typeface="Arial"/>
              <a:ea typeface="Arial"/>
              <a:cs typeface="Arial"/>
              <a:sym typeface="Arial"/>
            </a:endParaRPr>
          </a:p>
        </p:txBody>
      </p:sp>
      <p:sp>
        <p:nvSpPr>
          <p:cNvPr id="305" name="Google Shape;305;p6"/>
          <p:cNvSpPr/>
          <p:nvPr/>
        </p:nvSpPr>
        <p:spPr>
          <a:xfrm>
            <a:off x="567732" y="2806395"/>
            <a:ext cx="224028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150"/>
              <a:buFont typeface="Arial"/>
              <a:buNone/>
            </a:pPr>
            <a:r>
              <a:rPr b="0" i="0" lang="en-IN" sz="1150" u="none" cap="none" strike="noStrike">
                <a:solidFill>
                  <a:srgbClr val="1E293B"/>
                </a:solidFill>
                <a:latin typeface="Calibri"/>
                <a:ea typeface="Calibri"/>
                <a:cs typeface="Calibri"/>
                <a:sym typeface="Calibri"/>
              </a:rPr>
              <a:t>Highest particle number; high PM₂.₅ and PM₁₀</a:t>
            </a:r>
            <a:endParaRPr b="0" i="0" sz="1150" u="none" cap="none" strike="noStrike">
              <a:solidFill>
                <a:srgbClr val="000000"/>
              </a:solidFill>
              <a:latin typeface="Arial"/>
              <a:ea typeface="Arial"/>
              <a:cs typeface="Arial"/>
              <a:sym typeface="Arial"/>
            </a:endParaRPr>
          </a:p>
        </p:txBody>
      </p:sp>
      <p:sp>
        <p:nvSpPr>
          <p:cNvPr id="306" name="Google Shape;306;p6"/>
          <p:cNvSpPr/>
          <p:nvPr/>
        </p:nvSpPr>
        <p:spPr>
          <a:xfrm>
            <a:off x="3219492" y="1709115"/>
            <a:ext cx="2606040" cy="1783080"/>
          </a:xfrm>
          <a:prstGeom prst="roundRect">
            <a:avLst>
              <a:gd fmla="val 4103" name="adj"/>
            </a:avLst>
          </a:prstGeom>
          <a:solidFill>
            <a:srgbClr val="F7F9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6"/>
          <p:cNvSpPr/>
          <p:nvPr/>
        </p:nvSpPr>
        <p:spPr>
          <a:xfrm>
            <a:off x="3402372" y="1891995"/>
            <a:ext cx="411480" cy="411480"/>
          </a:xfrm>
          <a:prstGeom prst="roundRect">
            <a:avLst>
              <a:gd fmla="val 111111" name="adj"/>
            </a:avLst>
          </a:prstGeom>
          <a:solidFill>
            <a:srgbClr val="86BB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6"/>
          <p:cNvSpPr/>
          <p:nvPr/>
        </p:nvSpPr>
        <p:spPr>
          <a:xfrm>
            <a:off x="3402372" y="2440635"/>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IN" sz="1500" u="none" cap="none" strike="noStrike">
                <a:solidFill>
                  <a:srgbClr val="16324F"/>
                </a:solidFill>
                <a:latin typeface="Calibri"/>
                <a:ea typeface="Calibri"/>
                <a:cs typeface="Calibri"/>
                <a:sym typeface="Calibri"/>
              </a:rPr>
              <a:t>Car</a:t>
            </a:r>
            <a:endParaRPr b="0" i="0" sz="1500" u="none" cap="none" strike="noStrike">
              <a:solidFill>
                <a:srgbClr val="000000"/>
              </a:solidFill>
              <a:latin typeface="Arial"/>
              <a:ea typeface="Arial"/>
              <a:cs typeface="Arial"/>
              <a:sym typeface="Arial"/>
            </a:endParaRPr>
          </a:p>
        </p:txBody>
      </p:sp>
      <p:sp>
        <p:nvSpPr>
          <p:cNvPr id="309" name="Google Shape;309;p6"/>
          <p:cNvSpPr/>
          <p:nvPr/>
        </p:nvSpPr>
        <p:spPr>
          <a:xfrm>
            <a:off x="3402372" y="2806395"/>
            <a:ext cx="224028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150"/>
              <a:buFont typeface="Arial"/>
              <a:buNone/>
            </a:pPr>
            <a:r>
              <a:rPr b="0" i="0" lang="en-IN" sz="1150" u="none" cap="none" strike="noStrike">
                <a:solidFill>
                  <a:srgbClr val="1E293B"/>
                </a:solidFill>
                <a:latin typeface="Calibri"/>
                <a:ea typeface="Calibri"/>
                <a:cs typeface="Calibri"/>
                <a:sym typeface="Calibri"/>
              </a:rPr>
              <a:t>Highest TVOC concentration</a:t>
            </a:r>
            <a:endParaRPr b="0" i="0" sz="1150" u="none" cap="none" strike="noStrike">
              <a:solidFill>
                <a:srgbClr val="000000"/>
              </a:solidFill>
              <a:latin typeface="Arial"/>
              <a:ea typeface="Arial"/>
              <a:cs typeface="Arial"/>
              <a:sym typeface="Arial"/>
            </a:endParaRPr>
          </a:p>
        </p:txBody>
      </p:sp>
      <p:sp>
        <p:nvSpPr>
          <p:cNvPr id="310" name="Google Shape;310;p6"/>
          <p:cNvSpPr/>
          <p:nvPr/>
        </p:nvSpPr>
        <p:spPr>
          <a:xfrm>
            <a:off x="6054132" y="1709115"/>
            <a:ext cx="2606040" cy="1783080"/>
          </a:xfrm>
          <a:prstGeom prst="roundRect">
            <a:avLst>
              <a:gd fmla="val 4103" name="adj"/>
            </a:avLst>
          </a:prstGeom>
          <a:solidFill>
            <a:srgbClr val="F7F9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6"/>
          <p:cNvSpPr/>
          <p:nvPr/>
        </p:nvSpPr>
        <p:spPr>
          <a:xfrm>
            <a:off x="6237012" y="1891995"/>
            <a:ext cx="411480" cy="411480"/>
          </a:xfrm>
          <a:prstGeom prst="roundRect">
            <a:avLst>
              <a:gd fmla="val 111111" name="adj"/>
            </a:avLst>
          </a:prstGeom>
          <a:solidFill>
            <a:srgbClr val="F1622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6"/>
          <p:cNvSpPr/>
          <p:nvPr/>
        </p:nvSpPr>
        <p:spPr>
          <a:xfrm>
            <a:off x="6237012" y="2440635"/>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IN" sz="1500" u="none" cap="none" strike="noStrike">
                <a:solidFill>
                  <a:srgbClr val="16324F"/>
                </a:solidFill>
                <a:latin typeface="Calibri"/>
                <a:ea typeface="Calibri"/>
                <a:cs typeface="Calibri"/>
                <a:sym typeface="Calibri"/>
              </a:rPr>
              <a:t>Motorbike</a:t>
            </a:r>
            <a:endParaRPr b="0" i="0" sz="1500" u="none" cap="none" strike="noStrike">
              <a:solidFill>
                <a:srgbClr val="000000"/>
              </a:solidFill>
              <a:latin typeface="Arial"/>
              <a:ea typeface="Arial"/>
              <a:cs typeface="Arial"/>
              <a:sym typeface="Arial"/>
            </a:endParaRPr>
          </a:p>
        </p:txBody>
      </p:sp>
      <p:sp>
        <p:nvSpPr>
          <p:cNvPr id="313" name="Google Shape;313;p6"/>
          <p:cNvSpPr/>
          <p:nvPr/>
        </p:nvSpPr>
        <p:spPr>
          <a:xfrm>
            <a:off x="6237012" y="2806395"/>
            <a:ext cx="224028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150"/>
              <a:buFont typeface="Arial"/>
              <a:buNone/>
            </a:pPr>
            <a:r>
              <a:rPr b="0" i="0" lang="en-IN" sz="1150" u="none" cap="none" strike="noStrike">
                <a:solidFill>
                  <a:srgbClr val="1E293B"/>
                </a:solidFill>
                <a:latin typeface="Calibri"/>
                <a:ea typeface="Calibri"/>
                <a:cs typeface="Calibri"/>
                <a:sym typeface="Calibri"/>
              </a:rPr>
              <a:t>Highest CO concentration</a:t>
            </a:r>
            <a:endParaRPr b="0" i="0" sz="1150" u="none" cap="none" strike="noStrike">
              <a:solidFill>
                <a:srgbClr val="000000"/>
              </a:solidFill>
              <a:latin typeface="Arial"/>
              <a:ea typeface="Arial"/>
              <a:cs typeface="Arial"/>
              <a:sym typeface="Arial"/>
            </a:endParaRPr>
          </a:p>
        </p:txBody>
      </p:sp>
      <p:sp>
        <p:nvSpPr>
          <p:cNvPr id="314" name="Google Shape;314;p6"/>
          <p:cNvSpPr/>
          <p:nvPr/>
        </p:nvSpPr>
        <p:spPr>
          <a:xfrm>
            <a:off x="8888772" y="1709115"/>
            <a:ext cx="2606040" cy="1783080"/>
          </a:xfrm>
          <a:prstGeom prst="roundRect">
            <a:avLst>
              <a:gd fmla="val 4103" name="adj"/>
            </a:avLst>
          </a:prstGeom>
          <a:solidFill>
            <a:srgbClr val="F7F9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6"/>
          <p:cNvSpPr/>
          <p:nvPr/>
        </p:nvSpPr>
        <p:spPr>
          <a:xfrm>
            <a:off x="9071652" y="1891995"/>
            <a:ext cx="411480" cy="411480"/>
          </a:xfrm>
          <a:prstGeom prst="roundRect">
            <a:avLst>
              <a:gd fmla="val 111111" name="adj"/>
            </a:avLst>
          </a:prstGeom>
          <a:solidFill>
            <a:srgbClr val="1632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6"/>
          <p:cNvSpPr/>
          <p:nvPr/>
        </p:nvSpPr>
        <p:spPr>
          <a:xfrm>
            <a:off x="9071652" y="2440635"/>
            <a:ext cx="2240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IN" sz="1500" u="none" cap="none" strike="noStrike">
                <a:solidFill>
                  <a:srgbClr val="16324F"/>
                </a:solidFill>
                <a:latin typeface="Calibri"/>
                <a:ea typeface="Calibri"/>
                <a:cs typeface="Calibri"/>
                <a:sym typeface="Calibri"/>
              </a:rPr>
              <a:t>Suburban train</a:t>
            </a:r>
            <a:endParaRPr b="0" i="0" sz="1500" u="none" cap="none" strike="noStrike">
              <a:solidFill>
                <a:srgbClr val="000000"/>
              </a:solidFill>
              <a:latin typeface="Arial"/>
              <a:ea typeface="Arial"/>
              <a:cs typeface="Arial"/>
              <a:sym typeface="Arial"/>
            </a:endParaRPr>
          </a:p>
        </p:txBody>
      </p:sp>
      <p:sp>
        <p:nvSpPr>
          <p:cNvPr id="317" name="Google Shape;317;p6"/>
          <p:cNvSpPr/>
          <p:nvPr/>
        </p:nvSpPr>
        <p:spPr>
          <a:xfrm>
            <a:off x="9071652" y="2806395"/>
            <a:ext cx="2240280"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150"/>
              <a:buFont typeface="Arial"/>
              <a:buNone/>
            </a:pPr>
            <a:r>
              <a:rPr b="0" i="0" lang="en-IN" sz="1150" u="none" cap="none" strike="noStrike">
                <a:solidFill>
                  <a:srgbClr val="1E293B"/>
                </a:solidFill>
                <a:latin typeface="Calibri"/>
                <a:ea typeface="Calibri"/>
                <a:cs typeface="Calibri"/>
                <a:sym typeface="Calibri"/>
              </a:rPr>
              <a:t>Lowest overall exposure among studied modes</a:t>
            </a:r>
            <a:endParaRPr b="0" i="0" sz="1150" u="none" cap="none" strike="noStrike">
              <a:solidFill>
                <a:srgbClr val="000000"/>
              </a:solidFill>
              <a:latin typeface="Arial"/>
              <a:ea typeface="Arial"/>
              <a:cs typeface="Arial"/>
              <a:sym typeface="Arial"/>
            </a:endParaRPr>
          </a:p>
        </p:txBody>
      </p:sp>
      <p:sp>
        <p:nvSpPr>
          <p:cNvPr id="318" name="Google Shape;318;p6"/>
          <p:cNvSpPr/>
          <p:nvPr/>
        </p:nvSpPr>
        <p:spPr>
          <a:xfrm>
            <a:off x="384852" y="3766515"/>
            <a:ext cx="11155680" cy="731520"/>
          </a:xfrm>
          <a:prstGeom prst="roundRect">
            <a:avLst>
              <a:gd fmla="val 5926" name="adj"/>
            </a:avLst>
          </a:prstGeom>
          <a:solidFill>
            <a:srgbClr val="FBF3E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6"/>
          <p:cNvSpPr/>
          <p:nvPr/>
        </p:nvSpPr>
        <p:spPr>
          <a:xfrm>
            <a:off x="659172" y="3931107"/>
            <a:ext cx="10607040" cy="47279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300"/>
              <a:buFont typeface="Arial"/>
              <a:buNone/>
            </a:pPr>
            <a:r>
              <a:rPr b="1" i="0" lang="en-IN" sz="1300" u="none" cap="none" strike="noStrike">
                <a:solidFill>
                  <a:srgbClr val="16324F"/>
                </a:solidFill>
                <a:latin typeface="Calibri"/>
                <a:ea typeface="Calibri"/>
                <a:cs typeface="Calibri"/>
                <a:sym typeface="Calibri"/>
              </a:rPr>
              <a:t>Why the bus result matters:  </a:t>
            </a:r>
            <a:r>
              <a:rPr b="0" i="0" lang="en-IN" sz="1300" u="none" cap="none" strike="noStrike">
                <a:solidFill>
                  <a:srgbClr val="1E293B"/>
                </a:solidFill>
                <a:latin typeface="Calibri"/>
                <a:ea typeface="Calibri"/>
                <a:cs typeface="Calibri"/>
                <a:sym typeface="Calibri"/>
              </a:rPr>
              <a:t>buses had lower pollutant concentrations than most road modes, but bus users still accumulated a high inhaled dose - trips ran ~1.2x longer due to congestion and slower speeds. </a:t>
            </a:r>
            <a:endParaRPr b="0" i="0" sz="1300" u="none" cap="none" strike="noStrike">
              <a:solidFill>
                <a:srgbClr val="000000"/>
              </a:solidFill>
              <a:latin typeface="Arial"/>
              <a:ea typeface="Arial"/>
              <a:cs typeface="Arial"/>
              <a:sym typeface="Arial"/>
            </a:endParaRPr>
          </a:p>
        </p:txBody>
      </p:sp>
      <p:sp>
        <p:nvSpPr>
          <p:cNvPr id="320" name="Google Shape;320;p6"/>
          <p:cNvSpPr/>
          <p:nvPr/>
        </p:nvSpPr>
        <p:spPr>
          <a:xfrm>
            <a:off x="384852" y="4685487"/>
            <a:ext cx="11155680" cy="768096"/>
          </a:xfrm>
          <a:prstGeom prst="roundRect">
            <a:avLst>
              <a:gd fmla="val 6957" name="adj"/>
            </a:avLst>
          </a:prstGeom>
          <a:solidFill>
            <a:srgbClr val="1632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6"/>
          <p:cNvSpPr/>
          <p:nvPr/>
        </p:nvSpPr>
        <p:spPr>
          <a:xfrm>
            <a:off x="651468" y="4791584"/>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IN" sz="1050" u="none" cap="none" strike="noStrike">
                <a:solidFill>
                  <a:srgbClr val="B8D4F0"/>
                </a:solidFill>
                <a:latin typeface="Calibri"/>
                <a:ea typeface="Calibri"/>
                <a:cs typeface="Calibri"/>
                <a:sym typeface="Calibri"/>
              </a:rPr>
              <a:t>EXPOSURE SHARE BY GROUP</a:t>
            </a:r>
            <a:endParaRPr b="0" i="0" sz="1050" u="none" cap="none" strike="noStrike">
              <a:solidFill>
                <a:srgbClr val="000000"/>
              </a:solidFill>
              <a:latin typeface="Arial"/>
              <a:ea typeface="Arial"/>
              <a:cs typeface="Arial"/>
              <a:sym typeface="Arial"/>
            </a:endParaRPr>
          </a:p>
        </p:txBody>
      </p:sp>
      <p:sp>
        <p:nvSpPr>
          <p:cNvPr id="322" name="Google Shape;322;p6"/>
          <p:cNvSpPr/>
          <p:nvPr/>
        </p:nvSpPr>
        <p:spPr>
          <a:xfrm>
            <a:off x="659172" y="5123873"/>
            <a:ext cx="10607040" cy="2743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300"/>
              <a:buFont typeface="Arial"/>
              <a:buNone/>
            </a:pPr>
            <a:r>
              <a:rPr b="1" i="0" lang="en-IN" sz="1300" u="none" cap="none" strike="noStrike">
                <a:solidFill>
                  <a:srgbClr val="FFFFFF"/>
                </a:solidFill>
                <a:latin typeface="Calibri"/>
                <a:ea typeface="Calibri"/>
                <a:cs typeface="Calibri"/>
                <a:sym typeface="Calibri"/>
              </a:rPr>
              <a:t>Office commuters:  </a:t>
            </a:r>
            <a:r>
              <a:rPr b="0" i="0" lang="en-IN" sz="1300" u="none" cap="none" strike="noStrike">
                <a:solidFill>
                  <a:srgbClr val="E2E8F0"/>
                </a:solidFill>
                <a:latin typeface="Calibri"/>
                <a:ea typeface="Calibri"/>
                <a:cs typeface="Calibri"/>
                <a:sym typeface="Calibri"/>
              </a:rPr>
              <a:t>~25–30% of daily dose occurs during work-related travel.   </a:t>
            </a:r>
            <a:r>
              <a:rPr b="1" i="0" lang="en-IN" sz="1300" u="none" cap="none" strike="noStrike">
                <a:solidFill>
                  <a:srgbClr val="FFFFFF"/>
                </a:solidFill>
                <a:latin typeface="Calibri"/>
                <a:ea typeface="Calibri"/>
                <a:cs typeface="Calibri"/>
                <a:sym typeface="Calibri"/>
              </a:rPr>
              <a:t>Road-based workers:  </a:t>
            </a:r>
            <a:r>
              <a:rPr b="0" i="0" lang="en-IN" sz="1300" u="none" cap="none" strike="noStrike">
                <a:solidFill>
                  <a:srgbClr val="E2E8F0"/>
                </a:solidFill>
                <a:latin typeface="Calibri"/>
                <a:ea typeface="Calibri"/>
                <a:cs typeface="Calibri"/>
                <a:sym typeface="Calibri"/>
              </a:rPr>
              <a:t>~90% of daily dose occurs during work hours.</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7"/>
          <p:cNvSpPr txBox="1"/>
          <p:nvPr>
            <p:ph type="title"/>
          </p:nvPr>
        </p:nvSpPr>
        <p:spPr>
          <a:xfrm>
            <a:off x="256032" y="225653"/>
            <a:ext cx="11284500" cy="433566"/>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Reduction in pollution</a:t>
            </a:r>
            <a:br>
              <a:rPr lang="en-IN"/>
            </a:br>
            <a:endParaRPr b="0" sz="1600">
              <a:solidFill>
                <a:srgbClr val="009CD8"/>
              </a:solidFill>
            </a:endParaRPr>
          </a:p>
        </p:txBody>
      </p:sp>
      <p:sp>
        <p:nvSpPr>
          <p:cNvPr id="328" name="Google Shape;328;p7"/>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29" name="Google Shape;329;p7"/>
          <p:cNvSpPr/>
          <p:nvPr/>
        </p:nvSpPr>
        <p:spPr>
          <a:xfrm>
            <a:off x="457200" y="566928"/>
            <a:ext cx="111556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IN" sz="2800" u="none" cap="none" strike="noStrike">
                <a:solidFill>
                  <a:srgbClr val="16324F"/>
                </a:solidFill>
                <a:latin typeface="Cambria"/>
                <a:ea typeface="Cambria"/>
                <a:cs typeface="Cambria"/>
                <a:sym typeface="Cambria"/>
              </a:rPr>
              <a:t>Turning the paper into a pollution-reduction output</a:t>
            </a:r>
            <a:endParaRPr b="0" i="0" sz="2800" u="none" cap="none" strike="noStrike">
              <a:solidFill>
                <a:srgbClr val="000000"/>
              </a:solidFill>
              <a:latin typeface="Arial"/>
              <a:ea typeface="Arial"/>
              <a:cs typeface="Arial"/>
              <a:sym typeface="Arial"/>
            </a:endParaRPr>
          </a:p>
        </p:txBody>
      </p:sp>
      <p:sp>
        <p:nvSpPr>
          <p:cNvPr id="330" name="Google Shape;330;p7"/>
          <p:cNvSpPr/>
          <p:nvPr/>
        </p:nvSpPr>
        <p:spPr>
          <a:xfrm>
            <a:off x="457200" y="1078992"/>
            <a:ext cx="111556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1" lang="en-IN" sz="1400" u="none" cap="none" strike="noStrike">
                <a:solidFill>
                  <a:srgbClr val="64748B"/>
                </a:solidFill>
                <a:latin typeface="Calibri"/>
                <a:ea typeface="Calibri"/>
                <a:cs typeface="Calibri"/>
                <a:sym typeface="Calibri"/>
              </a:rPr>
              <a:t>Use for personal exposure reduction, not city-wide emissions directly</a:t>
            </a:r>
            <a:endParaRPr b="0" i="0" sz="1400" u="none" cap="none" strike="noStrike">
              <a:solidFill>
                <a:srgbClr val="000000"/>
              </a:solidFill>
              <a:latin typeface="Arial"/>
              <a:ea typeface="Arial"/>
              <a:cs typeface="Arial"/>
              <a:sym typeface="Arial"/>
            </a:endParaRPr>
          </a:p>
        </p:txBody>
      </p:sp>
      <p:sp>
        <p:nvSpPr>
          <p:cNvPr id="331" name="Google Shape;331;p7"/>
          <p:cNvSpPr/>
          <p:nvPr/>
        </p:nvSpPr>
        <p:spPr>
          <a:xfrm>
            <a:off x="457200" y="1600200"/>
            <a:ext cx="3657600" cy="2103120"/>
          </a:xfrm>
          <a:prstGeom prst="roundRect">
            <a:avLst>
              <a:gd fmla="val 3478" name="adj"/>
            </a:avLst>
          </a:prstGeom>
          <a:solidFill>
            <a:srgbClr val="FBF3E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7"/>
          <p:cNvSpPr/>
          <p:nvPr/>
        </p:nvSpPr>
        <p:spPr>
          <a:xfrm>
            <a:off x="685800" y="1755648"/>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IN" sz="1050" u="none" cap="none" strike="noStrike">
                <a:solidFill>
                  <a:srgbClr val="16324F"/>
                </a:solidFill>
                <a:latin typeface="Calibri"/>
                <a:ea typeface="Calibri"/>
                <a:cs typeface="Calibri"/>
                <a:sym typeface="Calibri"/>
              </a:rPr>
              <a:t>CORE DOSE EQUATION</a:t>
            </a:r>
            <a:endParaRPr b="0" i="0" sz="1050" u="none" cap="none" strike="noStrike">
              <a:solidFill>
                <a:srgbClr val="000000"/>
              </a:solidFill>
              <a:latin typeface="Arial"/>
              <a:ea typeface="Arial"/>
              <a:cs typeface="Arial"/>
              <a:sym typeface="Arial"/>
            </a:endParaRPr>
          </a:p>
        </p:txBody>
      </p:sp>
      <p:sp>
        <p:nvSpPr>
          <p:cNvPr id="333" name="Google Shape;333;p7"/>
          <p:cNvSpPr/>
          <p:nvPr/>
        </p:nvSpPr>
        <p:spPr>
          <a:xfrm>
            <a:off x="685800" y="2103120"/>
            <a:ext cx="32004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IN" sz="2600" u="none" cap="none" strike="noStrike">
                <a:solidFill>
                  <a:srgbClr val="16324F"/>
                </a:solidFill>
                <a:latin typeface="Cambria"/>
                <a:ea typeface="Cambria"/>
                <a:cs typeface="Cambria"/>
                <a:sym typeface="Cambria"/>
              </a:rPr>
              <a:t>D = C × IR × t</a:t>
            </a:r>
            <a:endParaRPr b="0" i="0" sz="2600" u="none" cap="none" strike="noStrike">
              <a:solidFill>
                <a:srgbClr val="000000"/>
              </a:solidFill>
              <a:latin typeface="Arial"/>
              <a:ea typeface="Arial"/>
              <a:cs typeface="Arial"/>
              <a:sym typeface="Arial"/>
            </a:endParaRPr>
          </a:p>
        </p:txBody>
      </p:sp>
      <p:sp>
        <p:nvSpPr>
          <p:cNvPr id="334" name="Google Shape;334;p7"/>
          <p:cNvSpPr/>
          <p:nvPr/>
        </p:nvSpPr>
        <p:spPr>
          <a:xfrm>
            <a:off x="685800" y="2743200"/>
            <a:ext cx="320040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0" i="0" lang="en-IN" sz="1100" u="none" cap="none" strike="noStrike">
                <a:solidFill>
                  <a:srgbClr val="1E293B"/>
                </a:solidFill>
                <a:latin typeface="Calibri"/>
                <a:ea typeface="Calibri"/>
                <a:cs typeface="Calibri"/>
                <a:sym typeface="Calibri"/>
              </a:rPr>
              <a:t>D = inhaled dose</a:t>
            </a:r>
            <a:endParaRPr b="0" i="0" sz="11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100"/>
              <a:buFont typeface="Arial"/>
              <a:buNone/>
            </a:pPr>
            <a:r>
              <a:rPr b="0" i="0" lang="en-IN" sz="1100" u="none" cap="none" strike="noStrike">
                <a:solidFill>
                  <a:srgbClr val="1E293B"/>
                </a:solidFill>
                <a:latin typeface="Calibri"/>
                <a:ea typeface="Calibri"/>
                <a:cs typeface="Calibri"/>
                <a:sym typeface="Calibri"/>
              </a:rPr>
              <a:t>C = in-mode concentration</a:t>
            </a:r>
            <a:endParaRPr b="0" i="0" sz="11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100"/>
              <a:buFont typeface="Arial"/>
              <a:buNone/>
            </a:pPr>
            <a:r>
              <a:rPr b="0" i="0" lang="en-IN" sz="1100" u="none" cap="none" strike="noStrike">
                <a:solidFill>
                  <a:srgbClr val="1E293B"/>
                </a:solidFill>
                <a:latin typeface="Calibri"/>
                <a:ea typeface="Calibri"/>
                <a:cs typeface="Calibri"/>
                <a:sym typeface="Calibri"/>
              </a:rPr>
              <a:t>IR = inhalation rate</a:t>
            </a:r>
            <a:endParaRPr b="0" i="0" sz="11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100"/>
              <a:buFont typeface="Arial"/>
              <a:buNone/>
            </a:pPr>
            <a:r>
              <a:rPr b="0" i="0" lang="en-IN" sz="1100" u="none" cap="none" strike="noStrike">
                <a:solidFill>
                  <a:srgbClr val="1E293B"/>
                </a:solidFill>
                <a:latin typeface="Calibri"/>
                <a:ea typeface="Calibri"/>
                <a:cs typeface="Calibri"/>
                <a:sym typeface="Calibri"/>
              </a:rPr>
              <a:t>t = travel time</a:t>
            </a:r>
            <a:endParaRPr b="0" i="0" sz="1100" u="none" cap="none" strike="noStrike">
              <a:solidFill>
                <a:srgbClr val="000000"/>
              </a:solidFill>
              <a:latin typeface="Arial"/>
              <a:ea typeface="Arial"/>
              <a:cs typeface="Arial"/>
              <a:sym typeface="Arial"/>
            </a:endParaRPr>
          </a:p>
        </p:txBody>
      </p:sp>
      <p:sp>
        <p:nvSpPr>
          <p:cNvPr id="335" name="Google Shape;335;p7"/>
          <p:cNvSpPr/>
          <p:nvPr/>
        </p:nvSpPr>
        <p:spPr>
          <a:xfrm>
            <a:off x="4343400" y="1600200"/>
            <a:ext cx="3566160" cy="960120"/>
          </a:xfrm>
          <a:prstGeom prst="roundRect">
            <a:avLst>
              <a:gd fmla="val 7619" name="adj"/>
            </a:avLst>
          </a:prstGeom>
          <a:solidFill>
            <a:srgbClr val="F7F9FA"/>
          </a:solidFill>
          <a:ln cap="flat" cmpd="sng" w="12700">
            <a:solidFill>
              <a:srgbClr val="B8D4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7"/>
          <p:cNvSpPr/>
          <p:nvPr/>
        </p:nvSpPr>
        <p:spPr>
          <a:xfrm>
            <a:off x="4526280" y="1691640"/>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IN" sz="1050" u="none" cap="none" strike="noStrike">
                <a:solidFill>
                  <a:srgbClr val="64748B"/>
                </a:solidFill>
                <a:latin typeface="Calibri"/>
                <a:ea typeface="Calibri"/>
                <a:cs typeface="Calibri"/>
                <a:sym typeface="Calibri"/>
              </a:rPr>
              <a:t>BEFORE (prior mode)</a:t>
            </a:r>
            <a:endParaRPr b="0" i="0" sz="1050" u="none" cap="none" strike="noStrike">
              <a:solidFill>
                <a:srgbClr val="000000"/>
              </a:solidFill>
              <a:latin typeface="Arial"/>
              <a:ea typeface="Arial"/>
              <a:cs typeface="Arial"/>
              <a:sym typeface="Arial"/>
            </a:endParaRPr>
          </a:p>
        </p:txBody>
      </p:sp>
      <p:sp>
        <p:nvSpPr>
          <p:cNvPr id="337" name="Google Shape;337;p7"/>
          <p:cNvSpPr/>
          <p:nvPr/>
        </p:nvSpPr>
        <p:spPr>
          <a:xfrm>
            <a:off x="4526280" y="1965960"/>
            <a:ext cx="3200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IN" sz="1500" u="none" cap="none" strike="noStrike">
                <a:solidFill>
                  <a:srgbClr val="16324F"/>
                </a:solidFill>
                <a:latin typeface="Cambria"/>
                <a:ea typeface="Cambria"/>
                <a:cs typeface="Cambria"/>
                <a:sym typeface="Cambria"/>
              </a:rPr>
              <a:t>C_previous × IR × t_previous</a:t>
            </a:r>
            <a:endParaRPr b="0" i="0" sz="1500" u="none" cap="none" strike="noStrike">
              <a:solidFill>
                <a:srgbClr val="000000"/>
              </a:solidFill>
              <a:latin typeface="Arial"/>
              <a:ea typeface="Arial"/>
              <a:cs typeface="Arial"/>
              <a:sym typeface="Arial"/>
            </a:endParaRPr>
          </a:p>
        </p:txBody>
      </p:sp>
      <p:sp>
        <p:nvSpPr>
          <p:cNvPr id="338" name="Google Shape;338;p7"/>
          <p:cNvSpPr/>
          <p:nvPr/>
        </p:nvSpPr>
        <p:spPr>
          <a:xfrm>
            <a:off x="4343400" y="2697480"/>
            <a:ext cx="3566160" cy="960120"/>
          </a:xfrm>
          <a:prstGeom prst="roundRect">
            <a:avLst>
              <a:gd fmla="val 7619" name="adj"/>
            </a:avLst>
          </a:prstGeom>
          <a:solidFill>
            <a:srgbClr val="F7F9FA"/>
          </a:solidFill>
          <a:ln cap="flat" cmpd="sng" w="12700">
            <a:solidFill>
              <a:srgbClr val="B8D4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7"/>
          <p:cNvSpPr/>
          <p:nvPr/>
        </p:nvSpPr>
        <p:spPr>
          <a:xfrm>
            <a:off x="4526280" y="2788920"/>
            <a:ext cx="3200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IN" sz="1050" u="none" cap="none" strike="noStrike">
                <a:solidFill>
                  <a:srgbClr val="64748B"/>
                </a:solidFill>
                <a:latin typeface="Calibri"/>
                <a:ea typeface="Calibri"/>
                <a:cs typeface="Calibri"/>
                <a:sym typeface="Calibri"/>
              </a:rPr>
              <a:t>AFTER (bus)</a:t>
            </a:r>
            <a:endParaRPr b="0" i="0" sz="1050" u="none" cap="none" strike="noStrike">
              <a:solidFill>
                <a:srgbClr val="000000"/>
              </a:solidFill>
              <a:latin typeface="Arial"/>
              <a:ea typeface="Arial"/>
              <a:cs typeface="Arial"/>
              <a:sym typeface="Arial"/>
            </a:endParaRPr>
          </a:p>
        </p:txBody>
      </p:sp>
      <p:sp>
        <p:nvSpPr>
          <p:cNvPr id="340" name="Google Shape;340;p7"/>
          <p:cNvSpPr/>
          <p:nvPr/>
        </p:nvSpPr>
        <p:spPr>
          <a:xfrm>
            <a:off x="4526280" y="3063240"/>
            <a:ext cx="3200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IN" sz="1500" u="none" cap="none" strike="noStrike">
                <a:solidFill>
                  <a:srgbClr val="16324F"/>
                </a:solidFill>
                <a:latin typeface="Cambria"/>
                <a:ea typeface="Cambria"/>
                <a:cs typeface="Cambria"/>
                <a:sym typeface="Cambria"/>
              </a:rPr>
              <a:t>C_bus × IR × t_bus</a:t>
            </a:r>
            <a:endParaRPr b="0" i="0" sz="1500" u="none" cap="none" strike="noStrike">
              <a:solidFill>
                <a:srgbClr val="000000"/>
              </a:solidFill>
              <a:latin typeface="Arial"/>
              <a:ea typeface="Arial"/>
              <a:cs typeface="Arial"/>
              <a:sym typeface="Arial"/>
            </a:endParaRPr>
          </a:p>
        </p:txBody>
      </p:sp>
      <p:sp>
        <p:nvSpPr>
          <p:cNvPr id="341" name="Google Shape;341;p7"/>
          <p:cNvSpPr/>
          <p:nvPr/>
        </p:nvSpPr>
        <p:spPr>
          <a:xfrm>
            <a:off x="8092440" y="1600200"/>
            <a:ext cx="3520440" cy="2103120"/>
          </a:xfrm>
          <a:prstGeom prst="roundRect">
            <a:avLst>
              <a:gd fmla="val 3478" name="adj"/>
            </a:avLst>
          </a:prstGeom>
          <a:solidFill>
            <a:srgbClr val="16324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7"/>
          <p:cNvSpPr/>
          <p:nvPr/>
        </p:nvSpPr>
        <p:spPr>
          <a:xfrm>
            <a:off x="8321040" y="1755648"/>
            <a:ext cx="30632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IN" sz="1050" u="none" cap="none" strike="noStrike">
                <a:solidFill>
                  <a:srgbClr val="B8D4F0"/>
                </a:solidFill>
                <a:latin typeface="Calibri"/>
                <a:ea typeface="Calibri"/>
                <a:cs typeface="Calibri"/>
                <a:sym typeface="Calibri"/>
              </a:rPr>
              <a:t>EXPOSURE BENEFIT</a:t>
            </a:r>
            <a:endParaRPr b="0" i="0" sz="1050" u="none" cap="none" strike="noStrike">
              <a:solidFill>
                <a:srgbClr val="000000"/>
              </a:solidFill>
              <a:latin typeface="Arial"/>
              <a:ea typeface="Arial"/>
              <a:cs typeface="Arial"/>
              <a:sym typeface="Arial"/>
            </a:endParaRPr>
          </a:p>
        </p:txBody>
      </p:sp>
      <p:sp>
        <p:nvSpPr>
          <p:cNvPr id="343" name="Google Shape;343;p7"/>
          <p:cNvSpPr/>
          <p:nvPr/>
        </p:nvSpPr>
        <p:spPr>
          <a:xfrm>
            <a:off x="8321040" y="2103120"/>
            <a:ext cx="30632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IN" sz="2200" u="none" cap="none" strike="noStrike">
                <a:solidFill>
                  <a:srgbClr val="FFFFFF"/>
                </a:solidFill>
                <a:latin typeface="Cambria"/>
                <a:ea typeface="Cambria"/>
                <a:cs typeface="Cambria"/>
                <a:sym typeface="Cambria"/>
              </a:rPr>
              <a:t>D_before − D_after</a:t>
            </a:r>
            <a:endParaRPr b="0" i="0" sz="2200" u="none" cap="none" strike="noStrike">
              <a:solidFill>
                <a:srgbClr val="000000"/>
              </a:solidFill>
              <a:latin typeface="Arial"/>
              <a:ea typeface="Arial"/>
              <a:cs typeface="Arial"/>
              <a:sym typeface="Arial"/>
            </a:endParaRPr>
          </a:p>
        </p:txBody>
      </p:sp>
      <p:sp>
        <p:nvSpPr>
          <p:cNvPr id="344" name="Google Shape;344;p7"/>
          <p:cNvSpPr/>
          <p:nvPr/>
        </p:nvSpPr>
        <p:spPr>
          <a:xfrm>
            <a:off x="8321040" y="2697480"/>
            <a:ext cx="306324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0" i="0" lang="en-IN" sz="1100" u="none" cap="none" strike="noStrike">
                <a:solidFill>
                  <a:srgbClr val="E2E8F0"/>
                </a:solidFill>
                <a:latin typeface="Calibri"/>
                <a:ea typeface="Calibri"/>
                <a:cs typeface="Calibri"/>
                <a:sym typeface="Calibri"/>
              </a:rPr>
              <a:t>Reduction in inhaled pollutant mass attributable to switching onto the bus.</a:t>
            </a:r>
            <a:endParaRPr b="0" i="0" sz="1100" u="none" cap="none" strike="noStrike">
              <a:solidFill>
                <a:srgbClr val="000000"/>
              </a:solidFill>
              <a:latin typeface="Arial"/>
              <a:ea typeface="Arial"/>
              <a:cs typeface="Arial"/>
              <a:sym typeface="Arial"/>
            </a:endParaRPr>
          </a:p>
        </p:txBody>
      </p:sp>
      <p:sp>
        <p:nvSpPr>
          <p:cNvPr id="345" name="Google Shape;345;p7"/>
          <p:cNvSpPr/>
          <p:nvPr/>
        </p:nvSpPr>
        <p:spPr>
          <a:xfrm>
            <a:off x="457200" y="3977640"/>
            <a:ext cx="11155680" cy="594360"/>
          </a:xfrm>
          <a:prstGeom prst="roundRect">
            <a:avLst>
              <a:gd fmla="val 6957" name="adj"/>
            </a:avLst>
          </a:prstGeom>
          <a:solidFill>
            <a:srgbClr val="F7F9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7"/>
          <p:cNvSpPr/>
          <p:nvPr/>
        </p:nvSpPr>
        <p:spPr>
          <a:xfrm>
            <a:off x="731520" y="4160520"/>
            <a:ext cx="10607040" cy="685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1" i="0" lang="en-IN" sz="1300" u="none" cap="none" strike="noStrike">
                <a:solidFill>
                  <a:srgbClr val="16324F"/>
                </a:solidFill>
                <a:latin typeface="Calibri"/>
                <a:ea typeface="Calibri"/>
                <a:cs typeface="Calibri"/>
                <a:sym typeface="Calibri"/>
              </a:rPr>
              <a:t>Survey data needed:  </a:t>
            </a:r>
            <a:r>
              <a:rPr b="0" i="0" lang="en-IN" sz="1300" u="none" cap="none" strike="noStrike">
                <a:solidFill>
                  <a:srgbClr val="1E293B"/>
                </a:solidFill>
                <a:latin typeface="Calibri"/>
                <a:ea typeface="Calibri"/>
                <a:cs typeface="Calibri"/>
                <a:sym typeface="Calibri"/>
              </a:rPr>
              <a:t>previous mode  •  current bus use  •  travel time  •  trip distance  •  days/week  •  full/partial mode replacement</a:t>
            </a:r>
            <a:endParaRPr b="0" i="0" sz="1300" u="none" cap="none" strike="noStrike">
              <a:solidFill>
                <a:srgbClr val="000000"/>
              </a:solidFill>
              <a:latin typeface="Arial"/>
              <a:ea typeface="Arial"/>
              <a:cs typeface="Arial"/>
              <a:sym typeface="Arial"/>
            </a:endParaRPr>
          </a:p>
        </p:txBody>
      </p:sp>
      <p:sp>
        <p:nvSpPr>
          <p:cNvPr id="347" name="Google Shape;347;p7"/>
          <p:cNvSpPr/>
          <p:nvPr/>
        </p:nvSpPr>
        <p:spPr>
          <a:xfrm>
            <a:off x="518160" y="4777740"/>
            <a:ext cx="11155680" cy="594360"/>
          </a:xfrm>
          <a:prstGeom prst="roundRect">
            <a:avLst>
              <a:gd fmla="val 8421" name="adj"/>
            </a:avLst>
          </a:prstGeom>
          <a:solidFill>
            <a:srgbClr val="FBF3E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7"/>
          <p:cNvSpPr/>
          <p:nvPr/>
        </p:nvSpPr>
        <p:spPr>
          <a:xfrm>
            <a:off x="723014" y="4937760"/>
            <a:ext cx="10607040" cy="2926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1" i="0" lang="en-IN" sz="1300" u="none" cap="none" strike="noStrike">
                <a:solidFill>
                  <a:srgbClr val="16324F"/>
                </a:solidFill>
                <a:latin typeface="Calibri"/>
                <a:ea typeface="Calibri"/>
                <a:cs typeface="Calibri"/>
                <a:sym typeface="Calibri"/>
              </a:rPr>
              <a:t>Final output:  </a:t>
            </a:r>
            <a:r>
              <a:rPr b="0" i="0" lang="en-IN" sz="1300" u="none" cap="none" strike="noStrike">
                <a:solidFill>
                  <a:srgbClr val="1E293B"/>
                </a:solidFill>
                <a:latin typeface="Calibri"/>
                <a:ea typeface="Calibri"/>
                <a:cs typeface="Calibri"/>
                <a:sym typeface="Calibri"/>
              </a:rPr>
              <a:t>annual reduction in inhaled PM₂.₅, PM₁₀ or CO per respondent, aggregated across the sample and scaled to the city.</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
          <p:cNvSpPr txBox="1"/>
          <p:nvPr>
            <p:ph type="title"/>
          </p:nvPr>
        </p:nvSpPr>
        <p:spPr>
          <a:xfrm>
            <a:off x="256032" y="225653"/>
            <a:ext cx="11284500" cy="433566"/>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Reduction in Fatalities </a:t>
            </a:r>
            <a:endParaRPr b="0" sz="1600">
              <a:solidFill>
                <a:srgbClr val="009CD8"/>
              </a:solidFill>
            </a:endParaRPr>
          </a:p>
        </p:txBody>
      </p:sp>
      <p:sp>
        <p:nvSpPr>
          <p:cNvPr id="354" name="Google Shape;354;p8"/>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55" name="Google Shape;355;p8"/>
          <p:cNvSpPr txBox="1"/>
          <p:nvPr/>
        </p:nvSpPr>
        <p:spPr>
          <a:xfrm>
            <a:off x="399696" y="711383"/>
            <a:ext cx="8787334" cy="3398238"/>
          </a:xfrm>
          <a:prstGeom prst="rect">
            <a:avLst/>
          </a:prstGeom>
          <a:blipFill rotWithShape="1">
            <a:blip r:embed="rId3">
              <a:alphaModFix/>
            </a:blip>
            <a:stretch>
              <a:fillRect b="-34702" l="-433" r="0" t="-7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
        <p:nvSpPr>
          <p:cNvPr id="356" name="Google Shape;356;p8"/>
          <p:cNvSpPr txBox="1"/>
          <p:nvPr/>
        </p:nvSpPr>
        <p:spPr>
          <a:xfrm>
            <a:off x="496515" y="4419513"/>
            <a:ext cx="6239434"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600" u="none" cap="none" strike="noStrike">
                <a:solidFill>
                  <a:srgbClr val="000000"/>
                </a:solidFill>
                <a:latin typeface="Calibri"/>
                <a:ea typeface="Calibri"/>
                <a:cs typeface="Calibri"/>
                <a:sym typeface="Calibri"/>
              </a:rPr>
              <a:t>City A: buses already operating</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What is your one-way bus-trip distance?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How many days per week do you use the bus?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If this bus were unavailable, which mode would you use?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Before using the bus, which mode did you normally use?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Does the bus replace the full trip or only part of it?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How do you reach and leave the bus stop, and what is the distance? </a:t>
            </a:r>
            <a:endParaRPr/>
          </a:p>
        </p:txBody>
      </p:sp>
      <p:sp>
        <p:nvSpPr>
          <p:cNvPr id="357" name="Google Shape;357;p8"/>
          <p:cNvSpPr txBox="1"/>
          <p:nvPr/>
        </p:nvSpPr>
        <p:spPr>
          <a:xfrm>
            <a:off x="6486861" y="4109621"/>
            <a:ext cx="6239434"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IN" sz="1600" u="none" cap="none" strike="noStrike">
                <a:solidFill>
                  <a:srgbClr val="000000"/>
                </a:solidFill>
                <a:latin typeface="Calibri"/>
                <a:ea typeface="Calibri"/>
                <a:cs typeface="Calibri"/>
                <a:sym typeface="Calibri"/>
              </a:rPr>
              <a:t>City B: buses will be introduced</a:t>
            </a:r>
            <a:endParaRPr b="0" i="0" sz="16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What mode do you currently use?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What is your one-way trip distance?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How many days per week do you make this trip?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Would you use the proposed bus service?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Which current mode would the bus replace?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Would it replace the full trip or only part of it?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How many days per week would you use the bus? </a:t>
            </a:r>
            <a:endParaRPr/>
          </a:p>
          <a:p>
            <a:pPr indent="0" lvl="0" marL="0" marR="0" rtl="0" algn="l">
              <a:lnSpc>
                <a:spcPct val="100000"/>
              </a:lnSpc>
              <a:spcBef>
                <a:spcPts val="0"/>
              </a:spcBef>
              <a:spcAft>
                <a:spcPts val="0"/>
              </a:spcAft>
              <a:buNone/>
            </a:pPr>
            <a:r>
              <a:rPr b="0" i="0" lang="en-IN" sz="1600" u="none" cap="none" strike="noStrike">
                <a:solidFill>
                  <a:srgbClr val="000000"/>
                </a:solidFill>
                <a:latin typeface="Calibri"/>
                <a:ea typeface="Calibri"/>
                <a:cs typeface="Calibri"/>
                <a:sym typeface="Calibri"/>
              </a:rPr>
              <a:t>How would you reach and leave the bus stop?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9"/>
          <p:cNvSpPr txBox="1"/>
          <p:nvPr>
            <p:ph type="title"/>
          </p:nvPr>
        </p:nvSpPr>
        <p:spPr>
          <a:xfrm>
            <a:off x="256032" y="225653"/>
            <a:ext cx="11284500" cy="433566"/>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Reduction in Fatalities </a:t>
            </a:r>
            <a:endParaRPr b="0" sz="1600">
              <a:solidFill>
                <a:srgbClr val="009CD8"/>
              </a:solidFill>
            </a:endParaRPr>
          </a:p>
        </p:txBody>
      </p:sp>
      <p:sp>
        <p:nvSpPr>
          <p:cNvPr id="363" name="Google Shape;363;p9"/>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64" name="Google Shape;364;p9"/>
          <p:cNvSpPr txBox="1"/>
          <p:nvPr/>
        </p:nvSpPr>
        <p:spPr>
          <a:xfrm>
            <a:off x="399696" y="853677"/>
            <a:ext cx="9551127" cy="4406078"/>
          </a:xfrm>
          <a:prstGeom prst="rect">
            <a:avLst/>
          </a:prstGeom>
          <a:blipFill rotWithShape="1">
            <a:blip r:embed="rId3">
              <a:alphaModFix/>
            </a:blip>
            <a:stretch>
              <a:fillRect b="0" l="-398" r="0" t="-57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f556ffc7f3_0_6"/>
          <p:cNvSpPr txBox="1"/>
          <p:nvPr>
            <p:ph type="title"/>
          </p:nvPr>
        </p:nvSpPr>
        <p:spPr>
          <a:xfrm>
            <a:off x="256032" y="225653"/>
            <a:ext cx="11284500" cy="433500"/>
          </a:xfrm>
          <a:prstGeom prst="rect">
            <a:avLst/>
          </a:prstGeom>
          <a:noFill/>
          <a:ln>
            <a:noFill/>
          </a:ln>
        </p:spPr>
        <p:txBody>
          <a:bodyPr anchorCtr="0" anchor="t" bIns="45700" lIns="0" spcFirstLastPara="1" rIns="0" wrap="square" tIns="45700">
            <a:normAutofit fontScale="90000"/>
          </a:bodyPr>
          <a:lstStyle/>
          <a:p>
            <a:pPr indent="0" lvl="0" marL="0" rtl="0" algn="l">
              <a:lnSpc>
                <a:spcPct val="100000"/>
              </a:lnSpc>
              <a:spcBef>
                <a:spcPts val="0"/>
              </a:spcBef>
              <a:spcAft>
                <a:spcPts val="0"/>
              </a:spcAft>
              <a:buClr>
                <a:schemeClr val="accent1"/>
              </a:buClr>
              <a:buSzPct val="166667"/>
              <a:buFont typeface="Calibri"/>
              <a:buNone/>
            </a:pPr>
            <a:r>
              <a:rPr lang="en-IN"/>
              <a:t>Expected Outputs from M2: Reduction in Fatalities </a:t>
            </a:r>
            <a:endParaRPr b="0" sz="1600">
              <a:solidFill>
                <a:srgbClr val="009CD8"/>
              </a:solidFill>
            </a:endParaRPr>
          </a:p>
        </p:txBody>
      </p:sp>
      <p:sp>
        <p:nvSpPr>
          <p:cNvPr id="370" name="Google Shape;370;g3f556ffc7f3_0_6"/>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71" name="Google Shape;371;g3f556ffc7f3_0_6"/>
          <p:cNvSpPr txBox="1"/>
          <p:nvPr/>
        </p:nvSpPr>
        <p:spPr>
          <a:xfrm>
            <a:off x="399696" y="853677"/>
            <a:ext cx="9551100" cy="4406100"/>
          </a:xfrm>
          <a:prstGeom prst="rect">
            <a:avLst/>
          </a:prstGeom>
          <a:blipFill rotWithShape="1">
            <a:blip r:embed="rId3">
              <a:alphaModFix/>
            </a:blip>
            <a:stretch>
              <a:fillRect b="0" l="-400" r="0" t="-58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f556ffc7f3_3_0"/>
          <p:cNvSpPr txBox="1"/>
          <p:nvPr>
            <p:ph type="title"/>
          </p:nvPr>
        </p:nvSpPr>
        <p:spPr>
          <a:xfrm>
            <a:off x="256032" y="225653"/>
            <a:ext cx="11284500" cy="4335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accent1"/>
              </a:buClr>
              <a:buSzPts val="2400"/>
              <a:buFont typeface="Calibri"/>
              <a:buNone/>
            </a:pPr>
            <a:r>
              <a:rPr lang="en-IN"/>
              <a:t>Expected Outputs from M1:City A</a:t>
            </a:r>
            <a:endParaRPr b="0" sz="1600">
              <a:solidFill>
                <a:srgbClr val="009CD8"/>
              </a:solidFill>
            </a:endParaRPr>
          </a:p>
        </p:txBody>
      </p:sp>
      <p:sp>
        <p:nvSpPr>
          <p:cNvPr id="378" name="Google Shape;378;g3f556ffc7f3_3_0"/>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79" name="Google Shape;379;g3f556ffc7f3_3_0"/>
          <p:cNvSpPr txBox="1"/>
          <p:nvPr/>
        </p:nvSpPr>
        <p:spPr>
          <a:xfrm>
            <a:off x="399696" y="853677"/>
            <a:ext cx="9551100" cy="4399500"/>
          </a:xfrm>
          <a:prstGeom prst="rect">
            <a:avLst/>
          </a:prstGeom>
          <a:blipFill rotWithShape="1">
            <a:blip r:embed="rId3">
              <a:alphaModFix/>
            </a:blip>
            <a:stretch>
              <a:fillRect b="0" l="-400" r="0" t="-58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f556ffc7f3_3_7"/>
          <p:cNvSpPr txBox="1"/>
          <p:nvPr>
            <p:ph type="title"/>
          </p:nvPr>
        </p:nvSpPr>
        <p:spPr>
          <a:xfrm>
            <a:off x="256032" y="225653"/>
            <a:ext cx="11284500" cy="4335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accent1"/>
              </a:buClr>
              <a:buSzPts val="2400"/>
              <a:buFont typeface="Calibri"/>
              <a:buNone/>
            </a:pPr>
            <a:r>
              <a:rPr lang="en-IN"/>
              <a:t>Expected Outputs from M2: City B</a:t>
            </a:r>
            <a:endParaRPr b="0" sz="1600">
              <a:solidFill>
                <a:srgbClr val="009CD8"/>
              </a:solidFill>
            </a:endParaRPr>
          </a:p>
        </p:txBody>
      </p:sp>
      <p:sp>
        <p:nvSpPr>
          <p:cNvPr id="386" name="Google Shape;386;g3f556ffc7f3_3_7"/>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87" name="Google Shape;387;g3f556ffc7f3_3_7"/>
          <p:cNvSpPr txBox="1"/>
          <p:nvPr/>
        </p:nvSpPr>
        <p:spPr>
          <a:xfrm>
            <a:off x="399696" y="853677"/>
            <a:ext cx="9551100" cy="4506900"/>
          </a:xfrm>
          <a:prstGeom prst="rect">
            <a:avLst/>
          </a:prstGeom>
          <a:blipFill rotWithShape="1">
            <a:blip r:embed="rId3">
              <a:alphaModFix/>
            </a:blip>
            <a:stretch>
              <a:fillRect b="-27040" l="-400" r="0" t="-5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f5680ae14a_3_0"/>
          <p:cNvSpPr txBox="1"/>
          <p:nvPr>
            <p:ph type="title"/>
          </p:nvPr>
        </p:nvSpPr>
        <p:spPr>
          <a:xfrm>
            <a:off x="256032" y="225653"/>
            <a:ext cx="11284500" cy="4335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Clr>
                <a:schemeClr val="accent1"/>
              </a:buClr>
              <a:buSzPts val="2400"/>
              <a:buFont typeface="Calibri"/>
              <a:buNone/>
            </a:pPr>
            <a:r>
              <a:rPr lang="en-IN"/>
              <a:t>Expected Outputs from M1: </a:t>
            </a:r>
            <a:endParaRPr b="0" sz="1600">
              <a:solidFill>
                <a:srgbClr val="009CD8"/>
              </a:solidFill>
            </a:endParaRPr>
          </a:p>
        </p:txBody>
      </p:sp>
      <p:sp>
        <p:nvSpPr>
          <p:cNvPr id="394" name="Google Shape;394;g3f5680ae14a_3_0"/>
          <p:cNvSpPr txBox="1"/>
          <p:nvPr/>
        </p:nvSpPr>
        <p:spPr>
          <a:xfrm>
            <a:off x="-276585" y="6235395"/>
            <a:ext cx="773100" cy="3651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600" u="none" cap="none" strike="noStrike">
                <a:solidFill>
                  <a:srgbClr val="888888"/>
                </a:solidFill>
                <a:latin typeface="Calibri"/>
                <a:ea typeface="Calibri"/>
                <a:cs typeface="Calibri"/>
                <a:sym typeface="Calibri"/>
              </a:rPr>
              <a:t>‹#›</a:t>
            </a:fld>
            <a:r>
              <a:rPr b="0" i="0" lang="en-IN" sz="1600" u="none" cap="none" strike="noStrike">
                <a:solidFill>
                  <a:srgbClr val="888888"/>
                </a:solidFill>
                <a:latin typeface="Calibri"/>
                <a:ea typeface="Calibri"/>
                <a:cs typeface="Calibri"/>
                <a:sym typeface="Calibri"/>
              </a:rPr>
              <a:t>|</a:t>
            </a:r>
            <a:endParaRPr b="0" i="0" sz="1600" u="none" cap="none" strike="noStrike">
              <a:solidFill>
                <a:srgbClr val="888888"/>
              </a:solidFill>
              <a:latin typeface="Calibri"/>
              <a:ea typeface="Calibri"/>
              <a:cs typeface="Calibri"/>
              <a:sym typeface="Calibri"/>
            </a:endParaRPr>
          </a:p>
        </p:txBody>
      </p:sp>
      <p:sp>
        <p:nvSpPr>
          <p:cNvPr id="395" name="Google Shape;395;g3f5680ae14a_3_0"/>
          <p:cNvSpPr txBox="1"/>
          <p:nvPr/>
        </p:nvSpPr>
        <p:spPr>
          <a:xfrm>
            <a:off x="277298" y="867698"/>
            <a:ext cx="9460319" cy="5847883"/>
          </a:xfrm>
          <a:prstGeom prst="rect">
            <a:avLst/>
          </a:prstGeom>
          <a:blipFill rotWithShape="1">
            <a:blip r:embed="rId3">
              <a:alphaModFix/>
            </a:blip>
            <a:stretch>
              <a:fillRect b="0" l="-134" r="0" t="-1410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IN" sz="1400" u="none" cap="none" strike="noStrike">
                <a:latin typeface="Arial"/>
                <a:ea typeface="Arial"/>
                <a:cs typeface="Arial"/>
                <a:sym typeface="Arial"/>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f8288f73f0_3_7"/>
          <p:cNvSpPr txBox="1"/>
          <p:nvPr>
            <p:ph type="title"/>
          </p:nvPr>
        </p:nvSpPr>
        <p:spPr>
          <a:xfrm>
            <a:off x="395707" y="194428"/>
            <a:ext cx="11284500" cy="7941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Model M3- GHG mitigation + Pollution (PM 2.5, PM10 and NOx) calculation </a:t>
            </a:r>
            <a:endParaRPr/>
          </a:p>
        </p:txBody>
      </p:sp>
      <p:sp>
        <p:nvSpPr>
          <p:cNvPr id="402" name="Google Shape;402;g3f8288f73f0_3_7"/>
          <p:cNvSpPr txBox="1"/>
          <p:nvPr>
            <p:ph idx="1" type="body"/>
          </p:nvPr>
        </p:nvSpPr>
        <p:spPr>
          <a:xfrm>
            <a:off x="395700" y="581950"/>
            <a:ext cx="7338600" cy="2199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500"/>
              </a:spcBef>
              <a:spcAft>
                <a:spcPts val="0"/>
              </a:spcAft>
              <a:buSzPts val="2300"/>
              <a:buNone/>
            </a:pPr>
            <a:r>
              <a:rPr b="1" lang="en-IN" sz="2163"/>
              <a:t>Assumption </a:t>
            </a:r>
            <a:endParaRPr b="1" sz="2163"/>
          </a:p>
          <a:p>
            <a:pPr indent="0" lvl="0" marL="0" rtl="0" algn="l">
              <a:lnSpc>
                <a:spcPct val="100000"/>
              </a:lnSpc>
              <a:spcBef>
                <a:spcPts val="500"/>
              </a:spcBef>
              <a:spcAft>
                <a:spcPts val="0"/>
              </a:spcAft>
              <a:buSzPts val="2300"/>
              <a:buNone/>
            </a:pPr>
            <a:r>
              <a:rPr lang="en-IN" sz="1600"/>
              <a:t>Population of Amritsar City, 2025 = </a:t>
            </a:r>
            <a:r>
              <a:rPr b="1" lang="en-IN" sz="1600"/>
              <a:t>1.69 million (Estimated) </a:t>
            </a:r>
            <a:endParaRPr b="1" sz="1600"/>
          </a:p>
          <a:p>
            <a:pPr indent="0" lvl="0" marL="0" rtl="0" algn="l">
              <a:lnSpc>
                <a:spcPct val="100000"/>
              </a:lnSpc>
              <a:spcBef>
                <a:spcPts val="500"/>
              </a:spcBef>
              <a:spcAft>
                <a:spcPts val="0"/>
              </a:spcAft>
              <a:buSzPts val="2300"/>
              <a:buNone/>
            </a:pPr>
            <a:r>
              <a:rPr b="1" lang="en-IN" sz="1600"/>
              <a:t>Estimated Number of  motorized vehicles, 2025</a:t>
            </a:r>
            <a:endParaRPr b="1" sz="1600"/>
          </a:p>
          <a:p>
            <a:pPr indent="0" lvl="0" marL="0" rtl="0" algn="l">
              <a:lnSpc>
                <a:spcPct val="100000"/>
              </a:lnSpc>
              <a:spcBef>
                <a:spcPts val="500"/>
              </a:spcBef>
              <a:spcAft>
                <a:spcPts val="0"/>
              </a:spcAft>
              <a:buSzPts val="2300"/>
              <a:buNone/>
            </a:pPr>
            <a:r>
              <a:t/>
            </a:r>
            <a:endParaRPr b="1" sz="1700"/>
          </a:p>
        </p:txBody>
      </p:sp>
      <p:sp>
        <p:nvSpPr>
          <p:cNvPr id="403" name="Google Shape;403;g3f8288f73f0_3_7"/>
          <p:cNvSpPr txBox="1"/>
          <p:nvPr>
            <p:ph idx="2" type="body"/>
          </p:nvPr>
        </p:nvSpPr>
        <p:spPr>
          <a:xfrm>
            <a:off x="395707" y="6475388"/>
            <a:ext cx="9740700" cy="3831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t/>
            </a:r>
            <a:endParaRPr/>
          </a:p>
        </p:txBody>
      </p:sp>
      <p:graphicFrame>
        <p:nvGraphicFramePr>
          <p:cNvPr id="404" name="Google Shape;404;g3f8288f73f0_3_7"/>
          <p:cNvGraphicFramePr/>
          <p:nvPr/>
        </p:nvGraphicFramePr>
        <p:xfrm>
          <a:off x="554600" y="2357800"/>
          <a:ext cx="3000000" cy="3000000"/>
        </p:xfrm>
        <a:graphic>
          <a:graphicData uri="http://schemas.openxmlformats.org/drawingml/2006/table">
            <a:tbl>
              <a:tblPr>
                <a:noFill/>
                <a:tableStyleId>{45E31916-F7FA-4C17-88A9-D1F31D617FD5}</a:tableStyleId>
              </a:tblPr>
              <a:tblGrid>
                <a:gridCol w="1435300"/>
                <a:gridCol w="1502400"/>
                <a:gridCol w="3529350"/>
                <a:gridCol w="1005650"/>
              </a:tblGrid>
              <a:tr h="377975">
                <a:tc>
                  <a:txBody>
                    <a:bodyPr/>
                    <a:lstStyle/>
                    <a:p>
                      <a:pPr indent="0" lvl="0" marL="0" marR="0" rtl="0" algn="l">
                        <a:lnSpc>
                          <a:spcPct val="100000"/>
                        </a:lnSpc>
                        <a:spcBef>
                          <a:spcPts val="0"/>
                        </a:spcBef>
                        <a:spcAft>
                          <a:spcPts val="0"/>
                        </a:spcAft>
                        <a:buClr>
                          <a:srgbClr val="000000"/>
                        </a:buClr>
                        <a:buSzPts val="1500"/>
                        <a:buFont typeface="Arial"/>
                        <a:buNone/>
                      </a:pPr>
                      <a:r>
                        <a:rPr b="1" lang="en-IN" sz="1500" u="none" cap="none" strike="noStrike">
                          <a:solidFill>
                            <a:srgbClr val="595959"/>
                          </a:solidFill>
                          <a:latin typeface="Calibri"/>
                          <a:ea typeface="Calibri"/>
                          <a:cs typeface="Calibri"/>
                          <a:sym typeface="Calibri"/>
                        </a:rPr>
                        <a:t>Vehicles </a:t>
                      </a:r>
                      <a:endParaRPr b="1" sz="1500" u="none" cap="none" strike="noStrike">
                        <a:solidFill>
                          <a:srgbClr val="595959"/>
                        </a:solidFill>
                        <a:latin typeface="Calibri"/>
                        <a:ea typeface="Calibri"/>
                        <a:cs typeface="Calibri"/>
                        <a:sym typeface="Calibri"/>
                      </a:endParaRPr>
                    </a:p>
                  </a:txBody>
                  <a:tcPr marT="91425" marB="91425" marR="91425" marL="91425">
                    <a:solidFill>
                      <a:srgbClr val="B8D4F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IN" sz="1500" u="none" cap="none" strike="noStrike">
                          <a:solidFill>
                            <a:srgbClr val="595959"/>
                          </a:solidFill>
                          <a:latin typeface="Calibri"/>
                          <a:ea typeface="Calibri"/>
                          <a:cs typeface="Calibri"/>
                          <a:sym typeface="Calibri"/>
                        </a:rPr>
                        <a:t>Number (2025)</a:t>
                      </a:r>
                      <a:endParaRPr b="1" sz="1500" u="none" cap="none" strike="noStrike">
                        <a:solidFill>
                          <a:srgbClr val="595959"/>
                        </a:solidFill>
                        <a:latin typeface="Calibri"/>
                        <a:ea typeface="Calibri"/>
                        <a:cs typeface="Calibri"/>
                        <a:sym typeface="Calibri"/>
                      </a:endParaRPr>
                    </a:p>
                  </a:txBody>
                  <a:tcPr marT="91425" marB="91425" marR="91425" marL="91425">
                    <a:solidFill>
                      <a:srgbClr val="B8D4F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IN" sz="1500" u="none" cap="none" strike="noStrike">
                          <a:solidFill>
                            <a:srgbClr val="595959"/>
                          </a:solidFill>
                          <a:latin typeface="Calibri"/>
                          <a:ea typeface="Calibri"/>
                          <a:cs typeface="Calibri"/>
                          <a:sym typeface="Calibri"/>
                        </a:rPr>
                        <a:t>Remarks</a:t>
                      </a:r>
                      <a:endParaRPr b="1" sz="1500" u="none" cap="none" strike="noStrike">
                        <a:solidFill>
                          <a:srgbClr val="595959"/>
                        </a:solidFill>
                        <a:latin typeface="Calibri"/>
                        <a:ea typeface="Calibri"/>
                        <a:cs typeface="Calibri"/>
                        <a:sym typeface="Calibri"/>
                      </a:endParaRPr>
                    </a:p>
                  </a:txBody>
                  <a:tcPr marT="91425" marB="91425" marR="91425" marL="91425">
                    <a:solidFill>
                      <a:srgbClr val="B8D4F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IN" sz="1500" u="none" cap="none" strike="noStrike">
                          <a:solidFill>
                            <a:srgbClr val="595959"/>
                          </a:solidFill>
                          <a:latin typeface="Calibri"/>
                          <a:ea typeface="Calibri"/>
                          <a:cs typeface="Calibri"/>
                          <a:sym typeface="Calibri"/>
                        </a:rPr>
                        <a:t>Sources</a:t>
                      </a:r>
                      <a:endParaRPr b="1" sz="1500" u="none" cap="none" strike="noStrike">
                        <a:solidFill>
                          <a:srgbClr val="595959"/>
                        </a:solidFill>
                        <a:latin typeface="Calibri"/>
                        <a:ea typeface="Calibri"/>
                        <a:cs typeface="Calibri"/>
                        <a:sym typeface="Calibri"/>
                      </a:endParaRPr>
                    </a:p>
                  </a:txBody>
                  <a:tcPr marT="91425" marB="91425" marR="91425" marL="91425">
                    <a:solidFill>
                      <a:srgbClr val="B8D4F0"/>
                    </a:solidFill>
                  </a:tcPr>
                </a:tc>
              </a:tr>
              <a:tr h="659750">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Auto rickshaws (ICE)</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25500</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2025 news article shows total number of  auto rickshaws and E rickshaws = 85000</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rowSpan="3">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r>
              <a:tr h="378900">
                <a:tc>
                  <a:txBody>
                    <a:bodyPr/>
                    <a:lstStyle/>
                    <a:p>
                      <a:pPr indent="0" lvl="0" marL="0" marR="0" rtl="0" algn="l">
                        <a:lnSpc>
                          <a:spcPct val="100000"/>
                        </a:lnSpc>
                        <a:spcBef>
                          <a:spcPts val="0"/>
                        </a:spcBef>
                        <a:spcAft>
                          <a:spcPts val="0"/>
                        </a:spcAft>
                        <a:buClr>
                          <a:schemeClr val="dk1"/>
                        </a:buClr>
                        <a:buSzPts val="1100"/>
                        <a:buFont typeface="Arial"/>
                        <a:buNone/>
                      </a:pPr>
                      <a:r>
                        <a:rPr lang="en-IN" sz="1500" u="none" cap="none" strike="noStrike">
                          <a:solidFill>
                            <a:srgbClr val="595959"/>
                          </a:solidFill>
                          <a:latin typeface="Calibri"/>
                          <a:ea typeface="Calibri"/>
                          <a:cs typeface="Calibri"/>
                          <a:sym typeface="Calibri"/>
                        </a:rPr>
                        <a:t>Auto rickshaws (EV)</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39350</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rowSpan="2">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ICE= 30% and EV = 70% </a:t>
                      </a:r>
                      <a:endParaRPr sz="15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e-Auto rickshaws = 58.4% and e-rickshaws = 41.5% (Primary Survey)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vMerge="1"/>
              </a:tr>
              <a:tr h="222650">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E- rickshaws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20000</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vMerge="1"/>
                <a:tc vMerge="1"/>
              </a:tr>
              <a:tr h="410175">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2W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313205</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185 two wheelers per 1000 people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rowSpan="2">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r>
              <a:tr h="587975">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Car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57562</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34 cars per 1000 people (Regional assumption on 2022)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vMerge="1"/>
              </a:tr>
              <a:tr h="797975">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Private Buses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53</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IN" sz="1500" u="none" cap="none" strike="noStrike">
                          <a:solidFill>
                            <a:srgbClr val="595959"/>
                          </a:solidFill>
                          <a:latin typeface="Calibri"/>
                          <a:ea typeface="Calibri"/>
                          <a:cs typeface="Calibri"/>
                          <a:sym typeface="Calibri"/>
                        </a:rPr>
                        <a:t>Punjab state government sanctioned  State carriage permit of 53 private ICE buses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500"/>
                        <a:buFont typeface="Arial"/>
                        <a:buNone/>
                      </a:pPr>
                      <a:r>
                        <a:t/>
                      </a:r>
                      <a:endParaRPr sz="1500" u="none" cap="none" strike="noStrike">
                        <a:solidFill>
                          <a:srgbClr val="595959"/>
                        </a:solidFill>
                        <a:latin typeface="Calibri"/>
                        <a:ea typeface="Calibri"/>
                        <a:cs typeface="Calibri"/>
                        <a:sym typeface="Calibri"/>
                      </a:endParaRPr>
                    </a:p>
                  </a:txBody>
                  <a:tcPr marT="91425" marB="91425" marR="91425" marL="91425">
                    <a:solidFill>
                      <a:schemeClr val="lt1"/>
                    </a:solidFill>
                  </a:tcPr>
                </a:tc>
              </a:tr>
            </a:tbl>
          </a:graphicData>
        </a:graphic>
      </p:graphicFrame>
      <p:sp>
        <p:nvSpPr>
          <p:cNvPr id="405" name="Google Shape;405;g3f8288f73f0_3_7"/>
          <p:cNvSpPr/>
          <p:nvPr/>
        </p:nvSpPr>
        <p:spPr>
          <a:xfrm>
            <a:off x="484700" y="1654628"/>
            <a:ext cx="7612500" cy="6315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500"/>
              </a:spcBef>
              <a:spcAft>
                <a:spcPts val="0"/>
              </a:spcAft>
              <a:buClr>
                <a:schemeClr val="dk1"/>
              </a:buClr>
              <a:buSzPts val="1100"/>
              <a:buFont typeface="Arial"/>
              <a:buNone/>
            </a:pPr>
            <a:r>
              <a:rPr b="0" i="0" lang="en-IN" sz="1600" u="none" cap="none" strike="noStrike">
                <a:solidFill>
                  <a:srgbClr val="575756"/>
                </a:solidFill>
                <a:latin typeface="Calibri"/>
                <a:ea typeface="Calibri"/>
                <a:cs typeface="Calibri"/>
                <a:sym typeface="Calibri"/>
              </a:rPr>
              <a:t>53 State carriage permit Private buses (ICE)  . Public transport depends on Auto rickshaws (ICE +EV) and E-rickshaws . </a:t>
            </a:r>
            <a:endParaRPr b="0" i="0" sz="1400" u="none" cap="none" strike="noStrike">
              <a:solidFill>
                <a:srgbClr val="000000"/>
              </a:solidFill>
              <a:latin typeface="Calibri"/>
              <a:ea typeface="Calibri"/>
              <a:cs typeface="Calibri"/>
              <a:sym typeface="Calibri"/>
            </a:endParaRPr>
          </a:p>
        </p:txBody>
      </p:sp>
      <p:graphicFrame>
        <p:nvGraphicFramePr>
          <p:cNvPr id="406" name="Google Shape;406;g3f8288f73f0_3_7"/>
          <p:cNvGraphicFramePr/>
          <p:nvPr/>
        </p:nvGraphicFramePr>
        <p:xfrm>
          <a:off x="8330300" y="1743875"/>
          <a:ext cx="3000000" cy="3000000"/>
        </p:xfrm>
        <a:graphic>
          <a:graphicData uri="http://schemas.openxmlformats.org/drawingml/2006/table">
            <a:tbl>
              <a:tblPr>
                <a:noFill/>
                <a:tableStyleId>{45E31916-F7FA-4C17-88A9-D1F31D617FD5}</a:tableStyleId>
              </a:tblPr>
              <a:tblGrid>
                <a:gridCol w="962975"/>
                <a:gridCol w="1495100"/>
                <a:gridCol w="1202925"/>
              </a:tblGrid>
              <a:tr h="750950">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solidFill>
                            <a:srgbClr val="595959"/>
                          </a:solidFill>
                          <a:latin typeface="Calibri"/>
                          <a:ea typeface="Calibri"/>
                          <a:cs typeface="Calibri"/>
                          <a:sym typeface="Calibri"/>
                        </a:rPr>
                        <a:t>Low Ambition </a:t>
                      </a:r>
                      <a:endParaRPr b="1" sz="1400" u="none" cap="none" strike="noStrike">
                        <a:solidFill>
                          <a:srgbClr val="595959"/>
                        </a:solidFill>
                        <a:latin typeface="Calibri"/>
                        <a:ea typeface="Calibri"/>
                        <a:cs typeface="Calibri"/>
                        <a:sym typeface="Calibri"/>
                      </a:endParaRPr>
                    </a:p>
                  </a:txBody>
                  <a:tcPr marT="91425" marB="91425" marR="91425" marL="91425">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rgbClr val="595959"/>
                          </a:solidFill>
                          <a:latin typeface="Calibri"/>
                          <a:ea typeface="Calibri"/>
                          <a:cs typeface="Calibri"/>
                          <a:sym typeface="Calibri"/>
                        </a:rPr>
                        <a:t>93 Metro Buses / BRT buses deployed </a:t>
                      </a:r>
                      <a:endParaRPr sz="1400" u="none" cap="none" strike="noStrike">
                        <a:solidFill>
                          <a:srgbClr val="595959"/>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rgbClr val="595959"/>
                          </a:solidFill>
                          <a:latin typeface="Calibri"/>
                          <a:ea typeface="Calibri"/>
                          <a:cs typeface="Calibri"/>
                          <a:sym typeface="Calibri"/>
                        </a:rPr>
                        <a:t>ALL ICE </a:t>
                      </a:r>
                      <a:endParaRPr sz="1400" u="none" cap="none" strike="noStrike">
                        <a:solidFill>
                          <a:srgbClr val="595959"/>
                        </a:solidFill>
                        <a:latin typeface="Calibri"/>
                        <a:ea typeface="Calibri"/>
                        <a:cs typeface="Calibri"/>
                        <a:sym typeface="Calibri"/>
                      </a:endParaRPr>
                    </a:p>
                  </a:txBody>
                  <a:tcPr marT="91425" marB="91425" marR="91425" marL="91425"/>
                </a:tc>
              </a:tr>
              <a:tr h="750950">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solidFill>
                            <a:srgbClr val="595959"/>
                          </a:solidFill>
                          <a:latin typeface="Calibri"/>
                          <a:ea typeface="Calibri"/>
                          <a:cs typeface="Calibri"/>
                          <a:sym typeface="Calibri"/>
                        </a:rPr>
                        <a:t>Moderate Ambition </a:t>
                      </a:r>
                      <a:endParaRPr b="1" sz="1400" u="none" cap="none" strike="noStrike">
                        <a:solidFill>
                          <a:srgbClr val="595959"/>
                        </a:solidFill>
                        <a:latin typeface="Calibri"/>
                        <a:ea typeface="Calibri"/>
                        <a:cs typeface="Calibri"/>
                        <a:sym typeface="Calibri"/>
                      </a:endParaRPr>
                    </a:p>
                  </a:txBody>
                  <a:tcPr marT="91425" marB="91425" marR="91425" marL="91425">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rgbClr val="595959"/>
                          </a:solidFill>
                          <a:latin typeface="Calibri"/>
                          <a:ea typeface="Calibri"/>
                          <a:cs typeface="Calibri"/>
                          <a:sym typeface="Calibri"/>
                        </a:rPr>
                        <a:t>93 BRT buses + 40 PM e-bus </a:t>
                      </a:r>
                      <a:endParaRPr sz="1400" u="none" cap="none" strike="noStrike">
                        <a:solidFill>
                          <a:srgbClr val="595959"/>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rgbClr val="595959"/>
                          </a:solidFill>
                          <a:latin typeface="Calibri"/>
                          <a:ea typeface="Calibri"/>
                          <a:cs typeface="Calibri"/>
                          <a:sym typeface="Calibri"/>
                        </a:rPr>
                        <a:t>BRT-ICE + PM e-Bus- EV </a:t>
                      </a:r>
                      <a:endParaRPr sz="1400" u="none" cap="none" strike="noStrike">
                        <a:solidFill>
                          <a:srgbClr val="595959"/>
                        </a:solidFill>
                        <a:latin typeface="Calibri"/>
                        <a:ea typeface="Calibri"/>
                        <a:cs typeface="Calibri"/>
                        <a:sym typeface="Calibri"/>
                      </a:endParaRPr>
                    </a:p>
                  </a:txBody>
                  <a:tcPr marT="91425" marB="91425" marR="91425" marL="91425"/>
                </a:tc>
              </a:tr>
              <a:tr h="750950">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solidFill>
                            <a:srgbClr val="595959"/>
                          </a:solidFill>
                          <a:latin typeface="Calibri"/>
                          <a:ea typeface="Calibri"/>
                          <a:cs typeface="Calibri"/>
                          <a:sym typeface="Calibri"/>
                        </a:rPr>
                        <a:t>High Ambition </a:t>
                      </a:r>
                      <a:endParaRPr b="1" sz="1400" u="none" cap="none" strike="noStrike">
                        <a:solidFill>
                          <a:srgbClr val="595959"/>
                        </a:solidFill>
                        <a:latin typeface="Calibri"/>
                        <a:ea typeface="Calibri"/>
                        <a:cs typeface="Calibri"/>
                        <a:sym typeface="Calibri"/>
                      </a:endParaRPr>
                    </a:p>
                  </a:txBody>
                  <a:tcPr marT="91425" marB="91425" marR="91425" marL="91425">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rgbClr val="595959"/>
                          </a:solidFill>
                          <a:latin typeface="Calibri"/>
                          <a:ea typeface="Calibri"/>
                          <a:cs typeface="Calibri"/>
                          <a:sym typeface="Calibri"/>
                        </a:rPr>
                        <a:t>93 BRT buses + 100 PM e-Bus </a:t>
                      </a:r>
                      <a:endParaRPr sz="1400" u="none" cap="none" strike="noStrike">
                        <a:solidFill>
                          <a:srgbClr val="595959"/>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solidFill>
                            <a:srgbClr val="595959"/>
                          </a:solidFill>
                          <a:latin typeface="Calibri"/>
                          <a:ea typeface="Calibri"/>
                          <a:cs typeface="Calibri"/>
                          <a:sym typeface="Calibri"/>
                        </a:rPr>
                        <a:t>BRT-ICE + PM e-Bus- EV </a:t>
                      </a:r>
                      <a:endParaRPr sz="1400" u="none" cap="none" strike="noStrike">
                        <a:solidFill>
                          <a:srgbClr val="595959"/>
                        </a:solidFill>
                        <a:latin typeface="Calibri"/>
                        <a:ea typeface="Calibri"/>
                        <a:cs typeface="Calibri"/>
                        <a:sym typeface="Calibri"/>
                      </a:endParaRPr>
                    </a:p>
                  </a:txBody>
                  <a:tcPr marT="91425" marB="91425" marR="91425" marL="91425"/>
                </a:tc>
              </a:tr>
            </a:tbl>
          </a:graphicData>
        </a:graphic>
      </p:graphicFrame>
      <p:sp>
        <p:nvSpPr>
          <p:cNvPr id="407" name="Google Shape;407;g3f8288f73f0_3_7"/>
          <p:cNvSpPr txBox="1"/>
          <p:nvPr/>
        </p:nvSpPr>
        <p:spPr>
          <a:xfrm>
            <a:off x="8234988" y="1197575"/>
            <a:ext cx="3779100" cy="69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500"/>
              </a:spcBef>
              <a:spcAft>
                <a:spcPts val="0"/>
              </a:spcAft>
              <a:buClr>
                <a:srgbClr val="000000"/>
              </a:buClr>
              <a:buSzPts val="1600"/>
              <a:buFont typeface="Arial"/>
              <a:buNone/>
            </a:pPr>
            <a:r>
              <a:rPr b="1" i="0" lang="en-IN" sz="1600" u="none" cap="none" strike="noStrike">
                <a:solidFill>
                  <a:srgbClr val="575756"/>
                </a:solidFill>
                <a:latin typeface="Calibri"/>
                <a:ea typeface="Calibri"/>
                <a:cs typeface="Calibri"/>
                <a:sym typeface="Calibri"/>
              </a:rPr>
              <a:t>Future Scenario development </a:t>
            </a:r>
            <a:endParaRPr b="0" i="0" sz="2300" u="none" cap="none" strike="noStrike">
              <a:solidFill>
                <a:schemeClr val="dk1"/>
              </a:solidFill>
              <a:latin typeface="Calibri"/>
              <a:ea typeface="Calibri"/>
              <a:cs typeface="Calibri"/>
              <a:sym typeface="Calibri"/>
            </a:endParaRPr>
          </a:p>
        </p:txBody>
      </p:sp>
      <p:cxnSp>
        <p:nvCxnSpPr>
          <p:cNvPr id="408" name="Google Shape;408;g3f8288f73f0_3_7"/>
          <p:cNvCxnSpPr/>
          <p:nvPr/>
        </p:nvCxnSpPr>
        <p:spPr>
          <a:xfrm>
            <a:off x="8166100" y="1562100"/>
            <a:ext cx="1500" cy="4855500"/>
          </a:xfrm>
          <a:prstGeom prst="straightConnector1">
            <a:avLst/>
          </a:prstGeom>
          <a:noFill/>
          <a:ln cap="flat" cmpd="sng" w="9525">
            <a:solidFill>
              <a:schemeClr val="dk2"/>
            </a:solidFill>
            <a:prstDash val="solid"/>
            <a:round/>
            <a:headEnd len="sm" w="sm" type="none"/>
            <a:tailEnd len="sm" w="sm" type="none"/>
          </a:ln>
        </p:spPr>
      </p:cxnSp>
      <p:sp>
        <p:nvSpPr>
          <p:cNvPr id="409" name="Google Shape;409;g3f8288f73f0_3_7"/>
          <p:cNvSpPr txBox="1"/>
          <p:nvPr/>
        </p:nvSpPr>
        <p:spPr>
          <a:xfrm>
            <a:off x="8304900" y="4216400"/>
            <a:ext cx="3625800" cy="2016300"/>
          </a:xfrm>
          <a:prstGeom prst="rect">
            <a:avLst/>
          </a:prstGeom>
          <a:solidFill>
            <a:srgbClr val="E9EE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IN" sz="1700" u="none" cap="none" strike="noStrike">
                <a:solidFill>
                  <a:schemeClr val="dk1"/>
                </a:solidFill>
                <a:latin typeface="Calibri"/>
                <a:ea typeface="Calibri"/>
                <a:cs typeface="Calibri"/>
                <a:sym typeface="Calibri"/>
              </a:rPr>
              <a:t>Justification -</a:t>
            </a:r>
            <a:endParaRPr b="1" i="0" sz="1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rPr b="0" i="0" lang="en-IN" sz="1700" u="none" cap="none" strike="noStrike">
                <a:solidFill>
                  <a:schemeClr val="dk1"/>
                </a:solidFill>
                <a:latin typeface="Calibri"/>
                <a:ea typeface="Calibri"/>
                <a:cs typeface="Calibri"/>
                <a:sym typeface="Calibri"/>
              </a:rPr>
              <a:t>BRT operation in 2015 planned for 93 buses and operation stopped on 2023.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rPr b="0" i="0" lang="en-IN" sz="1700" u="none" cap="none" strike="noStrike">
                <a:solidFill>
                  <a:schemeClr val="dk1"/>
                </a:solidFill>
                <a:latin typeface="Calibri"/>
                <a:ea typeface="Calibri"/>
                <a:cs typeface="Calibri"/>
                <a:sym typeface="Calibri"/>
              </a:rPr>
              <a:t>Assuming full capacity implementation in low ambition and PM e-Bus sewa Amritsar has sanctioned for 100e-buses . </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f8288f73f0_3_20"/>
          <p:cNvSpPr txBox="1"/>
          <p:nvPr>
            <p:ph type="title"/>
          </p:nvPr>
        </p:nvSpPr>
        <p:spPr>
          <a:xfrm>
            <a:off x="395707" y="194428"/>
            <a:ext cx="11284500" cy="7941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Model M3- GHG mitigation + Pollution (PM 2.5, PM10 and NOx) calculation </a:t>
            </a:r>
            <a:endParaRPr/>
          </a:p>
          <a:p>
            <a:pPr indent="0" lvl="0" marL="0" rtl="0" algn="l">
              <a:lnSpc>
                <a:spcPct val="100000"/>
              </a:lnSpc>
              <a:spcBef>
                <a:spcPts val="0"/>
              </a:spcBef>
              <a:spcAft>
                <a:spcPts val="0"/>
              </a:spcAft>
              <a:buSzPts val="2400"/>
              <a:buNone/>
            </a:pPr>
            <a:r>
              <a:t/>
            </a:r>
            <a:endParaRPr/>
          </a:p>
        </p:txBody>
      </p:sp>
      <p:sp>
        <p:nvSpPr>
          <p:cNvPr id="416" name="Google Shape;416;g3f8288f73f0_3_20"/>
          <p:cNvSpPr txBox="1"/>
          <p:nvPr>
            <p:ph idx="2" type="body"/>
          </p:nvPr>
        </p:nvSpPr>
        <p:spPr>
          <a:xfrm>
            <a:off x="395707" y="6475388"/>
            <a:ext cx="9740700" cy="383100"/>
          </a:xfrm>
          <a:prstGeom prst="rect">
            <a:avLst/>
          </a:prstGeom>
          <a:noFill/>
          <a:ln>
            <a:noFill/>
          </a:ln>
        </p:spPr>
        <p:txBody>
          <a:bodyPr anchorCtr="0" anchor="ctr" bIns="45700" lIns="0" spcFirstLastPara="1" rIns="91425" wrap="square" tIns="45700">
            <a:noAutofit/>
          </a:bodyPr>
          <a:lstStyle/>
          <a:p>
            <a:pPr indent="0" lvl="0" marL="0" rtl="0" algn="l">
              <a:lnSpc>
                <a:spcPct val="100000"/>
              </a:lnSpc>
              <a:spcBef>
                <a:spcPts val="300"/>
              </a:spcBef>
              <a:spcAft>
                <a:spcPts val="0"/>
              </a:spcAft>
              <a:buSzPts val="900"/>
              <a:buNone/>
            </a:pPr>
            <a:r>
              <a:t/>
            </a:r>
            <a:endParaRPr/>
          </a:p>
        </p:txBody>
      </p:sp>
      <p:sp>
        <p:nvSpPr>
          <p:cNvPr id="417" name="Google Shape;417;g3f8288f73f0_3_20"/>
          <p:cNvSpPr txBox="1"/>
          <p:nvPr/>
        </p:nvSpPr>
        <p:spPr>
          <a:xfrm>
            <a:off x="395700" y="605425"/>
            <a:ext cx="8191500" cy="38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500"/>
              </a:spcBef>
              <a:spcAft>
                <a:spcPts val="0"/>
              </a:spcAft>
              <a:buClr>
                <a:srgbClr val="000000"/>
              </a:buClr>
              <a:buSzPts val="1600"/>
              <a:buFont typeface="Arial"/>
              <a:buNone/>
            </a:pPr>
            <a:r>
              <a:rPr b="1" i="0" lang="en-IN" sz="1600" u="none" cap="none" strike="noStrike">
                <a:solidFill>
                  <a:srgbClr val="575756"/>
                </a:solidFill>
                <a:latin typeface="Calibri"/>
                <a:ea typeface="Calibri"/>
                <a:cs typeface="Calibri"/>
                <a:sym typeface="Calibri"/>
              </a:rPr>
              <a:t>Activity Parameter- VKT calculation  </a:t>
            </a:r>
            <a:endParaRPr b="0" i="0" sz="2300" u="none" cap="none" strike="noStrike">
              <a:solidFill>
                <a:schemeClr val="dk1"/>
              </a:solidFill>
              <a:latin typeface="Calibri"/>
              <a:ea typeface="Calibri"/>
              <a:cs typeface="Calibri"/>
              <a:sym typeface="Calibri"/>
            </a:endParaRPr>
          </a:p>
        </p:txBody>
      </p:sp>
      <p:graphicFrame>
        <p:nvGraphicFramePr>
          <p:cNvPr id="418" name="Google Shape;418;g3f8288f73f0_3_20"/>
          <p:cNvGraphicFramePr/>
          <p:nvPr/>
        </p:nvGraphicFramePr>
        <p:xfrm>
          <a:off x="298413" y="1064725"/>
          <a:ext cx="3000000" cy="3000000"/>
        </p:xfrm>
        <a:graphic>
          <a:graphicData uri="http://schemas.openxmlformats.org/drawingml/2006/table">
            <a:tbl>
              <a:tblPr>
                <a:noFill/>
                <a:tableStyleId>{B4FFDD6A-01B7-48A3-BB6C-044644F34459}</a:tableStyleId>
              </a:tblPr>
              <a:tblGrid>
                <a:gridCol w="1252225"/>
                <a:gridCol w="1759475"/>
                <a:gridCol w="1394475"/>
                <a:gridCol w="952775"/>
                <a:gridCol w="1029025"/>
                <a:gridCol w="1361700"/>
                <a:gridCol w="1083225"/>
                <a:gridCol w="976675"/>
                <a:gridCol w="935350"/>
                <a:gridCol w="850250"/>
              </a:tblGrid>
              <a:tr h="478675">
                <a:tc rowSpan="2">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Assumption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rowSpan="2">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Vehicle category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 Option 1-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gridSpan="3">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Option 2-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hMerge="1"/>
                <a:tc hMerge="1"/>
                <a:tc rowSpan="2">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Total number of vehicle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Option 1</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Option 2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rowSpan="2">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Vehicle Characteristics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r>
              <a:tr h="630800">
                <a:tc vMerge="1"/>
                <a:tc vMerge="1"/>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Daily Utilisation (Km)</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Number of trips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Average trip length </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Daily utilisation (Km)</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vMerge="1"/>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VKT (Km)</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IN" sz="1400" u="none" cap="none" strike="noStrike">
                          <a:latin typeface="Calibri"/>
                          <a:ea typeface="Calibri"/>
                          <a:cs typeface="Calibri"/>
                          <a:sym typeface="Calibri"/>
                        </a:rPr>
                        <a:t>VKT (Km)</a:t>
                      </a:r>
                      <a:endParaRPr b="1"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vMerge="1"/>
              </a:tr>
              <a:tr h="451150">
                <a:tc rowSpan="4">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Primary survey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Auto rickshaws (ICE)</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120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8</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13</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106</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25500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2691759</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3060000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D9D9C"/>
                    </a:solidFill>
                  </a:tcPr>
                </a:tc>
              </a:tr>
              <a:tr h="451150">
                <a:tc vMerge="1"/>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E-rickshaws</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90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12</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5</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64</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20000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1282424</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1800000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r>
              <a:tr h="451150">
                <a:tc vMerge="1"/>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2w</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30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4</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6</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23</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313205</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7201840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9396150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D9D9C"/>
                    </a:solidFill>
                  </a:tcPr>
                </a:tc>
              </a:tr>
              <a:tr h="451150">
                <a:tc vMerge="1"/>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Auto rickshaws (EV)</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120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8</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13</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106</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39350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4152212</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4722000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r>
              <a:tr h="451150">
                <a:tc rowSpan="4">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Secondary Literature</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Car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40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gridSpan="2" rowSpan="4">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Nil</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4" hMerge="1"/>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40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57562</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2302480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2302480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D9D9C"/>
                    </a:solidFill>
                  </a:tcPr>
                </a:tc>
              </a:tr>
              <a:tr h="451150">
                <a:tc vMerge="1"/>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Metro Buses /BRT</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gridSpan="2" vMerge="1"/>
                <a:tc hMerge="1" vMerge="1"/>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93</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18600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18600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D9D9C"/>
                    </a:solidFill>
                  </a:tcPr>
                </a:tc>
              </a:tr>
              <a:tr h="451150">
                <a:tc vMerge="1"/>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PM e-buses</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gridSpan="2" vMerge="1"/>
                <a:tc hMerge="1" vMerge="1"/>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20000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20000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r>
              <a:tr h="451150">
                <a:tc vMerge="1"/>
                <a:tc>
                  <a:txBody>
                    <a:bodyPr/>
                    <a:lstStyle/>
                    <a:p>
                      <a:pPr indent="0" lvl="0" marL="0" marR="0" rtl="0" algn="l">
                        <a:lnSpc>
                          <a:spcPct val="100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Pvt Buses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350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gridSpan="2" vMerge="1"/>
                <a:tc hMerge="1" vMerge="1"/>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350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51</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17850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400"/>
                        <a:buFont typeface="Arial"/>
                        <a:buNone/>
                      </a:pPr>
                      <a:r>
                        <a:rPr lang="en-IN" sz="1400" u="none" cap="none" strike="noStrike">
                          <a:latin typeface="Calibri"/>
                          <a:ea typeface="Calibri"/>
                          <a:cs typeface="Calibri"/>
                          <a:sym typeface="Calibri"/>
                        </a:rPr>
                        <a:t>17850</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D9D9C"/>
                    </a:solidFill>
                  </a:tcPr>
                </a:tc>
              </a:tr>
            </a:tbl>
          </a:graphicData>
        </a:graphic>
      </p:graphicFrame>
      <p:sp>
        <p:nvSpPr>
          <p:cNvPr id="419" name="Google Shape;419;g3f8288f73f0_3_20"/>
          <p:cNvSpPr txBox="1"/>
          <p:nvPr/>
        </p:nvSpPr>
        <p:spPr>
          <a:xfrm>
            <a:off x="298425" y="5846900"/>
            <a:ext cx="10498800" cy="635100"/>
          </a:xfrm>
          <a:prstGeom prst="rect">
            <a:avLst/>
          </a:prstGeom>
          <a:solidFill>
            <a:srgbClr val="E9EE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IN" sz="1500" u="none" cap="none" strike="noStrike">
                <a:solidFill>
                  <a:srgbClr val="434343"/>
                </a:solidFill>
                <a:latin typeface="Calibri"/>
                <a:ea typeface="Calibri"/>
                <a:cs typeface="Calibri"/>
                <a:sym typeface="Calibri"/>
              </a:rPr>
              <a:t>Limitation - The 2025 EV–ICE split for two-wheelers and cars is unavailable in both the primary survey and secondary literature. Given the city's size and the expected low EV penetration, all 2Ws and 4Ws have been assumed to be ICE vehicles.</a:t>
            </a:r>
            <a:endParaRPr b="1" i="0" sz="1500" u="none" cap="none" strike="noStrike">
              <a:solidFill>
                <a:srgbClr val="43434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434343"/>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f8288f73f0_3_0"/>
          <p:cNvSpPr txBox="1"/>
          <p:nvPr>
            <p:ph idx="2" type="body"/>
          </p:nvPr>
        </p:nvSpPr>
        <p:spPr>
          <a:xfrm>
            <a:off x="395707" y="6475388"/>
            <a:ext cx="9740700" cy="383100"/>
          </a:xfrm>
          <a:prstGeom prst="rect">
            <a:avLst/>
          </a:prstGeom>
        </p:spPr>
        <p:txBody>
          <a:bodyPr anchorCtr="0" anchor="ctr" bIns="45700" lIns="0" spcFirstLastPara="1" rIns="91425" wrap="square" tIns="45700">
            <a:noAutofit/>
          </a:bodyPr>
          <a:lstStyle/>
          <a:p>
            <a:pPr indent="0" lvl="0" marL="0" rtl="0" algn="l">
              <a:spcBef>
                <a:spcPts val="300"/>
              </a:spcBef>
              <a:spcAft>
                <a:spcPts val="0"/>
              </a:spcAft>
              <a:buNone/>
            </a:pPr>
            <a:r>
              <a:t/>
            </a:r>
            <a:endParaRPr/>
          </a:p>
        </p:txBody>
      </p:sp>
      <p:sp>
        <p:nvSpPr>
          <p:cNvPr id="426" name="Google Shape;426;g3f8288f73f0_3_0"/>
          <p:cNvSpPr txBox="1"/>
          <p:nvPr>
            <p:ph type="title"/>
          </p:nvPr>
        </p:nvSpPr>
        <p:spPr>
          <a:xfrm>
            <a:off x="170850" y="194425"/>
            <a:ext cx="11567400" cy="7941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Model M3- GHG mitigation + Pollution (PM 2.5, PM10 and NOx) calculation </a:t>
            </a:r>
            <a:endParaRPr/>
          </a:p>
        </p:txBody>
      </p:sp>
      <p:pic>
        <p:nvPicPr>
          <p:cNvPr id="427" name="Google Shape;427;g3f8288f73f0_3_0"/>
          <p:cNvPicPr preferRelativeResize="0"/>
          <p:nvPr/>
        </p:nvPicPr>
        <p:blipFill rotWithShape="1">
          <a:blip r:embed="rId3">
            <a:alphaModFix/>
          </a:blip>
          <a:srcRect b="2108" l="1627" r="3774" t="3383"/>
          <a:stretch/>
        </p:blipFill>
        <p:spPr>
          <a:xfrm>
            <a:off x="7462775" y="3181000"/>
            <a:ext cx="4666676" cy="3189974"/>
          </a:xfrm>
          <a:prstGeom prst="rect">
            <a:avLst/>
          </a:prstGeom>
          <a:noFill/>
          <a:ln>
            <a:noFill/>
          </a:ln>
        </p:spPr>
      </p:pic>
      <p:graphicFrame>
        <p:nvGraphicFramePr>
          <p:cNvPr id="428" name="Google Shape;428;g3f8288f73f0_3_0"/>
          <p:cNvGraphicFramePr/>
          <p:nvPr/>
        </p:nvGraphicFramePr>
        <p:xfrm>
          <a:off x="237114" y="1179448"/>
          <a:ext cx="3000000" cy="3000000"/>
        </p:xfrm>
        <a:graphic>
          <a:graphicData uri="http://schemas.openxmlformats.org/drawingml/2006/table">
            <a:tbl>
              <a:tblPr>
                <a:noFill/>
                <a:tableStyleId>{55B9DEEB-F167-4F85-A006-A59B1BA32655}</a:tableStyleId>
              </a:tblPr>
              <a:tblGrid>
                <a:gridCol w="1168400"/>
                <a:gridCol w="661575"/>
                <a:gridCol w="1245525"/>
                <a:gridCol w="1308500"/>
                <a:gridCol w="908275"/>
                <a:gridCol w="846825"/>
                <a:gridCol w="927225"/>
              </a:tblGrid>
              <a:tr h="309100">
                <a:tc>
                  <a:txBody>
                    <a:bodyPr/>
                    <a:lstStyle/>
                    <a:p>
                      <a:pPr indent="0" lvl="0" marL="0" rtl="0" algn="l">
                        <a:spcBef>
                          <a:spcPts val="0"/>
                        </a:spcBef>
                        <a:spcAft>
                          <a:spcPts val="0"/>
                        </a:spcAft>
                        <a:buNone/>
                      </a:pPr>
                      <a:r>
                        <a:rPr b="1" lang="en-IN" sz="1100">
                          <a:latin typeface="Calibri"/>
                          <a:ea typeface="Calibri"/>
                          <a:cs typeface="Calibri"/>
                          <a:sym typeface="Calibri"/>
                        </a:rPr>
                        <a:t>Vehicle Category </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sz="1100">
                          <a:latin typeface="Calibri"/>
                          <a:ea typeface="Calibri"/>
                          <a:cs typeface="Calibri"/>
                          <a:sym typeface="Calibri"/>
                        </a:rPr>
                        <a:t>Fuel </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sz="1100">
                          <a:latin typeface="Calibri"/>
                          <a:ea typeface="Calibri"/>
                          <a:cs typeface="Calibri"/>
                          <a:sym typeface="Calibri"/>
                        </a:rPr>
                        <a:t>GHG (Tailpipe)</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sz="1100">
                          <a:latin typeface="Calibri"/>
                          <a:ea typeface="Calibri"/>
                          <a:cs typeface="Calibri"/>
                          <a:sym typeface="Calibri"/>
                        </a:rPr>
                        <a:t>GHG (Non-Tailpipe) </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sz="1100">
                          <a:latin typeface="Calibri"/>
                          <a:ea typeface="Calibri"/>
                          <a:cs typeface="Calibri"/>
                          <a:sym typeface="Calibri"/>
                        </a:rPr>
                        <a:t>PM 10</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sz="1100">
                          <a:latin typeface="Calibri"/>
                          <a:ea typeface="Calibri"/>
                          <a:cs typeface="Calibri"/>
                          <a:sym typeface="Calibri"/>
                        </a:rPr>
                        <a:t>PM 2.5</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sz="1100">
                          <a:latin typeface="Calibri"/>
                          <a:ea typeface="Calibri"/>
                          <a:cs typeface="Calibri"/>
                          <a:sym typeface="Calibri"/>
                        </a:rPr>
                        <a:t>NOx</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4F0"/>
                    </a:solidFill>
                  </a:tcPr>
                </a:tc>
              </a:tr>
              <a:tr h="376275">
                <a:tc rowSpan="3">
                  <a:txBody>
                    <a:bodyPr/>
                    <a:lstStyle/>
                    <a:p>
                      <a:pPr indent="0" lvl="0" marL="0" rtl="0" algn="l">
                        <a:spcBef>
                          <a:spcPts val="0"/>
                        </a:spcBef>
                        <a:spcAft>
                          <a:spcPts val="0"/>
                        </a:spcAft>
                        <a:buNone/>
                      </a:pPr>
                      <a:r>
                        <a:rPr b="1" lang="en-IN" sz="1100">
                          <a:latin typeface="Calibri"/>
                          <a:ea typeface="Calibri"/>
                          <a:cs typeface="Calibri"/>
                          <a:sym typeface="Calibri"/>
                        </a:rPr>
                        <a:t>Auto </a:t>
                      </a:r>
                      <a:r>
                        <a:rPr b="1" lang="en-IN" sz="1100">
                          <a:latin typeface="Calibri"/>
                          <a:ea typeface="Calibri"/>
                          <a:cs typeface="Calibri"/>
                          <a:sym typeface="Calibri"/>
                        </a:rPr>
                        <a:t>rickshaws</a:t>
                      </a:r>
                      <a:r>
                        <a:rPr b="1" lang="en-IN" sz="1100">
                          <a:latin typeface="Calibri"/>
                          <a:ea typeface="Calibri"/>
                          <a:cs typeface="Calibri"/>
                          <a:sym typeface="Calibri"/>
                        </a:rPr>
                        <a:t> </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100">
                          <a:latin typeface="Calibri"/>
                          <a:ea typeface="Calibri"/>
                          <a:cs typeface="Calibri"/>
                          <a:sym typeface="Calibri"/>
                        </a:rPr>
                        <a:t>Petrol</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3177379619</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894067858</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237326</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213585</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5894446</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6275">
                <a:tc vMerge="1"/>
                <a:tc>
                  <a:txBody>
                    <a:bodyPr/>
                    <a:lstStyle/>
                    <a:p>
                      <a:pPr indent="0" lvl="0" marL="0" rtl="0" algn="l">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16325089593</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4873161073</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7912172</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7121768</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79964480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775">
                <a:tc vMerge="1"/>
                <a:tc>
                  <a:txBody>
                    <a:bodyPr/>
                    <a:lstStyle/>
                    <a:p>
                      <a:pPr indent="0" lvl="0" marL="0" rtl="0" algn="l">
                        <a:spcBef>
                          <a:spcPts val="0"/>
                        </a:spcBef>
                        <a:spcAft>
                          <a:spcPts val="0"/>
                        </a:spcAft>
                        <a:buNone/>
                      </a:pPr>
                      <a:r>
                        <a:rPr b="1" lang="en-IN" sz="1100">
                          <a:latin typeface="Calibri"/>
                          <a:ea typeface="Calibri"/>
                          <a:cs typeface="Calibri"/>
                          <a:sym typeface="Calibri"/>
                        </a:rPr>
                        <a:t>CNG </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41878727968</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5177733640</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18617952</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16755547</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462413240</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374775">
                <a:tc>
                  <a:txBody>
                    <a:bodyPr/>
                    <a:lstStyle/>
                    <a:p>
                      <a:pPr indent="0" lvl="0" marL="0" rtl="0" algn="l">
                        <a:spcBef>
                          <a:spcPts val="0"/>
                        </a:spcBef>
                        <a:spcAft>
                          <a:spcPts val="0"/>
                        </a:spcAft>
                        <a:buNone/>
                      </a:pPr>
                      <a:r>
                        <a:rPr b="1" lang="en-IN" sz="1100">
                          <a:latin typeface="Calibri"/>
                          <a:ea typeface="Calibri"/>
                          <a:cs typeface="Calibri"/>
                          <a:sym typeface="Calibri"/>
                        </a:rPr>
                        <a:t>2W</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IN" sz="1100">
                          <a:latin typeface="Calibri"/>
                          <a:ea typeface="Calibri"/>
                          <a:cs typeface="Calibri"/>
                          <a:sym typeface="Calibri"/>
                        </a:rPr>
                        <a:t>Petrol</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356506374263</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100315646438</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130833446</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117750101</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7914875661</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376275">
                <a:tc rowSpan="3">
                  <a:txBody>
                    <a:bodyPr/>
                    <a:lstStyle/>
                    <a:p>
                      <a:pPr indent="0" lvl="0" marL="0" rtl="0" algn="l">
                        <a:spcBef>
                          <a:spcPts val="0"/>
                        </a:spcBef>
                        <a:spcAft>
                          <a:spcPts val="0"/>
                        </a:spcAft>
                        <a:buNone/>
                      </a:pPr>
                      <a:r>
                        <a:rPr b="1" lang="en-IN" sz="1100">
                          <a:latin typeface="Calibri"/>
                          <a:ea typeface="Calibri"/>
                          <a:cs typeface="Calibri"/>
                          <a:sym typeface="Calibri"/>
                        </a:rPr>
                        <a:t>Car</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IN" sz="1100">
                          <a:latin typeface="Calibri"/>
                          <a:ea typeface="Calibri"/>
                          <a:cs typeface="Calibri"/>
                          <a:sym typeface="Calibri"/>
                        </a:rPr>
                        <a:t>Petrol</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18015598191</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5069324166</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364526</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326772</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c>
                  <a:txBody>
                    <a:bodyPr/>
                    <a:lstStyle/>
                    <a:p>
                      <a:pPr indent="0" lvl="0" marL="0" rtl="0" algn="r">
                        <a:lnSpc>
                          <a:spcPct val="115000"/>
                        </a:lnSpc>
                        <a:spcBef>
                          <a:spcPts val="0"/>
                        </a:spcBef>
                        <a:spcAft>
                          <a:spcPts val="0"/>
                        </a:spcAft>
                        <a:buNone/>
                      </a:pPr>
                      <a:r>
                        <a:rPr b="1" lang="en-IN" sz="1100">
                          <a:latin typeface="Calibri"/>
                          <a:ea typeface="Calibri"/>
                          <a:cs typeface="Calibri"/>
                          <a:sym typeface="Calibri"/>
                        </a:rPr>
                        <a:t>91346331</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tcPr>
                </a:tc>
              </a:tr>
              <a:tr h="376275">
                <a:tc vMerge="1"/>
                <a:tc>
                  <a:txBody>
                    <a:bodyPr/>
                    <a:lstStyle/>
                    <a:p>
                      <a:pPr indent="0" lvl="0" marL="0" rtl="0" algn="l">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13513715616</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4033944960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1673770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1505539</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40386419</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775">
                <a:tc vMerge="1"/>
                <a:tc>
                  <a:txBody>
                    <a:bodyPr/>
                    <a:lstStyle/>
                    <a:p>
                      <a:pPr indent="0" lvl="0" marL="0" rtl="0" algn="l">
                        <a:spcBef>
                          <a:spcPts val="0"/>
                        </a:spcBef>
                        <a:spcAft>
                          <a:spcPts val="0"/>
                        </a:spcAft>
                        <a:buNone/>
                      </a:pPr>
                      <a:r>
                        <a:rPr lang="en-IN" sz="1100">
                          <a:latin typeface="Calibri"/>
                          <a:ea typeface="Calibri"/>
                          <a:cs typeface="Calibri"/>
                          <a:sym typeface="Calibri"/>
                        </a:rPr>
                        <a:t>CNG </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6656009184</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822924772</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20870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18864</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2368460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6275">
                <a:tc>
                  <a:txBody>
                    <a:bodyPr/>
                    <a:lstStyle/>
                    <a:p>
                      <a:pPr indent="0" lvl="0" marL="0" rtl="0" algn="l">
                        <a:spcBef>
                          <a:spcPts val="0"/>
                        </a:spcBef>
                        <a:spcAft>
                          <a:spcPts val="0"/>
                        </a:spcAft>
                        <a:buNone/>
                      </a:pPr>
                      <a:r>
                        <a:rPr b="1" lang="en-IN" sz="1100">
                          <a:latin typeface="Calibri"/>
                          <a:ea typeface="Calibri"/>
                          <a:cs typeface="Calibri"/>
                          <a:sym typeface="Calibri"/>
                        </a:rPr>
                        <a:t>City Bus </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349217400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104244000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2669</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2403</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117045</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6275">
                <a:tc>
                  <a:txBody>
                    <a:bodyPr/>
                    <a:lstStyle/>
                    <a:p>
                      <a:pPr indent="0" lvl="0" marL="0" rtl="0" algn="l">
                        <a:spcBef>
                          <a:spcPts val="0"/>
                        </a:spcBef>
                        <a:spcAft>
                          <a:spcPts val="0"/>
                        </a:spcAft>
                        <a:buNone/>
                      </a:pPr>
                      <a:r>
                        <a:rPr b="1" lang="en-IN" sz="1100">
                          <a:latin typeface="Calibri"/>
                          <a:ea typeface="Calibri"/>
                          <a:cs typeface="Calibri"/>
                          <a:sym typeface="Calibri"/>
                        </a:rPr>
                        <a:t>BRT</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363890400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108624000</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2898</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2609</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127087</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5500">
                <a:tc>
                  <a:txBody>
                    <a:bodyPr/>
                    <a:lstStyle/>
                    <a:p>
                      <a:pPr indent="0" lvl="0" marL="0" rtl="0" algn="l">
                        <a:spcBef>
                          <a:spcPts val="0"/>
                        </a:spcBef>
                        <a:spcAft>
                          <a:spcPts val="0"/>
                        </a:spcAft>
                        <a:buNone/>
                      </a:pPr>
                      <a:r>
                        <a:rPr b="1" lang="en-IN" sz="1100">
                          <a:latin typeface="Calibri"/>
                          <a:ea typeface="Calibri"/>
                          <a:cs typeface="Calibri"/>
                          <a:sym typeface="Calibri"/>
                        </a:rPr>
                        <a:t>E-rickshaws</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rowSpan="3">
                  <a:txBody>
                    <a:bodyPr/>
                    <a:lstStyle/>
                    <a:p>
                      <a:pPr indent="0" lvl="0" marL="0" rtl="0" algn="l">
                        <a:spcBef>
                          <a:spcPts val="0"/>
                        </a:spcBef>
                        <a:spcAft>
                          <a:spcPts val="0"/>
                        </a:spcAft>
                        <a:buNone/>
                      </a:pPr>
                      <a:r>
                        <a:rPr lang="en-IN" sz="1100">
                          <a:latin typeface="Calibri"/>
                          <a:ea typeface="Calibri"/>
                          <a:cs typeface="Calibri"/>
                          <a:sym typeface="Calibri"/>
                        </a:rPr>
                        <a:t>EV</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rowSpan="3">
                  <a:txBody>
                    <a:bodyPr/>
                    <a:lstStyle/>
                    <a:p>
                      <a:pPr indent="0" lvl="0" marL="0" rtl="0" algn="l">
                        <a:spcBef>
                          <a:spcPts val="0"/>
                        </a:spcBef>
                        <a:spcAft>
                          <a:spcPts val="0"/>
                        </a:spcAft>
                        <a:buNone/>
                      </a:pPr>
                      <a:r>
                        <a:rPr lang="en-IN" sz="1100">
                          <a:latin typeface="Calibri"/>
                          <a:ea typeface="Calibri"/>
                          <a:cs typeface="Calibri"/>
                          <a:sym typeface="Calibri"/>
                        </a:rPr>
                        <a:t> nil</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1724</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gridSpan="3" rowSpan="3">
                  <a:txBody>
                    <a:bodyPr/>
                    <a:lstStyle/>
                    <a:p>
                      <a:pPr indent="0" lvl="0" marL="0" rtl="0" algn="l">
                        <a:spcBef>
                          <a:spcPts val="0"/>
                        </a:spcBef>
                        <a:spcAft>
                          <a:spcPts val="0"/>
                        </a:spcAft>
                        <a:buNone/>
                      </a:pPr>
                      <a:r>
                        <a:rPr lang="en-IN" sz="1100">
                          <a:latin typeface="Calibri"/>
                          <a:ea typeface="Calibri"/>
                          <a:cs typeface="Calibri"/>
                          <a:sym typeface="Calibri"/>
                        </a:rPr>
                        <a:t>Bare minimum</a:t>
                      </a:r>
                      <a:r>
                        <a:rPr lang="en-IN" sz="1100">
                          <a:latin typeface="Calibri"/>
                          <a:ea typeface="Calibri"/>
                          <a:cs typeface="Calibri"/>
                          <a:sym typeface="Calibri"/>
                        </a:rPr>
                        <a:t> </a:t>
                      </a:r>
                      <a:r>
                        <a:rPr lang="en-IN" sz="1100">
                          <a:latin typeface="Calibri"/>
                          <a:ea typeface="Calibri"/>
                          <a:cs typeface="Calibri"/>
                          <a:sym typeface="Calibri"/>
                        </a:rPr>
                        <a:t>pollution</a:t>
                      </a:r>
                      <a:r>
                        <a:rPr lang="en-IN" sz="1100">
                          <a:latin typeface="Calibri"/>
                          <a:ea typeface="Calibri"/>
                          <a:cs typeface="Calibri"/>
                          <a:sym typeface="Calibri"/>
                        </a:rPr>
                        <a:t> from EV </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rowSpan="3" hMerge="1"/>
                <a:tc rowSpan="3" hMerge="1"/>
              </a:tr>
              <a:tr h="219625">
                <a:tc>
                  <a:txBody>
                    <a:bodyPr/>
                    <a:lstStyle/>
                    <a:p>
                      <a:pPr indent="0" lvl="0" marL="0" rtl="0" algn="l">
                        <a:spcBef>
                          <a:spcPts val="0"/>
                        </a:spcBef>
                        <a:spcAft>
                          <a:spcPts val="0"/>
                        </a:spcAft>
                        <a:buNone/>
                      </a:pPr>
                      <a:r>
                        <a:rPr b="1" lang="en-IN" sz="1100">
                          <a:latin typeface="Calibri"/>
                          <a:ea typeface="Calibri"/>
                          <a:cs typeface="Calibri"/>
                          <a:sym typeface="Calibri"/>
                        </a:rPr>
                        <a:t>Auto Rickshaws</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vMerge="1"/>
                <a:tc vMerge="1"/>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4871</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gridSpan="3" vMerge="1"/>
                <a:tc hMerge="1" vMerge="1"/>
                <a:tc hMerge="1" vMerge="1"/>
              </a:tr>
              <a:tr h="241550">
                <a:tc>
                  <a:txBody>
                    <a:bodyPr/>
                    <a:lstStyle/>
                    <a:p>
                      <a:pPr indent="0" lvl="0" marL="0" rtl="0" algn="l">
                        <a:spcBef>
                          <a:spcPts val="0"/>
                        </a:spcBef>
                        <a:spcAft>
                          <a:spcPts val="0"/>
                        </a:spcAft>
                        <a:buNone/>
                      </a:pPr>
                      <a:r>
                        <a:rPr b="1" lang="en-IN" sz="1100">
                          <a:latin typeface="Calibri"/>
                          <a:ea typeface="Calibri"/>
                          <a:cs typeface="Calibri"/>
                          <a:sym typeface="Calibri"/>
                        </a:rPr>
                        <a:t>PM eBus </a:t>
                      </a:r>
                      <a:endParaRPr b="1"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vMerge="1"/>
                <a:tc vMerge="1"/>
                <a:tc>
                  <a:txBody>
                    <a:bodyPr/>
                    <a:lstStyle/>
                    <a:p>
                      <a:pPr indent="0" lvl="0" marL="0" rtl="0" algn="r">
                        <a:lnSpc>
                          <a:spcPct val="115000"/>
                        </a:lnSpc>
                        <a:spcBef>
                          <a:spcPts val="0"/>
                        </a:spcBef>
                        <a:spcAft>
                          <a:spcPts val="0"/>
                        </a:spcAft>
                        <a:buNone/>
                      </a:pPr>
                      <a:r>
                        <a:rPr lang="en-IN" sz="1100">
                          <a:latin typeface="Calibri"/>
                          <a:ea typeface="Calibri"/>
                          <a:cs typeface="Calibri"/>
                          <a:sym typeface="Calibri"/>
                        </a:rPr>
                        <a:t>259</a:t>
                      </a:r>
                      <a:endParaRPr sz="11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EEFE"/>
                    </a:solidFill>
                  </a:tcPr>
                </a:tc>
                <a:tc gridSpan="3" vMerge="1"/>
                <a:tc hMerge="1" vMerge="1"/>
                <a:tc hMerge="1" vMerge="1"/>
              </a:tr>
            </a:tbl>
          </a:graphicData>
        </a:graphic>
      </p:graphicFrame>
      <p:sp>
        <p:nvSpPr>
          <p:cNvPr id="429" name="Google Shape;429;g3f8288f73f0_3_0"/>
          <p:cNvSpPr txBox="1"/>
          <p:nvPr/>
        </p:nvSpPr>
        <p:spPr>
          <a:xfrm>
            <a:off x="9402075" y="3610137"/>
            <a:ext cx="2679000" cy="874200"/>
          </a:xfrm>
          <a:prstGeom prst="rect">
            <a:avLst/>
          </a:prstGeom>
          <a:solidFill>
            <a:srgbClr val="E9EE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1900">
                <a:solidFill>
                  <a:srgbClr val="434343"/>
                </a:solidFill>
                <a:latin typeface="Calibri"/>
                <a:ea typeface="Calibri"/>
                <a:cs typeface="Calibri"/>
                <a:sym typeface="Calibri"/>
              </a:rPr>
              <a:t>92%</a:t>
            </a:r>
            <a:r>
              <a:rPr lang="en-IN" sz="1900">
                <a:solidFill>
                  <a:srgbClr val="434343"/>
                </a:solidFill>
                <a:latin typeface="Calibri"/>
                <a:ea typeface="Calibri"/>
                <a:cs typeface="Calibri"/>
                <a:sym typeface="Calibri"/>
              </a:rPr>
              <a:t> </a:t>
            </a:r>
            <a:r>
              <a:rPr lang="en-IN" sz="1200">
                <a:solidFill>
                  <a:srgbClr val="434343"/>
                </a:solidFill>
                <a:latin typeface="Calibri"/>
                <a:ea typeface="Calibri"/>
                <a:cs typeface="Calibri"/>
                <a:sym typeface="Calibri"/>
              </a:rPr>
              <a:t>of NOx emissions from 2W </a:t>
            </a:r>
            <a:endParaRPr sz="1200">
              <a:solidFill>
                <a:srgbClr val="434343"/>
              </a:solidFill>
              <a:latin typeface="Calibri"/>
              <a:ea typeface="Calibri"/>
              <a:cs typeface="Calibri"/>
              <a:sym typeface="Calibri"/>
            </a:endParaRPr>
          </a:p>
          <a:p>
            <a:pPr indent="0" lvl="0" marL="0" rtl="0" algn="l">
              <a:spcBef>
                <a:spcPts val="0"/>
              </a:spcBef>
              <a:spcAft>
                <a:spcPts val="0"/>
              </a:spcAft>
              <a:buNone/>
            </a:pPr>
            <a:r>
              <a:rPr b="1" lang="en-IN" sz="1900">
                <a:solidFill>
                  <a:srgbClr val="434343"/>
                </a:solidFill>
                <a:latin typeface="Calibri"/>
                <a:ea typeface="Calibri"/>
                <a:cs typeface="Calibri"/>
                <a:sym typeface="Calibri"/>
              </a:rPr>
              <a:t>3,13,205 </a:t>
            </a:r>
            <a:r>
              <a:rPr lang="en-IN" sz="1000">
                <a:solidFill>
                  <a:srgbClr val="434343"/>
                </a:solidFill>
                <a:latin typeface="Calibri"/>
                <a:ea typeface="Calibri"/>
                <a:cs typeface="Calibri"/>
                <a:sym typeface="Calibri"/>
              </a:rPr>
              <a:t>-2w on the road . </a:t>
            </a:r>
            <a:endParaRPr sz="1000">
              <a:solidFill>
                <a:srgbClr val="434343"/>
              </a:solidFill>
              <a:latin typeface="Calibri"/>
              <a:ea typeface="Calibri"/>
              <a:cs typeface="Calibri"/>
              <a:sym typeface="Calibri"/>
            </a:endParaRPr>
          </a:p>
          <a:p>
            <a:pPr indent="0" lvl="0" marL="0" rtl="0" algn="l">
              <a:spcBef>
                <a:spcPts val="0"/>
              </a:spcBef>
              <a:spcAft>
                <a:spcPts val="0"/>
              </a:spcAft>
              <a:buNone/>
            </a:pPr>
            <a:r>
              <a:t/>
            </a:r>
            <a:endParaRPr sz="1000">
              <a:solidFill>
                <a:srgbClr val="434343"/>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430" name="Google Shape;430;g3f8288f73f0_3_0"/>
          <p:cNvSpPr txBox="1"/>
          <p:nvPr/>
        </p:nvSpPr>
        <p:spPr>
          <a:xfrm>
            <a:off x="7380150" y="686000"/>
            <a:ext cx="1707000" cy="1802400"/>
          </a:xfrm>
          <a:prstGeom prst="rect">
            <a:avLst/>
          </a:prstGeom>
          <a:solidFill>
            <a:srgbClr val="E9EE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a:solidFill>
                  <a:schemeClr val="dk1"/>
                </a:solidFill>
                <a:latin typeface="Calibri"/>
                <a:ea typeface="Calibri"/>
                <a:cs typeface="Calibri"/>
                <a:sym typeface="Calibri"/>
              </a:rPr>
              <a:t>Assumption</a:t>
            </a:r>
            <a:r>
              <a:rPr lang="en-IN">
                <a:solidFill>
                  <a:schemeClr val="dk1"/>
                </a:solidFill>
                <a:latin typeface="Calibri"/>
                <a:ea typeface="Calibri"/>
                <a:cs typeface="Calibri"/>
                <a:sym typeface="Calibri"/>
              </a:rPr>
              <a:t> - All </a:t>
            </a:r>
            <a:r>
              <a:rPr b="1" lang="en-IN" sz="1600">
                <a:solidFill>
                  <a:schemeClr val="dk1"/>
                </a:solidFill>
                <a:latin typeface="Calibri"/>
                <a:ea typeface="Calibri"/>
                <a:cs typeface="Calibri"/>
                <a:sym typeface="Calibri"/>
              </a:rPr>
              <a:t>2W are Petrol , City bus and BRT buses Diesel </a:t>
            </a:r>
            <a:r>
              <a:rPr lang="en-IN">
                <a:solidFill>
                  <a:schemeClr val="dk1"/>
                </a:solidFill>
                <a:latin typeface="Calibri"/>
                <a:ea typeface="Calibri"/>
                <a:cs typeface="Calibri"/>
                <a:sym typeface="Calibri"/>
              </a:rPr>
              <a:t>fueled</a:t>
            </a:r>
            <a:r>
              <a:rPr lang="en-IN">
                <a:solidFill>
                  <a:schemeClr val="dk1"/>
                </a:solidFill>
                <a:latin typeface="Calibri"/>
                <a:ea typeface="Calibri"/>
                <a:cs typeface="Calibri"/>
                <a:sym typeface="Calibri"/>
              </a:rPr>
              <a:t> . BS IV and BS VI are </a:t>
            </a:r>
            <a:r>
              <a:rPr b="1" lang="en-IN" sz="1600">
                <a:solidFill>
                  <a:schemeClr val="dk1"/>
                </a:solidFill>
                <a:latin typeface="Calibri"/>
                <a:ea typeface="Calibri"/>
                <a:cs typeface="Calibri"/>
                <a:sym typeface="Calibri"/>
              </a:rPr>
              <a:t>30% and</a:t>
            </a:r>
            <a:r>
              <a:rPr b="1" lang="en-IN" sz="1600">
                <a:solidFill>
                  <a:schemeClr val="dk1"/>
                </a:solidFill>
                <a:latin typeface="Calibri"/>
                <a:ea typeface="Calibri"/>
                <a:cs typeface="Calibri"/>
                <a:sym typeface="Calibri"/>
              </a:rPr>
              <a:t> </a:t>
            </a:r>
            <a:r>
              <a:rPr b="1" lang="en-IN" sz="1600">
                <a:solidFill>
                  <a:schemeClr val="dk1"/>
                </a:solidFill>
                <a:latin typeface="Calibri"/>
                <a:ea typeface="Calibri"/>
                <a:cs typeface="Calibri"/>
                <a:sym typeface="Calibri"/>
              </a:rPr>
              <a:t>70% .</a:t>
            </a:r>
            <a:r>
              <a:rPr lang="en-IN">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p:txBody>
      </p:sp>
      <p:graphicFrame>
        <p:nvGraphicFramePr>
          <p:cNvPr id="431" name="Google Shape;431;g3f8288f73f0_3_0"/>
          <p:cNvGraphicFramePr/>
          <p:nvPr/>
        </p:nvGraphicFramePr>
        <p:xfrm>
          <a:off x="9163850" y="572870"/>
          <a:ext cx="3000000" cy="3000000"/>
        </p:xfrm>
        <a:graphic>
          <a:graphicData uri="http://schemas.openxmlformats.org/drawingml/2006/table">
            <a:tbl>
              <a:tblPr>
                <a:noFill/>
                <a:tableStyleId>{55B9DEEB-F167-4F85-A006-A59B1BA32655}</a:tableStyleId>
              </a:tblPr>
              <a:tblGrid>
                <a:gridCol w="1475575"/>
                <a:gridCol w="665075"/>
                <a:gridCol w="655975"/>
              </a:tblGrid>
              <a:tr h="333375">
                <a:tc>
                  <a:txBody>
                    <a:bodyPr/>
                    <a:lstStyle/>
                    <a:p>
                      <a:pPr indent="0" lvl="0" marL="0" rtl="0" algn="l">
                        <a:spcBef>
                          <a:spcPts val="0"/>
                        </a:spcBef>
                        <a:spcAft>
                          <a:spcPts val="0"/>
                        </a:spcAft>
                        <a:buNone/>
                      </a:pPr>
                      <a:r>
                        <a:rPr b="1" lang="en-IN">
                          <a:latin typeface="Calibri"/>
                          <a:ea typeface="Calibri"/>
                          <a:cs typeface="Calibri"/>
                          <a:sym typeface="Calibri"/>
                        </a:rPr>
                        <a:t>Vehicle Category </a:t>
                      </a:r>
                      <a:endParaRPr b="1">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IN">
                          <a:latin typeface="Calibri"/>
                          <a:ea typeface="Calibri"/>
                          <a:cs typeface="Calibri"/>
                          <a:sym typeface="Calibri"/>
                        </a:rPr>
                        <a:t>Fuel </a:t>
                      </a:r>
                      <a:endParaRPr b="1">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b="1" lang="en-IN">
                          <a:latin typeface="Calibri"/>
                          <a:ea typeface="Calibri"/>
                          <a:cs typeface="Calibri"/>
                          <a:sym typeface="Calibri"/>
                        </a:rPr>
                        <a:t>Share </a:t>
                      </a:r>
                      <a:endParaRPr b="1">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90500">
                <a:tc rowSpan="3">
                  <a:txBody>
                    <a:bodyPr/>
                    <a:lstStyle/>
                    <a:p>
                      <a:pPr indent="0" lvl="0" marL="0" rtl="0" algn="l">
                        <a:spcBef>
                          <a:spcPts val="0"/>
                        </a:spcBef>
                        <a:spcAft>
                          <a:spcPts val="0"/>
                        </a:spcAft>
                        <a:buNone/>
                      </a:pPr>
                      <a:r>
                        <a:rPr b="1" lang="en-IN">
                          <a:latin typeface="Calibri"/>
                          <a:ea typeface="Calibri"/>
                          <a:cs typeface="Calibri"/>
                          <a:sym typeface="Calibri"/>
                        </a:rPr>
                        <a:t>Auto </a:t>
                      </a:r>
                      <a:r>
                        <a:rPr b="1" lang="en-IN">
                          <a:latin typeface="Calibri"/>
                          <a:ea typeface="Calibri"/>
                          <a:cs typeface="Calibri"/>
                          <a:sym typeface="Calibri"/>
                        </a:rPr>
                        <a:t>rickshaws</a:t>
                      </a:r>
                      <a:r>
                        <a:rPr b="1" lang="en-IN">
                          <a:latin typeface="Calibri"/>
                          <a:ea typeface="Calibri"/>
                          <a:cs typeface="Calibri"/>
                          <a:sym typeface="Calibri"/>
                        </a:rPr>
                        <a:t> </a:t>
                      </a:r>
                      <a:endParaRPr b="1">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Calibri"/>
                          <a:ea typeface="Calibri"/>
                          <a:cs typeface="Calibri"/>
                          <a:sym typeface="Calibri"/>
                        </a:rPr>
                        <a:t>Petrol</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7</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71450">
                <a:tc vMerge="1"/>
                <a:tc>
                  <a:txBody>
                    <a:bodyPr/>
                    <a:lstStyle/>
                    <a:p>
                      <a:pPr indent="0" lvl="0" marL="0" rtl="0" algn="l">
                        <a:spcBef>
                          <a:spcPts val="0"/>
                        </a:spcBef>
                        <a:spcAft>
                          <a:spcPts val="0"/>
                        </a:spcAft>
                        <a:buNone/>
                      </a:pPr>
                      <a:r>
                        <a:rPr lang="en-IN">
                          <a:latin typeface="Calibri"/>
                          <a:ea typeface="Calibri"/>
                          <a:cs typeface="Calibri"/>
                          <a:sym typeface="Calibri"/>
                        </a:rPr>
                        <a:t>Diesel </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31</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1425">
                <a:tc vMerge="1"/>
                <a:tc>
                  <a:txBody>
                    <a:bodyPr/>
                    <a:lstStyle/>
                    <a:p>
                      <a:pPr indent="0" lvl="0" marL="0" rtl="0" algn="l">
                        <a:spcBef>
                          <a:spcPts val="0"/>
                        </a:spcBef>
                        <a:spcAft>
                          <a:spcPts val="0"/>
                        </a:spcAft>
                        <a:buNone/>
                      </a:pPr>
                      <a:r>
                        <a:rPr lang="en-IN">
                          <a:latin typeface="Calibri"/>
                          <a:ea typeface="Calibri"/>
                          <a:cs typeface="Calibri"/>
                          <a:sym typeface="Calibri"/>
                        </a:rPr>
                        <a:t>CNG </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62</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00025">
                <a:tc rowSpan="3">
                  <a:txBody>
                    <a:bodyPr/>
                    <a:lstStyle/>
                    <a:p>
                      <a:pPr indent="0" lvl="0" marL="0" rtl="0" algn="l">
                        <a:spcBef>
                          <a:spcPts val="0"/>
                        </a:spcBef>
                        <a:spcAft>
                          <a:spcPts val="0"/>
                        </a:spcAft>
                        <a:buNone/>
                      </a:pPr>
                      <a:r>
                        <a:rPr b="1" lang="en-IN">
                          <a:latin typeface="Calibri"/>
                          <a:ea typeface="Calibri"/>
                          <a:cs typeface="Calibri"/>
                          <a:sym typeface="Calibri"/>
                        </a:rPr>
                        <a:t>Car</a:t>
                      </a:r>
                      <a:endParaRPr b="1">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Calibri"/>
                          <a:ea typeface="Calibri"/>
                          <a:cs typeface="Calibri"/>
                          <a:sym typeface="Calibri"/>
                        </a:rPr>
                        <a:t>Petrol</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58</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00025">
                <a:tc vMerge="1"/>
                <a:tc>
                  <a:txBody>
                    <a:bodyPr/>
                    <a:lstStyle/>
                    <a:p>
                      <a:pPr indent="0" lvl="0" marL="0" rtl="0" algn="l">
                        <a:spcBef>
                          <a:spcPts val="0"/>
                        </a:spcBef>
                        <a:spcAft>
                          <a:spcPts val="0"/>
                        </a:spcAft>
                        <a:buNone/>
                      </a:pPr>
                      <a:r>
                        <a:rPr lang="en-IN">
                          <a:latin typeface="Calibri"/>
                          <a:ea typeface="Calibri"/>
                          <a:cs typeface="Calibri"/>
                          <a:sym typeface="Calibri"/>
                        </a:rPr>
                        <a:t>Diesel </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30</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190500">
                <a:tc vMerge="1"/>
                <a:tc>
                  <a:txBody>
                    <a:bodyPr/>
                    <a:lstStyle/>
                    <a:p>
                      <a:pPr indent="0" lvl="0" marL="0" rtl="0" algn="l">
                        <a:spcBef>
                          <a:spcPts val="0"/>
                        </a:spcBef>
                        <a:spcAft>
                          <a:spcPts val="0"/>
                        </a:spcAft>
                        <a:buNone/>
                      </a:pPr>
                      <a:r>
                        <a:rPr lang="en-IN">
                          <a:latin typeface="Calibri"/>
                          <a:ea typeface="Calibri"/>
                          <a:cs typeface="Calibri"/>
                          <a:sym typeface="Calibri"/>
                        </a:rPr>
                        <a:t>CNG </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12</a:t>
                      </a:r>
                      <a:endParaRPr>
                        <a:latin typeface="Calibri"/>
                        <a:ea typeface="Calibri"/>
                        <a:cs typeface="Calibri"/>
                        <a:sym typeface="Calibri"/>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432" name="Google Shape;432;g3f8288f73f0_3_0"/>
          <p:cNvSpPr/>
          <p:nvPr/>
        </p:nvSpPr>
        <p:spPr>
          <a:xfrm>
            <a:off x="8494750" y="4849972"/>
            <a:ext cx="3421200" cy="515100"/>
          </a:xfrm>
          <a:prstGeom prst="roundRect">
            <a:avLst>
              <a:gd fmla="val 16667" name="adj"/>
            </a:avLst>
          </a:prstGeom>
          <a:noFill/>
          <a:ln cap="flat" cmpd="sng" w="19050">
            <a:solidFill>
              <a:srgbClr val="86BB3F"/>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3" name="Google Shape;433;g3f8288f73f0_3_0"/>
          <p:cNvSpPr txBox="1"/>
          <p:nvPr/>
        </p:nvSpPr>
        <p:spPr>
          <a:xfrm>
            <a:off x="202400" y="678650"/>
            <a:ext cx="6738900" cy="71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1700">
                <a:solidFill>
                  <a:schemeClr val="dk1"/>
                </a:solidFill>
                <a:latin typeface="Calibri"/>
                <a:ea typeface="Calibri"/>
                <a:cs typeface="Calibri"/>
                <a:sym typeface="Calibri"/>
              </a:rPr>
              <a:t>GHG and </a:t>
            </a:r>
            <a:r>
              <a:rPr b="1" lang="en-IN" sz="1700">
                <a:solidFill>
                  <a:schemeClr val="dk1"/>
                </a:solidFill>
                <a:latin typeface="Calibri"/>
                <a:ea typeface="Calibri"/>
                <a:cs typeface="Calibri"/>
                <a:sym typeface="Calibri"/>
              </a:rPr>
              <a:t>Pollutant</a:t>
            </a:r>
            <a:r>
              <a:rPr b="1" lang="en-IN" sz="1700">
                <a:solidFill>
                  <a:schemeClr val="dk1"/>
                </a:solidFill>
                <a:latin typeface="Calibri"/>
                <a:ea typeface="Calibri"/>
                <a:cs typeface="Calibri"/>
                <a:sym typeface="Calibri"/>
              </a:rPr>
              <a:t> emission calculation for different Vehicle categories-  </a:t>
            </a:r>
            <a:endParaRPr b="1" sz="17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f8288f73f0_3_73"/>
          <p:cNvSpPr txBox="1"/>
          <p:nvPr>
            <p:ph idx="1" type="body"/>
          </p:nvPr>
        </p:nvSpPr>
        <p:spPr>
          <a:xfrm>
            <a:off x="252825" y="750217"/>
            <a:ext cx="11284500" cy="440400"/>
          </a:xfrm>
          <a:prstGeom prst="rect">
            <a:avLst/>
          </a:prstGeom>
        </p:spPr>
        <p:txBody>
          <a:bodyPr anchorCtr="0" anchor="t" bIns="45700" lIns="91425" spcFirstLastPara="1" rIns="91425" wrap="square" tIns="45700">
            <a:normAutofit/>
          </a:bodyPr>
          <a:lstStyle/>
          <a:p>
            <a:pPr indent="0" lvl="0" marL="0" rtl="0" algn="l">
              <a:spcBef>
                <a:spcPts val="500"/>
              </a:spcBef>
              <a:spcAft>
                <a:spcPts val="0"/>
              </a:spcAft>
              <a:buNone/>
            </a:pPr>
            <a:r>
              <a:rPr b="1" lang="en-IN" sz="1700"/>
              <a:t>Existing / Baseline scenario Calculation </a:t>
            </a:r>
            <a:endParaRPr b="1" sz="1700"/>
          </a:p>
        </p:txBody>
      </p:sp>
      <p:sp>
        <p:nvSpPr>
          <p:cNvPr id="440" name="Google Shape;440;g3f8288f73f0_3_73"/>
          <p:cNvSpPr txBox="1"/>
          <p:nvPr>
            <p:ph idx="2" type="body"/>
          </p:nvPr>
        </p:nvSpPr>
        <p:spPr>
          <a:xfrm>
            <a:off x="395707" y="6475388"/>
            <a:ext cx="9740700" cy="383100"/>
          </a:xfrm>
          <a:prstGeom prst="rect">
            <a:avLst/>
          </a:prstGeom>
        </p:spPr>
        <p:txBody>
          <a:bodyPr anchorCtr="0" anchor="ctr" bIns="45700" lIns="0" spcFirstLastPara="1" rIns="91425" wrap="square" tIns="45700">
            <a:noAutofit/>
          </a:bodyPr>
          <a:lstStyle/>
          <a:p>
            <a:pPr indent="0" lvl="0" marL="0" rtl="0" algn="l">
              <a:spcBef>
                <a:spcPts val="300"/>
              </a:spcBef>
              <a:spcAft>
                <a:spcPts val="0"/>
              </a:spcAft>
              <a:buNone/>
            </a:pPr>
            <a:r>
              <a:t/>
            </a:r>
            <a:endParaRPr/>
          </a:p>
        </p:txBody>
      </p:sp>
      <p:sp>
        <p:nvSpPr>
          <p:cNvPr id="441" name="Google Shape;441;g3f8288f73f0_3_73"/>
          <p:cNvSpPr txBox="1"/>
          <p:nvPr>
            <p:ph type="title"/>
          </p:nvPr>
        </p:nvSpPr>
        <p:spPr>
          <a:xfrm>
            <a:off x="312300" y="182525"/>
            <a:ext cx="11567400" cy="794100"/>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IN"/>
              <a:t>Model M3- GHG mitigation + Pollution (PM 2.5, PM10 and NOx) calculation </a:t>
            </a:r>
            <a:endParaRPr/>
          </a:p>
        </p:txBody>
      </p:sp>
      <p:sp>
        <p:nvSpPr>
          <p:cNvPr id="442" name="Google Shape;442;g3f8288f73f0_3_73"/>
          <p:cNvSpPr/>
          <p:nvPr/>
        </p:nvSpPr>
        <p:spPr>
          <a:xfrm>
            <a:off x="349850" y="1220431"/>
            <a:ext cx="2651700" cy="958500"/>
          </a:xfrm>
          <a:prstGeom prst="roundRect">
            <a:avLst>
              <a:gd fmla="val 3529" name="adj"/>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f8288f73f0_3_73"/>
          <p:cNvSpPr/>
          <p:nvPr/>
        </p:nvSpPr>
        <p:spPr>
          <a:xfrm>
            <a:off x="395550" y="1220431"/>
            <a:ext cx="2560200" cy="49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800"/>
              <a:buFont typeface="Cambria"/>
              <a:buNone/>
            </a:pPr>
            <a:r>
              <a:rPr b="1" i="0" lang="en-IN" sz="3000" u="none" cap="none" strike="noStrike">
                <a:solidFill>
                  <a:srgbClr val="434343"/>
                </a:solidFill>
                <a:latin typeface="Calibri"/>
                <a:ea typeface="Calibri"/>
                <a:cs typeface="Calibri"/>
                <a:sym typeface="Calibri"/>
              </a:rPr>
              <a:t>5.78</a:t>
            </a:r>
            <a:endParaRPr i="0" sz="3000" u="none" cap="none" strike="noStrike">
              <a:solidFill>
                <a:srgbClr val="434343"/>
              </a:solidFill>
              <a:latin typeface="Calibri"/>
              <a:ea typeface="Calibri"/>
              <a:cs typeface="Calibri"/>
              <a:sym typeface="Calibri"/>
            </a:endParaRPr>
          </a:p>
        </p:txBody>
      </p:sp>
      <p:sp>
        <p:nvSpPr>
          <p:cNvPr id="444" name="Google Shape;444;g3f8288f73f0_3_73"/>
          <p:cNvSpPr/>
          <p:nvPr/>
        </p:nvSpPr>
        <p:spPr>
          <a:xfrm>
            <a:off x="395550" y="1677255"/>
            <a:ext cx="2560200" cy="18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i="0" lang="en-IN" sz="1250" u="none" cap="none" strike="noStrike">
                <a:solidFill>
                  <a:srgbClr val="434343"/>
                </a:solidFill>
                <a:latin typeface="Calibri"/>
                <a:ea typeface="Calibri"/>
                <a:cs typeface="Calibri"/>
                <a:sym typeface="Calibri"/>
              </a:rPr>
              <a:t>lakh tonnes</a:t>
            </a:r>
            <a:endParaRPr i="0" sz="1250" u="none" cap="none" strike="noStrike">
              <a:solidFill>
                <a:srgbClr val="434343"/>
              </a:solidFill>
              <a:latin typeface="Calibri"/>
              <a:ea typeface="Calibri"/>
              <a:cs typeface="Calibri"/>
              <a:sym typeface="Calibri"/>
            </a:endParaRPr>
          </a:p>
        </p:txBody>
      </p:sp>
      <p:sp>
        <p:nvSpPr>
          <p:cNvPr id="445" name="Google Shape;445;g3f8288f73f0_3_73"/>
          <p:cNvSpPr/>
          <p:nvPr/>
        </p:nvSpPr>
        <p:spPr>
          <a:xfrm>
            <a:off x="486990" y="1792342"/>
            <a:ext cx="2377500" cy="315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IN" sz="1250" u="none" cap="none" strike="noStrike">
                <a:solidFill>
                  <a:srgbClr val="434343"/>
                </a:solidFill>
                <a:latin typeface="Calibri"/>
                <a:ea typeface="Calibri"/>
                <a:cs typeface="Calibri"/>
                <a:sym typeface="Calibri"/>
              </a:rPr>
              <a:t>GHG (CO₂e) / year</a:t>
            </a:r>
            <a:endParaRPr i="0" sz="1250" u="none" cap="none" strike="noStrike">
              <a:solidFill>
                <a:srgbClr val="434343"/>
              </a:solidFill>
              <a:latin typeface="Calibri"/>
              <a:ea typeface="Calibri"/>
              <a:cs typeface="Calibri"/>
              <a:sym typeface="Calibri"/>
            </a:endParaRPr>
          </a:p>
        </p:txBody>
      </p:sp>
      <p:sp>
        <p:nvSpPr>
          <p:cNvPr id="446" name="Google Shape;446;g3f8288f73f0_3_73"/>
          <p:cNvSpPr/>
          <p:nvPr/>
        </p:nvSpPr>
        <p:spPr>
          <a:xfrm>
            <a:off x="3257642" y="1220431"/>
            <a:ext cx="2651700" cy="958500"/>
          </a:xfrm>
          <a:prstGeom prst="roundRect">
            <a:avLst>
              <a:gd fmla="val 3529" name="adj"/>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f8288f73f0_3_73"/>
          <p:cNvSpPr/>
          <p:nvPr/>
        </p:nvSpPr>
        <p:spPr>
          <a:xfrm>
            <a:off x="3303342" y="1220431"/>
            <a:ext cx="2560200" cy="49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800"/>
              <a:buFont typeface="Cambria"/>
              <a:buNone/>
            </a:pPr>
            <a:r>
              <a:rPr b="1" i="0" lang="en-IN" sz="3000" u="none" cap="none" strike="noStrike">
                <a:solidFill>
                  <a:srgbClr val="434343"/>
                </a:solidFill>
                <a:latin typeface="Calibri"/>
                <a:ea typeface="Calibri"/>
                <a:cs typeface="Calibri"/>
                <a:sym typeface="Calibri"/>
              </a:rPr>
              <a:t>8,597</a:t>
            </a:r>
            <a:endParaRPr i="0" sz="3000" u="none" cap="none" strike="noStrike">
              <a:solidFill>
                <a:srgbClr val="434343"/>
              </a:solidFill>
              <a:latin typeface="Calibri"/>
              <a:ea typeface="Calibri"/>
              <a:cs typeface="Calibri"/>
              <a:sym typeface="Calibri"/>
            </a:endParaRPr>
          </a:p>
        </p:txBody>
      </p:sp>
      <p:sp>
        <p:nvSpPr>
          <p:cNvPr id="448" name="Google Shape;448;g3f8288f73f0_3_73"/>
          <p:cNvSpPr/>
          <p:nvPr/>
        </p:nvSpPr>
        <p:spPr>
          <a:xfrm>
            <a:off x="3303342" y="1677255"/>
            <a:ext cx="2560200" cy="18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i="0" lang="en-IN" sz="1250" u="none" cap="none" strike="noStrike">
                <a:solidFill>
                  <a:srgbClr val="434343"/>
                </a:solidFill>
                <a:latin typeface="Calibri"/>
                <a:ea typeface="Calibri"/>
                <a:cs typeface="Calibri"/>
                <a:sym typeface="Calibri"/>
              </a:rPr>
              <a:t>tonnes</a:t>
            </a:r>
            <a:endParaRPr i="0" sz="1250" u="none" cap="none" strike="noStrike">
              <a:solidFill>
                <a:srgbClr val="434343"/>
              </a:solidFill>
              <a:latin typeface="Calibri"/>
              <a:ea typeface="Calibri"/>
              <a:cs typeface="Calibri"/>
              <a:sym typeface="Calibri"/>
            </a:endParaRPr>
          </a:p>
        </p:txBody>
      </p:sp>
      <p:sp>
        <p:nvSpPr>
          <p:cNvPr id="449" name="Google Shape;449;g3f8288f73f0_3_73"/>
          <p:cNvSpPr/>
          <p:nvPr/>
        </p:nvSpPr>
        <p:spPr>
          <a:xfrm>
            <a:off x="3394782" y="1792342"/>
            <a:ext cx="2377500" cy="315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IN" sz="1250" u="none" cap="none" strike="noStrike">
                <a:solidFill>
                  <a:srgbClr val="434343"/>
                </a:solidFill>
                <a:latin typeface="Calibri"/>
                <a:ea typeface="Calibri"/>
                <a:cs typeface="Calibri"/>
                <a:sym typeface="Calibri"/>
              </a:rPr>
              <a:t>NOx / year</a:t>
            </a:r>
            <a:endParaRPr i="0" sz="1250" u="none" cap="none" strike="noStrike">
              <a:solidFill>
                <a:srgbClr val="434343"/>
              </a:solidFill>
              <a:latin typeface="Calibri"/>
              <a:ea typeface="Calibri"/>
              <a:cs typeface="Calibri"/>
              <a:sym typeface="Calibri"/>
            </a:endParaRPr>
          </a:p>
        </p:txBody>
      </p:sp>
      <p:sp>
        <p:nvSpPr>
          <p:cNvPr id="450" name="Google Shape;450;g3f8288f73f0_3_73"/>
          <p:cNvSpPr/>
          <p:nvPr/>
        </p:nvSpPr>
        <p:spPr>
          <a:xfrm>
            <a:off x="6165433" y="1220431"/>
            <a:ext cx="2651700" cy="958500"/>
          </a:xfrm>
          <a:prstGeom prst="roundRect">
            <a:avLst>
              <a:gd fmla="val 3529" name="adj"/>
            </a:avLst>
          </a:prstGeom>
          <a:noFill/>
          <a:ln cap="flat" cmpd="sng" w="38100">
            <a:solidFill>
              <a:srgbClr val="86BB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f8288f73f0_3_73"/>
          <p:cNvSpPr/>
          <p:nvPr/>
        </p:nvSpPr>
        <p:spPr>
          <a:xfrm>
            <a:off x="6211133" y="1220431"/>
            <a:ext cx="2560200" cy="49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800"/>
              <a:buFont typeface="Cambria"/>
              <a:buNone/>
            </a:pPr>
            <a:r>
              <a:rPr b="1" i="0" lang="en-IN" sz="3000" u="none" cap="none" strike="noStrike">
                <a:solidFill>
                  <a:srgbClr val="434343"/>
                </a:solidFill>
                <a:latin typeface="Calibri"/>
                <a:ea typeface="Calibri"/>
                <a:cs typeface="Calibri"/>
                <a:sym typeface="Calibri"/>
              </a:rPr>
              <a:t>159.7</a:t>
            </a:r>
            <a:endParaRPr i="0" sz="3000" u="none" cap="none" strike="noStrike">
              <a:solidFill>
                <a:srgbClr val="434343"/>
              </a:solidFill>
              <a:latin typeface="Calibri"/>
              <a:ea typeface="Calibri"/>
              <a:cs typeface="Calibri"/>
              <a:sym typeface="Calibri"/>
            </a:endParaRPr>
          </a:p>
        </p:txBody>
      </p:sp>
      <p:sp>
        <p:nvSpPr>
          <p:cNvPr id="452" name="Google Shape;452;g3f8288f73f0_3_73"/>
          <p:cNvSpPr/>
          <p:nvPr/>
        </p:nvSpPr>
        <p:spPr>
          <a:xfrm>
            <a:off x="6211133" y="1677255"/>
            <a:ext cx="2560200" cy="18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i="0" lang="en-IN" sz="1250" u="none" cap="none" strike="noStrike">
                <a:solidFill>
                  <a:srgbClr val="434343"/>
                </a:solidFill>
                <a:latin typeface="Calibri"/>
                <a:ea typeface="Calibri"/>
                <a:cs typeface="Calibri"/>
                <a:sym typeface="Calibri"/>
              </a:rPr>
              <a:t>tonnes</a:t>
            </a:r>
            <a:endParaRPr i="0" sz="1250" u="none" cap="none" strike="noStrike">
              <a:solidFill>
                <a:srgbClr val="434343"/>
              </a:solidFill>
              <a:latin typeface="Calibri"/>
              <a:ea typeface="Calibri"/>
              <a:cs typeface="Calibri"/>
              <a:sym typeface="Calibri"/>
            </a:endParaRPr>
          </a:p>
        </p:txBody>
      </p:sp>
      <p:sp>
        <p:nvSpPr>
          <p:cNvPr id="453" name="Google Shape;453;g3f8288f73f0_3_73"/>
          <p:cNvSpPr/>
          <p:nvPr/>
        </p:nvSpPr>
        <p:spPr>
          <a:xfrm>
            <a:off x="6302573" y="1792342"/>
            <a:ext cx="2377500" cy="315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IN" sz="1250" u="none" cap="none" strike="noStrike">
                <a:solidFill>
                  <a:srgbClr val="434343"/>
                </a:solidFill>
                <a:latin typeface="Calibri"/>
                <a:ea typeface="Calibri"/>
                <a:cs typeface="Calibri"/>
                <a:sym typeface="Calibri"/>
              </a:rPr>
              <a:t>PM10 / year</a:t>
            </a:r>
            <a:endParaRPr i="0" sz="1250" u="none" cap="none" strike="noStrike">
              <a:solidFill>
                <a:srgbClr val="434343"/>
              </a:solidFill>
              <a:latin typeface="Calibri"/>
              <a:ea typeface="Calibri"/>
              <a:cs typeface="Calibri"/>
              <a:sym typeface="Calibri"/>
            </a:endParaRPr>
          </a:p>
        </p:txBody>
      </p:sp>
      <p:sp>
        <p:nvSpPr>
          <p:cNvPr id="454" name="Google Shape;454;g3f8288f73f0_3_73"/>
          <p:cNvSpPr/>
          <p:nvPr/>
        </p:nvSpPr>
        <p:spPr>
          <a:xfrm>
            <a:off x="9073225" y="1220431"/>
            <a:ext cx="2651700" cy="958500"/>
          </a:xfrm>
          <a:prstGeom prst="roundRect">
            <a:avLst>
              <a:gd fmla="val 3529" name="adj"/>
            </a:avLst>
          </a:prstGeom>
          <a:noFill/>
          <a:ln cap="flat" cmpd="sng" w="3810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f8288f73f0_3_73"/>
          <p:cNvSpPr/>
          <p:nvPr/>
        </p:nvSpPr>
        <p:spPr>
          <a:xfrm>
            <a:off x="9118925" y="1220431"/>
            <a:ext cx="2560200" cy="49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800"/>
              <a:buFont typeface="Cambria"/>
              <a:buNone/>
            </a:pPr>
            <a:r>
              <a:rPr b="1" i="0" lang="en-IN" sz="3000" u="none" cap="none" strike="noStrike">
                <a:solidFill>
                  <a:srgbClr val="434343"/>
                </a:solidFill>
                <a:latin typeface="Calibri"/>
                <a:ea typeface="Calibri"/>
                <a:cs typeface="Calibri"/>
                <a:sym typeface="Calibri"/>
              </a:rPr>
              <a:t>143.7</a:t>
            </a:r>
            <a:endParaRPr i="0" sz="3000" u="none" cap="none" strike="noStrike">
              <a:solidFill>
                <a:srgbClr val="434343"/>
              </a:solidFill>
              <a:latin typeface="Calibri"/>
              <a:ea typeface="Calibri"/>
              <a:cs typeface="Calibri"/>
              <a:sym typeface="Calibri"/>
            </a:endParaRPr>
          </a:p>
        </p:txBody>
      </p:sp>
      <p:sp>
        <p:nvSpPr>
          <p:cNvPr id="456" name="Google Shape;456;g3f8288f73f0_3_73"/>
          <p:cNvSpPr/>
          <p:nvPr/>
        </p:nvSpPr>
        <p:spPr>
          <a:xfrm>
            <a:off x="9118925" y="1677255"/>
            <a:ext cx="2560200" cy="183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i="0" lang="en-IN" sz="1250" u="none" cap="none" strike="noStrike">
                <a:solidFill>
                  <a:srgbClr val="434343"/>
                </a:solidFill>
                <a:latin typeface="Calibri"/>
                <a:ea typeface="Calibri"/>
                <a:cs typeface="Calibri"/>
                <a:sym typeface="Calibri"/>
              </a:rPr>
              <a:t>tonnes</a:t>
            </a:r>
            <a:endParaRPr i="0" sz="1250" u="none" cap="none" strike="noStrike">
              <a:solidFill>
                <a:srgbClr val="434343"/>
              </a:solidFill>
              <a:latin typeface="Calibri"/>
              <a:ea typeface="Calibri"/>
              <a:cs typeface="Calibri"/>
              <a:sym typeface="Calibri"/>
            </a:endParaRPr>
          </a:p>
        </p:txBody>
      </p:sp>
      <p:sp>
        <p:nvSpPr>
          <p:cNvPr id="457" name="Google Shape;457;g3f8288f73f0_3_73"/>
          <p:cNvSpPr/>
          <p:nvPr/>
        </p:nvSpPr>
        <p:spPr>
          <a:xfrm>
            <a:off x="9210365" y="1792342"/>
            <a:ext cx="2377500" cy="315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50"/>
              <a:buFont typeface="Calibri"/>
              <a:buNone/>
            </a:pPr>
            <a:r>
              <a:rPr b="1" i="0" lang="en-IN" sz="1250" u="none" cap="none" strike="noStrike">
                <a:solidFill>
                  <a:srgbClr val="434343"/>
                </a:solidFill>
                <a:latin typeface="Calibri"/>
                <a:ea typeface="Calibri"/>
                <a:cs typeface="Calibri"/>
                <a:sym typeface="Calibri"/>
              </a:rPr>
              <a:t>PM2.5 / year</a:t>
            </a:r>
            <a:endParaRPr i="0" sz="1250" u="none" cap="none" strike="noStrike">
              <a:solidFill>
                <a:srgbClr val="434343"/>
              </a:solidFill>
              <a:latin typeface="Calibri"/>
              <a:ea typeface="Calibri"/>
              <a:cs typeface="Calibri"/>
              <a:sym typeface="Calibri"/>
            </a:endParaRPr>
          </a:p>
        </p:txBody>
      </p:sp>
      <p:grpSp>
        <p:nvGrpSpPr>
          <p:cNvPr id="458" name="Google Shape;458;g3f8288f73f0_3_73"/>
          <p:cNvGrpSpPr/>
          <p:nvPr/>
        </p:nvGrpSpPr>
        <p:grpSpPr>
          <a:xfrm>
            <a:off x="423325" y="2382577"/>
            <a:ext cx="6725725" cy="3983900"/>
            <a:chOff x="423325" y="2280000"/>
            <a:chExt cx="6725725" cy="3983900"/>
          </a:xfrm>
        </p:grpSpPr>
        <p:pic>
          <p:nvPicPr>
            <p:cNvPr id="459" name="Google Shape;459;g3f8288f73f0_3_73"/>
            <p:cNvPicPr preferRelativeResize="0"/>
            <p:nvPr/>
          </p:nvPicPr>
          <p:blipFill rotWithShape="1">
            <a:blip r:embed="rId3">
              <a:alphaModFix/>
            </a:blip>
            <a:srcRect b="1376" l="1062" r="1549" t="1753"/>
            <a:stretch/>
          </p:blipFill>
          <p:spPr>
            <a:xfrm>
              <a:off x="423325" y="2397125"/>
              <a:ext cx="6725725" cy="3866775"/>
            </a:xfrm>
            <a:prstGeom prst="rect">
              <a:avLst/>
            </a:prstGeom>
            <a:noFill/>
            <a:ln>
              <a:noFill/>
            </a:ln>
          </p:spPr>
        </p:pic>
        <p:sp>
          <p:nvSpPr>
            <p:cNvPr id="460" name="Google Shape;460;g3f8288f73f0_3_73"/>
            <p:cNvSpPr txBox="1"/>
            <p:nvPr/>
          </p:nvSpPr>
          <p:spPr>
            <a:xfrm>
              <a:off x="3303350" y="2280000"/>
              <a:ext cx="1212000" cy="6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200">
                  <a:solidFill>
                    <a:schemeClr val="accent1"/>
                  </a:solidFill>
                  <a:latin typeface="Calibri"/>
                  <a:ea typeface="Calibri"/>
                  <a:cs typeface="Calibri"/>
                  <a:sym typeface="Calibri"/>
                </a:rPr>
                <a:t>14 %</a:t>
              </a:r>
              <a:r>
                <a:rPr lang="en-IN" sz="2200">
                  <a:solidFill>
                    <a:schemeClr val="dk1"/>
                  </a:solidFill>
                  <a:latin typeface="Calibri"/>
                  <a:ea typeface="Calibri"/>
                  <a:cs typeface="Calibri"/>
                  <a:sym typeface="Calibri"/>
                </a:rPr>
                <a:t> </a:t>
              </a:r>
              <a:r>
                <a:rPr lang="en-IN" sz="1300">
                  <a:solidFill>
                    <a:srgbClr val="595959"/>
                  </a:solidFill>
                  <a:latin typeface="Calibri"/>
                  <a:ea typeface="Calibri"/>
                  <a:cs typeface="Calibri"/>
                  <a:sym typeface="Calibri"/>
                </a:rPr>
                <a:t>reduction</a:t>
              </a:r>
              <a:r>
                <a:rPr lang="en-I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461" name="Google Shape;461;g3f8288f73f0_3_73"/>
            <p:cNvSpPr txBox="1"/>
            <p:nvPr/>
          </p:nvSpPr>
          <p:spPr>
            <a:xfrm>
              <a:off x="4660050" y="2422725"/>
              <a:ext cx="1212000" cy="74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200">
                  <a:solidFill>
                    <a:schemeClr val="accent1"/>
                  </a:solidFill>
                  <a:latin typeface="Calibri"/>
                  <a:ea typeface="Calibri"/>
                  <a:cs typeface="Calibri"/>
                  <a:sym typeface="Calibri"/>
                </a:rPr>
                <a:t>19 %</a:t>
              </a:r>
              <a:r>
                <a:rPr lang="en-I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a:p>
              <a:pPr indent="0" lvl="0" marL="0" rtl="0" algn="l">
                <a:spcBef>
                  <a:spcPts val="0"/>
                </a:spcBef>
                <a:spcAft>
                  <a:spcPts val="0"/>
                </a:spcAft>
                <a:buNone/>
              </a:pPr>
              <a:r>
                <a:rPr lang="en-IN" sz="1300">
                  <a:solidFill>
                    <a:srgbClr val="595959"/>
                  </a:solidFill>
                  <a:latin typeface="Calibri"/>
                  <a:ea typeface="Calibri"/>
                  <a:cs typeface="Calibri"/>
                  <a:sym typeface="Calibri"/>
                </a:rPr>
                <a:t>reduction</a:t>
              </a:r>
              <a:r>
                <a:rPr lang="en-I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sp>
          <p:nvSpPr>
            <p:cNvPr id="462" name="Google Shape;462;g3f8288f73f0_3_73"/>
            <p:cNvSpPr txBox="1"/>
            <p:nvPr/>
          </p:nvSpPr>
          <p:spPr>
            <a:xfrm>
              <a:off x="6039350" y="2614700"/>
              <a:ext cx="1109700" cy="6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200">
                  <a:solidFill>
                    <a:schemeClr val="accent1"/>
                  </a:solidFill>
                  <a:latin typeface="Calibri"/>
                  <a:ea typeface="Calibri"/>
                  <a:cs typeface="Calibri"/>
                  <a:sym typeface="Calibri"/>
                </a:rPr>
                <a:t>24</a:t>
              </a:r>
              <a:r>
                <a:rPr lang="en-IN" sz="2200">
                  <a:solidFill>
                    <a:schemeClr val="accent1"/>
                  </a:solidFill>
                  <a:latin typeface="Calibri"/>
                  <a:ea typeface="Calibri"/>
                  <a:cs typeface="Calibri"/>
                  <a:sym typeface="Calibri"/>
                </a:rPr>
                <a:t> % </a:t>
              </a:r>
              <a:endParaRPr sz="2200">
                <a:solidFill>
                  <a:schemeClr val="accent1"/>
                </a:solidFill>
                <a:latin typeface="Calibri"/>
                <a:ea typeface="Calibri"/>
                <a:cs typeface="Calibri"/>
                <a:sym typeface="Calibri"/>
              </a:endParaRPr>
            </a:p>
            <a:p>
              <a:pPr indent="0" lvl="0" marL="0" rtl="0" algn="l">
                <a:spcBef>
                  <a:spcPts val="0"/>
                </a:spcBef>
                <a:spcAft>
                  <a:spcPts val="0"/>
                </a:spcAft>
                <a:buNone/>
              </a:pPr>
              <a:r>
                <a:rPr lang="en-IN" sz="1300">
                  <a:solidFill>
                    <a:srgbClr val="595959"/>
                  </a:solidFill>
                  <a:latin typeface="Calibri"/>
                  <a:ea typeface="Calibri"/>
                  <a:cs typeface="Calibri"/>
                  <a:sym typeface="Calibri"/>
                </a:rPr>
                <a:t>reduction</a:t>
              </a:r>
              <a:r>
                <a:rPr lang="en-I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grpSp>
      <p:cxnSp>
        <p:nvCxnSpPr>
          <p:cNvPr id="463" name="Google Shape;463;g3f8288f73f0_3_73"/>
          <p:cNvCxnSpPr/>
          <p:nvPr/>
        </p:nvCxnSpPr>
        <p:spPr>
          <a:xfrm>
            <a:off x="7326925" y="2476500"/>
            <a:ext cx="0" cy="3692700"/>
          </a:xfrm>
          <a:prstGeom prst="straightConnector1">
            <a:avLst/>
          </a:prstGeom>
          <a:noFill/>
          <a:ln cap="flat" cmpd="sng" w="28575">
            <a:solidFill>
              <a:srgbClr val="9E9E9E"/>
            </a:solidFill>
            <a:prstDash val="dash"/>
            <a:round/>
            <a:headEnd len="med" w="med" type="none"/>
            <a:tailEnd len="med" w="med" type="none"/>
          </a:ln>
        </p:spPr>
      </p:cxnSp>
      <p:graphicFrame>
        <p:nvGraphicFramePr>
          <p:cNvPr id="464" name="Google Shape;464;g3f8288f73f0_3_73"/>
          <p:cNvGraphicFramePr/>
          <p:nvPr/>
        </p:nvGraphicFramePr>
        <p:xfrm>
          <a:off x="7445275" y="2474363"/>
          <a:ext cx="3000000" cy="3000000"/>
        </p:xfrm>
        <a:graphic>
          <a:graphicData uri="http://schemas.openxmlformats.org/drawingml/2006/table">
            <a:tbl>
              <a:tblPr>
                <a:noFill/>
                <a:tableStyleId>{55B9DEEB-F167-4F85-A006-A59B1BA32655}</a:tableStyleId>
              </a:tblPr>
              <a:tblGrid>
                <a:gridCol w="914100"/>
                <a:gridCol w="732300"/>
                <a:gridCol w="675775"/>
                <a:gridCol w="671850"/>
                <a:gridCol w="1596975"/>
              </a:tblGrid>
              <a:tr h="604650">
                <a:tc>
                  <a:txBody>
                    <a:bodyPr/>
                    <a:lstStyle/>
                    <a:p>
                      <a:pPr indent="0" lvl="0" marL="0" rtl="0" algn="l">
                        <a:spcBef>
                          <a:spcPts val="0"/>
                        </a:spcBef>
                        <a:spcAft>
                          <a:spcPts val="0"/>
                        </a:spcAft>
                        <a:buNone/>
                      </a:pPr>
                      <a:r>
                        <a:rPr b="1" lang="en-IN">
                          <a:latin typeface="Calibri"/>
                          <a:ea typeface="Calibri"/>
                          <a:cs typeface="Calibri"/>
                          <a:sym typeface="Calibri"/>
                        </a:rPr>
                        <a:t>Scenario</a:t>
                      </a:r>
                      <a:endParaRPr b="1">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a:latin typeface="Calibri"/>
                          <a:ea typeface="Calibri"/>
                          <a:cs typeface="Calibri"/>
                          <a:sym typeface="Calibri"/>
                        </a:rPr>
                        <a:t>2W shift</a:t>
                      </a:r>
                      <a:endParaRPr b="1">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a:latin typeface="Calibri"/>
                          <a:ea typeface="Calibri"/>
                          <a:cs typeface="Calibri"/>
                          <a:sym typeface="Calibri"/>
                        </a:rPr>
                        <a:t>IPT shift </a:t>
                      </a:r>
                      <a:endParaRPr b="1">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a:latin typeface="Calibri"/>
                          <a:ea typeface="Calibri"/>
                          <a:cs typeface="Calibri"/>
                          <a:sym typeface="Calibri"/>
                        </a:rPr>
                        <a:t>4W shift </a:t>
                      </a:r>
                      <a:endParaRPr b="1">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B8D4F0"/>
                    </a:solidFill>
                  </a:tcPr>
                </a:tc>
                <a:tc>
                  <a:txBody>
                    <a:bodyPr/>
                    <a:lstStyle/>
                    <a:p>
                      <a:pPr indent="0" lvl="0" marL="0" rtl="0" algn="l">
                        <a:spcBef>
                          <a:spcPts val="0"/>
                        </a:spcBef>
                        <a:spcAft>
                          <a:spcPts val="0"/>
                        </a:spcAft>
                        <a:buNone/>
                      </a:pPr>
                      <a:r>
                        <a:rPr b="1" lang="en-IN">
                          <a:latin typeface="Calibri"/>
                          <a:ea typeface="Calibri"/>
                          <a:cs typeface="Calibri"/>
                          <a:sym typeface="Calibri"/>
                        </a:rPr>
                        <a:t>Bus </a:t>
                      </a:r>
                      <a:endParaRPr b="1">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B8D4F0"/>
                    </a:solidFill>
                  </a:tcPr>
                </a:tc>
              </a:tr>
              <a:tr h="929975">
                <a:tc>
                  <a:txBody>
                    <a:bodyPr/>
                    <a:lstStyle/>
                    <a:p>
                      <a:pPr indent="0" lvl="0" marL="0" rtl="0" algn="l">
                        <a:spcBef>
                          <a:spcPts val="0"/>
                        </a:spcBef>
                        <a:spcAft>
                          <a:spcPts val="0"/>
                        </a:spcAft>
                        <a:buNone/>
                      </a:pPr>
                      <a:r>
                        <a:rPr lang="en-IN">
                          <a:latin typeface="Calibri"/>
                          <a:ea typeface="Calibri"/>
                          <a:cs typeface="Calibri"/>
                          <a:sym typeface="Calibri"/>
                        </a:rPr>
                        <a:t>Low </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15%</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15%</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5%</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IN">
                          <a:latin typeface="Calibri"/>
                          <a:ea typeface="Calibri"/>
                          <a:cs typeface="Calibri"/>
                          <a:sym typeface="Calibri"/>
                        </a:rPr>
                        <a:t>93 BRT diesel buses , 53 city diesel buses </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r>
              <a:tr h="1178725">
                <a:tc>
                  <a:txBody>
                    <a:bodyPr/>
                    <a:lstStyle/>
                    <a:p>
                      <a:pPr indent="0" lvl="0" marL="0" rtl="0" algn="l">
                        <a:spcBef>
                          <a:spcPts val="0"/>
                        </a:spcBef>
                        <a:spcAft>
                          <a:spcPts val="0"/>
                        </a:spcAft>
                        <a:buNone/>
                      </a:pPr>
                      <a:r>
                        <a:rPr lang="en-IN">
                          <a:latin typeface="Calibri"/>
                          <a:ea typeface="Calibri"/>
                          <a:cs typeface="Calibri"/>
                          <a:sym typeface="Calibri"/>
                        </a:rPr>
                        <a:t>Moderate </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20%</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20%</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10%</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93 BRT diesel buses  &amp; 40 PM e-BUses &amp; 53 city diesel buses</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r>
              <a:tr h="1178725">
                <a:tc>
                  <a:txBody>
                    <a:bodyPr/>
                    <a:lstStyle/>
                    <a:p>
                      <a:pPr indent="0" lvl="0" marL="0" rtl="0" algn="l">
                        <a:spcBef>
                          <a:spcPts val="0"/>
                        </a:spcBef>
                        <a:spcAft>
                          <a:spcPts val="0"/>
                        </a:spcAft>
                        <a:buNone/>
                      </a:pPr>
                      <a:r>
                        <a:rPr lang="en-IN">
                          <a:latin typeface="Calibri"/>
                          <a:ea typeface="Calibri"/>
                          <a:cs typeface="Calibri"/>
                          <a:sym typeface="Calibri"/>
                        </a:rPr>
                        <a:t>High  </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25%</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25%</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IN">
                          <a:latin typeface="Calibri"/>
                          <a:ea typeface="Calibri"/>
                          <a:cs typeface="Calibri"/>
                          <a:sym typeface="Calibri"/>
                        </a:rPr>
                        <a:t>15%</a:t>
                      </a:r>
                      <a:endParaRPr>
                        <a:latin typeface="Calibri"/>
                        <a:ea typeface="Calibri"/>
                        <a:cs typeface="Calibri"/>
                        <a:sym typeface="Calibri"/>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IN">
                          <a:solidFill>
                            <a:schemeClr val="dk1"/>
                          </a:solidFill>
                          <a:latin typeface="Calibri"/>
                          <a:ea typeface="Calibri"/>
                          <a:cs typeface="Calibri"/>
                          <a:sym typeface="Calibri"/>
                        </a:rPr>
                        <a:t>93 BRT diesel buses  &amp; 100 PM e-BUses &amp; 53 city diesel buses</a:t>
                      </a:r>
                      <a:endParaRPr/>
                    </a:p>
                  </a:txBody>
                  <a:tcPr marT="91425" marB="91425" marR="91425" marL="91425">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f8288f73f0_3_114"/>
          <p:cNvSpPr txBox="1"/>
          <p:nvPr>
            <p:ph type="title"/>
          </p:nvPr>
        </p:nvSpPr>
        <p:spPr>
          <a:xfrm>
            <a:off x="395707" y="194428"/>
            <a:ext cx="11284500" cy="794100"/>
          </a:xfrm>
          <a:prstGeom prst="rect">
            <a:avLst/>
          </a:prstGeom>
        </p:spPr>
        <p:txBody>
          <a:bodyPr anchorCtr="0" anchor="t" bIns="45700" lIns="0" spcFirstLastPara="1" rIns="0" wrap="square" tIns="45700">
            <a:normAutofit/>
          </a:bodyPr>
          <a:lstStyle/>
          <a:p>
            <a:pPr indent="0" lvl="0" marL="0" rtl="0" algn="l">
              <a:spcBef>
                <a:spcPts val="0"/>
              </a:spcBef>
              <a:spcAft>
                <a:spcPts val="0"/>
              </a:spcAft>
              <a:buNone/>
            </a:pPr>
            <a:r>
              <a:rPr lang="en-IN"/>
              <a:t>Inferences and Policy Implications </a:t>
            </a:r>
            <a:r>
              <a:rPr lang="en-IN"/>
              <a:t>  </a:t>
            </a:r>
            <a:endParaRPr/>
          </a:p>
        </p:txBody>
      </p:sp>
      <p:sp>
        <p:nvSpPr>
          <p:cNvPr id="471" name="Google Shape;471;g3f8288f73f0_3_114"/>
          <p:cNvSpPr txBox="1"/>
          <p:nvPr>
            <p:ph idx="1" type="body"/>
          </p:nvPr>
        </p:nvSpPr>
        <p:spPr>
          <a:xfrm>
            <a:off x="395700" y="738319"/>
            <a:ext cx="5057400" cy="2000100"/>
          </a:xfrm>
          <a:prstGeom prst="rect">
            <a:avLst/>
          </a:prstGeom>
        </p:spPr>
        <p:txBody>
          <a:bodyPr anchorCtr="0" anchor="t" bIns="45700" lIns="91425" spcFirstLastPara="1" rIns="91425" wrap="square" tIns="45700">
            <a:normAutofit/>
          </a:bodyPr>
          <a:lstStyle/>
          <a:p>
            <a:pPr indent="-336550" lvl="0" marL="457200" rtl="0" algn="l">
              <a:lnSpc>
                <a:spcPct val="115000"/>
              </a:lnSpc>
              <a:spcBef>
                <a:spcPts val="1200"/>
              </a:spcBef>
              <a:spcAft>
                <a:spcPts val="0"/>
              </a:spcAft>
              <a:buClr>
                <a:srgbClr val="434343"/>
              </a:buClr>
              <a:buSzPts val="1700"/>
              <a:buChar char="●"/>
            </a:pPr>
            <a:r>
              <a:rPr b="1" lang="en-IN" sz="1700">
                <a:solidFill>
                  <a:srgbClr val="434343"/>
                </a:solidFill>
              </a:rPr>
              <a:t>High Ambition Scenario:</a:t>
            </a:r>
            <a:r>
              <a:rPr lang="en-IN" sz="1700">
                <a:solidFill>
                  <a:srgbClr val="434343"/>
                </a:solidFill>
              </a:rPr>
              <a:t> Based on existing state government vision and implementation plans.</a:t>
            </a:r>
            <a:endParaRPr sz="1700">
              <a:solidFill>
                <a:srgbClr val="434343"/>
              </a:solidFill>
            </a:endParaRPr>
          </a:p>
          <a:p>
            <a:pPr indent="-336550" lvl="0" marL="457200" rtl="0" algn="l">
              <a:lnSpc>
                <a:spcPct val="115000"/>
              </a:lnSpc>
              <a:spcBef>
                <a:spcPts val="0"/>
              </a:spcBef>
              <a:spcAft>
                <a:spcPts val="0"/>
              </a:spcAft>
              <a:buClr>
                <a:srgbClr val="434343"/>
              </a:buClr>
              <a:buSzPts val="1700"/>
              <a:buChar char="●"/>
            </a:pPr>
            <a:r>
              <a:rPr b="1" lang="en-IN" sz="1700">
                <a:solidFill>
                  <a:srgbClr val="434343"/>
                </a:solidFill>
              </a:rPr>
              <a:t>Total e-buses:</a:t>
            </a:r>
            <a:r>
              <a:rPr lang="en-IN" sz="1700">
                <a:solidFill>
                  <a:srgbClr val="434343"/>
                </a:solidFill>
              </a:rPr>
              <a:t> </a:t>
            </a:r>
            <a:r>
              <a:rPr b="1" lang="en-IN" sz="1700">
                <a:solidFill>
                  <a:srgbClr val="434343"/>
                </a:solidFill>
              </a:rPr>
              <a:t>246</a:t>
            </a:r>
            <a:r>
              <a:rPr lang="en-IN" sz="1700">
                <a:solidFill>
                  <a:srgbClr val="434343"/>
                </a:solidFill>
              </a:rPr>
              <a:t> projected under the high ambition scenario.</a:t>
            </a:r>
            <a:endParaRPr>
              <a:solidFill>
                <a:srgbClr val="434343"/>
              </a:solidFill>
            </a:endParaRPr>
          </a:p>
        </p:txBody>
      </p:sp>
      <p:sp>
        <p:nvSpPr>
          <p:cNvPr id="472" name="Google Shape;472;g3f8288f73f0_3_114"/>
          <p:cNvSpPr txBox="1"/>
          <p:nvPr>
            <p:ph idx="2" type="body"/>
          </p:nvPr>
        </p:nvSpPr>
        <p:spPr>
          <a:xfrm>
            <a:off x="395707" y="6475388"/>
            <a:ext cx="9740700" cy="383100"/>
          </a:xfrm>
          <a:prstGeom prst="rect">
            <a:avLst/>
          </a:prstGeom>
        </p:spPr>
        <p:txBody>
          <a:bodyPr anchorCtr="0" anchor="ctr" bIns="45700" lIns="0" spcFirstLastPara="1" rIns="91425" wrap="square" tIns="45700">
            <a:noAutofit/>
          </a:bodyPr>
          <a:lstStyle/>
          <a:p>
            <a:pPr indent="0" lvl="0" marL="0" rtl="0" algn="l">
              <a:spcBef>
                <a:spcPts val="300"/>
              </a:spcBef>
              <a:spcAft>
                <a:spcPts val="0"/>
              </a:spcAft>
              <a:buNone/>
            </a:pPr>
            <a:r>
              <a:t/>
            </a:r>
            <a:endParaRPr/>
          </a:p>
        </p:txBody>
      </p:sp>
      <p:pic>
        <p:nvPicPr>
          <p:cNvPr id="473" name="Google Shape;473;g3f8288f73f0_3_114"/>
          <p:cNvPicPr preferRelativeResize="0"/>
          <p:nvPr/>
        </p:nvPicPr>
        <p:blipFill>
          <a:blip r:embed="rId3">
            <a:alphaModFix/>
          </a:blip>
          <a:stretch>
            <a:fillRect/>
          </a:stretch>
        </p:blipFill>
        <p:spPr>
          <a:xfrm>
            <a:off x="6082256" y="828000"/>
            <a:ext cx="5847975" cy="4749264"/>
          </a:xfrm>
          <a:prstGeom prst="rect">
            <a:avLst/>
          </a:prstGeom>
          <a:noFill/>
          <a:ln>
            <a:noFill/>
          </a:ln>
        </p:spPr>
      </p:pic>
      <p:graphicFrame>
        <p:nvGraphicFramePr>
          <p:cNvPr id="474" name="Google Shape;474;g3f8288f73f0_3_114"/>
          <p:cNvGraphicFramePr/>
          <p:nvPr/>
        </p:nvGraphicFramePr>
        <p:xfrm>
          <a:off x="479050" y="2083600"/>
          <a:ext cx="3000000" cy="3000000"/>
        </p:xfrm>
        <a:graphic>
          <a:graphicData uri="http://schemas.openxmlformats.org/drawingml/2006/table">
            <a:tbl>
              <a:tblPr>
                <a:noFill/>
                <a:tableStyleId>{D8697CA2-5F76-4046-85EA-60F236C5EB1A}</a:tableStyleId>
              </a:tblPr>
              <a:tblGrid>
                <a:gridCol w="1685800"/>
                <a:gridCol w="1685800"/>
                <a:gridCol w="1685800"/>
              </a:tblGrid>
              <a:tr h="397050">
                <a:tc>
                  <a:txBody>
                    <a:bodyPr/>
                    <a:lstStyle/>
                    <a:p>
                      <a:pPr indent="0" lvl="0" marL="0" rtl="0" algn="l">
                        <a:spcBef>
                          <a:spcPts val="0"/>
                        </a:spcBef>
                        <a:spcAft>
                          <a:spcPts val="0"/>
                        </a:spcAft>
                        <a:buNone/>
                      </a:pPr>
                      <a:r>
                        <a:rPr lang="en-IN" sz="1500">
                          <a:latin typeface="Calibri"/>
                          <a:ea typeface="Calibri"/>
                          <a:cs typeface="Calibri"/>
                          <a:sym typeface="Calibri"/>
                        </a:rPr>
                        <a:t>CMP norms </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500">
                          <a:latin typeface="Calibri"/>
                          <a:ea typeface="Calibri"/>
                          <a:cs typeface="Calibri"/>
                          <a:sym typeface="Calibri"/>
                        </a:rPr>
                        <a:t>55 buses / lakh </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500">
                          <a:latin typeface="Calibri"/>
                          <a:ea typeface="Calibri"/>
                          <a:cs typeface="Calibri"/>
                          <a:sym typeface="Calibri"/>
                        </a:rPr>
                        <a:t>930 buses </a:t>
                      </a:r>
                      <a:endParaRPr sz="1500">
                        <a:latin typeface="Calibri"/>
                        <a:ea typeface="Calibri"/>
                        <a:cs typeface="Calibri"/>
                        <a:sym typeface="Calibri"/>
                      </a:endParaRPr>
                    </a:p>
                  </a:txBody>
                  <a:tcPr marT="91425" marB="91425" marR="91425" marL="91425"/>
                </a:tc>
              </a:tr>
              <a:tr h="397050">
                <a:tc>
                  <a:txBody>
                    <a:bodyPr/>
                    <a:lstStyle/>
                    <a:p>
                      <a:pPr indent="0" lvl="0" marL="0" rtl="0" algn="l">
                        <a:spcBef>
                          <a:spcPts val="0"/>
                        </a:spcBef>
                        <a:spcAft>
                          <a:spcPts val="0"/>
                        </a:spcAft>
                        <a:buNone/>
                      </a:pPr>
                      <a:r>
                        <a:rPr lang="en-IN" sz="1500">
                          <a:latin typeface="Calibri"/>
                          <a:ea typeface="Calibri"/>
                          <a:cs typeface="Calibri"/>
                          <a:sym typeface="Calibri"/>
                        </a:rPr>
                        <a:t>MoHUA </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500">
                          <a:latin typeface="Calibri"/>
                          <a:ea typeface="Calibri"/>
                          <a:cs typeface="Calibri"/>
                          <a:sym typeface="Calibri"/>
                        </a:rPr>
                        <a:t>60 buses / lakh </a:t>
                      </a:r>
                      <a:endParaRPr sz="15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IN" sz="1500">
                          <a:latin typeface="Calibri"/>
                          <a:ea typeface="Calibri"/>
                          <a:cs typeface="Calibri"/>
                          <a:sym typeface="Calibri"/>
                        </a:rPr>
                        <a:t>1014 buses </a:t>
                      </a:r>
                      <a:endParaRPr sz="1500">
                        <a:latin typeface="Calibri"/>
                        <a:ea typeface="Calibri"/>
                        <a:cs typeface="Calibri"/>
                        <a:sym typeface="Calibri"/>
                      </a:endParaRPr>
                    </a:p>
                  </a:txBody>
                  <a:tcPr marT="91425" marB="91425" marR="91425" marL="91425"/>
                </a:tc>
              </a:tr>
            </a:tbl>
          </a:graphicData>
        </a:graphic>
      </p:graphicFrame>
      <p:sp>
        <p:nvSpPr>
          <p:cNvPr id="475" name="Google Shape;475;g3f8288f73f0_3_114"/>
          <p:cNvSpPr txBox="1"/>
          <p:nvPr/>
        </p:nvSpPr>
        <p:spPr>
          <a:xfrm>
            <a:off x="261950" y="2976450"/>
            <a:ext cx="5729700" cy="34290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IN" sz="1800">
                <a:solidFill>
                  <a:srgbClr val="434343"/>
                </a:solidFill>
                <a:latin typeface="Calibri"/>
                <a:ea typeface="Calibri"/>
                <a:cs typeface="Calibri"/>
                <a:sym typeface="Calibri"/>
              </a:rPr>
              <a:t>Policy Implications - </a:t>
            </a:r>
            <a:endParaRPr b="1"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b="1" lang="en-IN" sz="1800">
                <a:solidFill>
                  <a:srgbClr val="434343"/>
                </a:solidFill>
                <a:latin typeface="Calibri"/>
                <a:ea typeface="Calibri"/>
                <a:cs typeface="Calibri"/>
                <a:sym typeface="Calibri"/>
              </a:rPr>
              <a:t>Permit capping and route rationalization</a:t>
            </a:r>
            <a:r>
              <a:rPr lang="en-IN" sz="1800">
                <a:solidFill>
                  <a:srgbClr val="434343"/>
                </a:solidFill>
                <a:latin typeface="Calibri"/>
                <a:ea typeface="Calibri"/>
                <a:cs typeface="Calibri"/>
                <a:sym typeface="Calibri"/>
              </a:rPr>
              <a:t> for auto rickshaws and e-rickshaws (example - Delhi, Kolkata ) </a:t>
            </a:r>
            <a:endParaRPr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b="1" lang="en-IN" sz="1800">
                <a:solidFill>
                  <a:srgbClr val="434343"/>
                </a:solidFill>
                <a:latin typeface="Calibri"/>
                <a:ea typeface="Calibri"/>
                <a:cs typeface="Calibri"/>
                <a:sym typeface="Calibri"/>
              </a:rPr>
              <a:t>Old Vehicle scrappage </a:t>
            </a:r>
            <a:r>
              <a:rPr lang="en-IN" sz="1800">
                <a:solidFill>
                  <a:srgbClr val="434343"/>
                </a:solidFill>
                <a:latin typeface="Calibri"/>
                <a:ea typeface="Calibri"/>
                <a:cs typeface="Calibri"/>
                <a:sym typeface="Calibri"/>
              </a:rPr>
              <a:t>linked entry - new e-rickshaws permit only against </a:t>
            </a:r>
            <a:r>
              <a:rPr lang="en-IN" sz="1800">
                <a:solidFill>
                  <a:srgbClr val="434343"/>
                </a:solidFill>
                <a:latin typeface="Calibri"/>
                <a:ea typeface="Calibri"/>
                <a:cs typeface="Calibri"/>
                <a:sym typeface="Calibri"/>
              </a:rPr>
              <a:t>scrappage</a:t>
            </a:r>
            <a:r>
              <a:rPr lang="en-IN" sz="1800">
                <a:solidFill>
                  <a:srgbClr val="434343"/>
                </a:solidFill>
                <a:latin typeface="Calibri"/>
                <a:ea typeface="Calibri"/>
                <a:cs typeface="Calibri"/>
                <a:sym typeface="Calibri"/>
              </a:rPr>
              <a:t> of old ICE (BS IV) 3W scrappage </a:t>
            </a:r>
            <a:endParaRPr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b="1" lang="en-IN" sz="1800">
                <a:solidFill>
                  <a:srgbClr val="434343"/>
                </a:solidFill>
                <a:latin typeface="Calibri"/>
                <a:ea typeface="Calibri"/>
                <a:cs typeface="Calibri"/>
                <a:sym typeface="Calibri"/>
              </a:rPr>
              <a:t>Dynamic parking pricing</a:t>
            </a:r>
            <a:r>
              <a:rPr lang="en-IN" sz="1800">
                <a:solidFill>
                  <a:srgbClr val="434343"/>
                </a:solidFill>
                <a:latin typeface="Calibri"/>
                <a:ea typeface="Calibri"/>
                <a:cs typeface="Calibri"/>
                <a:sym typeface="Calibri"/>
              </a:rPr>
              <a:t> pairing with o</a:t>
            </a:r>
            <a:r>
              <a:rPr b="1" lang="en-IN" sz="1800">
                <a:solidFill>
                  <a:srgbClr val="434343"/>
                </a:solidFill>
                <a:latin typeface="Calibri"/>
                <a:ea typeface="Calibri"/>
                <a:cs typeface="Calibri"/>
                <a:sym typeface="Calibri"/>
              </a:rPr>
              <a:t>n street parking removal in commercial zone</a:t>
            </a:r>
            <a:r>
              <a:rPr lang="en-IN" sz="1800">
                <a:solidFill>
                  <a:srgbClr val="434343"/>
                </a:solidFill>
                <a:latin typeface="Calibri"/>
                <a:ea typeface="Calibri"/>
                <a:cs typeface="Calibri"/>
                <a:sym typeface="Calibri"/>
              </a:rPr>
              <a:t> </a:t>
            </a:r>
            <a:endParaRPr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lang="en-IN" sz="1800">
                <a:solidFill>
                  <a:srgbClr val="434343"/>
                </a:solidFill>
                <a:latin typeface="Calibri"/>
                <a:ea typeface="Calibri"/>
                <a:cs typeface="Calibri"/>
                <a:sym typeface="Calibri"/>
              </a:rPr>
              <a:t>Feeder e-rickshaws and e-auto rickshaws integration under a regulated aggregator model </a:t>
            </a:r>
            <a:endParaRPr sz="1800">
              <a:solidFill>
                <a:srgbClr val="434343"/>
              </a:solidFill>
              <a:latin typeface="Calibri"/>
              <a:ea typeface="Calibri"/>
              <a:cs typeface="Calibri"/>
              <a:sym typeface="Calibri"/>
            </a:endParaRPr>
          </a:p>
          <a:p>
            <a:pPr indent="-342900" lvl="0" marL="457200" rtl="0" algn="l">
              <a:spcBef>
                <a:spcPts val="0"/>
              </a:spcBef>
              <a:spcAft>
                <a:spcPts val="0"/>
              </a:spcAft>
              <a:buClr>
                <a:srgbClr val="434343"/>
              </a:buClr>
              <a:buSzPts val="1800"/>
              <a:buFont typeface="Calibri"/>
              <a:buChar char="●"/>
            </a:pPr>
            <a:r>
              <a:rPr lang="en-IN" sz="1800">
                <a:solidFill>
                  <a:srgbClr val="434343"/>
                </a:solidFill>
                <a:latin typeface="Calibri"/>
                <a:ea typeface="Calibri"/>
                <a:cs typeface="Calibri"/>
                <a:sym typeface="Calibri"/>
              </a:rPr>
              <a:t>NMT push : </a:t>
            </a:r>
            <a:r>
              <a:rPr b="1" lang="en-IN" sz="1800">
                <a:solidFill>
                  <a:srgbClr val="434343"/>
                </a:solidFill>
                <a:latin typeface="Calibri"/>
                <a:ea typeface="Calibri"/>
                <a:cs typeface="Calibri"/>
                <a:sym typeface="Calibri"/>
              </a:rPr>
              <a:t>Cycle track and footpath integration</a:t>
            </a:r>
            <a:r>
              <a:rPr lang="en-IN" sz="1800">
                <a:solidFill>
                  <a:srgbClr val="434343"/>
                </a:solidFill>
                <a:latin typeface="Calibri"/>
                <a:ea typeface="Calibri"/>
                <a:cs typeface="Calibri"/>
                <a:sym typeface="Calibri"/>
              </a:rPr>
              <a:t> </a:t>
            </a:r>
            <a:endParaRPr sz="1800">
              <a:solidFill>
                <a:srgbClr val="434343"/>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3"/>
          <p:cNvSpPr txBox="1"/>
          <p:nvPr>
            <p:ph idx="1" type="body"/>
          </p:nvPr>
        </p:nvSpPr>
        <p:spPr>
          <a:xfrm>
            <a:off x="826800" y="942160"/>
            <a:ext cx="10538400" cy="4784800"/>
          </a:xfrm>
          <a:prstGeom prst="rect">
            <a:avLst/>
          </a:prstGeom>
          <a:noFill/>
          <a:ln>
            <a:noFill/>
          </a:ln>
        </p:spPr>
        <p:txBody>
          <a:bodyPr anchorCtr="0" anchor="t" bIns="60925" lIns="121900" spcFirstLastPara="1" rIns="121900" wrap="square" tIns="60925">
            <a:normAutofit/>
          </a:bodyPr>
          <a:lstStyle/>
          <a:p>
            <a:pPr indent="0" lvl="0" marL="0" rtl="0" algn="ctr">
              <a:lnSpc>
                <a:spcPct val="100000"/>
              </a:lnSpc>
              <a:spcBef>
                <a:spcPts val="587"/>
              </a:spcBef>
              <a:spcAft>
                <a:spcPts val="0"/>
              </a:spcAft>
              <a:buSzPts val="2200"/>
              <a:buNone/>
            </a:pPr>
            <a:r>
              <a:t/>
            </a:r>
            <a:endParaRPr sz="2400"/>
          </a:p>
          <a:p>
            <a:pPr indent="0" lvl="0" marL="0" rtl="0" algn="ctr">
              <a:lnSpc>
                <a:spcPct val="100000"/>
              </a:lnSpc>
              <a:spcBef>
                <a:spcPts val="587"/>
              </a:spcBef>
              <a:spcAft>
                <a:spcPts val="0"/>
              </a:spcAft>
              <a:buSzPts val="2200"/>
              <a:buNone/>
            </a:pPr>
            <a:r>
              <a:t/>
            </a:r>
            <a:endParaRPr sz="2400"/>
          </a:p>
          <a:p>
            <a:pPr indent="0" lvl="0" marL="0" rtl="0" algn="ctr">
              <a:lnSpc>
                <a:spcPct val="100000"/>
              </a:lnSpc>
              <a:spcBef>
                <a:spcPts val="587"/>
              </a:spcBef>
              <a:spcAft>
                <a:spcPts val="0"/>
              </a:spcAft>
              <a:buSzPts val="2200"/>
              <a:buNone/>
            </a:pPr>
            <a:r>
              <a:t/>
            </a:r>
            <a:endParaRPr sz="2400"/>
          </a:p>
          <a:p>
            <a:pPr indent="0" lvl="0" marL="0" rtl="0" algn="ctr">
              <a:lnSpc>
                <a:spcPct val="100000"/>
              </a:lnSpc>
              <a:spcBef>
                <a:spcPts val="587"/>
              </a:spcBef>
              <a:spcAft>
                <a:spcPts val="0"/>
              </a:spcAft>
              <a:buSzPts val="2200"/>
              <a:buNone/>
            </a:pPr>
            <a:r>
              <a:t/>
            </a:r>
            <a:endParaRPr sz="2400"/>
          </a:p>
          <a:p>
            <a:pPr indent="0" lvl="0" marL="0" rtl="0" algn="ctr">
              <a:lnSpc>
                <a:spcPct val="100000"/>
              </a:lnSpc>
              <a:spcBef>
                <a:spcPts val="587"/>
              </a:spcBef>
              <a:spcAft>
                <a:spcPts val="0"/>
              </a:spcAft>
              <a:buClr>
                <a:schemeClr val="accent1"/>
              </a:buClr>
              <a:buSzPts val="2200"/>
              <a:buNone/>
            </a:pPr>
            <a:r>
              <a:rPr b="1" lang="en-IN" sz="2400">
                <a:solidFill>
                  <a:schemeClr val="accent1"/>
                </a:solidFill>
              </a:rPr>
              <a:t>Thank you</a:t>
            </a:r>
            <a:endParaRPr sz="2400"/>
          </a:p>
          <a:p>
            <a:pPr indent="0" lvl="0" marL="0" rtl="0" algn="ctr">
              <a:lnSpc>
                <a:spcPct val="100000"/>
              </a:lnSpc>
              <a:spcBef>
                <a:spcPts val="533"/>
              </a:spcBef>
              <a:spcAft>
                <a:spcPts val="0"/>
              </a:spcAft>
              <a:buSzPts val="2000"/>
              <a:buNone/>
            </a:pPr>
            <a:r>
              <a:rPr lang="en-IN"/>
              <a:t>ceew.in | @CEEWIndia</a:t>
            </a:r>
            <a:endParaRPr/>
          </a:p>
        </p:txBody>
      </p:sp>
      <p:sp>
        <p:nvSpPr>
          <p:cNvPr id="481" name="Google Shape;481;p23"/>
          <p:cNvSpPr txBox="1"/>
          <p:nvPr>
            <p:ph idx="4294967295" type="sldNum"/>
          </p:nvPr>
        </p:nvSpPr>
        <p:spPr>
          <a:xfrm>
            <a:off x="-276585" y="6235395"/>
            <a:ext cx="773200" cy="365200"/>
          </a:xfrm>
          <a:prstGeom prst="rect">
            <a:avLst/>
          </a:prstGeom>
          <a:noFill/>
          <a:ln>
            <a:noFill/>
          </a:ln>
        </p:spPr>
        <p:txBody>
          <a:bodyPr anchorCtr="0" anchor="ctr" bIns="60925" lIns="121900" spcFirstLastPara="1" rIns="121900" wrap="square" tIns="609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lang="en-IN"/>
              <a:t>‹#›</a:t>
            </a:fld>
            <a:r>
              <a:rPr lang="en-IN"/>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CEEW - PPT Template 28Mar18">
  <a:themeElements>
    <a:clrScheme name="CEEW">
      <a:dk1>
        <a:srgbClr val="000000"/>
      </a:dk1>
      <a:lt1>
        <a:srgbClr val="FFFFFF"/>
      </a:lt1>
      <a:dk2>
        <a:srgbClr val="777877"/>
      </a:dk2>
      <a:lt2>
        <a:srgbClr val="FFFFFE"/>
      </a:lt2>
      <a:accent1>
        <a:srgbClr val="009ED8"/>
      </a:accent1>
      <a:accent2>
        <a:srgbClr val="F16223"/>
      </a:accent2>
      <a:accent3>
        <a:srgbClr val="86BB3F"/>
      </a:accent3>
      <a:accent4>
        <a:srgbClr val="929497"/>
      </a:accent4>
      <a:accent5>
        <a:srgbClr val="FFFFFE"/>
      </a:accent5>
      <a:accent6>
        <a:srgbClr val="FFFFFE"/>
      </a:accent6>
      <a:hlink>
        <a:srgbClr val="0D81B9"/>
      </a:hlink>
      <a:folHlink>
        <a:srgbClr val="0D81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EW - PPT Template 28Mar18">
  <a:themeElements>
    <a:clrScheme name="CEEW">
      <a:dk1>
        <a:srgbClr val="000000"/>
      </a:dk1>
      <a:lt1>
        <a:srgbClr val="FFFFFF"/>
      </a:lt1>
      <a:dk2>
        <a:srgbClr val="777877"/>
      </a:dk2>
      <a:lt2>
        <a:srgbClr val="FFFFFE"/>
      </a:lt2>
      <a:accent1>
        <a:srgbClr val="009ED8"/>
      </a:accent1>
      <a:accent2>
        <a:srgbClr val="F16223"/>
      </a:accent2>
      <a:accent3>
        <a:srgbClr val="86BB3F"/>
      </a:accent3>
      <a:accent4>
        <a:srgbClr val="929497"/>
      </a:accent4>
      <a:accent5>
        <a:srgbClr val="FFFFFE"/>
      </a:accent5>
      <a:accent6>
        <a:srgbClr val="FFFFFE"/>
      </a:accent6>
      <a:hlink>
        <a:srgbClr val="0D81B9"/>
      </a:hlink>
      <a:folHlink>
        <a:srgbClr val="0D81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
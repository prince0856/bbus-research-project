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1" r:id="rId10"/>
    <p:sldId id="292" r:id="rId11"/>
    <p:sldId id="294" r:id="rId12"/>
    <p:sldId id="295" r:id="rId13"/>
    <p:sldId id="296" r:id="rId14"/>
    <p:sldId id="297" r:id="rId15"/>
    <p:sldId id="298" r:id="rId16"/>
    <p:sldId id="299" r:id="rId17"/>
    <p:sldId id="302" r:id="rId18"/>
    <p:sldId id="303" r:id="rId19"/>
    <p:sldId id="300" r:id="rId20"/>
    <p:sldId id="301" r:id="rId21"/>
    <p:sldId id="304" r:id="rId22"/>
    <p:sldId id="305" r:id="rId23"/>
  </p:sldIdLst>
  <p:sldSz cx="12192000" cy="6858000"/>
  <p:notesSz cx="6858000" cy="9144000"/>
  <p:embeddedFontLst>
    <p:embeddedFont>
      <p:font typeface="Cambria Math" panose="02040503050406030204" pitchFamily="18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h/xI6pB7xDuM5Hz4LABDyR36W7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58AEDB"/>
    <a:srgbClr val="B93A26"/>
    <a:srgbClr val="5E833A"/>
    <a:srgbClr val="86BFDE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83C431-E06D-4484-B231-B1133625B7DC}">
  <a:tblStyle styleId="{2F83C431-E06D-4484-B231-B1133625B7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00904D8-9210-4E5A-AF98-B5C429434B9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E81EB07-623A-4C59-889D-70DB492CEC25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91"/>
    <p:restoredTop sz="94658"/>
  </p:normalViewPr>
  <p:slideViewPr>
    <p:cSldViewPr snapToGrid="0">
      <p:cViewPr varScale="1">
        <p:scale>
          <a:sx n="116" d="100"/>
          <a:sy n="116" d="100"/>
        </p:scale>
        <p:origin x="216" y="2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871075-D574-CB4F-8441-E8D079031A26}" type="doc">
      <dgm:prSet loTypeId="urn:microsoft.com/office/officeart/2005/8/layout/process1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FA1D1DB1-8C08-4B4D-90B1-41D862A14C47}">
      <dgm:prSet phldrT="[Text]" custT="1"/>
      <dgm:spPr/>
      <dgm:t>
        <a:bodyPr/>
        <a:lstStyle/>
        <a:p>
          <a:pPr>
            <a:buNone/>
          </a:pPr>
          <a:r>
            <a:rPr 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Bus deployment / improved bus service</a:t>
          </a:r>
          <a:endParaRPr lang="en-US" sz="16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447FF84-31B6-D348-B1D6-6BDAC69E20D6}" type="parTrans" cxnId="{42B892E3-F61F-DB4A-AA33-C668F37AB8B9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BB5075A-8147-354F-9802-25BD0D27BE67}" type="sibTrans" cxnId="{42B892E3-F61F-DB4A-AA33-C668F37AB8B9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B481AE4-1804-BF4F-842C-D32C973F76EC}">
      <dgm:prSet phldrT="[Text]" custT="1"/>
      <dgm:spPr/>
      <dgm:t>
        <a:bodyPr/>
        <a:lstStyle/>
        <a:p>
          <a:pPr>
            <a:buNone/>
          </a:pPr>
          <a:r>
            <a: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Increased bus access and bus usage</a:t>
          </a:r>
        </a:p>
      </dgm:t>
    </dgm:pt>
    <dgm:pt modelId="{288F8E06-0615-F84B-A794-D6456523D091}" type="parTrans" cxnId="{E277249B-03DF-E945-9792-583E1E1D35D4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E350B7B-CCF4-E640-A553-15048692A97E}" type="sibTrans" cxnId="{E277249B-03DF-E945-9792-583E1E1D35D4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C4144E0-5FAD-F449-9A00-29472FDF2E90}">
      <dgm:prSet phldrT="[Text]" custT="1"/>
      <dgm:spPr/>
      <dgm:t>
        <a:bodyPr/>
        <a:lstStyle/>
        <a:p>
          <a:pPr>
            <a:buNone/>
          </a:pPr>
          <a:br>
            <a:rPr 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Reduced dependence on private vehicles</a:t>
          </a:r>
          <a:br>
            <a:rPr 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</a:br>
          <a:endParaRPr lang="en-US" sz="16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54C8DCF-EB88-F147-B45F-FE1D2CD7F81C}" type="parTrans" cxnId="{C848E83F-49C8-E74A-802B-19B6ED34842C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1EBD527-7479-ED4C-8DC6-9FF5457FE58E}" type="sibTrans" cxnId="{C848E83F-49C8-E74A-802B-19B6ED34842C}">
      <dgm:prSet custT="1"/>
      <dgm:spPr/>
      <dgm:t>
        <a:bodyPr/>
        <a:lstStyle/>
        <a:p>
          <a:endParaRPr lang="en-US" sz="16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080D987-5DF6-FA4F-B207-C7E8627889FF}">
      <dgm:prSet phldrT="[Text]" custT="1"/>
      <dgm:spPr/>
      <dgm:t>
        <a:bodyPr/>
        <a:lstStyle/>
        <a:p>
          <a:pPr>
            <a:buNone/>
          </a:pPr>
          <a:r>
            <a:rPr 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Health benefit pathways</a:t>
          </a:r>
          <a:endParaRPr lang="en-US" sz="16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7A90E3E-2772-6C4B-8404-D9E5724EE5ED}" type="parTrans" cxnId="{79467EF8-0058-4743-8D33-02BDCBDE22FF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CA5BF81-443F-2E4C-920A-5EEFCA219BE8}" type="sibTrans" cxnId="{79467EF8-0058-4743-8D33-02BDCBDE22FF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BDE1B11-C9B5-2946-A364-B4E59298188C}" type="pres">
      <dgm:prSet presAssocID="{52871075-D574-CB4F-8441-E8D079031A26}" presName="Name0" presStyleCnt="0">
        <dgm:presLayoutVars>
          <dgm:dir/>
          <dgm:resizeHandles val="exact"/>
        </dgm:presLayoutVars>
      </dgm:prSet>
      <dgm:spPr/>
    </dgm:pt>
    <dgm:pt modelId="{EE6E481E-F362-D84B-877B-B4A6D17C0A34}" type="pres">
      <dgm:prSet presAssocID="{FA1D1DB1-8C08-4B4D-90B1-41D862A14C47}" presName="node" presStyleLbl="node1" presStyleIdx="0" presStyleCnt="4" custScaleY="66084">
        <dgm:presLayoutVars>
          <dgm:bulletEnabled val="1"/>
        </dgm:presLayoutVars>
      </dgm:prSet>
      <dgm:spPr/>
    </dgm:pt>
    <dgm:pt modelId="{B42CE343-7C78-534C-B7F4-0861654F20F0}" type="pres">
      <dgm:prSet presAssocID="{2BB5075A-8147-354F-9802-25BD0D27BE67}" presName="sibTrans" presStyleLbl="sibTrans2D1" presStyleIdx="0" presStyleCnt="3"/>
      <dgm:spPr/>
    </dgm:pt>
    <dgm:pt modelId="{38FEC713-46FE-184B-8BA2-673DB0530524}" type="pres">
      <dgm:prSet presAssocID="{2BB5075A-8147-354F-9802-25BD0D27BE67}" presName="connectorText" presStyleLbl="sibTrans2D1" presStyleIdx="0" presStyleCnt="3"/>
      <dgm:spPr/>
    </dgm:pt>
    <dgm:pt modelId="{B86736F9-6C67-F840-949E-A23601DE7BF7}" type="pres">
      <dgm:prSet presAssocID="{6B481AE4-1804-BF4F-842C-D32C973F76EC}" presName="node" presStyleLbl="node1" presStyleIdx="1" presStyleCnt="4" custScaleY="66084">
        <dgm:presLayoutVars>
          <dgm:bulletEnabled val="1"/>
        </dgm:presLayoutVars>
      </dgm:prSet>
      <dgm:spPr/>
    </dgm:pt>
    <dgm:pt modelId="{1A9FC42D-5F30-2B48-86FA-15C730609A23}" type="pres">
      <dgm:prSet presAssocID="{5E350B7B-CCF4-E640-A553-15048692A97E}" presName="sibTrans" presStyleLbl="sibTrans2D1" presStyleIdx="1" presStyleCnt="3"/>
      <dgm:spPr/>
    </dgm:pt>
    <dgm:pt modelId="{ED3D9337-7FF1-FE48-8D62-A3D9BAD44F4A}" type="pres">
      <dgm:prSet presAssocID="{5E350B7B-CCF4-E640-A553-15048692A97E}" presName="connectorText" presStyleLbl="sibTrans2D1" presStyleIdx="1" presStyleCnt="3"/>
      <dgm:spPr/>
    </dgm:pt>
    <dgm:pt modelId="{F8B5729E-1EEF-E244-ABA6-CAA915D548CB}" type="pres">
      <dgm:prSet presAssocID="{6C4144E0-5FAD-F449-9A00-29472FDF2E90}" presName="node" presStyleLbl="node1" presStyleIdx="2" presStyleCnt="4" custScaleY="66084">
        <dgm:presLayoutVars>
          <dgm:bulletEnabled val="1"/>
        </dgm:presLayoutVars>
      </dgm:prSet>
      <dgm:spPr/>
    </dgm:pt>
    <dgm:pt modelId="{3758E471-6465-084F-B45C-173EA405C0A2}" type="pres">
      <dgm:prSet presAssocID="{D1EBD527-7479-ED4C-8DC6-9FF5457FE58E}" presName="sibTrans" presStyleLbl="sibTrans2D1" presStyleIdx="2" presStyleCnt="3"/>
      <dgm:spPr/>
    </dgm:pt>
    <dgm:pt modelId="{B1C03F61-7501-6C4B-8519-86079CFED3F5}" type="pres">
      <dgm:prSet presAssocID="{D1EBD527-7479-ED4C-8DC6-9FF5457FE58E}" presName="connectorText" presStyleLbl="sibTrans2D1" presStyleIdx="2" presStyleCnt="3"/>
      <dgm:spPr/>
    </dgm:pt>
    <dgm:pt modelId="{3148E0DC-4BD5-574A-BDE9-892AC19C796A}" type="pres">
      <dgm:prSet presAssocID="{7080D987-5DF6-FA4F-B207-C7E8627889FF}" presName="node" presStyleLbl="node1" presStyleIdx="3" presStyleCnt="4" custScaleY="66084">
        <dgm:presLayoutVars>
          <dgm:bulletEnabled val="1"/>
        </dgm:presLayoutVars>
      </dgm:prSet>
      <dgm:spPr/>
    </dgm:pt>
  </dgm:ptLst>
  <dgm:cxnLst>
    <dgm:cxn modelId="{568D510C-018B-3949-8A3E-F9D49BE8E236}" type="presOf" srcId="{2BB5075A-8147-354F-9802-25BD0D27BE67}" destId="{B42CE343-7C78-534C-B7F4-0861654F20F0}" srcOrd="0" destOrd="0" presId="urn:microsoft.com/office/officeart/2005/8/layout/process1"/>
    <dgm:cxn modelId="{BC1F2111-00B2-1C4A-8B62-8D25D89254A2}" type="presOf" srcId="{2BB5075A-8147-354F-9802-25BD0D27BE67}" destId="{38FEC713-46FE-184B-8BA2-673DB0530524}" srcOrd="1" destOrd="0" presId="urn:microsoft.com/office/officeart/2005/8/layout/process1"/>
    <dgm:cxn modelId="{E8057A1B-A0AA-9B43-8DA1-152E4D0CDCCD}" type="presOf" srcId="{5E350B7B-CCF4-E640-A553-15048692A97E}" destId="{1A9FC42D-5F30-2B48-86FA-15C730609A23}" srcOrd="0" destOrd="0" presId="urn:microsoft.com/office/officeart/2005/8/layout/process1"/>
    <dgm:cxn modelId="{BBAE863C-CA6D-224E-B99F-5C77FF2DC7AE}" type="presOf" srcId="{D1EBD527-7479-ED4C-8DC6-9FF5457FE58E}" destId="{B1C03F61-7501-6C4B-8519-86079CFED3F5}" srcOrd="1" destOrd="0" presId="urn:microsoft.com/office/officeart/2005/8/layout/process1"/>
    <dgm:cxn modelId="{C848E83F-49C8-E74A-802B-19B6ED34842C}" srcId="{52871075-D574-CB4F-8441-E8D079031A26}" destId="{6C4144E0-5FAD-F449-9A00-29472FDF2E90}" srcOrd="2" destOrd="0" parTransId="{154C8DCF-EB88-F147-B45F-FE1D2CD7F81C}" sibTransId="{D1EBD527-7479-ED4C-8DC6-9FF5457FE58E}"/>
    <dgm:cxn modelId="{94DC6060-9AFC-6941-A2FB-CD6425FD626E}" type="presOf" srcId="{5E350B7B-CCF4-E640-A553-15048692A97E}" destId="{ED3D9337-7FF1-FE48-8D62-A3D9BAD44F4A}" srcOrd="1" destOrd="0" presId="urn:microsoft.com/office/officeart/2005/8/layout/process1"/>
    <dgm:cxn modelId="{D823888B-38E2-7541-950D-063BA22E40F0}" type="presOf" srcId="{D1EBD527-7479-ED4C-8DC6-9FF5457FE58E}" destId="{3758E471-6465-084F-B45C-173EA405C0A2}" srcOrd="0" destOrd="0" presId="urn:microsoft.com/office/officeart/2005/8/layout/process1"/>
    <dgm:cxn modelId="{CFFDBB8F-5565-F34B-84ED-D90358D87EC8}" type="presOf" srcId="{7080D987-5DF6-FA4F-B207-C7E8627889FF}" destId="{3148E0DC-4BD5-574A-BDE9-892AC19C796A}" srcOrd="0" destOrd="0" presId="urn:microsoft.com/office/officeart/2005/8/layout/process1"/>
    <dgm:cxn modelId="{E277249B-03DF-E945-9792-583E1E1D35D4}" srcId="{52871075-D574-CB4F-8441-E8D079031A26}" destId="{6B481AE4-1804-BF4F-842C-D32C973F76EC}" srcOrd="1" destOrd="0" parTransId="{288F8E06-0615-F84B-A794-D6456523D091}" sibTransId="{5E350B7B-CCF4-E640-A553-15048692A97E}"/>
    <dgm:cxn modelId="{491651C4-2086-624E-B28E-31BC59259F89}" type="presOf" srcId="{6B481AE4-1804-BF4F-842C-D32C973F76EC}" destId="{B86736F9-6C67-F840-949E-A23601DE7BF7}" srcOrd="0" destOrd="0" presId="urn:microsoft.com/office/officeart/2005/8/layout/process1"/>
    <dgm:cxn modelId="{2788EFCE-C531-E54E-98E3-A2F608F8A8C5}" type="presOf" srcId="{52871075-D574-CB4F-8441-E8D079031A26}" destId="{2BDE1B11-C9B5-2946-A364-B4E59298188C}" srcOrd="0" destOrd="0" presId="urn:microsoft.com/office/officeart/2005/8/layout/process1"/>
    <dgm:cxn modelId="{87ED2CD1-1457-3945-8A51-61CBEA85EAC3}" type="presOf" srcId="{6C4144E0-5FAD-F449-9A00-29472FDF2E90}" destId="{F8B5729E-1EEF-E244-ABA6-CAA915D548CB}" srcOrd="0" destOrd="0" presId="urn:microsoft.com/office/officeart/2005/8/layout/process1"/>
    <dgm:cxn modelId="{42B892E3-F61F-DB4A-AA33-C668F37AB8B9}" srcId="{52871075-D574-CB4F-8441-E8D079031A26}" destId="{FA1D1DB1-8C08-4B4D-90B1-41D862A14C47}" srcOrd="0" destOrd="0" parTransId="{6447FF84-31B6-D348-B1D6-6BDAC69E20D6}" sibTransId="{2BB5075A-8147-354F-9802-25BD0D27BE67}"/>
    <dgm:cxn modelId="{79467EF8-0058-4743-8D33-02BDCBDE22FF}" srcId="{52871075-D574-CB4F-8441-E8D079031A26}" destId="{7080D987-5DF6-FA4F-B207-C7E8627889FF}" srcOrd="3" destOrd="0" parTransId="{87A90E3E-2772-6C4B-8404-D9E5724EE5ED}" sibTransId="{ECA5BF81-443F-2E4C-920A-5EEFCA219BE8}"/>
    <dgm:cxn modelId="{E005A6FE-BB5D-0644-88CE-25DE5114E879}" type="presOf" srcId="{FA1D1DB1-8C08-4B4D-90B1-41D862A14C47}" destId="{EE6E481E-F362-D84B-877B-B4A6D17C0A34}" srcOrd="0" destOrd="0" presId="urn:microsoft.com/office/officeart/2005/8/layout/process1"/>
    <dgm:cxn modelId="{1EA2E9CE-038C-4A4B-AD1C-AFE5E6E2FD03}" type="presParOf" srcId="{2BDE1B11-C9B5-2946-A364-B4E59298188C}" destId="{EE6E481E-F362-D84B-877B-B4A6D17C0A34}" srcOrd="0" destOrd="0" presId="urn:microsoft.com/office/officeart/2005/8/layout/process1"/>
    <dgm:cxn modelId="{83687B1D-4D9A-364E-A650-E31B076CDF72}" type="presParOf" srcId="{2BDE1B11-C9B5-2946-A364-B4E59298188C}" destId="{B42CE343-7C78-534C-B7F4-0861654F20F0}" srcOrd="1" destOrd="0" presId="urn:microsoft.com/office/officeart/2005/8/layout/process1"/>
    <dgm:cxn modelId="{D1824103-007C-F246-972E-D09877441AC8}" type="presParOf" srcId="{B42CE343-7C78-534C-B7F4-0861654F20F0}" destId="{38FEC713-46FE-184B-8BA2-673DB0530524}" srcOrd="0" destOrd="0" presId="urn:microsoft.com/office/officeart/2005/8/layout/process1"/>
    <dgm:cxn modelId="{CECBF2A2-2F05-6B46-89FB-98E87AF2F6FF}" type="presParOf" srcId="{2BDE1B11-C9B5-2946-A364-B4E59298188C}" destId="{B86736F9-6C67-F840-949E-A23601DE7BF7}" srcOrd="2" destOrd="0" presId="urn:microsoft.com/office/officeart/2005/8/layout/process1"/>
    <dgm:cxn modelId="{FC61CFC2-922B-054F-BF0A-92F00916C389}" type="presParOf" srcId="{2BDE1B11-C9B5-2946-A364-B4E59298188C}" destId="{1A9FC42D-5F30-2B48-86FA-15C730609A23}" srcOrd="3" destOrd="0" presId="urn:microsoft.com/office/officeart/2005/8/layout/process1"/>
    <dgm:cxn modelId="{279B63CD-A068-554C-953C-C9D8841E553A}" type="presParOf" srcId="{1A9FC42D-5F30-2B48-86FA-15C730609A23}" destId="{ED3D9337-7FF1-FE48-8D62-A3D9BAD44F4A}" srcOrd="0" destOrd="0" presId="urn:microsoft.com/office/officeart/2005/8/layout/process1"/>
    <dgm:cxn modelId="{92AFE443-BBF2-FD4C-A2B9-9DDB75662955}" type="presParOf" srcId="{2BDE1B11-C9B5-2946-A364-B4E59298188C}" destId="{F8B5729E-1EEF-E244-ABA6-CAA915D548CB}" srcOrd="4" destOrd="0" presId="urn:microsoft.com/office/officeart/2005/8/layout/process1"/>
    <dgm:cxn modelId="{A716D014-D5E8-0843-9B6E-4C834C116749}" type="presParOf" srcId="{2BDE1B11-C9B5-2946-A364-B4E59298188C}" destId="{3758E471-6465-084F-B45C-173EA405C0A2}" srcOrd="5" destOrd="0" presId="urn:microsoft.com/office/officeart/2005/8/layout/process1"/>
    <dgm:cxn modelId="{B3ADB05A-2872-4D4E-9B77-DEDAC1F4D871}" type="presParOf" srcId="{3758E471-6465-084F-B45C-173EA405C0A2}" destId="{B1C03F61-7501-6C4B-8519-86079CFED3F5}" srcOrd="0" destOrd="0" presId="urn:microsoft.com/office/officeart/2005/8/layout/process1"/>
    <dgm:cxn modelId="{8729AAB1-1447-EA4F-A47F-A218381F93B8}" type="presParOf" srcId="{2BDE1B11-C9B5-2946-A364-B4E59298188C}" destId="{3148E0DC-4BD5-574A-BDE9-892AC19C796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659F3C-3534-4B49-AACE-895F42F8E8F6}" type="doc">
      <dgm:prSet loTypeId="urn:microsoft.com/office/officeart/2005/8/layout/default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346C0F7-EC3F-714A-8F57-FC951F1ECCBE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1. Travel </a:t>
          </a:r>
          <a:r>
            <a:rPr lang="en-US" dirty="0" err="1">
              <a:latin typeface="Calibri" panose="020F0502020204030204" pitchFamily="34" charset="0"/>
              <a:cs typeface="Calibri" panose="020F0502020204030204" pitchFamily="34" charset="0"/>
            </a:rPr>
            <a:t>Behaviour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>
            <a:buNone/>
          </a:pPr>
          <a:b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Current mode, previous mode, trip purpose, trip distance, travel time, travel cost, transfers, bus-use days per week</a:t>
          </a:r>
        </a:p>
      </dgm:t>
    </dgm:pt>
    <dgm:pt modelId="{27020AB9-511D-914A-BBEB-BEDA7DAF6B7F}" type="parTrans" cxnId="{3589182C-0C89-3044-8C71-2348ECA9B2F9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9B3EDB4-0B56-7B43-B533-E933D4537D07}" type="sibTrans" cxnId="{3589182C-0C89-3044-8C71-2348ECA9B2F9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BF46170-205F-7240-BFE6-239A10D29BF0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2. Bus Access and Service Quality</a:t>
          </a:r>
        </a:p>
        <a:p>
          <a:pPr>
            <a:buNone/>
          </a:pPr>
          <a:b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Distance to nearest bus stop, access/egress walking time, bus frequency, waiting time, reliability, crowding, fare, safety, comfort</a:t>
          </a:r>
        </a:p>
      </dgm:t>
    </dgm:pt>
    <dgm:pt modelId="{7B9BDD3B-ECC4-8440-876F-D849D6F2E1B3}" type="parTrans" cxnId="{60B28B9E-A2FB-3249-888A-3DC7075DF477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8AE8CEF-8B5C-2146-8D23-63F48E57CEA5}" type="sibTrans" cxnId="{60B28B9E-A2FB-3249-888A-3DC7075DF477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4934CB3-3844-5342-80F1-D83AA2F7272E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3. Road Injury Reduction Variables</a:t>
          </a:r>
        </a:p>
        <a:p>
          <a:pPr>
            <a:buNone/>
          </a:pPr>
          <a:b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Previous mode risk, near-miss experience, crash/injury history, unsafe crossing near bus stop, footpath availability, lighting, crash hotspot exposure</a:t>
          </a:r>
        </a:p>
      </dgm:t>
    </dgm:pt>
    <dgm:pt modelId="{8D0FBF57-2EED-3D46-AF7D-56138CA5AFC9}" type="parTrans" cxnId="{6872C086-1B81-A842-85AA-D52420519424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10A9BE5-312E-5F49-824F-B67B68357421}" type="sibTrans" cxnId="{6872C086-1B81-A842-85AA-D52420519424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106133F-787F-5B44-BA49-759A5698EFEE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4. GIS / Spatial Inputs</a:t>
          </a:r>
        </a:p>
        <a:p>
          <a:pPr>
            <a:buNone/>
          </a:pPr>
          <a:b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Home </a:t>
          </a:r>
          <a:r>
            <a:rPr lang="en-US" dirty="0" err="1">
              <a:latin typeface="Calibri" panose="020F0502020204030204" pitchFamily="34" charset="0"/>
              <a:cs typeface="Calibri" panose="020F0502020204030204" pitchFamily="34" charset="0"/>
            </a:rPr>
            <a:t>lat</a:t>
          </a: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-long, destination </a:t>
          </a:r>
          <a:r>
            <a:rPr lang="en-US" dirty="0" err="1">
              <a:latin typeface="Calibri" panose="020F0502020204030204" pitchFamily="34" charset="0"/>
              <a:cs typeface="Calibri" panose="020F0502020204030204" pitchFamily="34" charset="0"/>
            </a:rPr>
            <a:t>lat</a:t>
          </a: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-long, bus stop location, route alignment, 500 m catchment, PM2.5 layer, crash hotspot location</a:t>
          </a:r>
        </a:p>
      </dgm:t>
    </dgm:pt>
    <dgm:pt modelId="{516E03C4-7D14-8B42-8972-A63330FA636D}" type="parTrans" cxnId="{07786AA6-BEB1-3C42-B2A0-CFCA949E9B08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48DA821-4204-CE45-9444-D55C21AE114B}" type="sibTrans" cxnId="{07786AA6-BEB1-3C42-B2A0-CFCA949E9B08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A663EE9-595F-4744-8981-A7C68C48F966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5. Pollution Reduction Variables</a:t>
          </a:r>
        </a:p>
        <a:p>
          <a:pPr>
            <a:buNone/>
          </a:pPr>
          <a:b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Previous private vehicle mode, vehicle-km reduced, route-level PM2.5/NO2 exposure, roadside waiting exposure, exposure before and after bus use</a:t>
          </a:r>
        </a:p>
      </dgm:t>
    </dgm:pt>
    <dgm:pt modelId="{DF8EA25F-E171-F345-A3DC-853DEC70926C}" type="parTrans" cxnId="{732F8603-AF0D-CC45-B5E1-28D934205B46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4D1A0C0-8AB3-2941-91E3-50ED540F261C}" type="sibTrans" cxnId="{732F8603-AF0D-CC45-B5E1-28D934205B46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208198F-8D1E-1543-B4AE-D760F7403D36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6. Control Variables</a:t>
          </a:r>
        </a:p>
        <a:p>
          <a:pPr>
            <a:buNone/>
          </a:pPr>
          <a:b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Age, gender, income, education, occupation, vehicle ownership, disability/mobility limitation, city/ward, baseline health condition</a:t>
          </a:r>
        </a:p>
      </dgm:t>
    </dgm:pt>
    <dgm:pt modelId="{FA543274-DF0A-8B46-9481-3D489C5FCDEF}" type="parTrans" cxnId="{7050085C-C27B-6C4E-9753-E19C973A15B5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540CB67-2F42-6D45-86B2-AA3795B33B7C}" type="sibTrans" cxnId="{7050085C-C27B-6C4E-9753-E19C973A15B5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44C92D9-0210-494D-991F-38FC2D725C8A}" type="pres">
      <dgm:prSet presAssocID="{D6659F3C-3534-4B49-AACE-895F42F8E8F6}" presName="diagram" presStyleCnt="0">
        <dgm:presLayoutVars>
          <dgm:dir/>
          <dgm:resizeHandles val="exact"/>
        </dgm:presLayoutVars>
      </dgm:prSet>
      <dgm:spPr/>
    </dgm:pt>
    <dgm:pt modelId="{85C75961-919F-A744-A5E3-DE108A6960FC}" type="pres">
      <dgm:prSet presAssocID="{3346C0F7-EC3F-714A-8F57-FC951F1ECCBE}" presName="node" presStyleLbl="node1" presStyleIdx="0" presStyleCnt="6">
        <dgm:presLayoutVars>
          <dgm:bulletEnabled val="1"/>
        </dgm:presLayoutVars>
      </dgm:prSet>
      <dgm:spPr/>
    </dgm:pt>
    <dgm:pt modelId="{AF4BBC4B-0180-1A40-BE4F-B46224CE4639}" type="pres">
      <dgm:prSet presAssocID="{09B3EDB4-0B56-7B43-B533-E933D4537D07}" presName="sibTrans" presStyleCnt="0"/>
      <dgm:spPr/>
    </dgm:pt>
    <dgm:pt modelId="{EF5AF75B-CEFF-F84F-845D-FDCD62264329}" type="pres">
      <dgm:prSet presAssocID="{9BF46170-205F-7240-BFE6-239A10D29BF0}" presName="node" presStyleLbl="node1" presStyleIdx="1" presStyleCnt="6">
        <dgm:presLayoutVars>
          <dgm:bulletEnabled val="1"/>
        </dgm:presLayoutVars>
      </dgm:prSet>
      <dgm:spPr/>
    </dgm:pt>
    <dgm:pt modelId="{DCD52873-4D39-6D47-AEA6-83FFF40B103F}" type="pres">
      <dgm:prSet presAssocID="{68AE8CEF-8B5C-2146-8D23-63F48E57CEA5}" presName="sibTrans" presStyleCnt="0"/>
      <dgm:spPr/>
    </dgm:pt>
    <dgm:pt modelId="{BC0792C3-550B-DA43-B011-AAE5D6EC84D9}" type="pres">
      <dgm:prSet presAssocID="{54934CB3-3844-5342-80F1-D83AA2F7272E}" presName="node" presStyleLbl="node1" presStyleIdx="2" presStyleCnt="6">
        <dgm:presLayoutVars>
          <dgm:bulletEnabled val="1"/>
        </dgm:presLayoutVars>
      </dgm:prSet>
      <dgm:spPr/>
    </dgm:pt>
    <dgm:pt modelId="{B966B4C2-84C3-4F45-A305-64915DA81A17}" type="pres">
      <dgm:prSet presAssocID="{810A9BE5-312E-5F49-824F-B67B68357421}" presName="sibTrans" presStyleCnt="0"/>
      <dgm:spPr/>
    </dgm:pt>
    <dgm:pt modelId="{6C97DF5A-08BA-D64A-B3B4-7452C4622476}" type="pres">
      <dgm:prSet presAssocID="{F106133F-787F-5B44-BA49-759A5698EFEE}" presName="node" presStyleLbl="node1" presStyleIdx="3" presStyleCnt="6">
        <dgm:presLayoutVars>
          <dgm:bulletEnabled val="1"/>
        </dgm:presLayoutVars>
      </dgm:prSet>
      <dgm:spPr/>
    </dgm:pt>
    <dgm:pt modelId="{A08A7F4D-6A1B-F348-9677-98E3935695CD}" type="pres">
      <dgm:prSet presAssocID="{048DA821-4204-CE45-9444-D55C21AE114B}" presName="sibTrans" presStyleCnt="0"/>
      <dgm:spPr/>
    </dgm:pt>
    <dgm:pt modelId="{EEB17763-F8CF-C648-BE58-EB98C3F09DCC}" type="pres">
      <dgm:prSet presAssocID="{2A663EE9-595F-4744-8981-A7C68C48F966}" presName="node" presStyleLbl="node1" presStyleIdx="4" presStyleCnt="6">
        <dgm:presLayoutVars>
          <dgm:bulletEnabled val="1"/>
        </dgm:presLayoutVars>
      </dgm:prSet>
      <dgm:spPr/>
    </dgm:pt>
    <dgm:pt modelId="{D548ECB3-3E17-E34F-BC99-5BF7DF62AC6D}" type="pres">
      <dgm:prSet presAssocID="{94D1A0C0-8AB3-2941-91E3-50ED540F261C}" presName="sibTrans" presStyleCnt="0"/>
      <dgm:spPr/>
    </dgm:pt>
    <dgm:pt modelId="{BD1D5B1A-C79B-044F-849B-A42FC4FE78AC}" type="pres">
      <dgm:prSet presAssocID="{7208198F-8D1E-1543-B4AE-D760F7403D36}" presName="node" presStyleLbl="node1" presStyleIdx="5" presStyleCnt="6">
        <dgm:presLayoutVars>
          <dgm:bulletEnabled val="1"/>
        </dgm:presLayoutVars>
      </dgm:prSet>
      <dgm:spPr/>
    </dgm:pt>
  </dgm:ptLst>
  <dgm:cxnLst>
    <dgm:cxn modelId="{732F8603-AF0D-CC45-B5E1-28D934205B46}" srcId="{D6659F3C-3534-4B49-AACE-895F42F8E8F6}" destId="{2A663EE9-595F-4744-8981-A7C68C48F966}" srcOrd="4" destOrd="0" parTransId="{DF8EA25F-E171-F345-A3DC-853DEC70926C}" sibTransId="{94D1A0C0-8AB3-2941-91E3-50ED540F261C}"/>
    <dgm:cxn modelId="{F8C8140E-F617-CB44-8F5F-C5FA75DBC372}" type="presOf" srcId="{2A663EE9-595F-4744-8981-A7C68C48F966}" destId="{EEB17763-F8CF-C648-BE58-EB98C3F09DCC}" srcOrd="0" destOrd="0" presId="urn:microsoft.com/office/officeart/2005/8/layout/default"/>
    <dgm:cxn modelId="{3589182C-0C89-3044-8C71-2348ECA9B2F9}" srcId="{D6659F3C-3534-4B49-AACE-895F42F8E8F6}" destId="{3346C0F7-EC3F-714A-8F57-FC951F1ECCBE}" srcOrd="0" destOrd="0" parTransId="{27020AB9-511D-914A-BBEB-BEDA7DAF6B7F}" sibTransId="{09B3EDB4-0B56-7B43-B533-E933D4537D07}"/>
    <dgm:cxn modelId="{C3C0BC2E-635A-D545-BA76-AE9844FF81DC}" type="presOf" srcId="{7208198F-8D1E-1543-B4AE-D760F7403D36}" destId="{BD1D5B1A-C79B-044F-849B-A42FC4FE78AC}" srcOrd="0" destOrd="0" presId="urn:microsoft.com/office/officeart/2005/8/layout/default"/>
    <dgm:cxn modelId="{ECADD539-DBF3-D74D-B06B-6E7421D981F9}" type="presOf" srcId="{F106133F-787F-5B44-BA49-759A5698EFEE}" destId="{6C97DF5A-08BA-D64A-B3B4-7452C4622476}" srcOrd="0" destOrd="0" presId="urn:microsoft.com/office/officeart/2005/8/layout/default"/>
    <dgm:cxn modelId="{00FB2C44-DE7A-AE45-AF4B-CC1698729AB3}" type="presOf" srcId="{D6659F3C-3534-4B49-AACE-895F42F8E8F6}" destId="{644C92D9-0210-494D-991F-38FC2D725C8A}" srcOrd="0" destOrd="0" presId="urn:microsoft.com/office/officeart/2005/8/layout/default"/>
    <dgm:cxn modelId="{BDF2E853-153E-8B45-BBBF-7D3697081BF0}" type="presOf" srcId="{54934CB3-3844-5342-80F1-D83AA2F7272E}" destId="{BC0792C3-550B-DA43-B011-AAE5D6EC84D9}" srcOrd="0" destOrd="0" presId="urn:microsoft.com/office/officeart/2005/8/layout/default"/>
    <dgm:cxn modelId="{7050085C-C27B-6C4E-9753-E19C973A15B5}" srcId="{D6659F3C-3534-4B49-AACE-895F42F8E8F6}" destId="{7208198F-8D1E-1543-B4AE-D760F7403D36}" srcOrd="5" destOrd="0" parTransId="{FA543274-DF0A-8B46-9481-3D489C5FCDEF}" sibTransId="{4540CB67-2F42-6D45-86B2-AA3795B33B7C}"/>
    <dgm:cxn modelId="{1092627C-FD06-6847-9D91-34A7E96A6AAF}" type="presOf" srcId="{9BF46170-205F-7240-BFE6-239A10D29BF0}" destId="{EF5AF75B-CEFF-F84F-845D-FDCD62264329}" srcOrd="0" destOrd="0" presId="urn:microsoft.com/office/officeart/2005/8/layout/default"/>
    <dgm:cxn modelId="{6872C086-1B81-A842-85AA-D52420519424}" srcId="{D6659F3C-3534-4B49-AACE-895F42F8E8F6}" destId="{54934CB3-3844-5342-80F1-D83AA2F7272E}" srcOrd="2" destOrd="0" parTransId="{8D0FBF57-2EED-3D46-AF7D-56138CA5AFC9}" sibTransId="{810A9BE5-312E-5F49-824F-B67B68357421}"/>
    <dgm:cxn modelId="{60B28B9E-A2FB-3249-888A-3DC7075DF477}" srcId="{D6659F3C-3534-4B49-AACE-895F42F8E8F6}" destId="{9BF46170-205F-7240-BFE6-239A10D29BF0}" srcOrd="1" destOrd="0" parTransId="{7B9BDD3B-ECC4-8440-876F-D849D6F2E1B3}" sibTransId="{68AE8CEF-8B5C-2146-8D23-63F48E57CEA5}"/>
    <dgm:cxn modelId="{07786AA6-BEB1-3C42-B2A0-CFCA949E9B08}" srcId="{D6659F3C-3534-4B49-AACE-895F42F8E8F6}" destId="{F106133F-787F-5B44-BA49-759A5698EFEE}" srcOrd="3" destOrd="0" parTransId="{516E03C4-7D14-8B42-8972-A63330FA636D}" sibTransId="{048DA821-4204-CE45-9444-D55C21AE114B}"/>
    <dgm:cxn modelId="{B51445E1-F974-1A40-A323-3C44136EBEB5}" type="presOf" srcId="{3346C0F7-EC3F-714A-8F57-FC951F1ECCBE}" destId="{85C75961-919F-A744-A5E3-DE108A6960FC}" srcOrd="0" destOrd="0" presId="urn:microsoft.com/office/officeart/2005/8/layout/default"/>
    <dgm:cxn modelId="{7BDDD429-9806-DB47-BA6E-222EE2FE6B36}" type="presParOf" srcId="{644C92D9-0210-494D-991F-38FC2D725C8A}" destId="{85C75961-919F-A744-A5E3-DE108A6960FC}" srcOrd="0" destOrd="0" presId="urn:microsoft.com/office/officeart/2005/8/layout/default"/>
    <dgm:cxn modelId="{D2EA5420-FC14-0546-A714-C13A13942DE1}" type="presParOf" srcId="{644C92D9-0210-494D-991F-38FC2D725C8A}" destId="{AF4BBC4B-0180-1A40-BE4F-B46224CE4639}" srcOrd="1" destOrd="0" presId="urn:microsoft.com/office/officeart/2005/8/layout/default"/>
    <dgm:cxn modelId="{75AACB5B-75CA-9B4F-8A63-D2B7807E73A3}" type="presParOf" srcId="{644C92D9-0210-494D-991F-38FC2D725C8A}" destId="{EF5AF75B-CEFF-F84F-845D-FDCD62264329}" srcOrd="2" destOrd="0" presId="urn:microsoft.com/office/officeart/2005/8/layout/default"/>
    <dgm:cxn modelId="{D26D39D4-817B-E440-A4A7-CB92A027C7BB}" type="presParOf" srcId="{644C92D9-0210-494D-991F-38FC2D725C8A}" destId="{DCD52873-4D39-6D47-AEA6-83FFF40B103F}" srcOrd="3" destOrd="0" presId="urn:microsoft.com/office/officeart/2005/8/layout/default"/>
    <dgm:cxn modelId="{04AC724D-3753-4D48-89DF-CC7747EA7987}" type="presParOf" srcId="{644C92D9-0210-494D-991F-38FC2D725C8A}" destId="{BC0792C3-550B-DA43-B011-AAE5D6EC84D9}" srcOrd="4" destOrd="0" presId="urn:microsoft.com/office/officeart/2005/8/layout/default"/>
    <dgm:cxn modelId="{E64A3CCD-2BE6-BA4C-BB55-BA17C36329D0}" type="presParOf" srcId="{644C92D9-0210-494D-991F-38FC2D725C8A}" destId="{B966B4C2-84C3-4F45-A305-64915DA81A17}" srcOrd="5" destOrd="0" presId="urn:microsoft.com/office/officeart/2005/8/layout/default"/>
    <dgm:cxn modelId="{F3C2DB39-9740-BA43-8621-F7FABADF01F2}" type="presParOf" srcId="{644C92D9-0210-494D-991F-38FC2D725C8A}" destId="{6C97DF5A-08BA-D64A-B3B4-7452C4622476}" srcOrd="6" destOrd="0" presId="urn:microsoft.com/office/officeart/2005/8/layout/default"/>
    <dgm:cxn modelId="{E1D1AED5-1EB0-574F-A36F-9071143137BE}" type="presParOf" srcId="{644C92D9-0210-494D-991F-38FC2D725C8A}" destId="{A08A7F4D-6A1B-F348-9677-98E3935695CD}" srcOrd="7" destOrd="0" presId="urn:microsoft.com/office/officeart/2005/8/layout/default"/>
    <dgm:cxn modelId="{1E8CCA7E-EF59-F54E-9FE4-0341F18DF48A}" type="presParOf" srcId="{644C92D9-0210-494D-991F-38FC2D725C8A}" destId="{EEB17763-F8CF-C648-BE58-EB98C3F09DCC}" srcOrd="8" destOrd="0" presId="urn:microsoft.com/office/officeart/2005/8/layout/default"/>
    <dgm:cxn modelId="{4E9BD61A-7DD3-204C-86BC-8283F39EDCAE}" type="presParOf" srcId="{644C92D9-0210-494D-991F-38FC2D725C8A}" destId="{D548ECB3-3E17-E34F-BC99-5BF7DF62AC6D}" srcOrd="9" destOrd="0" presId="urn:microsoft.com/office/officeart/2005/8/layout/default"/>
    <dgm:cxn modelId="{21315F2C-6061-AD48-A1B6-75A609295B1D}" type="presParOf" srcId="{644C92D9-0210-494D-991F-38FC2D725C8A}" destId="{BD1D5B1A-C79B-044F-849B-A42FC4FE78A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659F3C-3534-4B49-AACE-895F42F8E8F6}" type="doc">
      <dgm:prSet loTypeId="urn:microsoft.com/office/officeart/2005/8/layout/default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346C0F7-EC3F-714A-8F57-FC951F1ECCBE}">
      <dgm:prSet phldrT="[Text]" custT="1"/>
      <dgm:spPr/>
      <dgm:t>
        <a:bodyPr/>
        <a:lstStyle/>
        <a:p>
          <a:pPr>
            <a:buNone/>
          </a:pP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1. Active Travel Benefits</a:t>
          </a:r>
        </a:p>
        <a:p>
          <a:pPr>
            <a:buNone/>
          </a:pP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Extra walking minutes gained through bus access and egress</a:t>
          </a: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Share of users achieving recommended daily physical activity</a:t>
          </a: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DALYs averted from increased physical activity</a:t>
          </a:r>
        </a:p>
      </dgm:t>
    </dgm:pt>
    <dgm:pt modelId="{27020AB9-511D-914A-BBEB-BEDA7DAF6B7F}" type="parTrans" cxnId="{3589182C-0C89-3044-8C71-2348ECA9B2F9}">
      <dgm:prSet/>
      <dgm:spPr/>
      <dgm:t>
        <a:bodyPr/>
        <a:lstStyle/>
        <a:p>
          <a:endParaRPr lang="en-US" sz="16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9B3EDB4-0B56-7B43-B533-E933D4537D07}" type="sibTrans" cxnId="{3589182C-0C89-3044-8C71-2348ECA9B2F9}">
      <dgm:prSet/>
      <dgm:spPr/>
      <dgm:t>
        <a:bodyPr/>
        <a:lstStyle/>
        <a:p>
          <a:endParaRPr lang="en-US" sz="16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BF46170-205F-7240-BFE6-239A10D29BF0}">
      <dgm:prSet phldrT="[Text]" custT="1"/>
      <dgm:spPr/>
      <dgm:t>
        <a:bodyPr/>
        <a:lstStyle/>
        <a:p>
          <a:pPr>
            <a:buNone/>
          </a:pP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2. Air Pollution Benefits</a:t>
          </a:r>
        </a:p>
        <a:p>
          <a:pPr>
            <a:buNone/>
          </a:pP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Reduction in PM2.5 / NO2 exposure during commute</a:t>
          </a: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Reduction in private vehicle-km due to bus mode shift</a:t>
          </a: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Respiratory and cardiovascular health-risk reduction</a:t>
          </a:r>
        </a:p>
      </dgm:t>
    </dgm:pt>
    <dgm:pt modelId="{7B9BDD3B-ECC4-8440-876F-D849D6F2E1B3}" type="parTrans" cxnId="{60B28B9E-A2FB-3249-888A-3DC7075DF477}">
      <dgm:prSet/>
      <dgm:spPr/>
      <dgm:t>
        <a:bodyPr/>
        <a:lstStyle/>
        <a:p>
          <a:endParaRPr lang="en-US" sz="16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8AE8CEF-8B5C-2146-8D23-63F48E57CEA5}" type="sibTrans" cxnId="{60B28B9E-A2FB-3249-888A-3DC7075DF477}">
      <dgm:prSet/>
      <dgm:spPr/>
      <dgm:t>
        <a:bodyPr/>
        <a:lstStyle/>
        <a:p>
          <a:endParaRPr lang="en-US" sz="16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4934CB3-3844-5342-80F1-D83AA2F7272E}">
      <dgm:prSet phldrT="[Text]" custT="1"/>
      <dgm:spPr/>
      <dgm:t>
        <a:bodyPr/>
        <a:lstStyle/>
        <a:p>
          <a:pPr>
            <a:buNone/>
          </a:pP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3. Road Safety Benefits</a:t>
          </a:r>
        </a:p>
        <a:p>
          <a:pPr>
            <a:buNone/>
          </a:pP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Reduction in crash and injury exposure after shifting to bus</a:t>
          </a: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Near-miss / injury risk reduction for bus users</a:t>
          </a: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Fatalities and serious injuries avoided</a:t>
          </a:r>
        </a:p>
      </dgm:t>
    </dgm:pt>
    <dgm:pt modelId="{8D0FBF57-2EED-3D46-AF7D-56138CA5AFC9}" type="parTrans" cxnId="{6872C086-1B81-A842-85AA-D52420519424}">
      <dgm:prSet/>
      <dgm:spPr/>
      <dgm:t>
        <a:bodyPr/>
        <a:lstStyle/>
        <a:p>
          <a:endParaRPr lang="en-US" sz="16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10A9BE5-312E-5F49-824F-B67B68357421}" type="sibTrans" cxnId="{6872C086-1B81-A842-85AA-D52420519424}">
      <dgm:prSet/>
      <dgm:spPr/>
      <dgm:t>
        <a:bodyPr/>
        <a:lstStyle/>
        <a:p>
          <a:endParaRPr lang="en-US" sz="16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106133F-787F-5B44-BA49-759A5698EFEE}">
      <dgm:prSet phldrT="[Text]" custT="1"/>
      <dgm:spPr/>
      <dgm:t>
        <a:bodyPr/>
        <a:lstStyle/>
        <a:p>
          <a:pPr>
            <a:buNone/>
          </a:pP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4. Commute Stress Benefits</a:t>
          </a:r>
        </a:p>
        <a:p>
          <a:pPr>
            <a:buNone/>
          </a:pP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Reduction in commute stress score</a:t>
          </a: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Reduction in high-stress commuters</a:t>
          </a: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Improved perceived safety, reliability, comfort and affordability</a:t>
          </a:r>
        </a:p>
      </dgm:t>
    </dgm:pt>
    <dgm:pt modelId="{516E03C4-7D14-8B42-8972-A63330FA636D}" type="parTrans" cxnId="{07786AA6-BEB1-3C42-B2A0-CFCA949E9B08}">
      <dgm:prSet/>
      <dgm:spPr/>
      <dgm:t>
        <a:bodyPr/>
        <a:lstStyle/>
        <a:p>
          <a:endParaRPr lang="en-US" sz="16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48DA821-4204-CE45-9444-D55C21AE114B}" type="sibTrans" cxnId="{07786AA6-BEB1-3C42-B2A0-CFCA949E9B08}">
      <dgm:prSet/>
      <dgm:spPr/>
      <dgm:t>
        <a:bodyPr/>
        <a:lstStyle/>
        <a:p>
          <a:endParaRPr lang="en-US" sz="16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A663EE9-595F-4744-8981-A7C68C48F966}">
      <dgm:prSet phldrT="[Text]" custT="1"/>
      <dgm:spPr/>
      <dgm:t>
        <a:bodyPr/>
        <a:lstStyle/>
        <a:p>
          <a:pPr>
            <a:buNone/>
          </a:pP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5. </a:t>
          </a:r>
          <a:r>
            <a:rPr lang="en-US" sz="1600" dirty="0" err="1">
              <a:latin typeface="Calibri" panose="020F0502020204030204" pitchFamily="34" charset="0"/>
              <a:cs typeface="Calibri" panose="020F0502020204030204" pitchFamily="34" charset="0"/>
            </a:rPr>
            <a:t>Monetised</a:t>
          </a: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 Health Benefits</a:t>
          </a:r>
        </a:p>
        <a:p>
          <a:pPr>
            <a:buNone/>
          </a:pP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 err="1">
              <a:latin typeface="Calibri" panose="020F0502020204030204" pitchFamily="34" charset="0"/>
              <a:cs typeface="Calibri" panose="020F0502020204030204" pitchFamily="34" charset="0"/>
            </a:rPr>
            <a:t>Hospitalisation</a:t>
          </a: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 cost saved</a:t>
          </a: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Economic value of DALYs averted</a:t>
          </a:r>
          <a:b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dirty="0">
              <a:latin typeface="Calibri" panose="020F0502020204030204" pitchFamily="34" charset="0"/>
              <a:cs typeface="Calibri" panose="020F0502020204030204" pitchFamily="34" charset="0"/>
            </a:rPr>
            <a:t>Health return on bus investment / Health SROI</a:t>
          </a:r>
        </a:p>
      </dgm:t>
    </dgm:pt>
    <dgm:pt modelId="{DF8EA25F-E171-F345-A3DC-853DEC70926C}" type="parTrans" cxnId="{732F8603-AF0D-CC45-B5E1-28D934205B46}">
      <dgm:prSet/>
      <dgm:spPr/>
      <dgm:t>
        <a:bodyPr/>
        <a:lstStyle/>
        <a:p>
          <a:endParaRPr lang="en-US" sz="16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4D1A0C0-8AB3-2941-91E3-50ED540F261C}" type="sibTrans" cxnId="{732F8603-AF0D-CC45-B5E1-28D934205B46}">
      <dgm:prSet/>
      <dgm:spPr/>
      <dgm:t>
        <a:bodyPr/>
        <a:lstStyle/>
        <a:p>
          <a:endParaRPr lang="en-US" sz="16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44C92D9-0210-494D-991F-38FC2D725C8A}" type="pres">
      <dgm:prSet presAssocID="{D6659F3C-3534-4B49-AACE-895F42F8E8F6}" presName="diagram" presStyleCnt="0">
        <dgm:presLayoutVars>
          <dgm:dir/>
          <dgm:resizeHandles val="exact"/>
        </dgm:presLayoutVars>
      </dgm:prSet>
      <dgm:spPr/>
    </dgm:pt>
    <dgm:pt modelId="{85C75961-919F-A744-A5E3-DE108A6960FC}" type="pres">
      <dgm:prSet presAssocID="{3346C0F7-EC3F-714A-8F57-FC951F1ECCBE}" presName="node" presStyleLbl="node1" presStyleIdx="0" presStyleCnt="5">
        <dgm:presLayoutVars>
          <dgm:bulletEnabled val="1"/>
        </dgm:presLayoutVars>
      </dgm:prSet>
      <dgm:spPr/>
    </dgm:pt>
    <dgm:pt modelId="{AF4BBC4B-0180-1A40-BE4F-B46224CE4639}" type="pres">
      <dgm:prSet presAssocID="{09B3EDB4-0B56-7B43-B533-E933D4537D07}" presName="sibTrans" presStyleCnt="0"/>
      <dgm:spPr/>
    </dgm:pt>
    <dgm:pt modelId="{EF5AF75B-CEFF-F84F-845D-FDCD62264329}" type="pres">
      <dgm:prSet presAssocID="{9BF46170-205F-7240-BFE6-239A10D29BF0}" presName="node" presStyleLbl="node1" presStyleIdx="1" presStyleCnt="5">
        <dgm:presLayoutVars>
          <dgm:bulletEnabled val="1"/>
        </dgm:presLayoutVars>
      </dgm:prSet>
      <dgm:spPr/>
    </dgm:pt>
    <dgm:pt modelId="{DCD52873-4D39-6D47-AEA6-83FFF40B103F}" type="pres">
      <dgm:prSet presAssocID="{68AE8CEF-8B5C-2146-8D23-63F48E57CEA5}" presName="sibTrans" presStyleCnt="0"/>
      <dgm:spPr/>
    </dgm:pt>
    <dgm:pt modelId="{BC0792C3-550B-DA43-B011-AAE5D6EC84D9}" type="pres">
      <dgm:prSet presAssocID="{54934CB3-3844-5342-80F1-D83AA2F7272E}" presName="node" presStyleLbl="node1" presStyleIdx="2" presStyleCnt="5">
        <dgm:presLayoutVars>
          <dgm:bulletEnabled val="1"/>
        </dgm:presLayoutVars>
      </dgm:prSet>
      <dgm:spPr/>
    </dgm:pt>
    <dgm:pt modelId="{B966B4C2-84C3-4F45-A305-64915DA81A17}" type="pres">
      <dgm:prSet presAssocID="{810A9BE5-312E-5F49-824F-B67B68357421}" presName="sibTrans" presStyleCnt="0"/>
      <dgm:spPr/>
    </dgm:pt>
    <dgm:pt modelId="{6C97DF5A-08BA-D64A-B3B4-7452C4622476}" type="pres">
      <dgm:prSet presAssocID="{F106133F-787F-5B44-BA49-759A5698EFEE}" presName="node" presStyleLbl="node1" presStyleIdx="3" presStyleCnt="5">
        <dgm:presLayoutVars>
          <dgm:bulletEnabled val="1"/>
        </dgm:presLayoutVars>
      </dgm:prSet>
      <dgm:spPr/>
    </dgm:pt>
    <dgm:pt modelId="{A08A7F4D-6A1B-F348-9677-98E3935695CD}" type="pres">
      <dgm:prSet presAssocID="{048DA821-4204-CE45-9444-D55C21AE114B}" presName="sibTrans" presStyleCnt="0"/>
      <dgm:spPr/>
    </dgm:pt>
    <dgm:pt modelId="{EEB17763-F8CF-C648-BE58-EB98C3F09DCC}" type="pres">
      <dgm:prSet presAssocID="{2A663EE9-595F-4744-8981-A7C68C48F966}" presName="node" presStyleLbl="node1" presStyleIdx="4" presStyleCnt="5">
        <dgm:presLayoutVars>
          <dgm:bulletEnabled val="1"/>
        </dgm:presLayoutVars>
      </dgm:prSet>
      <dgm:spPr/>
    </dgm:pt>
  </dgm:ptLst>
  <dgm:cxnLst>
    <dgm:cxn modelId="{732F8603-AF0D-CC45-B5E1-28D934205B46}" srcId="{D6659F3C-3534-4B49-AACE-895F42F8E8F6}" destId="{2A663EE9-595F-4744-8981-A7C68C48F966}" srcOrd="4" destOrd="0" parTransId="{DF8EA25F-E171-F345-A3DC-853DEC70926C}" sibTransId="{94D1A0C0-8AB3-2941-91E3-50ED540F261C}"/>
    <dgm:cxn modelId="{F8C8140E-F617-CB44-8F5F-C5FA75DBC372}" type="presOf" srcId="{2A663EE9-595F-4744-8981-A7C68C48F966}" destId="{EEB17763-F8CF-C648-BE58-EB98C3F09DCC}" srcOrd="0" destOrd="0" presId="urn:microsoft.com/office/officeart/2005/8/layout/default"/>
    <dgm:cxn modelId="{3589182C-0C89-3044-8C71-2348ECA9B2F9}" srcId="{D6659F3C-3534-4B49-AACE-895F42F8E8F6}" destId="{3346C0F7-EC3F-714A-8F57-FC951F1ECCBE}" srcOrd="0" destOrd="0" parTransId="{27020AB9-511D-914A-BBEB-BEDA7DAF6B7F}" sibTransId="{09B3EDB4-0B56-7B43-B533-E933D4537D07}"/>
    <dgm:cxn modelId="{ECADD539-DBF3-D74D-B06B-6E7421D981F9}" type="presOf" srcId="{F106133F-787F-5B44-BA49-759A5698EFEE}" destId="{6C97DF5A-08BA-D64A-B3B4-7452C4622476}" srcOrd="0" destOrd="0" presId="urn:microsoft.com/office/officeart/2005/8/layout/default"/>
    <dgm:cxn modelId="{00FB2C44-DE7A-AE45-AF4B-CC1698729AB3}" type="presOf" srcId="{D6659F3C-3534-4B49-AACE-895F42F8E8F6}" destId="{644C92D9-0210-494D-991F-38FC2D725C8A}" srcOrd="0" destOrd="0" presId="urn:microsoft.com/office/officeart/2005/8/layout/default"/>
    <dgm:cxn modelId="{BDF2E853-153E-8B45-BBBF-7D3697081BF0}" type="presOf" srcId="{54934CB3-3844-5342-80F1-D83AA2F7272E}" destId="{BC0792C3-550B-DA43-B011-AAE5D6EC84D9}" srcOrd="0" destOrd="0" presId="urn:microsoft.com/office/officeart/2005/8/layout/default"/>
    <dgm:cxn modelId="{1092627C-FD06-6847-9D91-34A7E96A6AAF}" type="presOf" srcId="{9BF46170-205F-7240-BFE6-239A10D29BF0}" destId="{EF5AF75B-CEFF-F84F-845D-FDCD62264329}" srcOrd="0" destOrd="0" presId="urn:microsoft.com/office/officeart/2005/8/layout/default"/>
    <dgm:cxn modelId="{6872C086-1B81-A842-85AA-D52420519424}" srcId="{D6659F3C-3534-4B49-AACE-895F42F8E8F6}" destId="{54934CB3-3844-5342-80F1-D83AA2F7272E}" srcOrd="2" destOrd="0" parTransId="{8D0FBF57-2EED-3D46-AF7D-56138CA5AFC9}" sibTransId="{810A9BE5-312E-5F49-824F-B67B68357421}"/>
    <dgm:cxn modelId="{60B28B9E-A2FB-3249-888A-3DC7075DF477}" srcId="{D6659F3C-3534-4B49-AACE-895F42F8E8F6}" destId="{9BF46170-205F-7240-BFE6-239A10D29BF0}" srcOrd="1" destOrd="0" parTransId="{7B9BDD3B-ECC4-8440-876F-D849D6F2E1B3}" sibTransId="{68AE8CEF-8B5C-2146-8D23-63F48E57CEA5}"/>
    <dgm:cxn modelId="{07786AA6-BEB1-3C42-B2A0-CFCA949E9B08}" srcId="{D6659F3C-3534-4B49-AACE-895F42F8E8F6}" destId="{F106133F-787F-5B44-BA49-759A5698EFEE}" srcOrd="3" destOrd="0" parTransId="{516E03C4-7D14-8B42-8972-A63330FA636D}" sibTransId="{048DA821-4204-CE45-9444-D55C21AE114B}"/>
    <dgm:cxn modelId="{B51445E1-F974-1A40-A323-3C44136EBEB5}" type="presOf" srcId="{3346C0F7-EC3F-714A-8F57-FC951F1ECCBE}" destId="{85C75961-919F-A744-A5E3-DE108A6960FC}" srcOrd="0" destOrd="0" presId="urn:microsoft.com/office/officeart/2005/8/layout/default"/>
    <dgm:cxn modelId="{7BDDD429-9806-DB47-BA6E-222EE2FE6B36}" type="presParOf" srcId="{644C92D9-0210-494D-991F-38FC2D725C8A}" destId="{85C75961-919F-A744-A5E3-DE108A6960FC}" srcOrd="0" destOrd="0" presId="urn:microsoft.com/office/officeart/2005/8/layout/default"/>
    <dgm:cxn modelId="{D2EA5420-FC14-0546-A714-C13A13942DE1}" type="presParOf" srcId="{644C92D9-0210-494D-991F-38FC2D725C8A}" destId="{AF4BBC4B-0180-1A40-BE4F-B46224CE4639}" srcOrd="1" destOrd="0" presId="urn:microsoft.com/office/officeart/2005/8/layout/default"/>
    <dgm:cxn modelId="{75AACB5B-75CA-9B4F-8A63-D2B7807E73A3}" type="presParOf" srcId="{644C92D9-0210-494D-991F-38FC2D725C8A}" destId="{EF5AF75B-CEFF-F84F-845D-FDCD62264329}" srcOrd="2" destOrd="0" presId="urn:microsoft.com/office/officeart/2005/8/layout/default"/>
    <dgm:cxn modelId="{D26D39D4-817B-E440-A4A7-CB92A027C7BB}" type="presParOf" srcId="{644C92D9-0210-494D-991F-38FC2D725C8A}" destId="{DCD52873-4D39-6D47-AEA6-83FFF40B103F}" srcOrd="3" destOrd="0" presId="urn:microsoft.com/office/officeart/2005/8/layout/default"/>
    <dgm:cxn modelId="{04AC724D-3753-4D48-89DF-CC7747EA7987}" type="presParOf" srcId="{644C92D9-0210-494D-991F-38FC2D725C8A}" destId="{BC0792C3-550B-DA43-B011-AAE5D6EC84D9}" srcOrd="4" destOrd="0" presId="urn:microsoft.com/office/officeart/2005/8/layout/default"/>
    <dgm:cxn modelId="{E64A3CCD-2BE6-BA4C-BB55-BA17C36329D0}" type="presParOf" srcId="{644C92D9-0210-494D-991F-38FC2D725C8A}" destId="{B966B4C2-84C3-4F45-A305-64915DA81A17}" srcOrd="5" destOrd="0" presId="urn:microsoft.com/office/officeart/2005/8/layout/default"/>
    <dgm:cxn modelId="{F3C2DB39-9740-BA43-8621-F7FABADF01F2}" type="presParOf" srcId="{644C92D9-0210-494D-991F-38FC2D725C8A}" destId="{6C97DF5A-08BA-D64A-B3B4-7452C4622476}" srcOrd="6" destOrd="0" presId="urn:microsoft.com/office/officeart/2005/8/layout/default"/>
    <dgm:cxn modelId="{E1D1AED5-1EB0-574F-A36F-9071143137BE}" type="presParOf" srcId="{644C92D9-0210-494D-991F-38FC2D725C8A}" destId="{A08A7F4D-6A1B-F348-9677-98E3935695CD}" srcOrd="7" destOrd="0" presId="urn:microsoft.com/office/officeart/2005/8/layout/default"/>
    <dgm:cxn modelId="{1E8CCA7E-EF59-F54E-9FE4-0341F18DF48A}" type="presParOf" srcId="{644C92D9-0210-494D-991F-38FC2D725C8A}" destId="{EEB17763-F8CF-C648-BE58-EB98C3F09DC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6E481E-F362-D84B-877B-B4A6D17C0A34}">
      <dsp:nvSpPr>
        <dsp:cNvPr id="0" name=""/>
        <dsp:cNvSpPr/>
      </dsp:nvSpPr>
      <dsp:spPr>
        <a:xfrm>
          <a:off x="10464" y="366101"/>
          <a:ext cx="2166071" cy="9056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Bus deployment / improved bus service</a:t>
          </a:r>
          <a:endParaRPr lang="en-US" sz="1600" kern="12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6991" y="392628"/>
        <a:ext cx="2113017" cy="852639"/>
      </dsp:txXfrm>
    </dsp:sp>
    <dsp:sp modelId="{B42CE343-7C78-534C-B7F4-0861654F20F0}">
      <dsp:nvSpPr>
        <dsp:cNvPr id="0" name=""/>
        <dsp:cNvSpPr/>
      </dsp:nvSpPr>
      <dsp:spPr>
        <a:xfrm>
          <a:off x="2393142" y="550355"/>
          <a:ext cx="459207" cy="53718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393142" y="657792"/>
        <a:ext cx="321445" cy="322311"/>
      </dsp:txXfrm>
    </dsp:sp>
    <dsp:sp modelId="{B86736F9-6C67-F840-949E-A23601DE7BF7}">
      <dsp:nvSpPr>
        <dsp:cNvPr id="0" name=""/>
        <dsp:cNvSpPr/>
      </dsp:nvSpPr>
      <dsp:spPr>
        <a:xfrm>
          <a:off x="3042964" y="366101"/>
          <a:ext cx="2166071" cy="9056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Increased bus access and bus usage</a:t>
          </a:r>
        </a:p>
      </dsp:txBody>
      <dsp:txXfrm>
        <a:off x="3069491" y="392628"/>
        <a:ext cx="2113017" cy="852639"/>
      </dsp:txXfrm>
    </dsp:sp>
    <dsp:sp modelId="{1A9FC42D-5F30-2B48-86FA-15C730609A23}">
      <dsp:nvSpPr>
        <dsp:cNvPr id="0" name=""/>
        <dsp:cNvSpPr/>
      </dsp:nvSpPr>
      <dsp:spPr>
        <a:xfrm>
          <a:off x="5425642" y="550355"/>
          <a:ext cx="459207" cy="53718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425642" y="657792"/>
        <a:ext cx="321445" cy="322311"/>
      </dsp:txXfrm>
    </dsp:sp>
    <dsp:sp modelId="{F8B5729E-1EEF-E244-ABA6-CAA915D548CB}">
      <dsp:nvSpPr>
        <dsp:cNvPr id="0" name=""/>
        <dsp:cNvSpPr/>
      </dsp:nvSpPr>
      <dsp:spPr>
        <a:xfrm>
          <a:off x="6075464" y="366101"/>
          <a:ext cx="2166071" cy="9056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Reduced dependence on private vehicles</a:t>
          </a:r>
          <a:br>
            <a:rPr lang="en-US" sz="16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</a:br>
          <a:endParaRPr lang="en-US" sz="1600" kern="12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6101991" y="392628"/>
        <a:ext cx="2113017" cy="852639"/>
      </dsp:txXfrm>
    </dsp:sp>
    <dsp:sp modelId="{3758E471-6465-084F-B45C-173EA405C0A2}">
      <dsp:nvSpPr>
        <dsp:cNvPr id="0" name=""/>
        <dsp:cNvSpPr/>
      </dsp:nvSpPr>
      <dsp:spPr>
        <a:xfrm>
          <a:off x="8458142" y="550355"/>
          <a:ext cx="459207" cy="53718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458142" y="657792"/>
        <a:ext cx="321445" cy="322311"/>
      </dsp:txXfrm>
    </dsp:sp>
    <dsp:sp modelId="{3148E0DC-4BD5-574A-BDE9-892AC19C796A}">
      <dsp:nvSpPr>
        <dsp:cNvPr id="0" name=""/>
        <dsp:cNvSpPr/>
      </dsp:nvSpPr>
      <dsp:spPr>
        <a:xfrm>
          <a:off x="9107964" y="366101"/>
          <a:ext cx="2166071" cy="9056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Health benefit pathways</a:t>
          </a:r>
          <a:endParaRPr lang="en-US" sz="1600" kern="12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9134491" y="392628"/>
        <a:ext cx="2113017" cy="8526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75961-919F-A744-A5E3-DE108A6960FC}">
      <dsp:nvSpPr>
        <dsp:cNvPr id="0" name=""/>
        <dsp:cNvSpPr/>
      </dsp:nvSpPr>
      <dsp:spPr>
        <a:xfrm>
          <a:off x="0" y="118148"/>
          <a:ext cx="3526405" cy="21158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1. Travel </a:t>
          </a:r>
          <a:r>
            <a:rPr lang="en-US" sz="1900" kern="1200" dirty="0" err="1">
              <a:latin typeface="Calibri" panose="020F0502020204030204" pitchFamily="34" charset="0"/>
              <a:cs typeface="Calibri" panose="020F0502020204030204" pitchFamily="34" charset="0"/>
            </a:rPr>
            <a:t>Behaviour</a:t>
          </a:r>
          <a:endParaRPr lang="en-US" sz="19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Current mode, previous mode, trip purpose, trip distance, travel time, travel cost, transfers, bus-use days per week</a:t>
          </a:r>
        </a:p>
      </dsp:txBody>
      <dsp:txXfrm>
        <a:off x="0" y="118148"/>
        <a:ext cx="3526405" cy="2115843"/>
      </dsp:txXfrm>
    </dsp:sp>
    <dsp:sp modelId="{EF5AF75B-CEFF-F84F-845D-FDCD62264329}">
      <dsp:nvSpPr>
        <dsp:cNvPr id="0" name=""/>
        <dsp:cNvSpPr/>
      </dsp:nvSpPr>
      <dsp:spPr>
        <a:xfrm>
          <a:off x="3879046" y="118148"/>
          <a:ext cx="3526405" cy="21158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2. Bus Access and Service Quality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Distance to nearest bus stop, access/egress walking time, bus frequency, waiting time, reliability, crowding, fare, safety, comfort</a:t>
          </a:r>
        </a:p>
      </dsp:txBody>
      <dsp:txXfrm>
        <a:off x="3879046" y="118148"/>
        <a:ext cx="3526405" cy="2115843"/>
      </dsp:txXfrm>
    </dsp:sp>
    <dsp:sp modelId="{BC0792C3-550B-DA43-B011-AAE5D6EC84D9}">
      <dsp:nvSpPr>
        <dsp:cNvPr id="0" name=""/>
        <dsp:cNvSpPr/>
      </dsp:nvSpPr>
      <dsp:spPr>
        <a:xfrm>
          <a:off x="7758093" y="118148"/>
          <a:ext cx="3526405" cy="21158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3. Road Injury Reduction Variables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Previous mode risk, near-miss experience, crash/injury history, unsafe crossing near bus stop, footpath availability, lighting, crash hotspot exposure</a:t>
          </a:r>
        </a:p>
      </dsp:txBody>
      <dsp:txXfrm>
        <a:off x="7758093" y="118148"/>
        <a:ext cx="3526405" cy="2115843"/>
      </dsp:txXfrm>
    </dsp:sp>
    <dsp:sp modelId="{6C97DF5A-08BA-D64A-B3B4-7452C4622476}">
      <dsp:nvSpPr>
        <dsp:cNvPr id="0" name=""/>
        <dsp:cNvSpPr/>
      </dsp:nvSpPr>
      <dsp:spPr>
        <a:xfrm>
          <a:off x="0" y="2586632"/>
          <a:ext cx="3526405" cy="21158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4. GIS / Spatial Inputs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Home </a:t>
          </a:r>
          <a:r>
            <a:rPr lang="en-US" sz="1900" kern="1200" dirty="0" err="1">
              <a:latin typeface="Calibri" panose="020F0502020204030204" pitchFamily="34" charset="0"/>
              <a:cs typeface="Calibri" panose="020F0502020204030204" pitchFamily="34" charset="0"/>
            </a:rPr>
            <a:t>lat</a:t>
          </a: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-long, destination </a:t>
          </a:r>
          <a:r>
            <a:rPr lang="en-US" sz="1900" kern="1200" dirty="0" err="1">
              <a:latin typeface="Calibri" panose="020F0502020204030204" pitchFamily="34" charset="0"/>
              <a:cs typeface="Calibri" panose="020F0502020204030204" pitchFamily="34" charset="0"/>
            </a:rPr>
            <a:t>lat</a:t>
          </a: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-long, bus stop location, route alignment, 500 m catchment, PM2.5 layer, crash hotspot location</a:t>
          </a:r>
        </a:p>
      </dsp:txBody>
      <dsp:txXfrm>
        <a:off x="0" y="2586632"/>
        <a:ext cx="3526405" cy="2115843"/>
      </dsp:txXfrm>
    </dsp:sp>
    <dsp:sp modelId="{EEB17763-F8CF-C648-BE58-EB98C3F09DCC}">
      <dsp:nvSpPr>
        <dsp:cNvPr id="0" name=""/>
        <dsp:cNvSpPr/>
      </dsp:nvSpPr>
      <dsp:spPr>
        <a:xfrm>
          <a:off x="3879046" y="2586632"/>
          <a:ext cx="3526405" cy="21158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5. Pollution Reduction Variables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Previous private vehicle mode, vehicle-km reduced, route-level PM2.5/NO2 exposure, roadside waiting exposure, exposure before and after bus use</a:t>
          </a:r>
        </a:p>
      </dsp:txBody>
      <dsp:txXfrm>
        <a:off x="3879046" y="2586632"/>
        <a:ext cx="3526405" cy="2115843"/>
      </dsp:txXfrm>
    </dsp:sp>
    <dsp:sp modelId="{BD1D5B1A-C79B-044F-849B-A42FC4FE78AC}">
      <dsp:nvSpPr>
        <dsp:cNvPr id="0" name=""/>
        <dsp:cNvSpPr/>
      </dsp:nvSpPr>
      <dsp:spPr>
        <a:xfrm>
          <a:off x="7758093" y="2586632"/>
          <a:ext cx="3526405" cy="21158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6. Control Variables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900" kern="1200" dirty="0">
              <a:latin typeface="Calibri" panose="020F0502020204030204" pitchFamily="34" charset="0"/>
              <a:cs typeface="Calibri" panose="020F0502020204030204" pitchFamily="34" charset="0"/>
            </a:rPr>
            <a:t>Age, gender, income, education, occupation, vehicle ownership, disability/mobility limitation, city/ward, baseline health condition</a:t>
          </a:r>
        </a:p>
      </dsp:txBody>
      <dsp:txXfrm>
        <a:off x="7758093" y="2586632"/>
        <a:ext cx="3526405" cy="2115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75961-919F-A744-A5E3-DE108A6960FC}">
      <dsp:nvSpPr>
        <dsp:cNvPr id="0" name=""/>
        <dsp:cNvSpPr/>
      </dsp:nvSpPr>
      <dsp:spPr>
        <a:xfrm>
          <a:off x="90158" y="3642"/>
          <a:ext cx="3549982" cy="21299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1. Active Travel Benefits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Extra walking minutes gained through bus access and egress</a:t>
          </a: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Share of users achieving recommended daily physical activity</a:t>
          </a: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DALYs averted from increased physical activity</a:t>
          </a:r>
        </a:p>
      </dsp:txBody>
      <dsp:txXfrm>
        <a:off x="90158" y="3642"/>
        <a:ext cx="3549982" cy="2129989"/>
      </dsp:txXfrm>
    </dsp:sp>
    <dsp:sp modelId="{EF5AF75B-CEFF-F84F-845D-FDCD62264329}">
      <dsp:nvSpPr>
        <dsp:cNvPr id="0" name=""/>
        <dsp:cNvSpPr/>
      </dsp:nvSpPr>
      <dsp:spPr>
        <a:xfrm>
          <a:off x="3995139" y="3642"/>
          <a:ext cx="3549982" cy="21299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2. Air Pollution Benefits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Reduction in PM2.5 / NO2 exposure during commute</a:t>
          </a: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Reduction in private vehicle-km due to bus mode shift</a:t>
          </a: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Respiratory and cardiovascular health-risk reduction</a:t>
          </a:r>
        </a:p>
      </dsp:txBody>
      <dsp:txXfrm>
        <a:off x="3995139" y="3642"/>
        <a:ext cx="3549982" cy="2129989"/>
      </dsp:txXfrm>
    </dsp:sp>
    <dsp:sp modelId="{BC0792C3-550B-DA43-B011-AAE5D6EC84D9}">
      <dsp:nvSpPr>
        <dsp:cNvPr id="0" name=""/>
        <dsp:cNvSpPr/>
      </dsp:nvSpPr>
      <dsp:spPr>
        <a:xfrm>
          <a:off x="7900120" y="3642"/>
          <a:ext cx="3549982" cy="21299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3. Road Safety Benefits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Reduction in crash and injury exposure after shifting to bus</a:t>
          </a: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Near-miss / injury risk reduction for bus users</a:t>
          </a: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Fatalities and serious injuries avoided</a:t>
          </a:r>
        </a:p>
      </dsp:txBody>
      <dsp:txXfrm>
        <a:off x="7900120" y="3642"/>
        <a:ext cx="3549982" cy="2129989"/>
      </dsp:txXfrm>
    </dsp:sp>
    <dsp:sp modelId="{6C97DF5A-08BA-D64A-B3B4-7452C4622476}">
      <dsp:nvSpPr>
        <dsp:cNvPr id="0" name=""/>
        <dsp:cNvSpPr/>
      </dsp:nvSpPr>
      <dsp:spPr>
        <a:xfrm>
          <a:off x="2042648" y="2488630"/>
          <a:ext cx="3549982" cy="21299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4. Commute Stress Benefits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Reduction in commute stress score</a:t>
          </a: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Reduction in high-stress commuters</a:t>
          </a: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Improved perceived safety, reliability, comfort and affordability</a:t>
          </a:r>
        </a:p>
      </dsp:txBody>
      <dsp:txXfrm>
        <a:off x="2042648" y="2488630"/>
        <a:ext cx="3549982" cy="2129989"/>
      </dsp:txXfrm>
    </dsp:sp>
    <dsp:sp modelId="{EEB17763-F8CF-C648-BE58-EB98C3F09DCC}">
      <dsp:nvSpPr>
        <dsp:cNvPr id="0" name=""/>
        <dsp:cNvSpPr/>
      </dsp:nvSpPr>
      <dsp:spPr>
        <a:xfrm>
          <a:off x="5947630" y="2488630"/>
          <a:ext cx="3549982" cy="21299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5. </a:t>
          </a:r>
          <a:r>
            <a:rPr lang="en-US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Monetised</a:t>
          </a: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 Health Benefits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Hospitalisation</a:t>
          </a: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 cost saved</a:t>
          </a: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Economic value of DALYs averted</a:t>
          </a:r>
          <a:b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en-US" sz="1600" kern="1200" dirty="0">
              <a:latin typeface="Calibri" panose="020F0502020204030204" pitchFamily="34" charset="0"/>
              <a:cs typeface="Calibri" panose="020F0502020204030204" pitchFamily="34" charset="0"/>
            </a:rPr>
            <a:t>Health return on bus investment / Health SROI</a:t>
          </a:r>
        </a:p>
      </dsp:txBody>
      <dsp:txXfrm>
        <a:off x="5947630" y="2488630"/>
        <a:ext cx="3549982" cy="2129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1f07bbfc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5" name="Google Shape;85;g3a1f07bbf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5213d0914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3e5213d091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cffd729c0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g3ecffd729c0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/>
              <a:t>Change the map</a:t>
            </a:r>
            <a:endParaRPr/>
          </a:p>
        </p:txBody>
      </p:sp>
      <p:sp>
        <p:nvSpPr>
          <p:cNvPr id="225" name="Google Shape;2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7ED046BC-3004-E2CB-212E-87A2909C7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7350ef53c_0_0:notes">
            <a:extLst>
              <a:ext uri="{FF2B5EF4-FFF2-40B4-BE49-F238E27FC236}">
                <a16:creationId xmlns:a16="http://schemas.microsoft.com/office/drawing/2014/main" id="{0A337781-661B-01DF-C237-40FEA04B13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7350ef53c_0_0:notes">
            <a:extLst>
              <a:ext uri="{FF2B5EF4-FFF2-40B4-BE49-F238E27FC236}">
                <a16:creationId xmlns:a16="http://schemas.microsoft.com/office/drawing/2014/main" id="{A7DB3F88-1BA0-42B0-0B85-C8D9B5BF11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e7350ef53c_0_0:notes">
            <a:extLst>
              <a:ext uri="{FF2B5EF4-FFF2-40B4-BE49-F238E27FC236}">
                <a16:creationId xmlns:a16="http://schemas.microsoft.com/office/drawing/2014/main" id="{ADE40E7C-2F1F-8DA1-92F8-222D4EF7B9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2077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7BD4CFA6-2014-6D96-53BA-05C7F934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>
            <a:extLst>
              <a:ext uri="{FF2B5EF4-FFF2-40B4-BE49-F238E27FC236}">
                <a16:creationId xmlns:a16="http://schemas.microsoft.com/office/drawing/2014/main" id="{49C81734-A562-D526-037C-567860AF9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5213d0914_1_0:notes">
            <a:extLst>
              <a:ext uri="{FF2B5EF4-FFF2-40B4-BE49-F238E27FC236}">
                <a16:creationId xmlns:a16="http://schemas.microsoft.com/office/drawing/2014/main" id="{40FBA1F7-8CF2-E010-A375-E74CAED13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e5213d0914_1_0:notes">
            <a:extLst>
              <a:ext uri="{FF2B5EF4-FFF2-40B4-BE49-F238E27FC236}">
                <a16:creationId xmlns:a16="http://schemas.microsoft.com/office/drawing/2014/main" id="{0872716C-FE5E-19C2-ABC0-7040239402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3759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681A6ABF-7D83-0539-06A9-ABCD6E38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>
            <a:extLst>
              <a:ext uri="{FF2B5EF4-FFF2-40B4-BE49-F238E27FC236}">
                <a16:creationId xmlns:a16="http://schemas.microsoft.com/office/drawing/2014/main" id="{D49C80CD-11D0-CCBF-7EA8-AFD941B60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5213d0914_1_0:notes">
            <a:extLst>
              <a:ext uri="{FF2B5EF4-FFF2-40B4-BE49-F238E27FC236}">
                <a16:creationId xmlns:a16="http://schemas.microsoft.com/office/drawing/2014/main" id="{89DBCB9B-C44B-A7CF-BB55-158D8E6090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e5213d0914_1_0:notes">
            <a:extLst>
              <a:ext uri="{FF2B5EF4-FFF2-40B4-BE49-F238E27FC236}">
                <a16:creationId xmlns:a16="http://schemas.microsoft.com/office/drawing/2014/main" id="{CD4A6ABB-7B0B-C0E5-3F66-0F0DF2C2E0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87181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FE6C1EA7-E4C9-32AD-9493-8AA38EE2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>
            <a:extLst>
              <a:ext uri="{FF2B5EF4-FFF2-40B4-BE49-F238E27FC236}">
                <a16:creationId xmlns:a16="http://schemas.microsoft.com/office/drawing/2014/main" id="{B6D5D4F5-0457-C706-879A-87B0227F8D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5213d0914_1_0:notes">
            <a:extLst>
              <a:ext uri="{FF2B5EF4-FFF2-40B4-BE49-F238E27FC236}">
                <a16:creationId xmlns:a16="http://schemas.microsoft.com/office/drawing/2014/main" id="{B289C194-DD7F-824E-3DAF-AA5CC7BD7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e5213d0914_1_0:notes">
            <a:extLst>
              <a:ext uri="{FF2B5EF4-FFF2-40B4-BE49-F238E27FC236}">
                <a16:creationId xmlns:a16="http://schemas.microsoft.com/office/drawing/2014/main" id="{995EAC9C-3B9E-C93A-FEA3-0C0E08DB11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3922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F0BC2E2C-1EDA-4D7B-529D-9C75B1718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cc9b63667_2_40:notes">
            <a:extLst>
              <a:ext uri="{FF2B5EF4-FFF2-40B4-BE49-F238E27FC236}">
                <a16:creationId xmlns:a16="http://schemas.microsoft.com/office/drawing/2014/main" id="{4819CE1B-7EDC-59FC-1666-F08C665368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8" name="Google Shape;368;g3ecc9b63667_2_40:notes">
            <a:extLst>
              <a:ext uri="{FF2B5EF4-FFF2-40B4-BE49-F238E27FC236}">
                <a16:creationId xmlns:a16="http://schemas.microsoft.com/office/drawing/2014/main" id="{1042D8DB-847B-B42C-8F63-4E3966F14D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23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00D01506-6C66-D4A0-959A-9265F24D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>
            <a:extLst>
              <a:ext uri="{FF2B5EF4-FFF2-40B4-BE49-F238E27FC236}">
                <a16:creationId xmlns:a16="http://schemas.microsoft.com/office/drawing/2014/main" id="{6E55328E-E389-CBC1-ECF5-C07F8EE503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5213d0914_1_0:notes">
            <a:extLst>
              <a:ext uri="{FF2B5EF4-FFF2-40B4-BE49-F238E27FC236}">
                <a16:creationId xmlns:a16="http://schemas.microsoft.com/office/drawing/2014/main" id="{7C8511C2-24ED-AAC5-6D0D-BDB01DED2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e5213d0914_1_0:notes">
            <a:extLst>
              <a:ext uri="{FF2B5EF4-FFF2-40B4-BE49-F238E27FC236}">
                <a16:creationId xmlns:a16="http://schemas.microsoft.com/office/drawing/2014/main" id="{43F62E3A-DBFD-BA49-CC2F-4FC0A3FFE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69222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BE0AC331-3AA7-21CF-7C8B-7430DDC8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>
            <a:extLst>
              <a:ext uri="{FF2B5EF4-FFF2-40B4-BE49-F238E27FC236}">
                <a16:creationId xmlns:a16="http://schemas.microsoft.com/office/drawing/2014/main" id="{8E15056B-02A1-1625-5F51-8D1A019CE4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5213d0914_1_0:notes">
            <a:extLst>
              <a:ext uri="{FF2B5EF4-FFF2-40B4-BE49-F238E27FC236}">
                <a16:creationId xmlns:a16="http://schemas.microsoft.com/office/drawing/2014/main" id="{035AA11A-C8DF-7D23-2487-30D8EEF78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e5213d0914_1_0:notes">
            <a:extLst>
              <a:ext uri="{FF2B5EF4-FFF2-40B4-BE49-F238E27FC236}">
                <a16:creationId xmlns:a16="http://schemas.microsoft.com/office/drawing/2014/main" id="{CE6043C2-44DF-1E46-EA72-457E3DEF7C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30905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8AB9161E-EACE-70EB-5D56-35A2EF928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>
            <a:extLst>
              <a:ext uri="{FF2B5EF4-FFF2-40B4-BE49-F238E27FC236}">
                <a16:creationId xmlns:a16="http://schemas.microsoft.com/office/drawing/2014/main" id="{23F02D2F-C739-76FC-6127-D43DFF614D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5213d0914_1_0:notes">
            <a:extLst>
              <a:ext uri="{FF2B5EF4-FFF2-40B4-BE49-F238E27FC236}">
                <a16:creationId xmlns:a16="http://schemas.microsoft.com/office/drawing/2014/main" id="{8DB45CAD-2F7F-1BEF-E89C-1DDB0AB7FE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e5213d0914_1_0:notes">
            <a:extLst>
              <a:ext uri="{FF2B5EF4-FFF2-40B4-BE49-F238E27FC236}">
                <a16:creationId xmlns:a16="http://schemas.microsoft.com/office/drawing/2014/main" id="{5F76F43A-8F7A-BC55-674E-8989413292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19688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BCB5037D-0F31-CE3E-26AD-55E96F438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>
            <a:extLst>
              <a:ext uri="{FF2B5EF4-FFF2-40B4-BE49-F238E27FC236}">
                <a16:creationId xmlns:a16="http://schemas.microsoft.com/office/drawing/2014/main" id="{B3546382-597F-B55E-DA14-1B6BE2FBB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5213d0914_1_0:notes">
            <a:extLst>
              <a:ext uri="{FF2B5EF4-FFF2-40B4-BE49-F238E27FC236}">
                <a16:creationId xmlns:a16="http://schemas.microsoft.com/office/drawing/2014/main" id="{4E395B66-901F-7E18-39B6-6710A3B9A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e5213d0914_1_0:notes">
            <a:extLst>
              <a:ext uri="{FF2B5EF4-FFF2-40B4-BE49-F238E27FC236}">
                <a16:creationId xmlns:a16="http://schemas.microsoft.com/office/drawing/2014/main" id="{5627F2F2-AF4A-66E9-039A-68EE74A226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1077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9BD5E135-2E03-653C-1BDA-A06CFCC96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>
            <a:extLst>
              <a:ext uri="{FF2B5EF4-FFF2-40B4-BE49-F238E27FC236}">
                <a16:creationId xmlns:a16="http://schemas.microsoft.com/office/drawing/2014/main" id="{A041C64F-A790-3D57-EAED-3E8B30EFF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5213d0914_1_0:notes">
            <a:extLst>
              <a:ext uri="{FF2B5EF4-FFF2-40B4-BE49-F238E27FC236}">
                <a16:creationId xmlns:a16="http://schemas.microsoft.com/office/drawing/2014/main" id="{D44E724F-1614-F92F-D6DC-BD0DA4568D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e5213d0914_1_0:notes">
            <a:extLst>
              <a:ext uri="{FF2B5EF4-FFF2-40B4-BE49-F238E27FC236}">
                <a16:creationId xmlns:a16="http://schemas.microsoft.com/office/drawing/2014/main" id="{2E73E634-DA0F-ED22-42BB-B605B2D89E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611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5726E3EE-4593-1BCA-2BC3-2B15BE3C5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>
            <a:extLst>
              <a:ext uri="{FF2B5EF4-FFF2-40B4-BE49-F238E27FC236}">
                <a16:creationId xmlns:a16="http://schemas.microsoft.com/office/drawing/2014/main" id="{5375776C-1106-072B-F0FA-B8CEF79708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5213d0914_1_0:notes">
            <a:extLst>
              <a:ext uri="{FF2B5EF4-FFF2-40B4-BE49-F238E27FC236}">
                <a16:creationId xmlns:a16="http://schemas.microsoft.com/office/drawing/2014/main" id="{EE6CE498-EAF9-8A4F-F683-A219DEB5D9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e5213d0914_1_0:notes">
            <a:extLst>
              <a:ext uri="{FF2B5EF4-FFF2-40B4-BE49-F238E27FC236}">
                <a16:creationId xmlns:a16="http://schemas.microsoft.com/office/drawing/2014/main" id="{EFFA7884-69FE-3A94-3B0A-56F3C683E0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90050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5F3EA0AB-D065-3D19-3991-879B6D65A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>
            <a:extLst>
              <a:ext uri="{FF2B5EF4-FFF2-40B4-BE49-F238E27FC236}">
                <a16:creationId xmlns:a16="http://schemas.microsoft.com/office/drawing/2014/main" id="{25CE9D14-1E65-8F07-073E-AAD626A502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5213d0914_1_0:notes">
            <a:extLst>
              <a:ext uri="{FF2B5EF4-FFF2-40B4-BE49-F238E27FC236}">
                <a16:creationId xmlns:a16="http://schemas.microsoft.com/office/drawing/2014/main" id="{15FEA00F-20B4-DD52-EFC7-911B46FB41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e5213d0914_1_0:notes">
            <a:extLst>
              <a:ext uri="{FF2B5EF4-FFF2-40B4-BE49-F238E27FC236}">
                <a16:creationId xmlns:a16="http://schemas.microsoft.com/office/drawing/2014/main" id="{C3839A07-20F6-3E38-DA17-0DA72621E2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49508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82900263-B10D-F731-8E84-90C94C8D5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>
            <a:extLst>
              <a:ext uri="{FF2B5EF4-FFF2-40B4-BE49-F238E27FC236}">
                <a16:creationId xmlns:a16="http://schemas.microsoft.com/office/drawing/2014/main" id="{2D796461-5009-CFF4-F4D4-95B78DD4D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5213d0914_1_0:notes">
            <a:extLst>
              <a:ext uri="{FF2B5EF4-FFF2-40B4-BE49-F238E27FC236}">
                <a16:creationId xmlns:a16="http://schemas.microsoft.com/office/drawing/2014/main" id="{B9841DDE-E77F-65AD-AC35-F73C0A3690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e5213d0914_1_0:notes">
            <a:extLst>
              <a:ext uri="{FF2B5EF4-FFF2-40B4-BE49-F238E27FC236}">
                <a16:creationId xmlns:a16="http://schemas.microsoft.com/office/drawing/2014/main" id="{6CB472C2-74F9-0001-92A5-42C7083848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89854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6F10DA1D-FAAC-9E7F-39D2-BA149643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>
            <a:extLst>
              <a:ext uri="{FF2B5EF4-FFF2-40B4-BE49-F238E27FC236}">
                <a16:creationId xmlns:a16="http://schemas.microsoft.com/office/drawing/2014/main" id="{8B4BF9FC-55FD-986E-4D99-360CB9960B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5213d0914_1_0:notes">
            <a:extLst>
              <a:ext uri="{FF2B5EF4-FFF2-40B4-BE49-F238E27FC236}">
                <a16:creationId xmlns:a16="http://schemas.microsoft.com/office/drawing/2014/main" id="{2A1649E8-6409-F353-2FEA-4195DAB4BB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e5213d0914_1_0:notes">
            <a:extLst>
              <a:ext uri="{FF2B5EF4-FFF2-40B4-BE49-F238E27FC236}">
                <a16:creationId xmlns:a16="http://schemas.microsoft.com/office/drawing/2014/main" id="{9E3D8E26-E8EF-FC03-3553-A2615817AF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0671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/>
          <p:nvPr/>
        </p:nvSpPr>
        <p:spPr>
          <a:xfrm>
            <a:off x="3834064" y="0"/>
            <a:ext cx="8386000" cy="6858000"/>
          </a:xfrm>
          <a:prstGeom prst="rect">
            <a:avLst/>
          </a:prstGeom>
          <a:solidFill>
            <a:srgbClr val="E9E9E9"/>
          </a:solidFill>
          <a:ln>
            <a:noFill/>
          </a:ln>
          <a:effectLst>
            <a:outerShdw blurRad="40000" dist="23000" dir="5400000" rotWithShape="0">
              <a:srgbClr val="000000">
                <a:alpha val="32941"/>
              </a:srgbClr>
            </a:outerShdw>
          </a:effectLst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4165600" y="2695073"/>
            <a:ext cx="7812400" cy="1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4165600" y="4319588"/>
            <a:ext cx="4540400" cy="1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2"/>
          </p:nvPr>
        </p:nvSpPr>
        <p:spPr>
          <a:xfrm>
            <a:off x="4165600" y="6303963"/>
            <a:ext cx="7812400" cy="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4134" y="2839400"/>
            <a:ext cx="2480433" cy="13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134" y="2349773"/>
            <a:ext cx="2619359" cy="1969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Layout">
  <p:cSld name="Section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661288" y="4389057"/>
            <a:ext cx="11411200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3733">
                <a:solidFill>
                  <a:srgbClr val="009C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body" idx="1"/>
          </p:nvPr>
        </p:nvSpPr>
        <p:spPr>
          <a:xfrm>
            <a:off x="582992" y="4005943"/>
            <a:ext cx="114132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rgbClr val="575756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sldNum" idx="12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cxnSp>
        <p:nvCxnSpPr>
          <p:cNvPr id="27" name="Google Shape;27;p27"/>
          <p:cNvCxnSpPr/>
          <p:nvPr/>
        </p:nvCxnSpPr>
        <p:spPr>
          <a:xfrm rot="10800000" flipH="1">
            <a:off x="395705" y="6408357"/>
            <a:ext cx="10315200" cy="9600"/>
          </a:xfrm>
          <a:prstGeom prst="straightConnector1">
            <a:avLst/>
          </a:prstGeom>
          <a:noFill/>
          <a:ln w="9525" cap="flat" cmpd="sng">
            <a:solidFill>
              <a:srgbClr val="8D8F9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" name="Google Shape;2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2215" y="5869659"/>
            <a:ext cx="1152389" cy="866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200" b="1" cap="none">
                <a:solidFill>
                  <a:srgbClr val="009C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395705" y="988341"/>
            <a:ext cx="11284400" cy="4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55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2" name="Google Shape;32;p26"/>
          <p:cNvCxnSpPr/>
          <p:nvPr/>
        </p:nvCxnSpPr>
        <p:spPr>
          <a:xfrm rot="10800000" flipH="1">
            <a:off x="395705" y="6408357"/>
            <a:ext cx="10315200" cy="9600"/>
          </a:xfrm>
          <a:prstGeom prst="straightConnector1">
            <a:avLst/>
          </a:prstGeom>
          <a:noFill/>
          <a:ln w="9525" cap="flat" cmpd="sng">
            <a:solidFill>
              <a:srgbClr val="8D8F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26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 cap="none">
                <a:solidFill>
                  <a:srgbClr val="9D9D9C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4" name="Google Shape;3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2215" y="5869659"/>
            <a:ext cx="1152389" cy="866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>
            <a:spLocks noGrp="1"/>
          </p:cNvSpPr>
          <p:nvPr>
            <p:ph type="title"/>
          </p:nvPr>
        </p:nvSpPr>
        <p:spPr>
          <a:xfrm>
            <a:off x="354419" y="226512"/>
            <a:ext cx="11228000" cy="8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200" b="1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body" idx="1"/>
          </p:nvPr>
        </p:nvSpPr>
        <p:spPr>
          <a:xfrm>
            <a:off x="354419" y="1152456"/>
            <a:ext cx="5640000" cy="45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933">
                <a:solidFill>
                  <a:srgbClr val="575756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2286000" lvl="4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body" idx="2"/>
          </p:nvPr>
        </p:nvSpPr>
        <p:spPr>
          <a:xfrm>
            <a:off x="6197600" y="1152456"/>
            <a:ext cx="5384800" cy="45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933">
                <a:solidFill>
                  <a:srgbClr val="575756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2286000" lvl="4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3"/>
          </p:nvPr>
        </p:nvSpPr>
        <p:spPr>
          <a:xfrm>
            <a:off x="354419" y="6475387"/>
            <a:ext cx="63400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 cap="none">
                <a:solidFill>
                  <a:srgbClr val="9D9D9C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0" name="Google Shape;40;p28"/>
          <p:cNvCxnSpPr/>
          <p:nvPr/>
        </p:nvCxnSpPr>
        <p:spPr>
          <a:xfrm rot="10800000" flipH="1">
            <a:off x="395705" y="6408357"/>
            <a:ext cx="10315200" cy="9600"/>
          </a:xfrm>
          <a:prstGeom prst="straightConnector1">
            <a:avLst/>
          </a:prstGeom>
          <a:noFill/>
          <a:ln w="9525" cap="flat" cmpd="sng">
            <a:solidFill>
              <a:srgbClr val="8D8F9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1" name="Google Shape;4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2215" y="5869659"/>
            <a:ext cx="1152389" cy="866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374317" y="194428"/>
            <a:ext cx="11411200" cy="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377509" y="1105471"/>
            <a:ext cx="113900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374317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9D9D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9415604" y="6590193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" name="Google Shape;15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61468" y="6179275"/>
            <a:ext cx="1022449" cy="5423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98893931_A_Comparative_Geospatial_Analysis_of_Urban_Growth_Patterns_Across_India's_Different_City_Tiers_for_Citizen-Centered_Governance_and_Sustainability" TargetMode="External"/><Relationship Id="rId3" Type="http://schemas.openxmlformats.org/officeDocument/2006/relationships/image" Target="../media/image11.png"/><Relationship Id="rId7" Type="http://schemas.openxmlformats.org/officeDocument/2006/relationships/hyperlink" Target="https://prana.cpcb.gov.in/#/hom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colliers.com/en-in/news/press-release-india-real-estate-2026-outlook" TargetMode="External"/><Relationship Id="rId5" Type="http://schemas.openxmlformats.org/officeDocument/2006/relationships/hyperlink" Target="https://www.pib.gov.in/PressReleaseIframePage.aspx?PRID=2034921&amp;reg=3&amp;lang=2#:~:text=Highlighting%20the%20vibrant%20Start%2DUp,2024%20from%20300%20in%202016." TargetMode="External"/><Relationship Id="rId4" Type="http://schemas.openxmlformats.org/officeDocument/2006/relationships/hyperlink" Target="https://www.pib.gov.in/PressReleasePage.aspx?PRID=2147040&amp;reg=3&amp;lang=2" TargetMode="External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4165600" y="2567453"/>
            <a:ext cx="78123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E71"/>
              </a:buClr>
              <a:buSzPts val="3200"/>
              <a:buNone/>
            </a:pPr>
            <a:r>
              <a:rPr lang="en-IN" sz="3466">
                <a:solidFill>
                  <a:srgbClr val="6C6E71"/>
                </a:solidFill>
              </a:rPr>
              <a:t>Efficiency and Bus Fleet Management: Strategic Communications and quantifying GHG and other co-benefits (#BBUS)</a:t>
            </a:r>
            <a:endParaRPr sz="3466">
              <a:solidFill>
                <a:srgbClr val="6C6E7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E71"/>
              </a:buClr>
              <a:buSzPts val="3200"/>
              <a:buNone/>
            </a:pPr>
            <a:r>
              <a:rPr lang="en-IN" sz="2466">
                <a:solidFill>
                  <a:schemeClr val="accent1"/>
                </a:solidFill>
              </a:rPr>
              <a:t>M1 &amp; M3 LR+Model+ Framework+Questionnaire </a:t>
            </a:r>
            <a:endParaRPr sz="2466">
              <a:solidFill>
                <a:schemeClr val="accent1"/>
              </a:solidFill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4165600" y="4774120"/>
            <a:ext cx="4540500" cy="10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endParaRPr sz="1627">
              <a:solidFill>
                <a:srgbClr val="6C6E7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endParaRPr sz="1627">
              <a:solidFill>
                <a:srgbClr val="6C6E7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r>
              <a:rPr lang="en-IN" sz="1627">
                <a:solidFill>
                  <a:srgbClr val="6C6E71"/>
                </a:solidFill>
              </a:rPr>
              <a:t>June  2026</a:t>
            </a:r>
            <a:endParaRPr sz="2000" b="1">
              <a:solidFill>
                <a:schemeClr val="accent1"/>
              </a:solidFill>
            </a:endParaRPr>
          </a:p>
        </p:txBody>
      </p:sp>
      <p:sp>
        <p:nvSpPr>
          <p:cNvPr id="81" name="Google Shape;81;p1"/>
          <p:cNvSpPr txBox="1">
            <a:spLocks noGrp="1"/>
          </p:cNvSpPr>
          <p:nvPr>
            <p:ph type="body" idx="2"/>
          </p:nvPr>
        </p:nvSpPr>
        <p:spPr>
          <a:xfrm>
            <a:off x="4165600" y="6303963"/>
            <a:ext cx="7812400" cy="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IN" sz="1733">
                <a:solidFill>
                  <a:srgbClr val="575756"/>
                </a:solidFill>
              </a:rPr>
              <a:t>© Council on Energy, Environment and Water, 2026</a:t>
            </a:r>
            <a:endParaRPr>
              <a:solidFill>
                <a:srgbClr val="575756"/>
              </a:solidFill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-35733" y="53575"/>
            <a:ext cx="3839600" cy="6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endParaRPr sz="248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3a1f07bbfc6_0_0"/>
          <p:cNvPicPr preferRelativeResize="0"/>
          <p:nvPr/>
        </p:nvPicPr>
        <p:blipFill rotWithShape="1">
          <a:blip r:embed="rId3">
            <a:alphaModFix/>
          </a:blip>
          <a:srcRect l="33709" r="55109" b="84114"/>
          <a:stretch/>
        </p:blipFill>
        <p:spPr>
          <a:xfrm>
            <a:off x="338550" y="1344986"/>
            <a:ext cx="400855" cy="30206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a1f07bbfc6_0_0"/>
          <p:cNvSpPr txBox="1">
            <a:spLocks noGrp="1"/>
          </p:cNvSpPr>
          <p:nvPr>
            <p:ph type="title"/>
          </p:nvPr>
        </p:nvSpPr>
        <p:spPr>
          <a:xfrm>
            <a:off x="362842" y="342882"/>
            <a:ext cx="11411100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 sz="2200"/>
              <a:t>Impacting sustainable development at scale with </a:t>
            </a:r>
            <a:r>
              <a:rPr lang="en-IN" sz="2200" u="sng"/>
              <a:t>data</a:t>
            </a:r>
            <a:r>
              <a:rPr lang="en-IN" sz="2200"/>
              <a:t>, </a:t>
            </a:r>
            <a:r>
              <a:rPr lang="en-IN" sz="2200" u="sng"/>
              <a:t>integrated analysis</a:t>
            </a:r>
            <a:r>
              <a:rPr lang="en-IN" sz="2200"/>
              <a:t>, and </a:t>
            </a:r>
            <a:r>
              <a:rPr lang="en-IN" sz="2200" u="sng"/>
              <a:t>strategic outreach</a:t>
            </a:r>
            <a:endParaRPr sz="2200" u="sng"/>
          </a:p>
        </p:txBody>
      </p:sp>
      <p:sp>
        <p:nvSpPr>
          <p:cNvPr id="89" name="Google Shape;89;g3a1f07bbfc6_0_0"/>
          <p:cNvSpPr/>
          <p:nvPr/>
        </p:nvSpPr>
        <p:spPr>
          <a:xfrm>
            <a:off x="5248125" y="5794458"/>
            <a:ext cx="1790100" cy="3831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Emerging Economies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a1f07bbfc6_0_0"/>
          <p:cNvSpPr/>
          <p:nvPr/>
        </p:nvSpPr>
        <p:spPr>
          <a:xfrm>
            <a:off x="310088" y="5790904"/>
            <a:ext cx="2568000" cy="3840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CEEW Green Finance Centre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1f07bbfc6_0_0"/>
          <p:cNvSpPr/>
          <p:nvPr/>
        </p:nvSpPr>
        <p:spPr>
          <a:xfrm>
            <a:off x="7314991" y="5788600"/>
            <a:ext cx="1389000" cy="3840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UP State Office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g3a1f07bbfc6_0_0"/>
          <p:cNvCxnSpPr/>
          <p:nvPr/>
        </p:nvCxnSpPr>
        <p:spPr>
          <a:xfrm>
            <a:off x="9078215" y="1190790"/>
            <a:ext cx="0" cy="4981800"/>
          </a:xfrm>
          <a:prstGeom prst="straightConnector1">
            <a:avLst/>
          </a:prstGeom>
          <a:noFill/>
          <a:ln w="12700" cap="flat" cmpd="sng">
            <a:solidFill>
              <a:srgbClr val="009C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3" name="Google Shape;93;g3a1f07bbfc6_0_0"/>
          <p:cNvGrpSpPr/>
          <p:nvPr/>
        </p:nvGrpSpPr>
        <p:grpSpPr>
          <a:xfrm>
            <a:off x="310605" y="1262056"/>
            <a:ext cx="2461419" cy="2995124"/>
            <a:chOff x="310621" y="1400956"/>
            <a:chExt cx="2715000" cy="2995124"/>
          </a:xfrm>
        </p:grpSpPr>
        <p:cxnSp>
          <p:nvCxnSpPr>
            <p:cNvPr id="94" name="Google Shape;94;g3a1f07bbfc6_0_0"/>
            <p:cNvCxnSpPr/>
            <p:nvPr/>
          </p:nvCxnSpPr>
          <p:spPr>
            <a:xfrm>
              <a:off x="725127" y="1736439"/>
              <a:ext cx="16476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</p:spPr>
        </p:cxnSp>
        <p:sp>
          <p:nvSpPr>
            <p:cNvPr id="95" name="Google Shape;95;g3a1f07bbfc6_0_0"/>
            <p:cNvSpPr/>
            <p:nvPr/>
          </p:nvSpPr>
          <p:spPr>
            <a:xfrm>
              <a:off x="310621" y="2385771"/>
              <a:ext cx="2705100" cy="4026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Energy Transitions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1f07bbfc6_0_0"/>
            <p:cNvSpPr/>
            <p:nvPr/>
          </p:nvSpPr>
          <p:spPr>
            <a:xfrm>
              <a:off x="310621" y="3459108"/>
              <a:ext cx="2705100" cy="4017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Industrial Sustainability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1f07bbfc6_0_0"/>
            <p:cNvSpPr/>
            <p:nvPr/>
          </p:nvSpPr>
          <p:spPr>
            <a:xfrm>
              <a:off x="310621" y="3994980"/>
              <a:ext cx="2705100" cy="4011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Livelihoods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3a1f07bbfc6_0_0"/>
            <p:cNvSpPr/>
            <p:nvPr/>
          </p:nvSpPr>
          <p:spPr>
            <a:xfrm>
              <a:off x="310621" y="1849103"/>
              <a:ext cx="2705100" cy="4026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Low-carbon Economy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1f07bbfc6_0_0"/>
            <p:cNvSpPr/>
            <p:nvPr/>
          </p:nvSpPr>
          <p:spPr>
            <a:xfrm>
              <a:off x="310621" y="2922439"/>
              <a:ext cx="2715000" cy="4026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Power Markets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1f07bbfc6_0_0"/>
            <p:cNvSpPr/>
            <p:nvPr/>
          </p:nvSpPr>
          <p:spPr>
            <a:xfrm>
              <a:off x="562056" y="1400956"/>
              <a:ext cx="1930800" cy="4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1" i="1" u="none" strike="noStrike" cap="none">
                  <a:solidFill>
                    <a:srgbClr val="F16223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IN" sz="1300" b="1" i="1" u="none" strike="noStrike" cap="none">
                  <a:solidFill>
                    <a:srgbClr val="F16223"/>
                  </a:solidFill>
                  <a:latin typeface="Calibri"/>
                  <a:ea typeface="Calibri"/>
                  <a:cs typeface="Calibri"/>
                  <a:sym typeface="Calibri"/>
                </a:rPr>
                <a:t>RANSFORMATIONS</a:t>
              </a:r>
              <a:endParaRPr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g3a1f07bbfc6_0_0"/>
          <p:cNvGrpSpPr/>
          <p:nvPr/>
        </p:nvGrpSpPr>
        <p:grpSpPr>
          <a:xfrm>
            <a:off x="3436062" y="1259620"/>
            <a:ext cx="2452444" cy="2997614"/>
            <a:chOff x="3305715" y="1398520"/>
            <a:chExt cx="2705100" cy="2997614"/>
          </a:xfrm>
        </p:grpSpPr>
        <p:sp>
          <p:nvSpPr>
            <p:cNvPr id="102" name="Google Shape;102;g3a1f07bbfc6_0_0"/>
            <p:cNvSpPr/>
            <p:nvPr/>
          </p:nvSpPr>
          <p:spPr>
            <a:xfrm>
              <a:off x="3385658" y="1398520"/>
              <a:ext cx="1995300" cy="4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1" i="1" u="none" strike="noStrike" cap="none">
                  <a:solidFill>
                    <a:srgbClr val="86BB3F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lang="en-IN" sz="1300" b="1" i="1" u="none" strike="noStrike" cap="none">
                  <a:solidFill>
                    <a:srgbClr val="86BB3F"/>
                  </a:solidFill>
                  <a:latin typeface="Calibri"/>
                  <a:ea typeface="Calibri"/>
                  <a:cs typeface="Calibri"/>
                  <a:sym typeface="Calibri"/>
                </a:rPr>
                <a:t>UALITY OF LIFE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3" name="Google Shape;103;g3a1f07bbfc6_0_0"/>
            <p:cNvCxnSpPr/>
            <p:nvPr/>
          </p:nvCxnSpPr>
          <p:spPr>
            <a:xfrm>
              <a:off x="3716954" y="1739306"/>
              <a:ext cx="13482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3"/>
              </a:solidFill>
              <a:prstDash val="lgDash"/>
              <a:round/>
              <a:headEnd type="none" w="sm" len="sm"/>
              <a:tailEnd type="none" w="sm" len="sm"/>
            </a:ln>
          </p:spPr>
        </p:cxnSp>
        <p:sp>
          <p:nvSpPr>
            <p:cNvPr id="104" name="Google Shape;104;g3a1f07bbfc6_0_0"/>
            <p:cNvSpPr/>
            <p:nvPr/>
          </p:nvSpPr>
          <p:spPr>
            <a:xfrm>
              <a:off x="3305715" y="1849103"/>
              <a:ext cx="2705100" cy="38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Clean Air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1f07bbfc6_0_0"/>
            <p:cNvSpPr/>
            <p:nvPr/>
          </p:nvSpPr>
          <p:spPr>
            <a:xfrm>
              <a:off x="3305715" y="4008234"/>
              <a:ext cx="2705100" cy="3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Mobility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1f07bbfc6_0_0"/>
            <p:cNvSpPr/>
            <p:nvPr/>
          </p:nvSpPr>
          <p:spPr>
            <a:xfrm>
              <a:off x="3305715" y="2374716"/>
              <a:ext cx="2705100" cy="4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Water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1f07bbfc6_0_0"/>
            <p:cNvSpPr/>
            <p:nvPr/>
          </p:nvSpPr>
          <p:spPr>
            <a:xfrm>
              <a:off x="3305715" y="2922772"/>
              <a:ext cx="2705100" cy="3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Food Systems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a1f07bbfc6_0_0"/>
            <p:cNvSpPr/>
            <p:nvPr/>
          </p:nvSpPr>
          <p:spPr>
            <a:xfrm>
              <a:off x="3305715" y="3465504"/>
              <a:ext cx="2705100" cy="3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Cooling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9" name="Google Shape;109;g3a1f07bbfc6_0_0"/>
          <p:cNvCxnSpPr/>
          <p:nvPr/>
        </p:nvCxnSpPr>
        <p:spPr>
          <a:xfrm>
            <a:off x="288414" y="5546523"/>
            <a:ext cx="8440800" cy="2640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110" name="Google Shape;110;g3a1f07bbfc6_0_0"/>
          <p:cNvSpPr/>
          <p:nvPr/>
        </p:nvSpPr>
        <p:spPr>
          <a:xfrm>
            <a:off x="3849191" y="5356172"/>
            <a:ext cx="1790100" cy="40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1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IN" sz="1300" b="1" i="1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PECIAL INITIATIVES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a1f07bbfc6_0_0"/>
          <p:cNvSpPr/>
          <p:nvPr/>
        </p:nvSpPr>
        <p:spPr>
          <a:xfrm>
            <a:off x="3184396" y="5801264"/>
            <a:ext cx="1790100" cy="3831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Powering Livelihoods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g3a1f07bbfc6_0_0"/>
          <p:cNvGrpSpPr/>
          <p:nvPr/>
        </p:nvGrpSpPr>
        <p:grpSpPr>
          <a:xfrm>
            <a:off x="6508076" y="1258498"/>
            <a:ext cx="2433297" cy="2982753"/>
            <a:chOff x="6508076" y="1258498"/>
            <a:chExt cx="2433297" cy="2982753"/>
          </a:xfrm>
        </p:grpSpPr>
        <p:grpSp>
          <p:nvGrpSpPr>
            <p:cNvPr id="113" name="Google Shape;113;g3a1f07bbfc6_0_0"/>
            <p:cNvGrpSpPr/>
            <p:nvPr/>
          </p:nvGrpSpPr>
          <p:grpSpPr>
            <a:xfrm>
              <a:off x="6508076" y="1258498"/>
              <a:ext cx="2432862" cy="2443299"/>
              <a:chOff x="6529905" y="1397398"/>
              <a:chExt cx="2683501" cy="2443299"/>
            </a:xfrm>
          </p:grpSpPr>
          <p:cxnSp>
            <p:nvCxnSpPr>
              <p:cNvPr id="114" name="Google Shape;114;g3a1f07bbfc6_0_0"/>
              <p:cNvCxnSpPr/>
              <p:nvPr/>
            </p:nvCxnSpPr>
            <p:spPr>
              <a:xfrm>
                <a:off x="6940213" y="1741860"/>
                <a:ext cx="8733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1"/>
                </a:solidFill>
                <a:prstDash val="lgDash"/>
                <a:round/>
                <a:headEnd type="none" w="sm" len="sm"/>
                <a:tailEnd type="none" w="sm" len="sm"/>
              </a:ln>
            </p:spPr>
          </p:cxnSp>
          <p:sp>
            <p:nvSpPr>
              <p:cNvPr id="115" name="Google Shape;115;g3a1f07bbfc6_0_0"/>
              <p:cNvSpPr/>
              <p:nvPr/>
            </p:nvSpPr>
            <p:spPr>
              <a:xfrm>
                <a:off x="6529905" y="3448297"/>
                <a:ext cx="2683500" cy="3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IN" sz="1400" b="1" i="0" u="none" strike="noStrike" cap="non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Climate Resilience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g3a1f07bbfc6_0_0"/>
              <p:cNvSpPr/>
              <p:nvPr/>
            </p:nvSpPr>
            <p:spPr>
              <a:xfrm>
                <a:off x="6529906" y="1866103"/>
                <a:ext cx="2683500" cy="36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IN" sz="1400" b="1" i="0" u="none" strike="noStrike" cap="non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Sustainable Finance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g3a1f07bbfc6_0_0"/>
              <p:cNvSpPr/>
              <p:nvPr/>
            </p:nvSpPr>
            <p:spPr>
              <a:xfrm>
                <a:off x="6529905" y="2374594"/>
                <a:ext cx="2683500" cy="39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IN" sz="1400" b="1" i="0" u="none" strike="noStrike" cap="non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Technology Futures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g3a1f07bbfc6_0_0"/>
              <p:cNvSpPr/>
              <p:nvPr/>
            </p:nvSpPr>
            <p:spPr>
              <a:xfrm>
                <a:off x="6529905" y="2918074"/>
                <a:ext cx="2683500" cy="38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IN" sz="1400" b="1" i="0" u="none" strike="noStrike" cap="non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Circular Economy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g3a1f07bbfc6_0_0"/>
              <p:cNvSpPr/>
              <p:nvPr/>
            </p:nvSpPr>
            <p:spPr>
              <a:xfrm>
                <a:off x="6800539" y="1397398"/>
                <a:ext cx="1078200" cy="40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IN" sz="1600" b="1" i="1" u="none" strike="noStrike" cap="none">
                    <a:solidFill>
                      <a:srgbClr val="009E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IN" sz="1300" b="1" i="1" u="none" strike="noStrike" cap="none">
                    <a:solidFill>
                      <a:srgbClr val="009E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NABLERS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" name="Google Shape;120;g3a1f07bbfc6_0_0"/>
            <p:cNvSpPr/>
            <p:nvPr/>
          </p:nvSpPr>
          <p:spPr>
            <a:xfrm>
              <a:off x="6508373" y="3848851"/>
              <a:ext cx="24330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International Cooperation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g3a1f07bbfc6_0_0"/>
          <p:cNvGrpSpPr/>
          <p:nvPr/>
        </p:nvGrpSpPr>
        <p:grpSpPr>
          <a:xfrm>
            <a:off x="6595372" y="2019295"/>
            <a:ext cx="429325" cy="2143136"/>
            <a:chOff x="6296456" y="2056960"/>
            <a:chExt cx="2444906" cy="2143136"/>
          </a:xfrm>
        </p:grpSpPr>
        <p:cxnSp>
          <p:nvCxnSpPr>
            <p:cNvPr id="122" name="Google Shape;122;g3a1f07bbfc6_0_0"/>
            <p:cNvCxnSpPr/>
            <p:nvPr/>
          </p:nvCxnSpPr>
          <p:spPr>
            <a:xfrm>
              <a:off x="6308355" y="2056960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g3a1f07bbfc6_0_0"/>
            <p:cNvCxnSpPr/>
            <p:nvPr/>
          </p:nvCxnSpPr>
          <p:spPr>
            <a:xfrm>
              <a:off x="6308362" y="259988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g3a1f07bbfc6_0_0"/>
            <p:cNvCxnSpPr/>
            <p:nvPr/>
          </p:nvCxnSpPr>
          <p:spPr>
            <a:xfrm>
              <a:off x="6308361" y="3126143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" name="Google Shape;125;g3a1f07bbfc6_0_0"/>
            <p:cNvCxnSpPr/>
            <p:nvPr/>
          </p:nvCxnSpPr>
          <p:spPr>
            <a:xfrm>
              <a:off x="6308361" y="3671457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6" name="Google Shape;126;g3a1f07bbfc6_0_0"/>
            <p:cNvCxnSpPr/>
            <p:nvPr/>
          </p:nvCxnSpPr>
          <p:spPr>
            <a:xfrm>
              <a:off x="6296456" y="4200096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7" name="Google Shape;127;g3a1f07bbfc6_0_0"/>
          <p:cNvGrpSpPr/>
          <p:nvPr/>
        </p:nvGrpSpPr>
        <p:grpSpPr>
          <a:xfrm>
            <a:off x="3532460" y="2019295"/>
            <a:ext cx="429326" cy="2162186"/>
            <a:chOff x="6296456" y="2047435"/>
            <a:chExt cx="2444907" cy="2162186"/>
          </a:xfrm>
        </p:grpSpPr>
        <p:cxnSp>
          <p:nvCxnSpPr>
            <p:cNvPr id="128" name="Google Shape;128;g3a1f07bbfc6_0_0"/>
            <p:cNvCxnSpPr/>
            <p:nvPr/>
          </p:nvCxnSpPr>
          <p:spPr>
            <a:xfrm>
              <a:off x="6308357" y="204743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g3a1f07bbfc6_0_0"/>
            <p:cNvCxnSpPr/>
            <p:nvPr/>
          </p:nvCxnSpPr>
          <p:spPr>
            <a:xfrm>
              <a:off x="6308362" y="259988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0" name="Google Shape;130;g3a1f07bbfc6_0_0"/>
            <p:cNvCxnSpPr/>
            <p:nvPr/>
          </p:nvCxnSpPr>
          <p:spPr>
            <a:xfrm>
              <a:off x="6308361" y="3135668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g3a1f07bbfc6_0_0"/>
            <p:cNvCxnSpPr/>
            <p:nvPr/>
          </p:nvCxnSpPr>
          <p:spPr>
            <a:xfrm>
              <a:off x="6308363" y="3680982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2" name="Google Shape;132;g3a1f07bbfc6_0_0"/>
            <p:cNvCxnSpPr/>
            <p:nvPr/>
          </p:nvCxnSpPr>
          <p:spPr>
            <a:xfrm>
              <a:off x="6296456" y="4209621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33" name="Google Shape;133;g3a1f07bbfc6_0_0"/>
          <p:cNvGrpSpPr/>
          <p:nvPr/>
        </p:nvGrpSpPr>
        <p:grpSpPr>
          <a:xfrm>
            <a:off x="430755" y="2019295"/>
            <a:ext cx="429325" cy="2162186"/>
            <a:chOff x="6296456" y="2047435"/>
            <a:chExt cx="2444906" cy="2162186"/>
          </a:xfrm>
        </p:grpSpPr>
        <p:cxnSp>
          <p:nvCxnSpPr>
            <p:cNvPr id="134" name="Google Shape;134;g3a1f07bbfc6_0_0"/>
            <p:cNvCxnSpPr/>
            <p:nvPr/>
          </p:nvCxnSpPr>
          <p:spPr>
            <a:xfrm>
              <a:off x="6308357" y="204743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5" name="Google Shape;135;g3a1f07bbfc6_0_0"/>
            <p:cNvCxnSpPr/>
            <p:nvPr/>
          </p:nvCxnSpPr>
          <p:spPr>
            <a:xfrm>
              <a:off x="6308362" y="259988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6" name="Google Shape;136;g3a1f07bbfc6_0_0"/>
            <p:cNvCxnSpPr/>
            <p:nvPr/>
          </p:nvCxnSpPr>
          <p:spPr>
            <a:xfrm>
              <a:off x="6308361" y="3135668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7" name="Google Shape;137;g3a1f07bbfc6_0_0"/>
            <p:cNvCxnSpPr/>
            <p:nvPr/>
          </p:nvCxnSpPr>
          <p:spPr>
            <a:xfrm>
              <a:off x="6308361" y="3661932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8" name="Google Shape;138;g3a1f07bbfc6_0_0"/>
            <p:cNvCxnSpPr/>
            <p:nvPr/>
          </p:nvCxnSpPr>
          <p:spPr>
            <a:xfrm>
              <a:off x="6296456" y="4209621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39" name="Google Shape;139;g3a1f07bbfc6_0_0"/>
          <p:cNvPicPr preferRelativeResize="0"/>
          <p:nvPr/>
        </p:nvPicPr>
        <p:blipFill rotWithShape="1">
          <a:blip r:embed="rId3">
            <a:alphaModFix/>
          </a:blip>
          <a:srcRect l="86245" b="83573"/>
          <a:stretch/>
        </p:blipFill>
        <p:spPr>
          <a:xfrm>
            <a:off x="6441000" y="1319521"/>
            <a:ext cx="493051" cy="312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a1f07bbfc6_0_0"/>
          <p:cNvPicPr preferRelativeResize="0"/>
          <p:nvPr/>
        </p:nvPicPr>
        <p:blipFill rotWithShape="1">
          <a:blip r:embed="rId3">
            <a:alphaModFix/>
          </a:blip>
          <a:srcRect l="47168" r="39627" b="84432"/>
          <a:stretch/>
        </p:blipFill>
        <p:spPr>
          <a:xfrm>
            <a:off x="3405927" y="1329734"/>
            <a:ext cx="473343" cy="29598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a1f07bbfc6_0_0"/>
          <p:cNvSpPr txBox="1"/>
          <p:nvPr/>
        </p:nvSpPr>
        <p:spPr>
          <a:xfrm>
            <a:off x="9224133" y="1172273"/>
            <a:ext cx="2912400" cy="45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390+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Multidisciplinary team</a:t>
            </a:r>
            <a:endParaRPr sz="1400" b="0" i="0" u="none" strike="noStrike" cap="non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550+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Peer-reviewed publications</a:t>
            </a:r>
            <a:endParaRPr sz="1400" b="0" i="0" u="none" strike="noStrike" cap="non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700+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Convenings </a:t>
            </a:r>
            <a:endParaRPr sz="1400" b="0" i="0" u="none" strike="noStrike" cap="non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400 million+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Lives impacted </a:t>
            </a:r>
            <a:endParaRPr sz="1400" b="0" i="0" u="none" strike="noStrike" cap="non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Union ministries supported</a:t>
            </a:r>
            <a:endParaRPr sz="1200" b="0" i="0" u="none" strike="noStrike" cap="non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20+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State governments supported</a:t>
            </a:r>
            <a:endParaRPr sz="1200" b="0" i="0" u="none" strike="noStrike" cap="non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a1f07bbfc6_0_0"/>
          <p:cNvSpPr txBox="1">
            <a:spLocks noGrp="1"/>
          </p:cNvSpPr>
          <p:nvPr>
            <p:ph type="sldNum" idx="12"/>
          </p:nvPr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/>
          <p:nvPr/>
        </p:nvSpPr>
        <p:spPr>
          <a:xfrm>
            <a:off x="4957482" y="2299411"/>
            <a:ext cx="1783977" cy="1369582"/>
          </a:xfrm>
          <a:prstGeom prst="ellipse">
            <a:avLst/>
          </a:prstGeom>
          <a:solidFill>
            <a:srgbClr val="4ECEFF"/>
          </a:solidFill>
          <a:ln w="25400" cap="flat" cmpd="sng">
            <a:solidFill>
              <a:srgbClr val="007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The project’s key components </a:t>
            </a:r>
            <a:endParaRPr/>
          </a:p>
        </p:txBody>
      </p:sp>
      <p:sp>
        <p:nvSpPr>
          <p:cNvPr id="149" name="Google Shape;149;p3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r>
              <a:rPr lang="en-IN"/>
              <a:t>|</a:t>
            </a:r>
            <a:endParaRPr/>
          </a:p>
        </p:txBody>
      </p:sp>
      <p:sp>
        <p:nvSpPr>
          <p:cNvPr id="150" name="Google Shape;150;p3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2045213" y="1228421"/>
            <a:ext cx="3361766" cy="830997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M1 - Socio-economic co-benefits, especially for women, low-income groups, &amp; vulnerable road users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427694" y="1228421"/>
            <a:ext cx="3361766" cy="83099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M2 - Health and air quality benefits from increased bus usage and reduced reliance on private vehicles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2045213" y="4001721"/>
            <a:ext cx="3361766" cy="830997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M3 - Greenhouse gas (GHG) mitigation potential benefits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bus deployment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427694" y="4001720"/>
            <a:ext cx="3361766" cy="83099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M4 - Resilience &amp; adaptive benefits of robust bus transport on the economy and physical infrastructure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3"/>
          <p:cNvCxnSpPr>
            <a:stCxn id="153" idx="0"/>
            <a:endCxn id="147" idx="2"/>
          </p:cNvCxnSpPr>
          <p:nvPr/>
        </p:nvCxnSpPr>
        <p:spPr>
          <a:xfrm rot="-5400000">
            <a:off x="3833046" y="2877171"/>
            <a:ext cx="1017600" cy="12315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6" name="Google Shape;156;p3"/>
          <p:cNvCxnSpPr>
            <a:stCxn id="151" idx="2"/>
            <a:endCxn id="147" idx="2"/>
          </p:cNvCxnSpPr>
          <p:nvPr/>
        </p:nvCxnSpPr>
        <p:spPr>
          <a:xfrm rot="-5400000" flipH="1">
            <a:off x="3879396" y="1906118"/>
            <a:ext cx="924900" cy="12315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7" name="Google Shape;157;p3"/>
          <p:cNvCxnSpPr>
            <a:stCxn id="152" idx="2"/>
            <a:endCxn id="147" idx="6"/>
          </p:cNvCxnSpPr>
          <p:nvPr/>
        </p:nvCxnSpPr>
        <p:spPr>
          <a:xfrm rot="5400000">
            <a:off x="6962577" y="1838318"/>
            <a:ext cx="924900" cy="13671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8" name="Google Shape;158;p3"/>
          <p:cNvCxnSpPr>
            <a:stCxn id="154" idx="0"/>
            <a:endCxn id="147" idx="6"/>
          </p:cNvCxnSpPr>
          <p:nvPr/>
        </p:nvCxnSpPr>
        <p:spPr>
          <a:xfrm rot="5400000" flipH="1">
            <a:off x="6916227" y="2809370"/>
            <a:ext cx="1017600" cy="13671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9" name="Google Shape;159;p3"/>
          <p:cNvSpPr txBox="1"/>
          <p:nvPr/>
        </p:nvSpPr>
        <p:spPr>
          <a:xfrm>
            <a:off x="4997822" y="2521779"/>
            <a:ext cx="1703295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4-in-1 co-benefits model of bus-based public transport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3"/>
          <p:cNvCxnSpPr>
            <a:stCxn id="147" idx="4"/>
            <a:endCxn id="161" idx="3"/>
          </p:cNvCxnSpPr>
          <p:nvPr/>
        </p:nvCxnSpPr>
        <p:spPr>
          <a:xfrm rot="5400000">
            <a:off x="4415771" y="4210793"/>
            <a:ext cx="1975500" cy="8919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1" name="Google Shape;161;p3"/>
          <p:cNvSpPr/>
          <p:nvPr/>
        </p:nvSpPr>
        <p:spPr>
          <a:xfrm>
            <a:off x="1595716" y="5228893"/>
            <a:ext cx="3361766" cy="830997"/>
          </a:xfrm>
          <a:prstGeom prst="rect">
            <a:avLst/>
          </a:prstGeom>
          <a:solidFill>
            <a:srgbClr val="4ECEFF"/>
          </a:solidFill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Easing access to climate, green funds and other potential avenues for bus and allied infrastructures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6774741" y="5228893"/>
            <a:ext cx="3361766" cy="830997"/>
          </a:xfrm>
          <a:prstGeom prst="rect">
            <a:avLst/>
          </a:prstGeom>
          <a:solidFill>
            <a:srgbClr val="4ECEFF"/>
          </a:solidFill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Build institutional support for bus systems through strategic communication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3"/>
          <p:cNvCxnSpPr>
            <a:stCxn id="147" idx="4"/>
            <a:endCxn id="162" idx="1"/>
          </p:cNvCxnSpPr>
          <p:nvPr/>
        </p:nvCxnSpPr>
        <p:spPr>
          <a:xfrm rot="-5400000" flipH="1">
            <a:off x="5324321" y="4194143"/>
            <a:ext cx="1975500" cy="9252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Criteria for study geography selection</a:t>
            </a:r>
            <a:endParaRPr/>
          </a:p>
        </p:txBody>
      </p:sp>
      <p:sp>
        <p:nvSpPr>
          <p:cNvPr id="169" name="Google Shape;169;p4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170" name="Google Shape;170;p4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4</a:t>
            </a:fld>
            <a:r>
              <a:rPr lang="en-IN"/>
              <a:t>|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1218775" y="988525"/>
            <a:ext cx="5072700" cy="49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Population: Below 10 lakh</a:t>
            </a:r>
            <a:r>
              <a:rPr lang="en-IN" sz="15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- Medium, 10 to 40 lakh - Large, 40 lakh to 1 Crore - Metro, 1 Crore and above - Mega </a:t>
            </a:r>
            <a:endParaRPr sz="15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lang="en-IN" sz="15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IN" sz="15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5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Socio economic status (annual per capita income): </a:t>
            </a:r>
            <a:r>
              <a:rPr lang="en-IN" sz="16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Below INR 95000 - Low income, INR 95000 to 370000 - Lower middle income, Above INR 370000 - Upper middle income</a:t>
            </a:r>
            <a:r>
              <a:rPr lang="en-IN" sz="15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lang="en-IN" sz="15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IN" sz="15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5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Extent of PT supply(Buses per lakh population): </a:t>
            </a:r>
            <a:r>
              <a:rPr lang="en-IN" sz="16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Above 60 - LOS 1, 40 to 60 - LOS 2, 20 to 40 - LOS 3, Below 20 - LOS 4</a:t>
            </a:r>
            <a:endParaRPr sz="1600" b="1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Annual PM2.5 levels: </a:t>
            </a:r>
            <a:r>
              <a:rPr lang="en-IN" sz="16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Below 40 μg/m3 - Compliant, Above 40 μg/m3 - Non-compliant </a:t>
            </a:r>
            <a:br>
              <a:rPr lang="en-IN" sz="16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Climate vulnerability </a:t>
            </a:r>
            <a:r>
              <a:rPr lang="en-IN" sz="16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(exposure to events - floods, droughts, cyclones): [High(0.41-1), Medium(0.21-0.40), Low(0.00-0.20)]</a:t>
            </a:r>
            <a:endParaRPr sz="1600" b="1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4" title="grou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516" y="988525"/>
            <a:ext cx="714426" cy="7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4" title="money-exchan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516" y="2014850"/>
            <a:ext cx="714426" cy="7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" title="bu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518" y="3071797"/>
            <a:ext cx="714426" cy="7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4" title="air-pollution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9568" y="4050184"/>
            <a:ext cx="864325" cy="86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4"/>
          <p:cNvPicPr preferRelativeResize="0"/>
          <p:nvPr/>
        </p:nvPicPr>
        <p:blipFill rotWithShape="1">
          <a:blip r:embed="rId7">
            <a:alphaModFix/>
          </a:blip>
          <a:srcRect l="12807" r="13507"/>
          <a:stretch/>
        </p:blipFill>
        <p:spPr>
          <a:xfrm>
            <a:off x="6442093" y="1170333"/>
            <a:ext cx="5404649" cy="41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 title="climate-chan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3825" y="5009250"/>
            <a:ext cx="864325" cy="86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5213d0914_0_30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Geographies in focus</a:t>
            </a:r>
            <a:endParaRPr/>
          </a:p>
        </p:txBody>
      </p:sp>
      <p:sp>
        <p:nvSpPr>
          <p:cNvPr id="183" name="Google Shape;183;g3e5213d0914_0_30"/>
          <p:cNvSpPr txBox="1">
            <a:spLocks noGrp="1"/>
          </p:cNvSpPr>
          <p:nvPr>
            <p:ph type="body" idx="1"/>
          </p:nvPr>
        </p:nvSpPr>
        <p:spPr>
          <a:xfrm>
            <a:off x="395700" y="901250"/>
            <a:ext cx="5293200" cy="48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5079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1600" b="1"/>
              <a:t>Group A: Cities with bus systems</a:t>
            </a:r>
            <a:endParaRPr/>
          </a:p>
          <a:p>
            <a:pPr marL="5079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600" b="1"/>
          </a:p>
          <a:p>
            <a:pPr marL="457189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IN" sz="1600" b="1">
                <a:solidFill>
                  <a:schemeClr val="accent1"/>
                </a:solidFill>
              </a:rPr>
              <a:t>Bengaluru: A megacity in South India featuring </a:t>
            </a:r>
            <a:endParaRPr b="1">
              <a:solidFill>
                <a:schemeClr val="accent1"/>
              </a:solidFill>
            </a:endParaRP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 well-maintained fleet and a broad user spectrum. </a:t>
            </a:r>
            <a:endParaRPr/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An essential site for studying transit-oriented resilience amid escalating climate vulnerabilities, such as seasonal flooding and urban heat.</a:t>
            </a:r>
            <a:endParaRPr/>
          </a:p>
          <a:p>
            <a:pPr marL="507999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400"/>
          </a:p>
          <a:p>
            <a:pPr marL="457189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IN" sz="1600" b="1">
                <a:solidFill>
                  <a:schemeClr val="accent1"/>
                </a:solidFill>
              </a:rPr>
              <a:t>Jaipur: One of the fastest-growing cities in Northern India with</a:t>
            </a:r>
            <a:endParaRPr b="1">
              <a:solidFill>
                <a:schemeClr val="accent1"/>
              </a:solidFill>
            </a:endParaRP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 fleet of buses operational for more than 10 years, and new bus inductions scheduled in the coming year. </a:t>
            </a:r>
            <a:endParaRPr/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 heavy tourist population mix in its service coverage. </a:t>
            </a:r>
            <a:endParaRPr/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Heavy air pollution during the winter season.</a:t>
            </a:r>
            <a:endParaRPr/>
          </a:p>
          <a:p>
            <a:pPr marL="507999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400"/>
          </a:p>
          <a:p>
            <a:pPr marL="457189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IN" sz="1600" b="1">
                <a:solidFill>
                  <a:schemeClr val="accent1"/>
                </a:solidFill>
              </a:rPr>
              <a:t>Bhubaneswar: An emerging city in eastern India with </a:t>
            </a:r>
            <a:endParaRPr b="1">
              <a:solidFill>
                <a:schemeClr val="accent1"/>
              </a:solidFill>
            </a:endParaRP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 modern, award-winning, tech-enabled, inclusive transit system.</a:t>
            </a:r>
            <a:endParaRPr/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High climate vulnerability, especially heavy rains and cyclones.</a:t>
            </a:r>
            <a:endParaRPr sz="1400"/>
          </a:p>
        </p:txBody>
      </p:sp>
      <p:sp>
        <p:nvSpPr>
          <p:cNvPr id="184" name="Google Shape;184;g3e5213d0914_0_30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185" name="Google Shape;185;g3e5213d0914_0_30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5</a:t>
            </a:fld>
            <a:r>
              <a:rPr lang="en-IN"/>
              <a:t>|</a:t>
            </a:r>
            <a:endParaRPr/>
          </a:p>
        </p:txBody>
      </p:sp>
      <p:pic>
        <p:nvPicPr>
          <p:cNvPr id="186" name="Google Shape;186;g3e5213d0914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4258" y="1697006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e5213d0914_0_30"/>
          <p:cNvSpPr txBox="1"/>
          <p:nvPr/>
        </p:nvSpPr>
        <p:spPr>
          <a:xfrm>
            <a:off x="6947300" y="1829637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6500-7000 buses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e5213d0914_0_30"/>
          <p:cNvSpPr txBox="1"/>
          <p:nvPr/>
        </p:nvSpPr>
        <p:spPr>
          <a:xfrm>
            <a:off x="9502135" y="1829637"/>
            <a:ext cx="173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 million </a:t>
            </a:r>
            <a:r>
              <a:rPr lang="en-IN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3e5213d0914_0_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29094" y="1697006"/>
            <a:ext cx="573041" cy="573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g3e5213d0914_0_30"/>
          <p:cNvCxnSpPr/>
          <p:nvPr/>
        </p:nvCxnSpPr>
        <p:spPr>
          <a:xfrm>
            <a:off x="477325" y="2717874"/>
            <a:ext cx="1109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91" name="Google Shape;191;g3e5213d0914_0_30"/>
          <p:cNvCxnSpPr/>
          <p:nvPr/>
        </p:nvCxnSpPr>
        <p:spPr>
          <a:xfrm>
            <a:off x="434895" y="4380203"/>
            <a:ext cx="1109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92" name="Google Shape;192;g3e5213d0914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9258" y="3262518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e5213d0914_0_30"/>
          <p:cNvSpPr txBox="1"/>
          <p:nvPr/>
        </p:nvSpPr>
        <p:spPr>
          <a:xfrm>
            <a:off x="7002300" y="3179599"/>
            <a:ext cx="153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300-400 buses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(+450 in coming years)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e5213d0914_0_30"/>
          <p:cNvSpPr txBox="1"/>
          <p:nvPr/>
        </p:nvSpPr>
        <p:spPr>
          <a:xfrm>
            <a:off x="9557124" y="3395150"/>
            <a:ext cx="186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4.5 million </a:t>
            </a:r>
            <a:r>
              <a:rPr lang="en-IN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g3e5213d0914_0_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84094" y="3262518"/>
            <a:ext cx="573041" cy="573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e5213d0914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9258" y="4732881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e5213d0914_0_30"/>
          <p:cNvSpPr txBox="1"/>
          <p:nvPr/>
        </p:nvSpPr>
        <p:spPr>
          <a:xfrm>
            <a:off x="7002300" y="4865512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500+ buses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e5213d0914_0_30"/>
          <p:cNvSpPr txBox="1"/>
          <p:nvPr/>
        </p:nvSpPr>
        <p:spPr>
          <a:xfrm>
            <a:off x="9557124" y="4865500"/>
            <a:ext cx="186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1.4 million </a:t>
            </a:r>
            <a:r>
              <a:rPr lang="en-IN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3e5213d0914_0_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84094" y="4732881"/>
            <a:ext cx="573041" cy="573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cffd729c0_3_0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Geographies in focus</a:t>
            </a:r>
            <a:endParaRPr/>
          </a:p>
        </p:txBody>
      </p:sp>
      <p:sp>
        <p:nvSpPr>
          <p:cNvPr id="205" name="Google Shape;205;g3ecffd729c0_3_0"/>
          <p:cNvSpPr txBox="1">
            <a:spLocks noGrp="1"/>
          </p:cNvSpPr>
          <p:nvPr>
            <p:ph type="body" idx="1"/>
          </p:nvPr>
        </p:nvSpPr>
        <p:spPr>
          <a:xfrm>
            <a:off x="395700" y="901250"/>
            <a:ext cx="5293200" cy="48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5079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1600" b="1"/>
              <a:t>Group B: Cities with soon to be operational bus systems</a:t>
            </a:r>
            <a:endParaRPr/>
          </a:p>
          <a:p>
            <a:pPr marL="5079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600" b="1"/>
          </a:p>
          <a:p>
            <a:pPr marL="457189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IN" sz="1600" b="1">
                <a:solidFill>
                  <a:schemeClr val="accent1"/>
                </a:solidFill>
              </a:rPr>
              <a:t>Jodhpur: An emerging city in North India </a:t>
            </a:r>
            <a:endParaRPr b="1">
              <a:solidFill>
                <a:schemeClr val="accent1"/>
              </a:solidFill>
            </a:endParaRP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First time adopter of electric buses</a:t>
            </a:r>
            <a:endParaRPr/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An essential site for studying transit-oriented resilience amid escalating climate vulnerabilities, such as seasonal flooding and urban heat.</a:t>
            </a:r>
            <a:endParaRPr/>
          </a:p>
          <a:p>
            <a:pPr marL="507999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400"/>
          </a:p>
          <a:p>
            <a:pPr marL="457189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IN" sz="1600" b="1">
                <a:solidFill>
                  <a:schemeClr val="accent1"/>
                </a:solidFill>
              </a:rPr>
              <a:t>Puducherry: One</a:t>
            </a:r>
            <a:endParaRPr b="1">
              <a:solidFill>
                <a:schemeClr val="accent1"/>
              </a:solidFill>
            </a:endParaRP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 fleet of </a:t>
            </a:r>
            <a:endParaRPr/>
          </a:p>
          <a:p>
            <a:pPr marL="507999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accent1"/>
              </a:solidFill>
            </a:endParaRPr>
          </a:p>
          <a:p>
            <a:pPr marL="457189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IN" sz="1600" b="1">
                <a:solidFill>
                  <a:schemeClr val="accent1"/>
                </a:solidFill>
              </a:rPr>
              <a:t>Gandhinagar: </a:t>
            </a:r>
            <a:endParaRPr b="1">
              <a:solidFill>
                <a:schemeClr val="accent1"/>
              </a:solidFill>
            </a:endParaRPr>
          </a:p>
          <a:p>
            <a:pPr marL="914389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 </a:t>
            </a:r>
            <a:endParaRPr sz="1400"/>
          </a:p>
        </p:txBody>
      </p:sp>
      <p:sp>
        <p:nvSpPr>
          <p:cNvPr id="206" name="Google Shape;206;g3ecffd729c0_3_0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207" name="Google Shape;207;g3ecffd729c0_3_0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6</a:t>
            </a:fld>
            <a:r>
              <a:rPr lang="en-IN"/>
              <a:t>|</a:t>
            </a:r>
            <a:endParaRPr/>
          </a:p>
        </p:txBody>
      </p:sp>
      <p:pic>
        <p:nvPicPr>
          <p:cNvPr id="208" name="Google Shape;208;g3ecffd729c0_3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4258" y="1697006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ecffd729c0_3_0"/>
          <p:cNvSpPr txBox="1"/>
          <p:nvPr/>
        </p:nvSpPr>
        <p:spPr>
          <a:xfrm>
            <a:off x="6947300" y="1829637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100 e-buses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ecffd729c0_3_0"/>
          <p:cNvSpPr txBox="1"/>
          <p:nvPr/>
        </p:nvSpPr>
        <p:spPr>
          <a:xfrm>
            <a:off x="9502124" y="1829625"/>
            <a:ext cx="181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1.2 million </a:t>
            </a:r>
            <a:r>
              <a:rPr lang="en-IN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g3ecffd729c0_3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29094" y="1697006"/>
            <a:ext cx="573041" cy="573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g3ecffd729c0_3_0"/>
          <p:cNvCxnSpPr/>
          <p:nvPr/>
        </p:nvCxnSpPr>
        <p:spPr>
          <a:xfrm>
            <a:off x="477325" y="2717874"/>
            <a:ext cx="1109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3" name="Google Shape;213;g3ecffd729c0_3_0"/>
          <p:cNvCxnSpPr/>
          <p:nvPr/>
        </p:nvCxnSpPr>
        <p:spPr>
          <a:xfrm>
            <a:off x="434895" y="4380203"/>
            <a:ext cx="1109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214" name="Google Shape;214;g3ecffd729c0_3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9258" y="3262518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ecffd729c0_3_0"/>
          <p:cNvSpPr txBox="1"/>
          <p:nvPr/>
        </p:nvSpPr>
        <p:spPr>
          <a:xfrm>
            <a:off x="7002300" y="3395149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75 e-buses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ecffd729c0_3_0"/>
          <p:cNvSpPr txBox="1"/>
          <p:nvPr/>
        </p:nvSpPr>
        <p:spPr>
          <a:xfrm>
            <a:off x="9557124" y="3395150"/>
            <a:ext cx="186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0.35</a:t>
            </a: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million </a:t>
            </a:r>
            <a:r>
              <a:rPr lang="en-IN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ecffd729c0_3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84094" y="3262518"/>
            <a:ext cx="573041" cy="573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ecffd729c0_3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9258" y="4732881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ecffd729c0_3_0"/>
          <p:cNvSpPr txBox="1"/>
          <p:nvPr/>
        </p:nvSpPr>
        <p:spPr>
          <a:xfrm>
            <a:off x="7002300" y="4865512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100 e-</a:t>
            </a: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ecffd729c0_3_0"/>
          <p:cNvSpPr txBox="1"/>
          <p:nvPr/>
        </p:nvSpPr>
        <p:spPr>
          <a:xfrm>
            <a:off x="9557124" y="4865500"/>
            <a:ext cx="186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million </a:t>
            </a:r>
            <a:r>
              <a:rPr lang="en-IN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3ecffd729c0_3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84094" y="4732881"/>
            <a:ext cx="573041" cy="573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"/>
          <p:cNvPicPr preferRelativeResize="0"/>
          <p:nvPr/>
        </p:nvPicPr>
        <p:blipFill rotWithShape="1">
          <a:blip r:embed="rId3">
            <a:alphaModFix/>
          </a:blip>
          <a:srcRect l="3219" t="14177" b="10654"/>
          <a:stretch/>
        </p:blipFill>
        <p:spPr>
          <a:xfrm>
            <a:off x="7712170" y="1097577"/>
            <a:ext cx="4244902" cy="466284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 i="1"/>
              <a:t>PM e-Bus Sewa</a:t>
            </a:r>
            <a:r>
              <a:rPr lang="en-IN"/>
              <a:t> scheme is launching public bus transport in 100+ Indian cities</a:t>
            </a:r>
            <a:br>
              <a:rPr lang="en-IN" b="0"/>
            </a:br>
            <a:endParaRPr>
              <a:solidFill>
                <a:schemeClr val="accent1"/>
              </a:solidFill>
            </a:endParaRPr>
          </a:p>
        </p:txBody>
      </p:sp>
      <p:sp>
        <p:nvSpPr>
          <p:cNvPr id="229" name="Google Shape;229;p2"/>
          <p:cNvSpPr txBox="1">
            <a:spLocks noGrp="1"/>
          </p:cNvSpPr>
          <p:nvPr>
            <p:ph type="body" idx="1"/>
          </p:nvPr>
        </p:nvSpPr>
        <p:spPr>
          <a:xfrm>
            <a:off x="338050" y="919368"/>
            <a:ext cx="3495418" cy="1129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IN" sz="1400">
                <a:solidFill>
                  <a:schemeClr val="dk1"/>
                </a:solidFill>
              </a:rPr>
              <a:t>As part of the Government of India’s </a:t>
            </a:r>
            <a:r>
              <a:rPr lang="en-IN" sz="1400" i="1">
                <a:solidFill>
                  <a:schemeClr val="dk1"/>
                </a:solidFill>
              </a:rPr>
              <a:t>PM e-Bus Sewa </a:t>
            </a:r>
            <a:r>
              <a:rPr lang="en-IN" sz="1400">
                <a:solidFill>
                  <a:schemeClr val="dk1"/>
                </a:solidFill>
              </a:rPr>
              <a:t>scheme, </a:t>
            </a:r>
            <a:r>
              <a:rPr lang="en-IN" sz="1400" b="1">
                <a:solidFill>
                  <a:schemeClr val="dk1"/>
                </a:solidFill>
              </a:rPr>
              <a:t>10,000 electric buses will be deployed in 100+ Indian cities</a:t>
            </a:r>
            <a:r>
              <a:rPr lang="en-IN" sz="1400">
                <a:solidFill>
                  <a:schemeClr val="dk1"/>
                </a:solidFill>
              </a:rPr>
              <a:t>. The main criterion for this scheme is a city population between 3 and 40 lakh.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30" name="Google Shape;230;p2"/>
          <p:cNvSpPr txBox="1"/>
          <p:nvPr/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1,2,3. Census 2011; 4. </a:t>
            </a:r>
            <a:r>
              <a:rPr lang="en-IN" u="sng">
                <a:solidFill>
                  <a:schemeClr val="hlink"/>
                </a:solidFill>
                <a:hlinkClick r:id="rId4"/>
              </a:rPr>
              <a:t>PIB 2025</a:t>
            </a:r>
            <a:r>
              <a:rPr lang="en-IN"/>
              <a:t>, 5. </a:t>
            </a:r>
            <a:r>
              <a:rPr lang="en-IN" u="sng">
                <a:solidFill>
                  <a:schemeClr val="hlink"/>
                </a:solidFill>
                <a:hlinkClick r:id="rId5"/>
              </a:rPr>
              <a:t>PIB 2024</a:t>
            </a:r>
            <a:r>
              <a:rPr lang="en-IN"/>
              <a:t>, 6. </a:t>
            </a:r>
            <a:r>
              <a:rPr lang="en-IN" u="sng">
                <a:solidFill>
                  <a:schemeClr val="hlink"/>
                </a:solidFill>
                <a:hlinkClick r:id="rId6"/>
              </a:rPr>
              <a:t>Colliers 2025</a:t>
            </a:r>
            <a:r>
              <a:rPr lang="en-IN"/>
              <a:t>, 7. </a:t>
            </a:r>
            <a:r>
              <a:rPr lang="en-IN" u="sng">
                <a:solidFill>
                  <a:schemeClr val="hlink"/>
                </a:solidFill>
                <a:hlinkClick r:id="rId7"/>
              </a:rPr>
              <a:t>MoEFCC</a:t>
            </a:r>
            <a:r>
              <a:rPr lang="en-IN"/>
              <a:t>; 8. </a:t>
            </a:r>
            <a:r>
              <a:rPr lang="en-IN" u="sng">
                <a:solidFill>
                  <a:schemeClr val="hlink"/>
                </a:solidFill>
                <a:hlinkClick r:id="rId8"/>
              </a:rPr>
              <a:t>Ramanna 2025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UT: Union territory</a:t>
            </a:r>
            <a:endParaRPr/>
          </a:p>
        </p:txBody>
      </p:sp>
      <p:sp>
        <p:nvSpPr>
          <p:cNvPr id="232" name="Google Shape;232;p2"/>
          <p:cNvSpPr txBox="1"/>
          <p:nvPr/>
        </p:nvSpPr>
        <p:spPr>
          <a:xfrm>
            <a:off x="7668124" y="851195"/>
            <a:ext cx="4369135" cy="29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IN" sz="1200" b="0" i="1" u="none" strike="noStrike" cap="non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Figure 1: PM-eBus Sewa covers 117 cities across 26 states &amp; UTs</a:t>
            </a:r>
            <a:endParaRPr sz="1200" b="0" i="1" u="none" strike="noStrike" cap="non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5707" y="2282662"/>
            <a:ext cx="794000" cy="7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"/>
          <p:cNvSpPr txBox="1"/>
          <p:nvPr/>
        </p:nvSpPr>
        <p:spPr>
          <a:xfrm>
            <a:off x="1189701" y="2310330"/>
            <a:ext cx="264377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India has 450+ cities with a population above 1 lakh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 I cities</a:t>
            </a:r>
            <a:r>
              <a:rPr lang="en-IN" sz="14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" name="Google Shape;235;p2"/>
          <p:cNvGrpSpPr/>
          <p:nvPr/>
        </p:nvGrpSpPr>
        <p:grpSpPr>
          <a:xfrm>
            <a:off x="792706" y="3165564"/>
            <a:ext cx="255777" cy="2539978"/>
            <a:chOff x="792706" y="1871330"/>
            <a:chExt cx="255777" cy="1510364"/>
          </a:xfrm>
        </p:grpSpPr>
        <p:cxnSp>
          <p:nvCxnSpPr>
            <p:cNvPr id="236" name="Google Shape;236;p2"/>
            <p:cNvCxnSpPr/>
            <p:nvPr/>
          </p:nvCxnSpPr>
          <p:spPr>
            <a:xfrm>
              <a:off x="792707" y="1871330"/>
              <a:ext cx="0" cy="1510364"/>
            </a:xfrm>
            <a:prstGeom prst="straightConnector1">
              <a:avLst/>
            </a:prstGeom>
            <a:noFill/>
            <a:ln w="9525" cap="flat" cmpd="sng">
              <a:solidFill>
                <a:srgbClr val="009C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7" name="Google Shape;237;p2"/>
            <p:cNvCxnSpPr/>
            <p:nvPr/>
          </p:nvCxnSpPr>
          <p:spPr>
            <a:xfrm>
              <a:off x="792706" y="2199708"/>
              <a:ext cx="249285" cy="0"/>
            </a:xfrm>
            <a:prstGeom prst="straightConnector1">
              <a:avLst/>
            </a:prstGeom>
            <a:noFill/>
            <a:ln w="9525" cap="flat" cmpd="sng">
              <a:solidFill>
                <a:srgbClr val="009C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" name="Google Shape;238;p2"/>
            <p:cNvCxnSpPr/>
            <p:nvPr/>
          </p:nvCxnSpPr>
          <p:spPr>
            <a:xfrm>
              <a:off x="799198" y="2756144"/>
              <a:ext cx="249285" cy="0"/>
            </a:xfrm>
            <a:prstGeom prst="straightConnector1">
              <a:avLst/>
            </a:prstGeom>
            <a:noFill/>
            <a:ln w="9525" cap="flat" cmpd="sng">
              <a:solidFill>
                <a:srgbClr val="009C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2"/>
            <p:cNvCxnSpPr/>
            <p:nvPr/>
          </p:nvCxnSpPr>
          <p:spPr>
            <a:xfrm>
              <a:off x="792706" y="3381694"/>
              <a:ext cx="249285" cy="0"/>
            </a:xfrm>
            <a:prstGeom prst="straightConnector1">
              <a:avLst/>
            </a:prstGeom>
            <a:noFill/>
            <a:ln w="9525" cap="flat" cmpd="sng">
              <a:solidFill>
                <a:srgbClr val="009CD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40" name="Google Shape;240;p2"/>
          <p:cNvSpPr txBox="1"/>
          <p:nvPr/>
        </p:nvSpPr>
        <p:spPr>
          <a:xfrm>
            <a:off x="1189702" y="3368091"/>
            <a:ext cx="26437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300+ cities with a population between 1 and 3 lakh</a:t>
            </a:r>
            <a:r>
              <a:rPr lang="en-IN" sz="14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1" i="0" u="none" strike="sngStrike" cap="none" baseline="30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"/>
          <p:cNvSpPr txBox="1"/>
          <p:nvPr/>
        </p:nvSpPr>
        <p:spPr>
          <a:xfrm>
            <a:off x="1189700" y="4365135"/>
            <a:ext cx="2410747" cy="523180"/>
          </a:xfrm>
          <a:prstGeom prst="rect">
            <a:avLst/>
          </a:prstGeom>
          <a:solidFill>
            <a:srgbClr val="C4EEF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140+ cities </a:t>
            </a: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a population between 3 and 40 lakh</a:t>
            </a:r>
            <a:r>
              <a:rPr lang="en-IN" sz="14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1" i="0" u="none" strike="noStrike" cap="none" baseline="30000">
              <a:solidFill>
                <a:srgbClr val="00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"/>
          <p:cNvSpPr txBox="1"/>
          <p:nvPr/>
        </p:nvSpPr>
        <p:spPr>
          <a:xfrm>
            <a:off x="1189701" y="5438816"/>
            <a:ext cx="241074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cities with a population above 40 lakh</a:t>
            </a:r>
            <a:r>
              <a:rPr lang="en-IN" sz="14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1" i="0" u="none" strike="noStrike" cap="none" baseline="30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2"/>
          <p:cNvCxnSpPr>
            <a:stCxn id="241" idx="3"/>
          </p:cNvCxnSpPr>
          <p:nvPr/>
        </p:nvCxnSpPr>
        <p:spPr>
          <a:xfrm rot="10800000" flipH="1">
            <a:off x="3600447" y="3338525"/>
            <a:ext cx="630000" cy="1288200"/>
          </a:xfrm>
          <a:prstGeom prst="curvedConnector3">
            <a:avLst>
              <a:gd name="adj1" fmla="val 49995"/>
            </a:avLst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244" name="Google Shape;244;p2"/>
          <p:cNvGraphicFramePr/>
          <p:nvPr/>
        </p:nvGraphicFramePr>
        <p:xfrm>
          <a:off x="4230385" y="1169464"/>
          <a:ext cx="3284525" cy="3911640"/>
        </p:xfrm>
        <a:graphic>
          <a:graphicData uri="http://schemas.openxmlformats.org/drawingml/2006/table">
            <a:tbl>
              <a:tblPr>
                <a:noFill/>
                <a:tableStyleId>{2F83C431-E06D-4484-B231-B1133625B7DC}</a:tableStyleId>
              </a:tblPr>
              <a:tblGrid>
                <a:gridCol w="328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These cities are growing</a:t>
                      </a:r>
                      <a:endParaRPr sz="14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86B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 population</a:t>
                      </a: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share amongst India’s Class I cities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45% of India’s start-ups </a:t>
                      </a: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originated from non-metro cities, falling within this population range</a:t>
                      </a:r>
                      <a:r>
                        <a:rPr lang="en-IN" sz="1400" u="none" strike="noStrike" cap="none" baseline="30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strike="noStrike" cap="none" baseline="30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capital investments </a:t>
                      </a: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flexible workspaces, residential projects, data centres, etc.</a:t>
                      </a:r>
                      <a:r>
                        <a:rPr lang="en-IN" sz="1400" u="none" strike="noStrike" cap="none" baseline="30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u="none" strike="noStrike" cap="none" baseline="30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These cities also face challenges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 out of the 131 NCAP cities </a:t>
                      </a: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 India; these cities consistently struggle with </a:t>
                      </a: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poor air quality </a:t>
                      </a: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throughout the year.</a:t>
                      </a:r>
                      <a:r>
                        <a:rPr lang="en-IN" sz="1400" u="none" strike="noStrike" cap="none" baseline="30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strike="noStrike" cap="none" baseline="30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IN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Unchecked urban expansion </a:t>
                      </a:r>
                      <a:r>
                        <a:rPr lang="en-IN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 low-density development due to lack of regulated planning.</a:t>
                      </a:r>
                      <a:r>
                        <a:rPr lang="en-IN" sz="1400" u="none" strike="noStrike" cap="none" baseline="30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400" u="none" strike="noStrike" cap="none" baseline="30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5" name="Google Shape;245;p2"/>
          <p:cNvSpPr txBox="1"/>
          <p:nvPr/>
        </p:nvSpPr>
        <p:spPr>
          <a:xfrm>
            <a:off x="1189622" y="4074893"/>
            <a:ext cx="226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PM e-Bus Sewa focus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"/>
          <p:cNvSpPr txBox="1"/>
          <p:nvPr/>
        </p:nvSpPr>
        <p:spPr>
          <a:xfrm>
            <a:off x="7668124" y="5850294"/>
            <a:ext cx="25955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Authors’ compilation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Geographies in focus</a:t>
            </a:r>
            <a:endParaRPr/>
          </a:p>
        </p:txBody>
      </p:sp>
      <p:sp>
        <p:nvSpPr>
          <p:cNvPr id="252" name="Google Shape;252;p29"/>
          <p:cNvSpPr txBox="1">
            <a:spLocks noGrp="1"/>
          </p:cNvSpPr>
          <p:nvPr>
            <p:ph type="body" idx="1"/>
          </p:nvPr>
        </p:nvSpPr>
        <p:spPr>
          <a:xfrm>
            <a:off x="324475" y="642325"/>
            <a:ext cx="11094000" cy="57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1600" b="1"/>
              <a:t>Group B: Cities with no operational bus systems (discussion with MoHUA ongoing to finalise 3 cities)</a:t>
            </a:r>
            <a:endParaRPr/>
          </a:p>
          <a:p>
            <a:pPr marL="5079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6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IN" sz="1400" b="1">
                <a:solidFill>
                  <a:srgbClr val="009ED8"/>
                </a:solidFill>
              </a:rPr>
              <a:t>Jodhpur: Blue city , Tourism Hotspot</a:t>
            </a:r>
            <a:endParaRPr sz="1400">
              <a:solidFill>
                <a:srgbClr val="009ED8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Major tourism and heritage city known for Mehrangarh Fort and the “Blue City” landscape.</a:t>
            </a:r>
            <a:endParaRPr sz="1400">
              <a:solidFill>
                <a:srgbClr val="666666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Important regional centre for handicrafts, defence establishments, and desert trade.</a:t>
            </a:r>
            <a:endParaRPr sz="140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IN" sz="1400" b="1">
                <a:solidFill>
                  <a:schemeClr val="accent1"/>
                </a:solidFill>
              </a:rPr>
              <a:t>Puducherry :coastal union territory city with French Colonial heritage and tourism </a:t>
            </a:r>
            <a:endParaRPr sz="1400" b="1">
              <a:solidFill>
                <a:schemeClr val="accent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Famous for French architecture, beaches, and cultural tourism.</a:t>
            </a:r>
            <a:endParaRPr sz="1400">
              <a:solidFill>
                <a:srgbClr val="666666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Emerging centre for education, wellness tourism, and small-scale industries.</a:t>
            </a:r>
            <a:endParaRPr sz="1400">
              <a:solidFill>
                <a:srgbClr val="666666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IN" sz="1400" b="1">
                <a:solidFill>
                  <a:srgbClr val="009ED8"/>
                </a:solidFill>
              </a:rPr>
              <a:t>Gandhinagar: One of the important Hindu pilgrimage Cities</a:t>
            </a:r>
            <a:endParaRPr sz="1400" b="1">
              <a:solidFill>
                <a:srgbClr val="009ED8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One of the seven holiest Hindu pilgrimage cities situated along the Ganga River.</a:t>
            </a:r>
            <a:endParaRPr sz="1400">
              <a:solidFill>
                <a:srgbClr val="666666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Hosts major religious gatherings like Kumbh Mela and attracts millions of tourists annually.</a:t>
            </a:r>
            <a:endParaRPr sz="140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IN" sz="1400" b="1">
                <a:solidFill>
                  <a:srgbClr val="009ED8"/>
                </a:solidFill>
              </a:rPr>
              <a:t>Gaya: A globally significant Buddhist and Hindu pilgrimage city </a:t>
            </a:r>
            <a:endParaRPr sz="1400" b="1">
              <a:solidFill>
                <a:srgbClr val="009ED8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Important religious destination for both Hindu rituals and Buddhist pilgrimage tourism.</a:t>
            </a:r>
            <a:endParaRPr sz="1400">
              <a:solidFill>
                <a:srgbClr val="666666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Home to nearby Bodh Gaya, where Gautama Buddha attained enlightenment.</a:t>
            </a:r>
            <a:endParaRPr sz="1400">
              <a:solidFill>
                <a:srgbClr val="666666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IN" sz="1400" b="1">
                <a:solidFill>
                  <a:srgbClr val="009ED8"/>
                </a:solidFill>
              </a:rPr>
              <a:t>Bilaspur: An important railway, educational, and administrative hub </a:t>
            </a:r>
            <a:endParaRPr sz="1400" b="1">
              <a:solidFill>
                <a:srgbClr val="009ED8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Key railway and administrative hub in central India with strong regional connectivity.</a:t>
            </a:r>
            <a:endParaRPr sz="1400">
              <a:solidFill>
                <a:srgbClr val="666666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Emerging educational and commercial centre supporting nearby industrial and mining regions.</a:t>
            </a:r>
            <a:endParaRPr sz="140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IN" sz="1400" b="1">
                <a:solidFill>
                  <a:srgbClr val="009ED8"/>
                </a:solidFill>
              </a:rPr>
              <a:t>Tirupati: prominent pilgrimage and temple city in Andhra Pradesh </a:t>
            </a:r>
            <a:endParaRPr sz="1400" b="1">
              <a:solidFill>
                <a:srgbClr val="009ED8"/>
              </a:solidFill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Home to the Tirumala Venkateswara Temple, one of the world’s most visited temples.</a:t>
            </a:r>
            <a:endParaRPr sz="1400">
              <a:solidFill>
                <a:srgbClr val="666666"/>
              </a:solidFill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Growing educational and tourism economy supported by religious travel.</a:t>
            </a:r>
            <a:endParaRPr sz="140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>
              <a:solidFill>
                <a:srgbClr val="666666"/>
              </a:solidFill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endParaRPr sz="14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6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>
              <a:solidFill>
                <a:srgbClr val="666666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/>
          </a:p>
        </p:txBody>
      </p:sp>
      <p:sp>
        <p:nvSpPr>
          <p:cNvPr id="253" name="Google Shape;253;p29"/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254" name="Google Shape;254;p29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8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2079558B-D2F9-59DD-0AC8-D2F5FAF71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7350ef53c_0_0">
            <a:extLst>
              <a:ext uri="{FF2B5EF4-FFF2-40B4-BE49-F238E27FC236}">
                <a16:creationId xmlns:a16="http://schemas.microsoft.com/office/drawing/2014/main" id="{64DF2AB0-6BFA-6F3E-0B38-CB70E79D73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Structure of the Presentation – Model 2</a:t>
            </a:r>
          </a:p>
        </p:txBody>
      </p:sp>
      <p:sp>
        <p:nvSpPr>
          <p:cNvPr id="261" name="Google Shape;261;g3e7350ef53c_0_0">
            <a:extLst>
              <a:ext uri="{FF2B5EF4-FFF2-40B4-BE49-F238E27FC236}">
                <a16:creationId xmlns:a16="http://schemas.microsoft.com/office/drawing/2014/main" id="{831E425F-B31F-DD05-B492-AA346B060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5705" y="988341"/>
            <a:ext cx="11284500" cy="47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46100" indent="-457200">
              <a:buFont typeface="+mj-lt"/>
              <a:buAutoNum type="arabicParenR"/>
            </a:pPr>
            <a:r>
              <a:rPr lang="en-US" sz="2000" dirty="0">
                <a:solidFill>
                  <a:schemeClr val="tx1"/>
                </a:solidFill>
              </a:rPr>
              <a:t>Structure of the Presentation – Model 2</a:t>
            </a:r>
          </a:p>
          <a:p>
            <a:pPr marL="546100" indent="-457200">
              <a:buFont typeface="+mj-lt"/>
              <a:buAutoNum type="arabicParenR"/>
            </a:pPr>
            <a:r>
              <a:rPr lang="en-US" sz="2000" dirty="0">
                <a:solidFill>
                  <a:schemeClr val="tx1"/>
                </a:solidFill>
              </a:rPr>
              <a:t>Overview of Model 2</a:t>
            </a:r>
          </a:p>
          <a:p>
            <a:pPr marL="546100" indent="-457200">
              <a:buFont typeface="+mj-lt"/>
              <a:buAutoNum type="arabicParenR"/>
            </a:pPr>
            <a:r>
              <a:rPr lang="en-US" sz="2000" dirty="0">
                <a:solidFill>
                  <a:schemeClr val="tx1"/>
                </a:solidFill>
              </a:rPr>
              <a:t>Why Health and  Air Quality Benefits Matter in Bus Systems</a:t>
            </a:r>
          </a:p>
          <a:p>
            <a:pPr marL="546100" indent="-457200">
              <a:buFont typeface="+mj-lt"/>
              <a:buAutoNum type="arabicParenR"/>
            </a:pPr>
            <a:r>
              <a:rPr lang="en-US" sz="2000" dirty="0">
                <a:solidFill>
                  <a:schemeClr val="tx1"/>
                </a:solidFill>
              </a:rPr>
              <a:t>Literature Review and Key Learnings</a:t>
            </a:r>
          </a:p>
          <a:p>
            <a:pPr marL="546100" indent="-457200">
              <a:buFont typeface="+mj-lt"/>
              <a:buAutoNum type="arabicParenR"/>
            </a:pPr>
            <a:r>
              <a:rPr lang="en-US" sz="2000" dirty="0">
                <a:solidFill>
                  <a:schemeClr val="tx1"/>
                </a:solidFill>
              </a:rPr>
              <a:t>Model 2 Framework</a:t>
            </a:r>
          </a:p>
          <a:p>
            <a:pPr marL="546100" indent="-457200">
              <a:buFont typeface="+mj-lt"/>
              <a:buAutoNum type="arabicParenR"/>
            </a:pPr>
            <a:r>
              <a:rPr lang="en-US" sz="2000" dirty="0">
                <a:solidFill>
                  <a:schemeClr val="tx1"/>
                </a:solidFill>
              </a:rPr>
              <a:t>Key Parameters and Variables</a:t>
            </a:r>
          </a:p>
          <a:p>
            <a:pPr marL="546100" indent="-457200">
              <a:buFont typeface="+mj-lt"/>
              <a:buAutoNum type="arabicParenR"/>
            </a:pPr>
            <a:r>
              <a:rPr lang="en-US" sz="2000" dirty="0">
                <a:solidFill>
                  <a:schemeClr val="tx1"/>
                </a:solidFill>
              </a:rPr>
              <a:t>Data Requirements and Possible Sources</a:t>
            </a:r>
          </a:p>
          <a:p>
            <a:pPr marL="546100" indent="-457200">
              <a:buFont typeface="+mj-lt"/>
              <a:buAutoNum type="arabicParenR"/>
            </a:pPr>
            <a:r>
              <a:rPr lang="en-US" sz="2000" dirty="0">
                <a:solidFill>
                  <a:schemeClr val="tx1"/>
                </a:solidFill>
              </a:rPr>
              <a:t>Primary Survey Inputs Required for Model 2</a:t>
            </a:r>
          </a:p>
          <a:p>
            <a:pPr marL="546100" indent="-457200">
              <a:buFont typeface="+mj-lt"/>
              <a:buAutoNum type="arabicParenR"/>
            </a:pPr>
            <a:r>
              <a:rPr lang="en-US" sz="2000" dirty="0">
                <a:solidFill>
                  <a:schemeClr val="tx1"/>
                </a:solidFill>
              </a:rPr>
              <a:t>Draft Questionnaire Structure</a:t>
            </a:r>
          </a:p>
        </p:txBody>
      </p:sp>
      <p:sp>
        <p:nvSpPr>
          <p:cNvPr id="262" name="Google Shape;262;g3e7350ef53c_0_0">
            <a:extLst>
              <a:ext uri="{FF2B5EF4-FFF2-40B4-BE49-F238E27FC236}">
                <a16:creationId xmlns:a16="http://schemas.microsoft.com/office/drawing/2014/main" id="{BCE9AB50-FA1F-D333-5541-95F6D717F34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24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1250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6664E9F8-3F44-7CD8-E598-36360CF42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>
            <a:extLst>
              <a:ext uri="{FF2B5EF4-FFF2-40B4-BE49-F238E27FC236}">
                <a16:creationId xmlns:a16="http://schemas.microsoft.com/office/drawing/2014/main" id="{F2CC4A1A-FBD7-D310-7326-B2A46A322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Deep dive in M2: Health Co-benefits Model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Literature review — geographic coverage &amp; key papers (Use 11 papers)</a:t>
            </a:r>
            <a:endParaRPr sz="1600" b="0" dirty="0">
              <a:solidFill>
                <a:srgbClr val="009CD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9" name="Google Shape;269;g3e5213d0914_1_0">
            <a:extLst>
              <a:ext uri="{FF2B5EF4-FFF2-40B4-BE49-F238E27FC236}">
                <a16:creationId xmlns:a16="http://schemas.microsoft.com/office/drawing/2014/main" id="{40AFC029-9528-0C64-ED8D-1D75E4F7D12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270" name="Google Shape;270;g3e5213d0914_1_0">
            <a:extLst>
              <a:ext uri="{FF2B5EF4-FFF2-40B4-BE49-F238E27FC236}">
                <a16:creationId xmlns:a16="http://schemas.microsoft.com/office/drawing/2014/main" id="{50B57F98-F47B-6071-71ED-EEC69B34565C}"/>
              </a:ext>
            </a:extLst>
          </p:cNvPr>
          <p:cNvSpPr/>
          <p:nvPr/>
        </p:nvSpPr>
        <p:spPr>
          <a:xfrm>
            <a:off x="256025" y="941250"/>
            <a:ext cx="112845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Model 2 quantifies bus-related health co-benefits through reduced pollution exposure, lower road injury risk, reduced commute stress, and increased active travel.</a:t>
            </a:r>
          </a:p>
        </p:txBody>
      </p:sp>
      <p:sp>
        <p:nvSpPr>
          <p:cNvPr id="317" name="Google Shape;317;g3e5213d0914_1_0">
            <a:extLst>
              <a:ext uri="{FF2B5EF4-FFF2-40B4-BE49-F238E27FC236}">
                <a16:creationId xmlns:a16="http://schemas.microsoft.com/office/drawing/2014/main" id="{C644D3E3-72DF-CBCE-6603-346CDF44699E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00A671-19A1-E165-EECD-0ED220468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489385"/>
              </p:ext>
            </p:extLst>
          </p:nvPr>
        </p:nvGraphicFramePr>
        <p:xfrm>
          <a:off x="256025" y="1735350"/>
          <a:ext cx="7940676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8475">
                  <a:extLst>
                    <a:ext uri="{9D8B030D-6E8A-4147-A177-3AD203B41FA5}">
                      <a16:colId xmlns:a16="http://schemas.microsoft.com/office/drawing/2014/main" val="296520875"/>
                    </a:ext>
                  </a:extLst>
                </a:gridCol>
                <a:gridCol w="4483100">
                  <a:extLst>
                    <a:ext uri="{9D8B030D-6E8A-4147-A177-3AD203B41FA5}">
                      <a16:colId xmlns:a16="http://schemas.microsoft.com/office/drawing/2014/main" val="41219627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46550164"/>
                    </a:ext>
                  </a:extLst>
                </a:gridCol>
                <a:gridCol w="876301">
                  <a:extLst>
                    <a:ext uri="{9D8B030D-6E8A-4147-A177-3AD203B41FA5}">
                      <a16:colId xmlns:a16="http://schemas.microsoft.com/office/drawing/2014/main" val="145699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Geography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Papers/Reports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Share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390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North America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Maizlish</a:t>
                      </a: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San Francisco, Besser USA, Saelens King County, </a:t>
                      </a:r>
                      <a:r>
                        <a:rPr lang="en-US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Legrain</a:t>
                      </a: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Montréal, duplicate Saelens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45%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642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Europe / UK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Madrid, HIA Scotland Guide, On the Buses London, Coimbra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36%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955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Asia / Middle East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Tehran low-emission transport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9%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58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Global / Review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Raza air-pollution HIA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9%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2985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DCE235A-A63D-2FDC-BF23-EE4AE704D26D}"/>
              </a:ext>
            </a:extLst>
          </p:cNvPr>
          <p:cNvSpPr txBox="1"/>
          <p:nvPr/>
        </p:nvSpPr>
        <p:spPr>
          <a:xfrm>
            <a:off x="256025" y="3686070"/>
            <a:ext cx="79406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Literature Review — Geographic Coverage (n = 10 unique studies)</a:t>
            </a:r>
            <a:br>
              <a:rPr lang="en-US" sz="1600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1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North America 40%, Europe/UK 40%, Asia/Middle East 10%, Global Review 10%</a:t>
            </a:r>
            <a:endParaRPr lang="en-US" sz="1600" dirty="0">
              <a:solidFill>
                <a:srgbClr val="66666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0F168-1679-380D-A58B-9AC74B642BA3}"/>
              </a:ext>
            </a:extLst>
          </p:cNvPr>
          <p:cNvSpPr txBox="1"/>
          <p:nvPr/>
        </p:nvSpPr>
        <p:spPr>
          <a:xfrm>
            <a:off x="256024" y="4268235"/>
            <a:ext cx="11284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inference: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 available evidence comes from North America and Europe/UK. India-specific evidence on bus-related health co-benefits is limited, especially for small and medium cities.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1AC8F-CF6E-4D94-92DC-E8BAD3F11F88}"/>
              </a:ext>
            </a:extLst>
          </p:cNvPr>
          <p:cNvSpPr txBox="1"/>
          <p:nvPr/>
        </p:nvSpPr>
        <p:spPr>
          <a:xfrm>
            <a:off x="256023" y="5299266"/>
            <a:ext cx="11284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8AED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BBUS contribution:</a:t>
            </a:r>
            <a:br>
              <a:rPr lang="en-US" sz="1800" dirty="0">
                <a:solidFill>
                  <a:srgbClr val="58AEDB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rgbClr val="58AED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BBUS will fill this gap by combining primary surveys, GIS-based exposure mapping, health indicators, and Indian city-level bus deployment data.</a:t>
            </a:r>
          </a:p>
        </p:txBody>
      </p:sp>
    </p:spTree>
    <p:extLst>
      <p:ext uri="{BB962C8B-B14F-4D97-AF65-F5344CB8AC3E}">
        <p14:creationId xmlns:p14="http://schemas.microsoft.com/office/powerpoint/2010/main" val="1135780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A4B06894-4826-EE4D-6072-2D678F2E6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>
            <a:extLst>
              <a:ext uri="{FF2B5EF4-FFF2-40B4-BE49-F238E27FC236}">
                <a16:creationId xmlns:a16="http://schemas.microsoft.com/office/drawing/2014/main" id="{78B10589-78EA-EF87-D3C2-66A3EDF17A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Deep dive in M2: Health Co-benefits Model</a:t>
            </a:r>
            <a:br>
              <a:rPr lang="en-US" dirty="0"/>
            </a:br>
            <a:r>
              <a:rPr lang="en-US" sz="1600" b="0" dirty="0"/>
              <a:t>Pathways of Health Benefits from Bus-Based Public Transport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269" name="Google Shape;269;g3e5213d0914_1_0">
            <a:extLst>
              <a:ext uri="{FF2B5EF4-FFF2-40B4-BE49-F238E27FC236}">
                <a16:creationId xmlns:a16="http://schemas.microsoft.com/office/drawing/2014/main" id="{A9F5781A-751F-D62C-F024-13E6550DE45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270" name="Google Shape;270;g3e5213d0914_1_0">
            <a:extLst>
              <a:ext uri="{FF2B5EF4-FFF2-40B4-BE49-F238E27FC236}">
                <a16:creationId xmlns:a16="http://schemas.microsoft.com/office/drawing/2014/main" id="{8E0A2A4F-C21E-4958-2464-CA072D18ED7A}"/>
              </a:ext>
            </a:extLst>
          </p:cNvPr>
          <p:cNvSpPr/>
          <p:nvPr/>
        </p:nvSpPr>
        <p:spPr>
          <a:xfrm>
            <a:off x="0" y="1061606"/>
            <a:ext cx="11284500" cy="21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7" name="Google Shape;317;g3e5213d0914_1_0">
            <a:extLst>
              <a:ext uri="{FF2B5EF4-FFF2-40B4-BE49-F238E27FC236}">
                <a16:creationId xmlns:a16="http://schemas.microsoft.com/office/drawing/2014/main" id="{42CE359F-6CE4-6821-C591-5F05FBD83666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94D9603-8BE2-6949-D4EF-2A05E30702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2879869"/>
              </p:ext>
            </p:extLst>
          </p:nvPr>
        </p:nvGraphicFramePr>
        <p:xfrm>
          <a:off x="453750" y="1032316"/>
          <a:ext cx="11284500" cy="1637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37645AC1-F4FF-00E0-4FD3-639C7949D511}"/>
              </a:ext>
            </a:extLst>
          </p:cNvPr>
          <p:cNvGrpSpPr/>
          <p:nvPr/>
        </p:nvGrpSpPr>
        <p:grpSpPr>
          <a:xfrm>
            <a:off x="395707" y="2896826"/>
            <a:ext cx="11412957" cy="2538937"/>
            <a:chOff x="118769" y="2447655"/>
            <a:chExt cx="11412957" cy="2538937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5325C4D-959D-EA1A-EE65-58217D36D75F}"/>
                </a:ext>
              </a:extLst>
            </p:cNvPr>
            <p:cNvSpPr/>
            <p:nvPr/>
          </p:nvSpPr>
          <p:spPr>
            <a:xfrm>
              <a:off x="5825248" y="3322456"/>
              <a:ext cx="4368864" cy="23734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8673"/>
                  </a:lnTo>
                  <a:lnTo>
                    <a:pt x="4368864" y="118673"/>
                  </a:lnTo>
                  <a:lnTo>
                    <a:pt x="4368864" y="237346"/>
                  </a:lnTo>
                </a:path>
              </a:pathLst>
            </a:custGeom>
            <a:noFill/>
          </p:spPr>
          <p:style>
            <a:lnRef idx="2">
              <a:schemeClr val="dk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537FB01-4FAC-444A-B719-F277F4A9F1CE}"/>
                </a:ext>
              </a:extLst>
            </p:cNvPr>
            <p:cNvSpPr/>
            <p:nvPr/>
          </p:nvSpPr>
          <p:spPr>
            <a:xfrm>
              <a:off x="5825248" y="3322456"/>
              <a:ext cx="1456288" cy="23734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8673"/>
                  </a:lnTo>
                  <a:lnTo>
                    <a:pt x="1456288" y="118673"/>
                  </a:lnTo>
                  <a:lnTo>
                    <a:pt x="1456288" y="237346"/>
                  </a:lnTo>
                </a:path>
              </a:pathLst>
            </a:custGeom>
            <a:noFill/>
          </p:spPr>
          <p:style>
            <a:lnRef idx="2">
              <a:schemeClr val="dk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61699BF-5F1E-9144-B2A4-F90F9663E440}"/>
                </a:ext>
              </a:extLst>
            </p:cNvPr>
            <p:cNvSpPr/>
            <p:nvPr/>
          </p:nvSpPr>
          <p:spPr>
            <a:xfrm>
              <a:off x="4368960" y="3322456"/>
              <a:ext cx="1456288" cy="23734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456288" y="0"/>
                  </a:moveTo>
                  <a:lnTo>
                    <a:pt x="1456288" y="118673"/>
                  </a:lnTo>
                  <a:lnTo>
                    <a:pt x="0" y="118673"/>
                  </a:lnTo>
                  <a:lnTo>
                    <a:pt x="0" y="237346"/>
                  </a:lnTo>
                </a:path>
              </a:pathLst>
            </a:custGeom>
            <a:noFill/>
          </p:spPr>
          <p:style>
            <a:lnRef idx="2">
              <a:schemeClr val="dk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5645AFD-9170-AA08-6711-191EF79DBB26}"/>
                </a:ext>
              </a:extLst>
            </p:cNvPr>
            <p:cNvSpPr/>
            <p:nvPr/>
          </p:nvSpPr>
          <p:spPr>
            <a:xfrm>
              <a:off x="1456384" y="3322456"/>
              <a:ext cx="4368864" cy="23734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368864" y="0"/>
                  </a:moveTo>
                  <a:lnTo>
                    <a:pt x="4368864" y="118673"/>
                  </a:lnTo>
                  <a:lnTo>
                    <a:pt x="0" y="118673"/>
                  </a:lnTo>
                  <a:lnTo>
                    <a:pt x="0" y="237346"/>
                  </a:lnTo>
                </a:path>
              </a:pathLst>
            </a:custGeom>
            <a:noFill/>
          </p:spPr>
          <p:style>
            <a:lnRef idx="2">
              <a:schemeClr val="dk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A295792-7DC6-C3F2-40C7-8A507C794F10}"/>
                </a:ext>
              </a:extLst>
            </p:cNvPr>
            <p:cNvSpPr/>
            <p:nvPr/>
          </p:nvSpPr>
          <p:spPr>
            <a:xfrm>
              <a:off x="4512227" y="2447655"/>
              <a:ext cx="2626042" cy="874801"/>
            </a:xfrm>
            <a:custGeom>
              <a:avLst/>
              <a:gdLst>
                <a:gd name="csX0" fmla="*/ 0 w 2626042"/>
                <a:gd name="csY0" fmla="*/ 0 h 874801"/>
                <a:gd name="csX1" fmla="*/ 2626042 w 2626042"/>
                <a:gd name="csY1" fmla="*/ 0 h 874801"/>
                <a:gd name="csX2" fmla="*/ 2626042 w 2626042"/>
                <a:gd name="csY2" fmla="*/ 874801 h 874801"/>
                <a:gd name="csX3" fmla="*/ 0 w 2626042"/>
                <a:gd name="csY3" fmla="*/ 874801 h 874801"/>
                <a:gd name="csX4" fmla="*/ 0 w 2626042"/>
                <a:gd name="csY4" fmla="*/ 0 h 8748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042" h="874801">
                  <a:moveTo>
                    <a:pt x="0" y="0"/>
                  </a:moveTo>
                  <a:lnTo>
                    <a:pt x="2626042" y="0"/>
                  </a:lnTo>
                  <a:lnTo>
                    <a:pt x="2626042" y="874801"/>
                  </a:lnTo>
                  <a:lnTo>
                    <a:pt x="0" y="87480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>
                  <a:latin typeface="Calibri" panose="020F0502020204030204" pitchFamily="34" charset="0"/>
                  <a:cs typeface="Calibri" panose="020F0502020204030204" pitchFamily="34" charset="0"/>
                </a:rPr>
                <a:t>Health benefit pathways</a:t>
              </a:r>
              <a:endParaRPr lang="en-US" sz="1400" kern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93DFFDD-849A-09C2-89B1-8D76081D2B89}"/>
                </a:ext>
              </a:extLst>
            </p:cNvPr>
            <p:cNvSpPr/>
            <p:nvPr/>
          </p:nvSpPr>
          <p:spPr>
            <a:xfrm>
              <a:off x="118769" y="3559803"/>
              <a:ext cx="2675229" cy="1426789"/>
            </a:xfrm>
            <a:custGeom>
              <a:avLst/>
              <a:gdLst>
                <a:gd name="csX0" fmla="*/ 0 w 2675229"/>
                <a:gd name="csY0" fmla="*/ 0 h 1426789"/>
                <a:gd name="csX1" fmla="*/ 2675229 w 2675229"/>
                <a:gd name="csY1" fmla="*/ 0 h 1426789"/>
                <a:gd name="csX2" fmla="*/ 2675229 w 2675229"/>
                <a:gd name="csY2" fmla="*/ 1426789 h 1426789"/>
                <a:gd name="csX3" fmla="*/ 0 w 2675229"/>
                <a:gd name="csY3" fmla="*/ 1426789 h 1426789"/>
                <a:gd name="csX4" fmla="*/ 0 w 2675229"/>
                <a:gd name="csY4" fmla="*/ 0 h 14267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5229" h="1426789">
                  <a:moveTo>
                    <a:pt x="0" y="0"/>
                  </a:moveTo>
                  <a:lnTo>
                    <a:pt x="2675229" y="0"/>
                  </a:lnTo>
                  <a:lnTo>
                    <a:pt x="2675229" y="1426789"/>
                  </a:lnTo>
                  <a:lnTo>
                    <a:pt x="0" y="142678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+mj-lt"/>
                <a:buNone/>
              </a:pPr>
              <a:r>
                <a:rPr lang="en-US" sz="1400" kern="1200" dirty="0">
                  <a:latin typeface="Calibri" panose="020F0502020204030204" pitchFamily="34" charset="0"/>
                  <a:cs typeface="Calibri" panose="020F0502020204030204" pitchFamily="34" charset="0"/>
                </a:rPr>
                <a:t>1. Active Travel Gains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+mj-lt"/>
                <a:buNone/>
              </a:pPr>
              <a:r>
                <a:rPr lang="en-US" sz="1400" kern="1200" dirty="0">
                  <a:latin typeface="Calibri" panose="020F0502020204030204" pitchFamily="34" charset="0"/>
                  <a:cs typeface="Calibri" panose="020F0502020204030204" pitchFamily="34" charset="0"/>
                </a:rPr>
                <a:t>Walking to and from bus stops increases daily physical activity.</a:t>
              </a: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2C4ABBB-BCE5-C371-52F4-C06B6618E495}"/>
                </a:ext>
              </a:extLst>
            </p:cNvPr>
            <p:cNvSpPr/>
            <p:nvPr/>
          </p:nvSpPr>
          <p:spPr>
            <a:xfrm>
              <a:off x="3031345" y="3559803"/>
              <a:ext cx="2675229" cy="1426789"/>
            </a:xfrm>
            <a:custGeom>
              <a:avLst/>
              <a:gdLst>
                <a:gd name="csX0" fmla="*/ 0 w 2675229"/>
                <a:gd name="csY0" fmla="*/ 0 h 1426789"/>
                <a:gd name="csX1" fmla="*/ 2675229 w 2675229"/>
                <a:gd name="csY1" fmla="*/ 0 h 1426789"/>
                <a:gd name="csX2" fmla="*/ 2675229 w 2675229"/>
                <a:gd name="csY2" fmla="*/ 1426789 h 1426789"/>
                <a:gd name="csX3" fmla="*/ 0 w 2675229"/>
                <a:gd name="csY3" fmla="*/ 1426789 h 1426789"/>
                <a:gd name="csX4" fmla="*/ 0 w 2675229"/>
                <a:gd name="csY4" fmla="*/ 0 h 14267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5229" h="1426789">
                  <a:moveTo>
                    <a:pt x="0" y="0"/>
                  </a:moveTo>
                  <a:lnTo>
                    <a:pt x="2675229" y="0"/>
                  </a:lnTo>
                  <a:lnTo>
                    <a:pt x="2675229" y="1426789"/>
                  </a:lnTo>
                  <a:lnTo>
                    <a:pt x="0" y="142678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latin typeface="Calibri" panose="020F0502020204030204" pitchFamily="34" charset="0"/>
                  <a:cs typeface="Calibri" panose="020F0502020204030204" pitchFamily="34" charset="0"/>
                </a:rPr>
                <a:t>2. Air Pollution Exposure Reduction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latin typeface="Calibri" panose="020F0502020204030204" pitchFamily="34" charset="0"/>
                  <a:cs typeface="Calibri" panose="020F0502020204030204" pitchFamily="34" charset="0"/>
                </a:rPr>
                <a:t>Mode shift from private vehicles to buses can reduce PM2.5/NO2 exposure and emissions.</a:t>
              </a: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E4CE218-CEDA-4156-DEF4-729FAAFA6730}"/>
                </a:ext>
              </a:extLst>
            </p:cNvPr>
            <p:cNvSpPr/>
            <p:nvPr/>
          </p:nvSpPr>
          <p:spPr>
            <a:xfrm>
              <a:off x="5943921" y="3559803"/>
              <a:ext cx="2675229" cy="1426789"/>
            </a:xfrm>
            <a:custGeom>
              <a:avLst/>
              <a:gdLst>
                <a:gd name="csX0" fmla="*/ 0 w 2675229"/>
                <a:gd name="csY0" fmla="*/ 0 h 1426789"/>
                <a:gd name="csX1" fmla="*/ 2675229 w 2675229"/>
                <a:gd name="csY1" fmla="*/ 0 h 1426789"/>
                <a:gd name="csX2" fmla="*/ 2675229 w 2675229"/>
                <a:gd name="csY2" fmla="*/ 1426789 h 1426789"/>
                <a:gd name="csX3" fmla="*/ 0 w 2675229"/>
                <a:gd name="csY3" fmla="*/ 1426789 h 1426789"/>
                <a:gd name="csX4" fmla="*/ 0 w 2675229"/>
                <a:gd name="csY4" fmla="*/ 0 h 14267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5229" h="1426789">
                  <a:moveTo>
                    <a:pt x="0" y="0"/>
                  </a:moveTo>
                  <a:lnTo>
                    <a:pt x="2675229" y="0"/>
                  </a:lnTo>
                  <a:lnTo>
                    <a:pt x="2675229" y="1426789"/>
                  </a:lnTo>
                  <a:lnTo>
                    <a:pt x="0" y="142678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latin typeface="Calibri" panose="020F0502020204030204" pitchFamily="34" charset="0"/>
                  <a:cs typeface="Calibri" panose="020F0502020204030204" pitchFamily="34" charset="0"/>
                </a:rPr>
                <a:t>3. Road Safety Benefits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latin typeface="Calibri" panose="020F0502020204030204" pitchFamily="34" charset="0"/>
                  <a:cs typeface="Calibri" panose="020F0502020204030204" pitchFamily="34" charset="0"/>
                </a:rPr>
                <a:t>Shift from two-wheelers/cars/shared modes to buses can reduce crash and injury exposure.</a:t>
              </a: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29DABB7-3A08-ED23-52D9-384E6A53EF7A}"/>
                </a:ext>
              </a:extLst>
            </p:cNvPr>
            <p:cNvSpPr/>
            <p:nvPr/>
          </p:nvSpPr>
          <p:spPr>
            <a:xfrm>
              <a:off x="8856497" y="3559803"/>
              <a:ext cx="2675229" cy="1426789"/>
            </a:xfrm>
            <a:custGeom>
              <a:avLst/>
              <a:gdLst>
                <a:gd name="csX0" fmla="*/ 0 w 2675229"/>
                <a:gd name="csY0" fmla="*/ 0 h 1426789"/>
                <a:gd name="csX1" fmla="*/ 2675229 w 2675229"/>
                <a:gd name="csY1" fmla="*/ 0 h 1426789"/>
                <a:gd name="csX2" fmla="*/ 2675229 w 2675229"/>
                <a:gd name="csY2" fmla="*/ 1426789 h 1426789"/>
                <a:gd name="csX3" fmla="*/ 0 w 2675229"/>
                <a:gd name="csY3" fmla="*/ 1426789 h 1426789"/>
                <a:gd name="csX4" fmla="*/ 0 w 2675229"/>
                <a:gd name="csY4" fmla="*/ 0 h 14267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5229" h="1426789">
                  <a:moveTo>
                    <a:pt x="0" y="0"/>
                  </a:moveTo>
                  <a:lnTo>
                    <a:pt x="2675229" y="0"/>
                  </a:lnTo>
                  <a:lnTo>
                    <a:pt x="2675229" y="1426789"/>
                  </a:lnTo>
                  <a:lnTo>
                    <a:pt x="0" y="142678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latin typeface="Calibri" panose="020F0502020204030204" pitchFamily="34" charset="0"/>
                  <a:cs typeface="Calibri" panose="020F0502020204030204" pitchFamily="34" charset="0"/>
                </a:rPr>
                <a:t>4. Commute Stress Reduction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latin typeface="Calibri" panose="020F0502020204030204" pitchFamily="34" charset="0"/>
                  <a:cs typeface="Calibri" panose="020F0502020204030204" pitchFamily="34" charset="0"/>
                </a:rPr>
                <a:t>Reliable, affordable, safe, and comfortable bus services can reduce daily commute stress.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7541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DAD72360-DF3C-99D5-F67F-23F906AAF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>
            <a:extLst>
              <a:ext uri="{FF2B5EF4-FFF2-40B4-BE49-F238E27FC236}">
                <a16:creationId xmlns:a16="http://schemas.microsoft.com/office/drawing/2014/main" id="{7AC76AF7-96D1-D0F2-F5FF-6343D1573F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Deep dive in M2: Health Co-benefits Model</a:t>
            </a:r>
            <a:br>
              <a:rPr lang="en-US" dirty="0"/>
            </a:br>
            <a:r>
              <a:rPr lang="en-US" sz="1600" b="0" dirty="0"/>
              <a:t>Models identified from literature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269" name="Google Shape;269;g3e5213d0914_1_0">
            <a:extLst>
              <a:ext uri="{FF2B5EF4-FFF2-40B4-BE49-F238E27FC236}">
                <a16:creationId xmlns:a16="http://schemas.microsoft.com/office/drawing/2014/main" id="{8ED134DF-0982-22FC-FAD3-1F89AA4C725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270" name="Google Shape;270;g3e5213d0914_1_0">
            <a:extLst>
              <a:ext uri="{FF2B5EF4-FFF2-40B4-BE49-F238E27FC236}">
                <a16:creationId xmlns:a16="http://schemas.microsoft.com/office/drawing/2014/main" id="{171B39EF-A5A3-2FE4-DC6E-E99FC3BAC4DB}"/>
              </a:ext>
            </a:extLst>
          </p:cNvPr>
          <p:cNvSpPr/>
          <p:nvPr/>
        </p:nvSpPr>
        <p:spPr>
          <a:xfrm>
            <a:off x="256032" y="1019753"/>
            <a:ext cx="11284500" cy="5234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Integrated Transport and Health Impacts Model (ITHIM)</a:t>
            </a:r>
            <a:b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Links travel </a:t>
            </a: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physical activity, PM2.5 exposure, road injuries, and DALYs.</a:t>
            </a:r>
          </a:p>
          <a:p>
            <a:pPr marL="342900" indent="-342900">
              <a:buFont typeface="+mj-lt"/>
              <a:buAutoNum type="arabicPeriod"/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Health Impact Assessment (HIA)</a:t>
            </a:r>
            <a:b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Structures health pathways, affected population groups, and monitoring indicators.</a:t>
            </a:r>
          </a:p>
          <a:p>
            <a:pPr marL="342900" indent="-342900">
              <a:buFont typeface="+mj-lt"/>
              <a:buAutoNum type="arabicPeriod"/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Comparative Risk Assessment (CRA)</a:t>
            </a:r>
            <a:b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Converts exposure changes into health burden using relative-risk functions.</a:t>
            </a:r>
          </a:p>
          <a:p>
            <a:pPr marL="342900" indent="-342900">
              <a:buFont typeface="+mj-lt"/>
              <a:buAutoNum type="arabicPeriod"/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Difference-in-Differences (</a:t>
            </a: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DiD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) / Natural Experiment</a:t>
            </a:r>
            <a:b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Estimates pre-post impact of new bus deployment in Group B cities.</a:t>
            </a:r>
          </a:p>
          <a:p>
            <a:pPr marL="342900" indent="-342900">
              <a:buFont typeface="+mj-lt"/>
              <a:buAutoNum type="arabicPeriod"/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GLM / Multivariate Regression</a:t>
            </a:r>
            <a:b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Estimates health outcomes while controlling for income, gender, education, and city differences.</a:t>
            </a:r>
          </a:p>
          <a:p>
            <a:pPr marL="342900" indent="-342900">
              <a:buFont typeface="+mj-lt"/>
              <a:buAutoNum type="arabicPeriod"/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Ordered Logit / Ordered Probit</a:t>
            </a:r>
            <a:b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Models commute stress and perception-based outcomes measured on 1–5 scales.</a:t>
            </a:r>
          </a:p>
          <a:p>
            <a:pPr marL="342900" indent="-342900">
              <a:buFont typeface="+mj-lt"/>
              <a:buAutoNum type="arabicPeriod"/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GIS / Spatial Exposure Analysis</a:t>
            </a:r>
            <a:b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Maps bus access, walking distance, PM2.5 exposure, and crash-risk exposure.</a:t>
            </a:r>
          </a:p>
          <a:p>
            <a:pPr marL="342900" indent="-342900">
              <a:buFont typeface="+mj-lt"/>
              <a:buAutoNum type="arabicPeriod"/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A-S-I Co-benefits Framework</a:t>
            </a:r>
            <a:b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Links Avoid–Shift–Improve actions with emissions reduction and public health benefits.</a:t>
            </a:r>
          </a:p>
        </p:txBody>
      </p:sp>
      <p:sp>
        <p:nvSpPr>
          <p:cNvPr id="317" name="Google Shape;317;g3e5213d0914_1_0">
            <a:extLst>
              <a:ext uri="{FF2B5EF4-FFF2-40B4-BE49-F238E27FC236}">
                <a16:creationId xmlns:a16="http://schemas.microsoft.com/office/drawing/2014/main" id="{781552A7-B5BB-3C1F-D747-B85C3AE71806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5418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D4E7232C-D13E-47A0-CEC3-C4291F0C3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ecc9b63667_2_40">
            <a:extLst>
              <a:ext uri="{FF2B5EF4-FFF2-40B4-BE49-F238E27FC236}">
                <a16:creationId xmlns:a16="http://schemas.microsoft.com/office/drawing/2014/main" id="{DA0D5E91-C1B0-7F71-158B-03DC111A32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700" y="194423"/>
            <a:ext cx="11284500" cy="8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lvl="0"/>
            <a:r>
              <a:rPr lang="en-US" dirty="0"/>
              <a:t>Deep dive in M2: Health Co-benefits Model</a:t>
            </a:r>
            <a:br>
              <a:rPr lang="en-US" dirty="0"/>
            </a:br>
            <a:r>
              <a:rPr lang="en-IN" sz="1600" b="0" dirty="0">
                <a:solidFill>
                  <a:srgbClr val="009CD8"/>
                </a:solidFill>
              </a:rPr>
              <a:t>Groupwise Model Selection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371" name="Google Shape;371;g3ecc9b63667_2_40">
            <a:extLst>
              <a:ext uri="{FF2B5EF4-FFF2-40B4-BE49-F238E27FC236}">
                <a16:creationId xmlns:a16="http://schemas.microsoft.com/office/drawing/2014/main" id="{4734C029-6E18-79A3-4888-45AC2CE2D798}"/>
              </a:ext>
            </a:extLst>
          </p:cNvPr>
          <p:cNvSpPr txBox="1"/>
          <p:nvPr/>
        </p:nvSpPr>
        <p:spPr>
          <a:xfrm>
            <a:off x="395707" y="1240233"/>
            <a:ext cx="5400000" cy="420000"/>
          </a:xfrm>
          <a:prstGeom prst="rect">
            <a:avLst/>
          </a:prstGeom>
          <a:solidFill>
            <a:srgbClr val="B93A2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A - Cities with buses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ecc9b63667_2_40">
            <a:extLst>
              <a:ext uri="{FF2B5EF4-FFF2-40B4-BE49-F238E27FC236}">
                <a16:creationId xmlns:a16="http://schemas.microsoft.com/office/drawing/2014/main" id="{809B8573-4E99-0236-8185-9EECD3D81369}"/>
              </a:ext>
            </a:extLst>
          </p:cNvPr>
          <p:cNvSpPr txBox="1"/>
          <p:nvPr/>
        </p:nvSpPr>
        <p:spPr>
          <a:xfrm>
            <a:off x="395707" y="1660233"/>
            <a:ext cx="5400000" cy="280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100" b="0" i="0" u="none" strike="noStrike" cap="none" dirty="0">
                <a:latin typeface="Arial"/>
                <a:ea typeface="Arial"/>
                <a:cs typeface="Arial"/>
                <a:sym typeface="Arial"/>
              </a:rPr>
              <a:t>Bengaluru  |  Jaipur  |  Bhubaneswar</a:t>
            </a:r>
            <a:endParaRPr sz="15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ecc9b63667_2_40">
            <a:extLst>
              <a:ext uri="{FF2B5EF4-FFF2-40B4-BE49-F238E27FC236}">
                <a16:creationId xmlns:a16="http://schemas.microsoft.com/office/drawing/2014/main" id="{2DF78EE2-3943-76DA-A81E-E67F3D209E7B}"/>
              </a:ext>
            </a:extLst>
          </p:cNvPr>
          <p:cNvSpPr txBox="1"/>
          <p:nvPr/>
        </p:nvSpPr>
        <p:spPr>
          <a:xfrm>
            <a:off x="395700" y="1940225"/>
            <a:ext cx="5400000" cy="3677542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811C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400" tIns="152400" rIns="152400" bIns="91425" anchor="t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900" b="1" i="0" u="none" strike="noStrike" cap="none" dirty="0">
                <a:solidFill>
                  <a:srgbClr val="58AEDB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Multivariate Regression</a:t>
            </a:r>
            <a:endParaRPr lang="en-IN" sz="1900" b="0" i="0" u="none" strike="noStrike" cap="none" dirty="0">
              <a:solidFill>
                <a:srgbClr val="58AED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/>
            <a:r>
              <a:rPr lang="en-IN" sz="1500" dirty="0">
                <a:latin typeface="Calibri" panose="020F0502020204030204" pitchFamily="34" charset="0"/>
                <a:cs typeface="Calibri" panose="020F0502020204030204" pitchFamily="34" charset="0"/>
              </a:rPr>
              <a:t>Method: Cross-sectional regression + GIS exposure analysis</a:t>
            </a:r>
          </a:p>
          <a:p>
            <a:br>
              <a:rPr lang="en-IN" sz="1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Since buses are already operating in Group A cities, the model will assess the current relationship between bus access, bus use, and health outcomes. Bus users, non-users, and private vehicle users will be compared based on walking activity, pollution exposure, road-safety experience, commute stress, and self-reported health indicators.</a:t>
            </a:r>
          </a:p>
          <a:p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GIS/</a:t>
            </a: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lat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-long data will be used to measure actual bus accessibility, such as distance to nearest bus stop, 500 m catchment coverage, walking access/egress distance, and route-level exposure. Regression models will then control for income, gender, education, age, vehicle ownership, and city/ward differences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74" name="Google Shape;374;g3ecc9b63667_2_40">
            <a:extLst>
              <a:ext uri="{FF2B5EF4-FFF2-40B4-BE49-F238E27FC236}">
                <a16:creationId xmlns:a16="http://schemas.microsoft.com/office/drawing/2014/main" id="{E2AAF312-DB51-7A5B-E8D0-DD905E61352D}"/>
              </a:ext>
            </a:extLst>
          </p:cNvPr>
          <p:cNvSpPr txBox="1"/>
          <p:nvPr/>
        </p:nvSpPr>
        <p:spPr>
          <a:xfrm>
            <a:off x="6095707" y="1240233"/>
            <a:ext cx="5400000" cy="420000"/>
          </a:xfrm>
          <a:prstGeom prst="rect">
            <a:avLst/>
          </a:prstGeom>
          <a:solidFill>
            <a:srgbClr val="5E833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B - Buses incoming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ecc9b63667_2_40">
            <a:extLst>
              <a:ext uri="{FF2B5EF4-FFF2-40B4-BE49-F238E27FC236}">
                <a16:creationId xmlns:a16="http://schemas.microsoft.com/office/drawing/2014/main" id="{D534E05D-E7C5-185E-1523-CD4FA3AFD573}"/>
              </a:ext>
            </a:extLst>
          </p:cNvPr>
          <p:cNvSpPr txBox="1"/>
          <p:nvPr/>
        </p:nvSpPr>
        <p:spPr>
          <a:xfrm>
            <a:off x="6095707" y="1660233"/>
            <a:ext cx="5400000" cy="280000"/>
          </a:xfrm>
          <a:prstGeom prst="rect">
            <a:avLst/>
          </a:prstGeom>
          <a:solidFill>
            <a:srgbClr val="EDF3FB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100" b="0" i="0" u="none" strike="noStrike" cap="none" dirty="0">
                <a:latin typeface="Arial"/>
                <a:ea typeface="Arial"/>
                <a:cs typeface="Arial"/>
                <a:sym typeface="Arial"/>
              </a:rPr>
              <a:t>Haridwar  |  Gaya  |  </a:t>
            </a:r>
            <a:r>
              <a:rPr lang="en-IN" sz="1100" dirty="0"/>
              <a:t>Jodhpur etc</a:t>
            </a:r>
            <a:endParaRPr sz="15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ecc9b63667_2_40">
            <a:extLst>
              <a:ext uri="{FF2B5EF4-FFF2-40B4-BE49-F238E27FC236}">
                <a16:creationId xmlns:a16="http://schemas.microsoft.com/office/drawing/2014/main" id="{8A240C94-94D2-72D4-9B27-F49BE0DA4340}"/>
              </a:ext>
            </a:extLst>
          </p:cNvPr>
          <p:cNvSpPr txBox="1"/>
          <p:nvPr/>
        </p:nvSpPr>
        <p:spPr>
          <a:xfrm>
            <a:off x="6095700" y="1940223"/>
            <a:ext cx="5400000" cy="3677544"/>
          </a:xfrm>
          <a:prstGeom prst="rect">
            <a:avLst/>
          </a:prstGeom>
          <a:solidFill>
            <a:srgbClr val="FAFAFA"/>
          </a:solidFill>
          <a:ln w="9525" cap="flat" cmpd="sng">
            <a:solidFill>
              <a:srgbClr val="811C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400" tIns="152400" rIns="152400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N" sz="1500" b="1" i="0" u="none" strike="noStrike" cap="none" dirty="0">
                <a:solidFill>
                  <a:srgbClr val="58AEDB"/>
                </a:solidFill>
                <a:latin typeface="Arial"/>
                <a:ea typeface="Arial"/>
                <a:cs typeface="Arial"/>
                <a:sym typeface="Arial"/>
              </a:rPr>
              <a:t> Di</a:t>
            </a:r>
            <a:r>
              <a:rPr lang="en-IN" sz="1500" b="1" dirty="0">
                <a:solidFill>
                  <a:srgbClr val="58AEDB"/>
                </a:solidFill>
              </a:rPr>
              <a:t>fference in Difference(</a:t>
            </a:r>
            <a:r>
              <a:rPr lang="en-IN" sz="1500" b="1" dirty="0" err="1">
                <a:solidFill>
                  <a:srgbClr val="58AEDB"/>
                </a:solidFill>
              </a:rPr>
              <a:t>DiD</a:t>
            </a:r>
            <a:r>
              <a:rPr lang="en-IN" sz="1500" b="1" dirty="0">
                <a:solidFill>
                  <a:srgbClr val="58AEDB"/>
                </a:solidFill>
              </a:rPr>
              <a:t>)</a:t>
            </a:r>
            <a:endParaRPr sz="1500" b="0" i="0" u="none" strike="noStrike" cap="none" dirty="0">
              <a:solidFill>
                <a:srgbClr val="58AED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Method: Pre-post Difference-in-Differences + GIS exposure analysis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Group B cities, new bus deployment creates a before-and-after evaluation opportunity. The model will track health-related changes before and after bus services begin, comparing people who become connected to the new bus system with people who remain outside the bus catchment area.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treatment group will include respondents whose home/destination becomes connected to new bus routes or stops. The control group will include similar respondents without direct bus access. The Difference-in-Differences model will estimate the actual impact of bus deployment on active travel, pollution exposure, road-safety risk, commute stress, and health outcomes.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ecc9b63667_2_40">
            <a:extLst>
              <a:ext uri="{FF2B5EF4-FFF2-40B4-BE49-F238E27FC236}">
                <a16:creationId xmlns:a16="http://schemas.microsoft.com/office/drawing/2014/main" id="{E950C56F-DD7B-9187-062B-1310675ECA9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457200" lvl="0" indent="-215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</a:pPr>
            <a:r>
              <a:rPr lang="en-IN" sz="1100"/>
              <a:t>Source:</a:t>
            </a:r>
            <a:endParaRPr sz="1300">
              <a:solidFill>
                <a:srgbClr val="0364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790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55CF3F7F-3F59-592D-2277-532E75506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>
            <a:extLst>
              <a:ext uri="{FF2B5EF4-FFF2-40B4-BE49-F238E27FC236}">
                <a16:creationId xmlns:a16="http://schemas.microsoft.com/office/drawing/2014/main" id="{11F30EBF-EA93-9AA1-97BC-BBF7777FBE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Common Input Variables across M2 Models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269" name="Google Shape;269;g3e5213d0914_1_0">
            <a:extLst>
              <a:ext uri="{FF2B5EF4-FFF2-40B4-BE49-F238E27FC236}">
                <a16:creationId xmlns:a16="http://schemas.microsoft.com/office/drawing/2014/main" id="{16754A4A-FC81-8F72-F614-2212D24A92B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317" name="Google Shape;317;g3e5213d0914_1_0">
            <a:extLst>
              <a:ext uri="{FF2B5EF4-FFF2-40B4-BE49-F238E27FC236}">
                <a16:creationId xmlns:a16="http://schemas.microsoft.com/office/drawing/2014/main" id="{A1966A31-F14C-4696-DF8A-7C37A62C7740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2E5536C-1725-1A76-140F-C31220ACA7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3447582"/>
              </p:ext>
            </p:extLst>
          </p:nvPr>
        </p:nvGraphicFramePr>
        <p:xfrm>
          <a:off x="256031" y="740780"/>
          <a:ext cx="11284499" cy="4820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2F528F1-3BA7-AFFE-4246-5C3D7584695C}"/>
              </a:ext>
            </a:extLst>
          </p:cNvPr>
          <p:cNvSpPr txBox="1"/>
          <p:nvPr/>
        </p:nvSpPr>
        <p:spPr>
          <a:xfrm>
            <a:off x="256031" y="5462796"/>
            <a:ext cx="106357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Use across models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These inputs feed ITHIM, HIA/CRA,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DiD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GLM/Regression, Ordered Logit, and GIS exposure models to estimate active travel gains, pollution reduction, injury reduction, stress reduction, DALYs averted, and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hospitalisation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cost savings.</a:t>
            </a:r>
          </a:p>
        </p:txBody>
      </p:sp>
    </p:spTree>
    <p:extLst>
      <p:ext uri="{BB962C8B-B14F-4D97-AF65-F5344CB8AC3E}">
        <p14:creationId xmlns:p14="http://schemas.microsoft.com/office/powerpoint/2010/main" val="2964339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C447BCF1-2965-9D5F-7DCF-D4C76880F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>
            <a:extLst>
              <a:ext uri="{FF2B5EF4-FFF2-40B4-BE49-F238E27FC236}">
                <a16:creationId xmlns:a16="http://schemas.microsoft.com/office/drawing/2014/main" id="{34F589D1-C1AA-0FB7-CA55-144AD21CD4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Expected Outputs from M2: Health Co-benefits Model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269" name="Google Shape;269;g3e5213d0914_1_0">
            <a:extLst>
              <a:ext uri="{FF2B5EF4-FFF2-40B4-BE49-F238E27FC236}">
                <a16:creationId xmlns:a16="http://schemas.microsoft.com/office/drawing/2014/main" id="{BF1C306A-CAFA-168B-1AEB-47470105114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317" name="Google Shape;317;g3e5213d0914_1_0">
            <a:extLst>
              <a:ext uri="{FF2B5EF4-FFF2-40B4-BE49-F238E27FC236}">
                <a16:creationId xmlns:a16="http://schemas.microsoft.com/office/drawing/2014/main" id="{5D43306E-F273-E959-ABE5-55F87E45ACF4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C05E9EB-8853-3A35-1143-2E32B7CFDC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0071003"/>
              </p:ext>
            </p:extLst>
          </p:nvPr>
        </p:nvGraphicFramePr>
        <p:xfrm>
          <a:off x="256031" y="740780"/>
          <a:ext cx="11540262" cy="4622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DBC790E-7509-3A76-5344-35E179A9B073}"/>
              </a:ext>
            </a:extLst>
          </p:cNvPr>
          <p:cNvSpPr txBox="1"/>
          <p:nvPr/>
        </p:nvSpPr>
        <p:spPr>
          <a:xfrm>
            <a:off x="395707" y="5363042"/>
            <a:ext cx="106357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Final Output Format: City-wise health co-benefits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Group-wise benefits by gender, income and vulnerability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Comparison of Group A and Group B cities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Policy-ready indicators for MRV dashboard</a:t>
            </a:r>
          </a:p>
        </p:txBody>
      </p:sp>
    </p:spTree>
    <p:extLst>
      <p:ext uri="{BB962C8B-B14F-4D97-AF65-F5344CB8AC3E}">
        <p14:creationId xmlns:p14="http://schemas.microsoft.com/office/powerpoint/2010/main" val="2156317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58182B2D-D05D-D2A1-BF9C-34B6179FA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>
            <a:extLst>
              <a:ext uri="{FF2B5EF4-FFF2-40B4-BE49-F238E27FC236}">
                <a16:creationId xmlns:a16="http://schemas.microsoft.com/office/drawing/2014/main" id="{8B561821-A81A-3728-BDA4-8F2E212A6D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4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Expected Outputs from M2: Active Travel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317" name="Google Shape;317;g3e5213d0914_1_0">
            <a:extLst>
              <a:ext uri="{FF2B5EF4-FFF2-40B4-BE49-F238E27FC236}">
                <a16:creationId xmlns:a16="http://schemas.microsoft.com/office/drawing/2014/main" id="{A6291CF7-94A6-A24A-E106-D184FC24AF97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B15E75-32C9-AB6E-0125-5959BA4ED969}"/>
                  </a:ext>
                </a:extLst>
              </p:cNvPr>
              <p:cNvSpPr txBox="1"/>
              <p:nvPr/>
            </p:nvSpPr>
            <p:spPr>
              <a:xfrm>
                <a:off x="256032" y="853677"/>
                <a:ext cx="6235994" cy="2328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buNone/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For respondent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:</a:t>
                </a: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𝐴</m:t>
                      </m:r>
                      <m:sSubSup>
                        <m:sSubSupPr>
                          <m:ctrlP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𝑏𝑢𝑠</m:t>
                          </m:r>
                        </m:sup>
                      </m:sSubSup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marR="0">
                  <a:buNone/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Where:</a:t>
                </a:r>
              </a:p>
              <a:p>
                <a:pPr marL="342900" marR="0" lvl="0" indent="-342900"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= access walking to the bus stop </a:t>
                </a:r>
              </a:p>
              <a:p>
                <a:pPr marL="342900" marR="0" lvl="0" indent="-342900"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= transfer walking </a:t>
                </a:r>
              </a:p>
              <a:p>
                <a:pPr marL="342900" marR="0" lvl="0" indent="-342900"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= walking from the final stop </a:t>
                </a:r>
              </a:p>
              <a:p>
                <a:pPr marL="342900" marR="0" lvl="0" indent="-342900"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= cycling connected with the bus journey </a:t>
                </a:r>
              </a:p>
              <a:p>
                <a:pPr marL="342900" marR="0" lvl="0" indent="-342900"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= number of journey directions per day, usually 2 </a:t>
                </a:r>
              </a:p>
              <a:p>
                <a:pPr marL="342900" marR="0" lvl="0" indent="-342900"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= travel days per week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B15E75-32C9-AB6E-0125-5959BA4ED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853677"/>
                <a:ext cx="6235994" cy="2328073"/>
              </a:xfrm>
              <a:prstGeom prst="rect">
                <a:avLst/>
              </a:prstGeom>
              <a:blipFill>
                <a:blip r:embed="rId3"/>
                <a:stretch>
                  <a:fillRect l="-610" t="-1087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2532C1-5075-A582-C77D-48431F05E435}"/>
                  </a:ext>
                </a:extLst>
              </p:cNvPr>
              <p:cNvSpPr txBox="1"/>
              <p:nvPr/>
            </p:nvSpPr>
            <p:spPr>
              <a:xfrm>
                <a:off x="5737412" y="1727416"/>
                <a:ext cx="6235994" cy="4402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𝐴𝑑𝑑𝑖𝑡𝑖𝑜𝑛𝑎𝑙𝐴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𝐴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𝑏𝑢𝑠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𝐴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𝑎𝑙𝑡𝑒𝑟𝑛𝑎𝑡𝑖𝑣𝑒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Suppose alternative two-wheeler travel involves only 30 minutes of walking per week: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𝐴𝑑𝑑𝑖𝑡𝑖𝑜𝑛𝑎𝑙𝐴𝑇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=150−30=120</m:t>
                      </m:r>
                    </m:oMath>
                  </m:oMathPara>
                </a14:m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600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lvl="0">
                  <a:buSzPts val="1000"/>
                  <a:tabLst>
                    <a:tab pos="457200" algn="l"/>
                  </a:tabLst>
                </a:pP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                 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𝐶𝑜𝑛𝑡𝑟𝑖𝑏𝑢𝑡𝑖𝑜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𝐴𝑑𝑑𝑖𝑡𝑖𝑜𝑛𝑎𝑙𝐴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150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US" sz="1600" i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/>
                <a:br>
                  <a:rPr lang="en-US" sz="1600" i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𝐵𝑢𝑠𝑈𝑠𝑒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𝑇𝑟𝑖𝑝𝐷𝑖𝑠𝑡𝑎𝑛𝑐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𝐴𝑔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𝐺𝑒𝑛𝑑𝑒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𝑉𝑒h𝑖𝑐𝑙𝑒𝑂𝑤𝑛𝑒𝑟𝑠h𝑖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𝐶𝑖𝑡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endParaRPr lang="en-US" sz="1600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r>
                  <a:rPr lang="en-US" sz="16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Here:</a:t>
                </a:r>
              </a:p>
              <a:p>
                <a:pPr marL="342900" lvl="0" indent="-342900"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𝐴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= weekly active-travel minutes </a:t>
                </a:r>
              </a:p>
              <a:p>
                <a:pPr marL="342900" lvl="0" indent="-342900"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𝐵𝑢𝑠𝑈𝑠𝑒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= 1 for bus user, 0 for non-bus user </a:t>
                </a:r>
              </a:p>
              <a:p>
                <a:pPr marL="342900" lvl="0" indent="-342900"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= adjusted additional active-travel minutes associated with bus use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2532C1-5075-A582-C77D-48431F05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412" y="1727416"/>
                <a:ext cx="6235994" cy="4402424"/>
              </a:xfrm>
              <a:prstGeom prst="rect">
                <a:avLst/>
              </a:prstGeom>
              <a:blipFill>
                <a:blip r:embed="rId4"/>
                <a:stretch>
                  <a:fillRect l="-407" b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681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FBDFDF76-B0D1-3A7D-8272-5CFB49BA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>
            <a:extLst>
              <a:ext uri="{FF2B5EF4-FFF2-40B4-BE49-F238E27FC236}">
                <a16:creationId xmlns:a16="http://schemas.microsoft.com/office/drawing/2014/main" id="{BA76C827-0471-B086-D7BE-CD17070568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433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Expected Outputs from M2: Active Travel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317" name="Google Shape;317;g3e5213d0914_1_0">
            <a:extLst>
              <a:ext uri="{FF2B5EF4-FFF2-40B4-BE49-F238E27FC236}">
                <a16:creationId xmlns:a16="http://schemas.microsoft.com/office/drawing/2014/main" id="{FDF3BB67-9A0C-23B9-ADBB-A95E474A5378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C43BF7-2DC0-0AF3-6931-DF5A35F4170C}"/>
                  </a:ext>
                </a:extLst>
              </p:cNvPr>
              <p:cNvSpPr txBox="1"/>
              <p:nvPr/>
            </p:nvSpPr>
            <p:spPr>
              <a:xfrm>
                <a:off x="418642" y="1123260"/>
                <a:ext cx="10168568" cy="11085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Access</m:t>
                              </m:r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–</m:t>
                              </m:r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Egress</m:t>
                              </m:r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Distance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= </m:t>
                          </m:r>
                          <m:r>
                            <m:rPr>
                              <m:aln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Mode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Group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Age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Gender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Purpose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Group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OD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Time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Bin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OD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Fare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Bin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OD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Distance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Bin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Trips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per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Week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Bin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Two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Wheeler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Ownership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Four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Wheeler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Ownership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en-US" sz="16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C43BF7-2DC0-0AF3-6931-DF5A35F41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42" y="1123260"/>
                <a:ext cx="10168568" cy="1108509"/>
              </a:xfrm>
              <a:prstGeom prst="rect">
                <a:avLst/>
              </a:prstGeom>
              <a:blipFill>
                <a:blip r:embed="rId3"/>
                <a:stretch>
                  <a:fillRect t="-2273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876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E236AA28-7838-329A-DAA9-D1E136AD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>
            <a:extLst>
              <a:ext uri="{FF2B5EF4-FFF2-40B4-BE49-F238E27FC236}">
                <a16:creationId xmlns:a16="http://schemas.microsoft.com/office/drawing/2014/main" id="{1CB6F7E3-9141-F1D6-6029-4CC8E05D75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433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Expected Outputs from M2: Active Travel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317" name="Google Shape;317;g3e5213d0914_1_0">
            <a:extLst>
              <a:ext uri="{FF2B5EF4-FFF2-40B4-BE49-F238E27FC236}">
                <a16:creationId xmlns:a16="http://schemas.microsoft.com/office/drawing/2014/main" id="{8202182C-C9A8-2E1F-F079-DDA34914FA31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65D8B7-18B4-4196-613A-B2033C091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042320"/>
              </p:ext>
            </p:extLst>
          </p:nvPr>
        </p:nvGraphicFramePr>
        <p:xfrm>
          <a:off x="453749" y="961241"/>
          <a:ext cx="11284501" cy="4910749"/>
        </p:xfrm>
        <a:graphic>
          <a:graphicData uri="http://schemas.openxmlformats.org/drawingml/2006/table">
            <a:tbl>
              <a:tblPr>
                <a:tableStyleId>{AE81EB07-623A-4C59-889D-70DB492CEC25}</a:tableStyleId>
              </a:tblPr>
              <a:tblGrid>
                <a:gridCol w="2478877">
                  <a:extLst>
                    <a:ext uri="{9D8B030D-6E8A-4147-A177-3AD203B41FA5}">
                      <a16:colId xmlns:a16="http://schemas.microsoft.com/office/drawing/2014/main" val="1339599989"/>
                    </a:ext>
                  </a:extLst>
                </a:gridCol>
                <a:gridCol w="1763060">
                  <a:extLst>
                    <a:ext uri="{9D8B030D-6E8A-4147-A177-3AD203B41FA5}">
                      <a16:colId xmlns:a16="http://schemas.microsoft.com/office/drawing/2014/main" val="2680515594"/>
                    </a:ext>
                  </a:extLst>
                </a:gridCol>
                <a:gridCol w="4367837">
                  <a:extLst>
                    <a:ext uri="{9D8B030D-6E8A-4147-A177-3AD203B41FA5}">
                      <a16:colId xmlns:a16="http://schemas.microsoft.com/office/drawing/2014/main" val="2206915150"/>
                    </a:ext>
                  </a:extLst>
                </a:gridCol>
                <a:gridCol w="1740309">
                  <a:extLst>
                    <a:ext uri="{9D8B030D-6E8A-4147-A177-3AD203B41FA5}">
                      <a16:colId xmlns:a16="http://schemas.microsoft.com/office/drawing/2014/main" val="3504387052"/>
                    </a:ext>
                  </a:extLst>
                </a:gridCol>
                <a:gridCol w="934418">
                  <a:extLst>
                    <a:ext uri="{9D8B030D-6E8A-4147-A177-3AD203B41FA5}">
                      <a16:colId xmlns:a16="http://schemas.microsoft.com/office/drawing/2014/main" val="1606298285"/>
                    </a:ext>
                  </a:extLst>
                </a:gridCol>
              </a:tblGrid>
              <a:tr h="47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87698" marR="87698" marT="43849" marB="438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Variable category</a:t>
                      </a:r>
                    </a:p>
                  </a:txBody>
                  <a:tcPr marL="87698" marR="87698" marT="43849" marB="438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Base/reference category</a:t>
                      </a:r>
                    </a:p>
                  </a:txBody>
                  <a:tcPr marL="87698" marR="87698" marT="43849" marB="438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Coefficient (</a:t>
                      </a:r>
                      <a:r>
                        <a:rPr lang="en-US" sz="14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metres</a:t>
                      </a:r>
                      <a:r>
                        <a:rPr lang="en-US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87698" marR="87698" marT="43849" marB="438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p-value</a:t>
                      </a:r>
                    </a:p>
                  </a:txBody>
                  <a:tcPr marL="87698" marR="87698" marT="43849" marB="438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169837"/>
                  </a:ext>
                </a:extLst>
              </a:tr>
              <a:tr h="383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Mode: Rickshaw</a:t>
                      </a:r>
                    </a:p>
                  </a:txBody>
                  <a:tcPr marL="87698" marR="87698" marT="43849" marB="4384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 marL="87698" marR="87698" marT="43849" marB="4384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Two Wheeler</a:t>
                      </a:r>
                    </a:p>
                  </a:txBody>
                  <a:tcPr marL="87698" marR="87698" marT="43849" marB="4384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+179.02</a:t>
                      </a:r>
                    </a:p>
                  </a:txBody>
                  <a:tcPr marL="87698" marR="87698" marT="43849" marB="4384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&lt;0.001</a:t>
                      </a:r>
                    </a:p>
                  </a:txBody>
                  <a:tcPr marL="87698" marR="87698" marT="43849" marB="4384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81052340"/>
                  </a:ext>
                </a:extLst>
              </a:tr>
              <a:tr h="398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Continuous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 applicable; one-year increase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−1.31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0.092</a:t>
                      </a:r>
                    </a:p>
                  </a:txBody>
                  <a:tcPr marL="87698" marR="87698" marT="43849" marB="43849" anchor="ctr"/>
                </a:tc>
                <a:extLst>
                  <a:ext uri="{0D108BD9-81ED-4DB2-BD59-A6C34878D82A}">
                    <a16:rowId xmlns:a16="http://schemas.microsoft.com/office/drawing/2014/main" val="1205573557"/>
                  </a:ext>
                </a:extLst>
              </a:tr>
              <a:tr h="359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Gender: Male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Female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−0.31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0.990</a:t>
                      </a:r>
                    </a:p>
                  </a:txBody>
                  <a:tcPr marL="87698" marR="87698" marT="43849" marB="43849" anchor="ctr"/>
                </a:tc>
                <a:extLst>
                  <a:ext uri="{0D108BD9-81ED-4DB2-BD59-A6C34878D82A}">
                    <a16:rowId xmlns:a16="http://schemas.microsoft.com/office/drawing/2014/main" val="1534424965"/>
                  </a:ext>
                </a:extLst>
              </a:tr>
              <a:tr h="341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Purpose: Work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Other purpose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−1.14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0.965</a:t>
                      </a:r>
                    </a:p>
                  </a:txBody>
                  <a:tcPr marL="87698" marR="87698" marT="43849" marB="43849" anchor="ctr"/>
                </a:tc>
                <a:extLst>
                  <a:ext uri="{0D108BD9-81ED-4DB2-BD59-A6C34878D82A}">
                    <a16:rowId xmlns:a16="http://schemas.microsoft.com/office/drawing/2014/main" val="1382088514"/>
                  </a:ext>
                </a:extLst>
              </a:tr>
              <a:tr h="352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OD time: Short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Long: &gt;10 min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+8.25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0.744</a:t>
                      </a:r>
                    </a:p>
                  </a:txBody>
                  <a:tcPr marL="87698" marR="87698" marT="43849" marB="43849" anchor="ctr"/>
                </a:tc>
                <a:extLst>
                  <a:ext uri="{0D108BD9-81ED-4DB2-BD59-A6C34878D82A}">
                    <a16:rowId xmlns:a16="http://schemas.microsoft.com/office/drawing/2014/main" val="3392072297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OD fare: Low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High: &gt;₹10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−32.32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0.317</a:t>
                      </a:r>
                    </a:p>
                  </a:txBody>
                  <a:tcPr marL="87698" marR="87698" marT="43849" marB="43849" anchor="ctr"/>
                </a:tc>
                <a:extLst>
                  <a:ext uri="{0D108BD9-81ED-4DB2-BD59-A6C34878D82A}">
                    <a16:rowId xmlns:a16="http://schemas.microsoft.com/office/drawing/2014/main" val="2084451661"/>
                  </a:ext>
                </a:extLst>
              </a:tr>
              <a:tr h="374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OD distance: Short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Long: &gt;5 km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−22.79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0.328</a:t>
                      </a:r>
                    </a:p>
                  </a:txBody>
                  <a:tcPr marL="87698" marR="87698" marT="43849" marB="43849" anchor="ctr"/>
                </a:tc>
                <a:extLst>
                  <a:ext uri="{0D108BD9-81ED-4DB2-BD59-A6C34878D82A}">
                    <a16:rowId xmlns:a16="http://schemas.microsoft.com/office/drawing/2014/main" val="206262498"/>
                  </a:ext>
                </a:extLst>
              </a:tr>
              <a:tr h="352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Weekly trips: High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Low: &lt;5 trips/week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−51.64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0.031</a:t>
                      </a:r>
                    </a:p>
                  </a:txBody>
                  <a:tcPr marL="87698" marR="87698" marT="43849" marB="43849" anchor="ctr"/>
                </a:tc>
                <a:extLst>
                  <a:ext uri="{0D108BD9-81ED-4DB2-BD59-A6C34878D82A}">
                    <a16:rowId xmlns:a16="http://schemas.microsoft.com/office/drawing/2014/main" val="1376698256"/>
                  </a:ext>
                </a:extLst>
              </a:tr>
              <a:tr h="47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Two-wheeler ownership: Yes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 two-wheeler owned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+43.72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0.089</a:t>
                      </a:r>
                    </a:p>
                  </a:txBody>
                  <a:tcPr marL="87698" marR="87698" marT="43849" marB="43849" anchor="ctr"/>
                </a:tc>
                <a:extLst>
                  <a:ext uri="{0D108BD9-81ED-4DB2-BD59-A6C34878D82A}">
                    <a16:rowId xmlns:a16="http://schemas.microsoft.com/office/drawing/2014/main" val="2392663365"/>
                  </a:ext>
                </a:extLst>
              </a:tr>
              <a:tr h="47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Four-wheeler ownership: Yes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 four-wheeler owned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+24.72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0.351</a:t>
                      </a:r>
                    </a:p>
                  </a:txBody>
                  <a:tcPr marL="87698" marR="87698" marT="43849" marB="43849" anchor="ctr"/>
                </a:tc>
                <a:extLst>
                  <a:ext uri="{0D108BD9-81ED-4DB2-BD59-A6C34878D82A}">
                    <a16:rowId xmlns:a16="http://schemas.microsoft.com/office/drawing/2014/main" val="2962594024"/>
                  </a:ext>
                </a:extLst>
              </a:tr>
              <a:tr h="581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Constant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Respondent belonging to all base categories, with age = 0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91.14</a:t>
                      </a:r>
                    </a:p>
                  </a:txBody>
                  <a:tcPr marL="87698" marR="87698" marT="43849" marB="438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0.120</a:t>
                      </a:r>
                    </a:p>
                  </a:txBody>
                  <a:tcPr marL="87698" marR="87698" marT="43849" marB="43849" anchor="ctr"/>
                </a:tc>
                <a:extLst>
                  <a:ext uri="{0D108BD9-81ED-4DB2-BD59-A6C34878D82A}">
                    <a16:rowId xmlns:a16="http://schemas.microsoft.com/office/drawing/2014/main" val="3612173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5620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7798578A-FE2C-95F5-8E5D-1303DB71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>
            <a:extLst>
              <a:ext uri="{FF2B5EF4-FFF2-40B4-BE49-F238E27FC236}">
                <a16:creationId xmlns:a16="http://schemas.microsoft.com/office/drawing/2014/main" id="{908C0EDF-28AC-61AC-AD35-F05B60262B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433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Expected Outputs from M2: Reduction in Fatalities 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317" name="Google Shape;317;g3e5213d0914_1_0">
            <a:extLst>
              <a:ext uri="{FF2B5EF4-FFF2-40B4-BE49-F238E27FC236}">
                <a16:creationId xmlns:a16="http://schemas.microsoft.com/office/drawing/2014/main" id="{9AE83E7B-7439-1B65-1324-F3A73608B9F4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CF9B4C-A0C9-2891-8F6D-040D2D5CC7AD}"/>
                  </a:ext>
                </a:extLst>
              </p:cNvPr>
              <p:cNvSpPr txBox="1"/>
              <p:nvPr/>
            </p:nvSpPr>
            <p:spPr>
              <a:xfrm>
                <a:off x="399696" y="711383"/>
                <a:ext cx="8787334" cy="3398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Annual shifted passenger-km from mode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1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en-US" sz="1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Annual</m:t>
                          </m:r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shifted</m:t>
                          </m:r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passenger</m:t>
                          </m:r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km</m:t>
                          </m:r>
                        </m:e>
                        <m:sub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6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600" b="0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600" b="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b="0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6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Where: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number of passengers shifting from mode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 bus per day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average one-way distance replaced by bus, in </a:t>
                </a:r>
                <a:r>
                  <a:rPr lang="en-US" sz="16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kilometres</a:t>
                </a: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number of travel days per year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previous mode, such as car, two-wheeler or auto-rickshaw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When the bus replaces only part of the journey, use only the distance actually replaced by the bus, not the respondent’s complete trip distance.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Total</m:t>
                      </m:r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annual</m:t>
                      </m:r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shifted</m:t>
                      </m:r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passenger</m:t>
                      </m:r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km</m:t>
                      </m:r>
                      <m:r>
                        <a:rPr lang="en-US" sz="1600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Annual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shifted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passenger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km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CF9B4C-A0C9-2891-8F6D-040D2D5CC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96" y="711383"/>
                <a:ext cx="8787334" cy="3398238"/>
              </a:xfrm>
              <a:prstGeom prst="rect">
                <a:avLst/>
              </a:prstGeom>
              <a:blipFill>
                <a:blip r:embed="rId3"/>
                <a:stretch>
                  <a:fillRect l="-433" t="-746" b="-34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6BC351A-9FF4-CFFA-A5CD-388AC511FAEC}"/>
              </a:ext>
            </a:extLst>
          </p:cNvPr>
          <p:cNvSpPr txBox="1"/>
          <p:nvPr/>
        </p:nvSpPr>
        <p:spPr>
          <a:xfrm>
            <a:off x="496515" y="4419513"/>
            <a:ext cx="62394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City A: buses already operating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What is your one-way bus-trip distance? 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How many days per week do you use the bus? 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If this bus were unavailable, which mode would you use? 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Before using the bus, which mode did you normally use? 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Does the bus replace the full trip or only part of it? 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How do you reach and leave the bus stop, and what is the distance?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B1CABD-84A5-13B1-B463-703628E70839}"/>
              </a:ext>
            </a:extLst>
          </p:cNvPr>
          <p:cNvSpPr txBox="1"/>
          <p:nvPr/>
        </p:nvSpPr>
        <p:spPr>
          <a:xfrm>
            <a:off x="6486861" y="4109621"/>
            <a:ext cx="62394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City B: buses will be introduced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What mode do you currently use? 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What is your one-way trip distance? 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How many days per week do you make this trip? 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Would you use the proposed bus service? 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Which current mode would the bus replace? 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Would it replace the full trip or only part of it? 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How many days per week would you use the bus? 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How would you reach and leave the bus stop? </a:t>
            </a:r>
          </a:p>
        </p:txBody>
      </p:sp>
    </p:spTree>
    <p:extLst>
      <p:ext uri="{BB962C8B-B14F-4D97-AF65-F5344CB8AC3E}">
        <p14:creationId xmlns:p14="http://schemas.microsoft.com/office/powerpoint/2010/main" val="2091145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66A598C4-9364-EDBA-9B3E-CC6CF429D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>
            <a:extLst>
              <a:ext uri="{FF2B5EF4-FFF2-40B4-BE49-F238E27FC236}">
                <a16:creationId xmlns:a16="http://schemas.microsoft.com/office/drawing/2014/main" id="{B74A3C34-B6D1-5CA7-42CC-D4AFC5F6F8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433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Expected Outputs from M2: Reduction in Fatalities 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317" name="Google Shape;317;g3e5213d0914_1_0">
            <a:extLst>
              <a:ext uri="{FF2B5EF4-FFF2-40B4-BE49-F238E27FC236}">
                <a16:creationId xmlns:a16="http://schemas.microsoft.com/office/drawing/2014/main" id="{74BE300C-6ABC-8F02-0F51-2FBE20E905CD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6970B6-70ED-5DF6-1260-7889F4317677}"/>
                  </a:ext>
                </a:extLst>
              </p:cNvPr>
              <p:cNvSpPr txBox="1"/>
              <p:nvPr/>
            </p:nvSpPr>
            <p:spPr>
              <a:xfrm>
                <a:off x="399696" y="853677"/>
                <a:ext cx="9551127" cy="44060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Estimating Injuries and Fatalities Avoided Injuries avoided for mode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1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en-US" sz="1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Injuries</m:t>
                          </m:r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avoided</m:t>
                          </m:r>
                        </m:e>
                        <m:sub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6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Annual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shifted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passenger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km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16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6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𝑏𝑢𝑠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600" b="0" i="0">
                              <a:latin typeface="Cambria Math" panose="02040503050406030204" pitchFamily="18" charset="0"/>
                            </a:rPr>
                            <m:t>100,000,000</m:t>
                          </m:r>
                        </m:den>
                      </m:f>
                    </m:oMath>
                  </m:oMathPara>
                </a14:m>
                <a:endParaRPr lang="en-US" sz="16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Where: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injury rate of the previous mode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expressed as injuries per 100 million passenger-km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𝑏𝑢𝑠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corresponding bus injury rate per 100 million passenger-km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𝑏𝑢𝑠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reduction in injury risk when travel shifts from mode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 bus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Total injuries avoided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Total</m:t>
                      </m:r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injuries</m:t>
                      </m:r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avoided</m:t>
                      </m:r>
                      <m:r>
                        <a:rPr lang="en-US" sz="1600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Injuries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avoided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en-US" sz="16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same method can be used for fatalities by replacing the injury rates with fatality rates:</a:t>
                </a:r>
              </a:p>
              <a:p>
                <a:pPr>
                  <a:buNone/>
                </a:pP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Fatalities</m:t>
                          </m:r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b="0" i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avoided</m:t>
                          </m:r>
                        </m:e>
                        <m:sub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6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Annual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shifted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passenger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1600" b="0" i="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km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16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6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𝑏𝑢𝑠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600" b="0" i="0">
                              <a:latin typeface="Cambria Math" panose="02040503050406030204" pitchFamily="18" charset="0"/>
                            </a:rPr>
                            <m:t>100,000,000</m:t>
                          </m:r>
                        </m:den>
                      </m:f>
                    </m:oMath>
                  </m:oMathPara>
                </a14:m>
                <a:endParaRPr lang="en-US" sz="16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6970B6-70ED-5DF6-1260-7889F4317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96" y="853677"/>
                <a:ext cx="9551127" cy="4406078"/>
              </a:xfrm>
              <a:prstGeom prst="rect">
                <a:avLst/>
              </a:prstGeom>
              <a:blipFill>
                <a:blip r:embed="rId3"/>
                <a:stretch>
                  <a:fillRect l="-398" t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805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6C82D889-1530-48FE-B757-45F54AC88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>
            <a:extLst>
              <a:ext uri="{FF2B5EF4-FFF2-40B4-BE49-F238E27FC236}">
                <a16:creationId xmlns:a16="http://schemas.microsoft.com/office/drawing/2014/main" id="{85676327-2DB8-BAD0-61AD-47D8F2F872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433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Expected Outputs from M1:City A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317" name="Google Shape;317;g3e5213d0914_1_0">
            <a:extLst>
              <a:ext uri="{FF2B5EF4-FFF2-40B4-BE49-F238E27FC236}">
                <a16:creationId xmlns:a16="http://schemas.microsoft.com/office/drawing/2014/main" id="{C80BA630-B3B7-425A-F481-152266965A0B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4554D1-9DDB-65E5-E572-45DBBD496470}"/>
                  </a:ext>
                </a:extLst>
              </p:cNvPr>
              <p:cNvSpPr txBox="1"/>
              <p:nvPr/>
            </p:nvSpPr>
            <p:spPr>
              <a:xfrm>
                <a:off x="399696" y="853677"/>
                <a:ext cx="9551127" cy="4399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City A: Existing bus-service cities</a:t>
                </a:r>
              </a:p>
              <a:p>
                <a:r>
                  <a:rPr lang="en-US" sz="1600" b="1" dirty="0"/>
                  <a:t>Cross-sectional multilevel regression</a:t>
                </a:r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=&amp;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𝐵𝑢𝑠𝐴𝑐𝑐𝑒𝑠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&amp;+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𝐵𝑢𝑠𝐴𝑐𝑐𝑒𝑠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&amp;+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eqArr>
                        </m:e>
                      </m:borderBox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/>
                  <a:t>: outcome for person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/>
                  <a:t>in ward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600" dirty="0"/>
                  <a:t>, such as monthly transport expenditure.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𝐵𝑢𝑠𝐴𝑐𝑐𝑒𝑠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/>
                  <a:t>: respondent lives within the defined bus-access catchment; otherwise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.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/>
                  <a:t>: vulnerability index, ranging from 0 to 1.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𝐵𝑢𝑠𝐴𝑐𝑐𝑒𝑠𝑠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𝑉𝐼</m:t>
                    </m:r>
                  </m:oMath>
                </a14:m>
                <a:r>
                  <a:rPr lang="en-US" sz="1600" dirty="0"/>
                  <a:t>: checks whether bus-access benefits differ according to vulnerability.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/>
                  <a:t>: individual or household controls.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/>
                  <a:t>: observed ward-level controls.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/>
                  <a:t>: unobserved ward-level effect. </a:t>
                </a:r>
              </a:p>
              <a:p>
                <a:pPr lvl="0"/>
                <a:endParaRPr lang="en-US" sz="1600" dirty="0"/>
              </a:p>
              <a:p>
                <a:pPr>
                  <a:buNone/>
                </a:pPr>
                <a:endParaRPr lang="en-US" sz="16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4554D1-9DDB-65E5-E572-45DBBD496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96" y="853677"/>
                <a:ext cx="9551127" cy="4399602"/>
              </a:xfrm>
              <a:prstGeom prst="rect">
                <a:avLst/>
              </a:prstGeom>
              <a:blipFill>
                <a:blip r:embed="rId3"/>
                <a:stretch>
                  <a:fillRect l="-398" t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735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E60411A7-CC43-9372-F1B2-A84CAE68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>
            <a:extLst>
              <a:ext uri="{FF2B5EF4-FFF2-40B4-BE49-F238E27FC236}">
                <a16:creationId xmlns:a16="http://schemas.microsoft.com/office/drawing/2014/main" id="{D01209DD-9651-652E-A229-0DED8E9D68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032" y="225653"/>
            <a:ext cx="11284500" cy="433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r>
              <a:rPr lang="en-US" dirty="0"/>
              <a:t>Expected Outputs from M2: City B</a:t>
            </a:r>
            <a:endParaRPr sz="1600" b="0" dirty="0">
              <a:solidFill>
                <a:srgbClr val="009CD8"/>
              </a:solidFill>
            </a:endParaRPr>
          </a:p>
        </p:txBody>
      </p:sp>
      <p:sp>
        <p:nvSpPr>
          <p:cNvPr id="317" name="Google Shape;317;g3e5213d0914_1_0">
            <a:extLst>
              <a:ext uri="{FF2B5EF4-FFF2-40B4-BE49-F238E27FC236}">
                <a16:creationId xmlns:a16="http://schemas.microsoft.com/office/drawing/2014/main" id="{7B3F62B1-2D57-B793-1A26-E96CE24FA968}"/>
              </a:ext>
            </a:extLst>
          </p:cNvPr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r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A166F5-7551-3749-80E0-6BCF2B93F20A}"/>
                  </a:ext>
                </a:extLst>
              </p:cNvPr>
              <p:cNvSpPr txBox="1"/>
              <p:nvPr/>
            </p:nvSpPr>
            <p:spPr>
              <a:xfrm>
                <a:off x="399696" y="853677"/>
                <a:ext cx="9551127" cy="45068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City B: New bus-service cities</a:t>
                </a:r>
              </a:p>
              <a:p>
                <a:r>
                  <a:rPr lang="en-US" sz="1600" b="1" dirty="0"/>
                  <a:t>Difference-in-Differences with vulnerability interaction</a:t>
                </a:r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𝑖𝑗𝑡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=&amp;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𝐵𝑢𝑠𝐴𝑐𝑐𝑒𝑠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𝑃𝑜𝑠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&amp;+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𝐵𝑢𝑠𝐴𝑐𝑐𝑒𝑠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𝑃𝑜𝑠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&amp;+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𝐵𝑢𝑠𝐴𝑐𝑐𝑒𝑠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&amp;+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𝑃𝑜𝑠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&amp;+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𝐵𝑢𝑠𝐴𝑐𝑐𝑒𝑠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𝑃𝑜𝑠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&amp;+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𝑖𝑗𝑡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𝑖𝑗𝑡</m:t>
                                  </m:r>
                                </m:sub>
                              </m:sSub>
                            </m:e>
                          </m:eqArr>
                        </m:e>
                      </m:borderBox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/>
                  <a:t>Where: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𝐵𝑢𝑠𝐴𝑐𝑐𝑒𝑠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0"/>
                                  <m:t>respondent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belongs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to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bus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access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treatment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area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0"/>
                                  <m:t>respondent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belongs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to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control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area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𝑃𝑜𝑠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0"/>
                                  <m:t>before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bus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introduction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0"/>
                                  <m:t>after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bus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introduction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A166F5-7551-3749-80E0-6BCF2B93F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96" y="853677"/>
                <a:ext cx="9551127" cy="4506811"/>
              </a:xfrm>
              <a:prstGeom prst="rect">
                <a:avLst/>
              </a:prstGeom>
              <a:blipFill>
                <a:blip r:embed="rId3"/>
                <a:stretch>
                  <a:fillRect l="-398" t="-563" b="-27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1915472"/>
      </p:ext>
    </p:extLst>
  </p:cSld>
  <p:clrMapOvr>
    <a:masterClrMapping/>
  </p:clrMapOvr>
</p:sld>
</file>

<file path=ppt/theme/theme1.xml><?xml version="1.0" encoding="utf-8"?>
<a:theme xmlns:a="http://schemas.openxmlformats.org/drawingml/2006/main" name="CEEW - PPT Template 28Mar18">
  <a:themeElements>
    <a:clrScheme name="CEEW">
      <a:dk1>
        <a:srgbClr val="000000"/>
      </a:dk1>
      <a:lt1>
        <a:srgbClr val="FFFFFF"/>
      </a:lt1>
      <a:dk2>
        <a:srgbClr val="777877"/>
      </a:dk2>
      <a:lt2>
        <a:srgbClr val="FFFFFE"/>
      </a:lt2>
      <a:accent1>
        <a:srgbClr val="009ED8"/>
      </a:accent1>
      <a:accent2>
        <a:srgbClr val="F16223"/>
      </a:accent2>
      <a:accent3>
        <a:srgbClr val="86BB3F"/>
      </a:accent3>
      <a:accent4>
        <a:srgbClr val="929497"/>
      </a:accent4>
      <a:accent5>
        <a:srgbClr val="FFFFFE"/>
      </a:accent5>
      <a:accent6>
        <a:srgbClr val="FFFFFE"/>
      </a:accent6>
      <a:hlink>
        <a:srgbClr val="0D81B9"/>
      </a:hlink>
      <a:folHlink>
        <a:srgbClr val="0D81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1890</TotalTime>
  <Words>3225</Words>
  <Application>Microsoft Macintosh PowerPoint</Application>
  <PresentationFormat>Widescreen</PresentationFormat>
  <Paragraphs>456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Symbol</vt:lpstr>
      <vt:lpstr>Cambria Math</vt:lpstr>
      <vt:lpstr>CEEW - PPT Template 28Mar18</vt:lpstr>
      <vt:lpstr>Efficiency and Bus Fleet Management: Strategic Communications and quantifying GHG and other co-benefits (#BBUS) M1 &amp; M3 LR+Model+ Framework+Questionnaire </vt:lpstr>
      <vt:lpstr>Impacting sustainable development at scale with data, integrated analysis, and strategic outreach</vt:lpstr>
      <vt:lpstr>The project’s key components </vt:lpstr>
      <vt:lpstr>Criteria for study geography selection</vt:lpstr>
      <vt:lpstr>Geographies in focus</vt:lpstr>
      <vt:lpstr>Geographies in focus</vt:lpstr>
      <vt:lpstr>PM e-Bus Sewa scheme is launching public bus transport in 100+ Indian cities </vt:lpstr>
      <vt:lpstr>Geographies in focus</vt:lpstr>
      <vt:lpstr>Structure of the Presentation – Model 2</vt:lpstr>
      <vt:lpstr>Deep dive in M2: Health Co-benefits Model Literature review — geographic coverage &amp; key papers (Use 11 papers)</vt:lpstr>
      <vt:lpstr>Deep dive in M2: Health Co-benefits Model Pathways of Health Benefits from Bus-Based Public Transport</vt:lpstr>
      <vt:lpstr>Deep dive in M2: Health Co-benefits Model Models identified from literature</vt:lpstr>
      <vt:lpstr>Deep dive in M2: Health Co-benefits Model Groupwise Model Selection</vt:lpstr>
      <vt:lpstr>Common Input Variables across M2 Models</vt:lpstr>
      <vt:lpstr>Expected Outputs from M2: Health Co-benefits Model</vt:lpstr>
      <vt:lpstr>Expected Outputs from M2: Active Travel</vt:lpstr>
      <vt:lpstr>Expected Outputs from M2: Active Travel</vt:lpstr>
      <vt:lpstr>Expected Outputs from M2: Active Travel</vt:lpstr>
      <vt:lpstr>Expected Outputs from M2: Reduction in Fatalities </vt:lpstr>
      <vt:lpstr>Expected Outputs from M2: Reduction in Fatalities </vt:lpstr>
      <vt:lpstr>Expected Outputs from M1:City A</vt:lpstr>
      <vt:lpstr>Expected Outputs from M2: City 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prince patel</cp:lastModifiedBy>
  <cp:revision>10</cp:revision>
  <dcterms:modified xsi:type="dcterms:W3CDTF">2026-07-21T02:56:07Z</dcterms:modified>
</cp:coreProperties>
</file>
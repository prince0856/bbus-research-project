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12"/>
  </p:notesMasterIdLst>
  <p:sldIdLst>
    <p:sldId id="307" r:id="rId2"/>
    <p:sldId id="257" r:id="rId3"/>
    <p:sldId id="306" r:id="rId4"/>
    <p:sldId id="258" r:id="rId5"/>
    <p:sldId id="280" r:id="rId6"/>
    <p:sldId id="303" r:id="rId7"/>
    <p:sldId id="304" r:id="rId8"/>
    <p:sldId id="305" r:id="rId9"/>
    <p:sldId id="286" r:id="rId10"/>
    <p:sldId id="279" r:id="rId11"/>
  </p:sldIdLst>
  <p:sldSz cx="12192000" cy="6858000"/>
  <p:notesSz cx="6858000" cy="9144000"/>
  <p:embeddedFontLst>
    <p:embeddedFont>
      <p:font typeface="Familjen Grotesk" pitchFamily="2" charset="77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B6771E-921D-439D-9DBA-B1B22E315681}">
  <a:tblStyle styleId="{C0B6771E-921D-439D-9DBA-B1B22E31568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FF8"/>
          </a:solidFill>
        </a:fill>
      </a:tcStyle>
    </a:wholeTbl>
    <a:band1H>
      <a:tcTxStyle b="off" i="off"/>
      <a:tcStyle>
        <a:tcBdr/>
        <a:fill>
          <a:solidFill>
            <a:srgbClr val="CADEF0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EF0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75" tIns="45525" rIns="91075" bIns="455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18 states, 52 ongoing engagements.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/>
          </a:p>
        </p:txBody>
      </p:sp>
      <p:sp>
        <p:nvSpPr>
          <p:cNvPr id="48" name="Google Shape;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19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f07bbfc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52" name="Google Shape;52;g3a1f07bbf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3834064" y="0"/>
            <a:ext cx="8386000" cy="6858000"/>
          </a:xfrm>
          <a:prstGeom prst="rect">
            <a:avLst/>
          </a:prstGeom>
          <a:solidFill>
            <a:srgbClr val="E9E9E9"/>
          </a:solidFill>
          <a:ln>
            <a:noFill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4165600" y="2695073"/>
            <a:ext cx="7812400" cy="1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4165600" y="4319588"/>
            <a:ext cx="4540400" cy="1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2"/>
          </p:nvPr>
        </p:nvSpPr>
        <p:spPr>
          <a:xfrm>
            <a:off x="4165600" y="6303963"/>
            <a:ext cx="7812400" cy="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4134" y="2839400"/>
            <a:ext cx="2480433" cy="13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200" b="1" cap="none">
                <a:solidFill>
                  <a:srgbClr val="009C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395705" y="988341"/>
            <a:ext cx="11284400" cy="4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55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5" name="Google Shape;25;p3"/>
          <p:cNvCxnSpPr/>
          <p:nvPr/>
        </p:nvCxnSpPr>
        <p:spPr>
          <a:xfrm rot="10800000" flipH="1">
            <a:off x="395705" y="6627432"/>
            <a:ext cx="10315200" cy="9600"/>
          </a:xfrm>
          <a:prstGeom prst="straightConnector1">
            <a:avLst/>
          </a:prstGeom>
          <a:noFill/>
          <a:ln w="9525" cap="flat" cmpd="sng">
            <a:solidFill>
              <a:srgbClr val="8D8F9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3"/>
          <p:cNvSpPr txBox="1">
            <a:spLocks noGrp="1"/>
          </p:cNvSpPr>
          <p:nvPr>
            <p:ph type="body" idx="2"/>
          </p:nvPr>
        </p:nvSpPr>
        <p:spPr>
          <a:xfrm>
            <a:off x="395707" y="6627432"/>
            <a:ext cx="9740800" cy="23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 cap="none">
                <a:solidFill>
                  <a:srgbClr val="9D9D9C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wo Colum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354419" y="226512"/>
            <a:ext cx="11228000" cy="8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200" b="1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354419" y="1152456"/>
            <a:ext cx="5640000" cy="45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933">
                <a:solidFill>
                  <a:srgbClr val="575756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2286000" lvl="4" indent="-330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97600" y="1152456"/>
            <a:ext cx="5384800" cy="45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933">
                <a:solidFill>
                  <a:srgbClr val="575756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2286000" lvl="4" indent="-330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354419" y="6631487"/>
            <a:ext cx="10315200" cy="227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 b="0" cap="none">
                <a:solidFill>
                  <a:srgbClr val="9D9D9C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7" name="Google Shape;37;p6"/>
          <p:cNvCxnSpPr/>
          <p:nvPr/>
        </p:nvCxnSpPr>
        <p:spPr>
          <a:xfrm rot="10800000" flipH="1">
            <a:off x="395705" y="6636957"/>
            <a:ext cx="10315200" cy="9600"/>
          </a:xfrm>
          <a:prstGeom prst="straightConnector1">
            <a:avLst/>
          </a:prstGeom>
          <a:noFill/>
          <a:ln w="9525" cap="flat" cmpd="sng">
            <a:solidFill>
              <a:srgbClr val="8D8F93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Layout">
  <p:cSld name="Section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661288" y="4389057"/>
            <a:ext cx="11411200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3733">
                <a:solidFill>
                  <a:srgbClr val="009C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body" idx="1"/>
          </p:nvPr>
        </p:nvSpPr>
        <p:spPr>
          <a:xfrm>
            <a:off x="582992" y="4005943"/>
            <a:ext cx="114132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rgbClr val="575756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sldNum" idx="12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cxnSp>
        <p:nvCxnSpPr>
          <p:cNvPr id="27" name="Google Shape;27;p27"/>
          <p:cNvCxnSpPr/>
          <p:nvPr/>
        </p:nvCxnSpPr>
        <p:spPr>
          <a:xfrm rot="10800000" flipH="1">
            <a:off x="395705" y="6408357"/>
            <a:ext cx="10315200" cy="9600"/>
          </a:xfrm>
          <a:prstGeom prst="straightConnector1">
            <a:avLst/>
          </a:prstGeom>
          <a:noFill/>
          <a:ln w="9525" cap="flat" cmpd="sng">
            <a:solidFill>
              <a:srgbClr val="8D8F9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8" name="Google Shape;2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42215" y="5869659"/>
            <a:ext cx="1152389" cy="8666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245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74317" y="194428"/>
            <a:ext cx="11411200" cy="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77509" y="1105471"/>
            <a:ext cx="11390000" cy="4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374317" y="6356351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9D9D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9D9D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9415604" y="6590193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975768" y="6179275"/>
            <a:ext cx="1022449" cy="5423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4" r:id="rId5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>
            <a:spLocks noGrp="1"/>
          </p:cNvSpPr>
          <p:nvPr>
            <p:ph type="title"/>
          </p:nvPr>
        </p:nvSpPr>
        <p:spPr>
          <a:xfrm>
            <a:off x="4165600" y="2567453"/>
            <a:ext cx="7812300" cy="656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E71"/>
              </a:buClr>
              <a:buSzPts val="3200"/>
              <a:buNone/>
            </a:pPr>
            <a:r>
              <a:rPr lang="en-IN" sz="3466" dirty="0">
                <a:solidFill>
                  <a:srgbClr val="6C6E71"/>
                </a:solidFill>
              </a:rPr>
              <a:t>Efficiency and Bus Fleet Management:</a:t>
            </a:r>
            <a:endParaRPr sz="3466" dirty="0">
              <a:solidFill>
                <a:srgbClr val="6C6E71"/>
              </a:solidFill>
            </a:endParaRPr>
          </a:p>
        </p:txBody>
      </p:sp>
      <p:sp>
        <p:nvSpPr>
          <p:cNvPr id="47" name="Google Shape;47;p1"/>
          <p:cNvSpPr txBox="1">
            <a:spLocks noGrp="1"/>
          </p:cNvSpPr>
          <p:nvPr>
            <p:ph type="body" idx="1"/>
          </p:nvPr>
        </p:nvSpPr>
        <p:spPr>
          <a:xfrm>
            <a:off x="4165600" y="3862103"/>
            <a:ext cx="4540400" cy="1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2000" b="1" dirty="0">
                <a:solidFill>
                  <a:schemeClr val="accent1"/>
                </a:solidFill>
              </a:rPr>
              <a:t>Sustainable Mobility Team</a:t>
            </a:r>
            <a:endParaRPr sz="2000"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1" dirty="0">
              <a:solidFill>
                <a:srgbClr val="6C6E7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427"/>
              </a:spcBef>
              <a:spcAft>
                <a:spcPts val="0"/>
              </a:spcAft>
              <a:buClr>
                <a:srgbClr val="6C6E71"/>
              </a:buClr>
              <a:buSzPts val="1120"/>
              <a:buNone/>
            </a:pPr>
            <a:r>
              <a:rPr lang="en-IN" sz="1627" dirty="0">
                <a:solidFill>
                  <a:srgbClr val="6C6E71"/>
                </a:solidFill>
              </a:rPr>
              <a:t>Partner Briefing — Gandhinagar Municipal Corporation</a:t>
            </a:r>
            <a:endParaRPr sz="1627" dirty="0">
              <a:solidFill>
                <a:srgbClr val="6C6E7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427"/>
              </a:spcBef>
              <a:spcAft>
                <a:spcPts val="0"/>
              </a:spcAft>
              <a:buClr>
                <a:srgbClr val="6C6E71"/>
              </a:buClr>
              <a:buSzPts val="1120"/>
              <a:buNone/>
            </a:pPr>
            <a:endParaRPr sz="1627" dirty="0">
              <a:solidFill>
                <a:srgbClr val="6C6E7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427"/>
              </a:spcBef>
              <a:spcAft>
                <a:spcPts val="0"/>
              </a:spcAft>
              <a:buClr>
                <a:srgbClr val="6C6E71"/>
              </a:buClr>
              <a:buSzPts val="1120"/>
              <a:buNone/>
            </a:pPr>
            <a:endParaRPr sz="1627" dirty="0">
              <a:solidFill>
                <a:srgbClr val="6C6E7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427"/>
              </a:spcBef>
              <a:spcAft>
                <a:spcPts val="0"/>
              </a:spcAft>
              <a:buClr>
                <a:srgbClr val="6C6E71"/>
              </a:buClr>
              <a:buSzPts val="1120"/>
              <a:buNone/>
            </a:pPr>
            <a:r>
              <a:rPr lang="en-IN" sz="1627" dirty="0">
                <a:solidFill>
                  <a:srgbClr val="6C6E71"/>
                </a:solidFill>
              </a:rPr>
              <a:t>04 August 2026</a:t>
            </a:r>
            <a:endParaRPr sz="2000" b="1" dirty="0">
              <a:solidFill>
                <a:schemeClr val="accent1"/>
              </a:solidFill>
            </a:endParaRPr>
          </a:p>
        </p:txBody>
      </p:sp>
      <p:sp>
        <p:nvSpPr>
          <p:cNvPr id="48" name="Google Shape;48;p1"/>
          <p:cNvSpPr txBox="1">
            <a:spLocks noGrp="1"/>
          </p:cNvSpPr>
          <p:nvPr>
            <p:ph type="body" idx="2"/>
          </p:nvPr>
        </p:nvSpPr>
        <p:spPr>
          <a:xfrm>
            <a:off x="4165600" y="6303963"/>
            <a:ext cx="7812400" cy="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IN" sz="1733">
                <a:solidFill>
                  <a:srgbClr val="575756"/>
                </a:solidFill>
              </a:rPr>
              <a:t>© Council on Energy, Environment and Water, 2026</a:t>
            </a:r>
            <a:endParaRPr>
              <a:solidFill>
                <a:srgbClr val="575756"/>
              </a:solidFill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-35733" y="53575"/>
            <a:ext cx="3839600" cy="62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9"/>
              <a:buFont typeface="Arial"/>
              <a:buNone/>
            </a:pPr>
            <a:endParaRPr sz="248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/>
        </p:nvSpPr>
        <p:spPr>
          <a:xfrm>
            <a:off x="8166025" y="2275550"/>
            <a:ext cx="3877500" cy="3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750" tIns="73350" rIns="146750" bIns="7335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rgbClr val="000000"/>
              </a:buClr>
              <a:buSzPts val="1806"/>
              <a:buFont typeface="Arial"/>
              <a:buNone/>
            </a:pPr>
            <a:r>
              <a:rPr lang="en-IN" sz="16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16 </a:t>
            </a:r>
            <a:r>
              <a:rPr lang="en-IN" sz="1600" b="0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years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rgbClr val="000000"/>
              </a:buClr>
              <a:buSzPts val="1806"/>
              <a:buFont typeface="Arial"/>
              <a:buNone/>
            </a:pPr>
            <a:r>
              <a:rPr lang="en-IN" sz="16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16 </a:t>
            </a:r>
            <a:r>
              <a:rPr lang="en-IN" sz="1600" b="0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research teams</a:t>
            </a:r>
            <a:endParaRPr sz="1600" b="0" i="0" u="none" strike="noStrike" cap="non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rgbClr val="000000"/>
              </a:buClr>
              <a:buSzPts val="1806"/>
              <a:buFont typeface="Arial"/>
              <a:buNone/>
            </a:pPr>
            <a:r>
              <a:rPr lang="en-IN" sz="16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400+ </a:t>
            </a:r>
            <a:r>
              <a:rPr lang="en-IN" sz="1600" b="0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sz="1600" b="0" i="0" u="none" strike="noStrike" cap="non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rgbClr val="000000"/>
              </a:buClr>
              <a:buSzPts val="1806"/>
              <a:buFont typeface="Arial"/>
              <a:buNone/>
            </a:pPr>
            <a:r>
              <a:rPr lang="en-IN" sz="16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680+ </a:t>
            </a:r>
            <a:r>
              <a:rPr lang="en-IN" sz="1600" b="0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peer-reviewed studies</a:t>
            </a:r>
            <a:endParaRPr sz="1600" b="0" i="0" u="none" strike="noStrike" cap="non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43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500" b="1" i="0" u="none" strike="noStrike" cap="non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chemeClr val="dk1"/>
              </a:buClr>
              <a:buSzPts val="1806"/>
              <a:buFont typeface="Arial"/>
              <a:buNone/>
            </a:pPr>
            <a:r>
              <a:rPr lang="en-IN" sz="16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240+ </a:t>
            </a:r>
            <a:r>
              <a:rPr lang="en-IN" sz="1600" b="0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policies &amp; plans informed </a:t>
            </a:r>
            <a:endParaRPr sz="1600" b="0" i="0" u="none" strike="noStrike" cap="non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chemeClr val="dk1"/>
              </a:buClr>
              <a:buSzPts val="1806"/>
              <a:buFont typeface="Arial"/>
              <a:buNone/>
            </a:pPr>
            <a:r>
              <a:rPr lang="en-IN" sz="16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80,000+ </a:t>
            </a:r>
            <a:r>
              <a:rPr lang="en-IN" sz="1600" b="0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livelihoods enabled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43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500" b="1" i="0" u="none" strike="noStrike" cap="non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rgbClr val="000000"/>
              </a:buClr>
              <a:buSzPts val="1806"/>
              <a:buFont typeface="Arial"/>
              <a:buNone/>
            </a:pPr>
            <a:r>
              <a:rPr lang="en-IN" sz="16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770+</a:t>
            </a:r>
            <a:r>
              <a:rPr lang="en-IN" sz="1600" b="0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 convenings </a:t>
            </a:r>
            <a:endParaRPr sz="1600" b="0" i="0" u="none" strike="noStrike" cap="non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rgbClr val="000000"/>
              </a:buClr>
              <a:buSzPts val="1806"/>
              <a:buFont typeface="Arial"/>
              <a:buNone/>
            </a:pPr>
            <a:r>
              <a:rPr lang="en-IN" sz="16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800+ </a:t>
            </a:r>
            <a:r>
              <a:rPr lang="en-IN" sz="1600" b="0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opinion pieces  </a:t>
            </a:r>
            <a:endParaRPr sz="1600" b="0" i="0" u="none" strike="noStrike" cap="non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43"/>
              </a:spcBef>
              <a:spcAft>
                <a:spcPts val="0"/>
              </a:spcAft>
              <a:buClr>
                <a:schemeClr val="dk1"/>
              </a:buClr>
              <a:buSzPts val="1806"/>
              <a:buFont typeface="Arial"/>
              <a:buNone/>
            </a:pPr>
            <a:r>
              <a:rPr lang="en-IN" sz="16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52 mn </a:t>
            </a:r>
            <a:r>
              <a:rPr lang="en-IN" sz="1600" b="0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reached via films &amp; documentaries </a:t>
            </a:r>
            <a:endParaRPr sz="1600" b="0" i="0" u="none" strike="noStrike" cap="none">
              <a:solidFill>
                <a:srgbClr val="595A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8" title="MapChart_Map (3).png"/>
          <p:cNvPicPr preferRelativeResize="0"/>
          <p:nvPr/>
        </p:nvPicPr>
        <p:blipFill rotWithShape="1">
          <a:blip r:embed="rId3">
            <a:alphaModFix/>
          </a:blip>
          <a:srcRect b="2591"/>
          <a:stretch/>
        </p:blipFill>
        <p:spPr>
          <a:xfrm>
            <a:off x="2869707" y="1675271"/>
            <a:ext cx="4163751" cy="48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415335" y="255122"/>
            <a:ext cx="113334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00" rIns="0" bIns="60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en-IN" sz="2200"/>
              <a:t>Impacting sustainable development at scale with data, integrated analysis, and strategic outreach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endParaRPr sz="230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4294967295"/>
          </p:nvPr>
        </p:nvSpPr>
        <p:spPr>
          <a:xfrm>
            <a:off x="-276585" y="6297039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00" rIns="121900" bIns="609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IN"/>
              <a:t>2</a:t>
            </a:fld>
            <a:r>
              <a:rPr lang="en-IN" sz="1300"/>
              <a:t>|</a:t>
            </a:r>
            <a:endParaRPr sz="1300"/>
          </a:p>
        </p:txBody>
      </p:sp>
      <p:cxnSp>
        <p:nvCxnSpPr>
          <p:cNvPr id="54" name="Google Shape;54;p8"/>
          <p:cNvCxnSpPr/>
          <p:nvPr/>
        </p:nvCxnSpPr>
        <p:spPr>
          <a:xfrm rot="10800000" flipH="1">
            <a:off x="441042" y="1944238"/>
            <a:ext cx="11333400" cy="45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5" name="Google Shape;55;p8"/>
          <p:cNvCxnSpPr/>
          <p:nvPr/>
        </p:nvCxnSpPr>
        <p:spPr>
          <a:xfrm rot="10800000" flipH="1">
            <a:off x="400825" y="1131679"/>
            <a:ext cx="11333400" cy="45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6" name="Google Shape;56;p8"/>
          <p:cNvSpPr/>
          <p:nvPr/>
        </p:nvSpPr>
        <p:spPr>
          <a:xfrm>
            <a:off x="6331357" y="1327401"/>
            <a:ext cx="1423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1"/>
              <a:buFont typeface="Arial"/>
              <a:buNone/>
            </a:pPr>
            <a:r>
              <a:rPr lang="en-IN" sz="1500" b="1" i="0" u="none" strike="noStrike" cap="non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Improving quality of life</a:t>
            </a:r>
            <a:endParaRPr sz="1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/>
          <p:nvPr/>
        </p:nvSpPr>
        <p:spPr>
          <a:xfrm>
            <a:off x="1090675" y="1343822"/>
            <a:ext cx="941653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1"/>
              <a:buFont typeface="Arial"/>
              <a:buNone/>
            </a:pPr>
            <a:r>
              <a:rPr lang="en-IN" sz="1500" b="1" i="0" u="none" strike="noStrike" cap="non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Clean electricity </a:t>
            </a:r>
            <a:endParaRPr sz="1500" b="1" i="0" u="none" strike="noStrike" cap="none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/>
          <p:nvPr/>
        </p:nvSpPr>
        <p:spPr>
          <a:xfrm>
            <a:off x="8567729" y="1321330"/>
            <a:ext cx="12864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1"/>
              <a:buFont typeface="Arial"/>
              <a:buNone/>
            </a:pPr>
            <a:r>
              <a:rPr lang="en-IN" sz="1500" b="1" i="0" u="none" strike="noStrike" cap="non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Green economy &amp; livelihoods</a:t>
            </a:r>
            <a:endParaRPr sz="1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8"/>
          <p:cNvSpPr/>
          <p:nvPr/>
        </p:nvSpPr>
        <p:spPr>
          <a:xfrm>
            <a:off x="2736392" y="1349707"/>
            <a:ext cx="13479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1"/>
              <a:buFont typeface="Arial"/>
              <a:buNone/>
            </a:pPr>
            <a:r>
              <a:rPr lang="en-IN" sz="1500" b="1" i="0" u="none" strike="noStrike" cap="non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Low-carbon </a:t>
            </a:r>
            <a:endParaRPr sz="1500" b="1" i="0" u="none" strike="noStrike" cap="none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1"/>
              <a:buFont typeface="Arial"/>
              <a:buNone/>
            </a:pPr>
            <a:r>
              <a:rPr lang="en-IN" sz="1500" b="1" i="0" u="none" strike="noStrike" cap="non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industrialisation</a:t>
            </a:r>
            <a:endParaRPr sz="1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390604" y="916963"/>
            <a:ext cx="1886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1"/>
              <a:buFont typeface="Arial"/>
              <a:buNone/>
            </a:pPr>
            <a:r>
              <a:rPr lang="en-IN" sz="1201" b="0" i="0" u="none" strike="noStrike" cap="none">
                <a:solidFill>
                  <a:srgbClr val="1F1F1F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STRATEGIC PILLARS</a:t>
            </a:r>
            <a:endParaRPr sz="1201" b="0" i="0" u="none" strike="noStrike" cap="none">
              <a:solidFill>
                <a:srgbClr val="000000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10562841" y="1320404"/>
            <a:ext cx="13452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1"/>
              <a:buFont typeface="Arial"/>
              <a:buNone/>
            </a:pPr>
            <a:r>
              <a:rPr lang="en-IN" sz="1500" b="1" i="0" u="none" strike="noStrike" cap="non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Sharing lessons from India</a:t>
            </a:r>
            <a:endParaRPr sz="1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/>
          <p:nvPr/>
        </p:nvSpPr>
        <p:spPr>
          <a:xfrm>
            <a:off x="6402024" y="2722344"/>
            <a:ext cx="1498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Assam </a:t>
            </a:r>
            <a:endParaRPr sz="1153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Energy, Livelihoods</a:t>
            </a:r>
            <a:endParaRPr sz="1293" b="0" i="0" u="none" strike="noStrike" cap="none">
              <a:solidFill>
                <a:srgbClr val="7778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"/>
          <p:cNvSpPr txBox="1"/>
          <p:nvPr/>
        </p:nvSpPr>
        <p:spPr>
          <a:xfrm>
            <a:off x="4797553" y="2866028"/>
            <a:ext cx="14769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Uttar Pradesh</a:t>
            </a:r>
            <a:endParaRPr sz="143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Energy, Mobility, Water</a:t>
            </a:r>
            <a:endParaRPr sz="1293" b="0" i="0" u="none" strike="noStrike" cap="none">
              <a:solidFill>
                <a:srgbClr val="7778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8"/>
          <p:cNvSpPr txBox="1"/>
          <p:nvPr/>
        </p:nvSpPr>
        <p:spPr>
          <a:xfrm>
            <a:off x="5120229" y="5516865"/>
            <a:ext cx="19845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Andhra Pradesh</a:t>
            </a:r>
            <a:endParaRPr sz="143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Resilience, Food </a:t>
            </a:r>
            <a:endParaRPr sz="1013" b="0" i="0" u="none" strike="noStrike" cap="non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endParaRPr sz="1153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8"/>
          <p:cNvCxnSpPr/>
          <p:nvPr/>
        </p:nvCxnSpPr>
        <p:spPr>
          <a:xfrm rot="10800000" flipH="1">
            <a:off x="4498527" y="5608818"/>
            <a:ext cx="621900" cy="9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8"/>
          <p:cNvSpPr txBox="1"/>
          <p:nvPr/>
        </p:nvSpPr>
        <p:spPr>
          <a:xfrm>
            <a:off x="1722048" y="2274925"/>
            <a:ext cx="2105700" cy="418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0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Himachal Pradesh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0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Resilience</a:t>
            </a:r>
            <a:endParaRPr/>
          </a:p>
        </p:txBody>
      </p:sp>
      <p:cxnSp>
        <p:nvCxnSpPr>
          <p:cNvPr id="67" name="Google Shape;67;p8"/>
          <p:cNvCxnSpPr/>
          <p:nvPr/>
        </p:nvCxnSpPr>
        <p:spPr>
          <a:xfrm>
            <a:off x="3661737" y="2596952"/>
            <a:ext cx="645900" cy="372000"/>
          </a:xfrm>
          <a:prstGeom prst="bentConnector3">
            <a:avLst>
              <a:gd name="adj1" fmla="val 2460"/>
            </a:avLst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" name="Google Shape;68;p8"/>
          <p:cNvSpPr txBox="1"/>
          <p:nvPr/>
        </p:nvSpPr>
        <p:spPr>
          <a:xfrm>
            <a:off x="2156631" y="3190959"/>
            <a:ext cx="1498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Delhi</a:t>
            </a:r>
            <a:endParaRPr sz="1153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Air, Energy, Mobility</a:t>
            </a:r>
            <a:endParaRPr sz="1293" b="0" i="0" u="none" strike="noStrike" cap="none">
              <a:solidFill>
                <a:srgbClr val="7778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8"/>
          <p:cNvSpPr txBox="1"/>
          <p:nvPr/>
        </p:nvSpPr>
        <p:spPr>
          <a:xfrm>
            <a:off x="379152" y="2501570"/>
            <a:ext cx="23850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Punjab</a:t>
            </a:r>
            <a:endParaRPr sz="143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925" marR="0" lvl="0" indent="32092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Air, Mobility</a:t>
            </a:r>
            <a:endParaRPr sz="1013" b="0" i="0" u="none" strike="noStrike" cap="non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endParaRPr sz="1153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 txBox="1"/>
          <p:nvPr/>
        </p:nvSpPr>
        <p:spPr>
          <a:xfrm>
            <a:off x="6790539" y="4518405"/>
            <a:ext cx="1290225" cy="622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Odisha</a:t>
            </a:r>
            <a:endParaRPr sz="143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Energy, Livelihoods, Resilience</a:t>
            </a:r>
            <a:endParaRPr sz="1013" b="0" i="0" u="none" strike="noStrike" cap="non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1590606" y="4668806"/>
            <a:ext cx="14988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Maharashtra</a:t>
            </a:r>
            <a:endParaRPr sz="143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Air, Energy, Resilience, Water</a:t>
            </a:r>
            <a:endParaRPr sz="1013" b="0" i="0" u="none" strike="noStrike" cap="non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8"/>
          <p:cNvCxnSpPr/>
          <p:nvPr/>
        </p:nvCxnSpPr>
        <p:spPr>
          <a:xfrm rot="10800000" flipH="1">
            <a:off x="4391181" y="6170893"/>
            <a:ext cx="824400" cy="9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" name="Google Shape;73;p8"/>
          <p:cNvSpPr txBox="1"/>
          <p:nvPr/>
        </p:nvSpPr>
        <p:spPr>
          <a:xfrm>
            <a:off x="572589" y="3842432"/>
            <a:ext cx="2385000" cy="79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			Gujarat</a:t>
            </a:r>
            <a:endParaRPr sz="143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Air, Energy, Industry, Resilience, Water</a:t>
            </a:r>
            <a:endParaRPr sz="1013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 txBox="1"/>
          <p:nvPr/>
        </p:nvSpPr>
        <p:spPr>
          <a:xfrm>
            <a:off x="5194116" y="6033773"/>
            <a:ext cx="1962600" cy="622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Tamil Nadu</a:t>
            </a:r>
            <a:endParaRPr sz="143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Air, Energy, Resilience, </a:t>
            </a:r>
            <a:endParaRPr sz="1013" b="0" i="0" u="none" strike="noStrike" cap="non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Water</a:t>
            </a:r>
            <a:endParaRPr sz="1153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 txBox="1"/>
          <p:nvPr/>
        </p:nvSpPr>
        <p:spPr>
          <a:xfrm>
            <a:off x="1244246" y="3589730"/>
            <a:ext cx="17337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Rajasthan</a:t>
            </a:r>
            <a:endParaRPr sz="143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Air, Energy, Food, Industry, Water</a:t>
            </a:r>
            <a:b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13" b="0" i="0" u="none" strike="noStrike" cap="non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 txBox="1"/>
          <p:nvPr/>
        </p:nvSpPr>
        <p:spPr>
          <a:xfrm>
            <a:off x="4715177" y="2297416"/>
            <a:ext cx="1498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Uttarakhand</a:t>
            </a:r>
            <a:endParaRPr sz="143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Energy, Resilience</a:t>
            </a:r>
            <a:endParaRPr sz="1293" b="0" i="0" u="none" strike="noStrike" cap="none">
              <a:solidFill>
                <a:srgbClr val="7778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8"/>
          <p:cNvCxnSpPr/>
          <p:nvPr/>
        </p:nvCxnSpPr>
        <p:spPr>
          <a:xfrm>
            <a:off x="3440440" y="5762705"/>
            <a:ext cx="7509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8"/>
          <p:cNvSpPr txBox="1"/>
          <p:nvPr/>
        </p:nvSpPr>
        <p:spPr>
          <a:xfrm>
            <a:off x="1344437" y="5633947"/>
            <a:ext cx="21057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Karnataka</a:t>
            </a:r>
            <a:endParaRPr sz="143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Energy</a:t>
            </a:r>
            <a:endParaRPr sz="1013" b="0" i="0" u="none" strike="noStrike" cap="non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8"/>
          <p:cNvCxnSpPr/>
          <p:nvPr/>
        </p:nvCxnSpPr>
        <p:spPr>
          <a:xfrm>
            <a:off x="3276260" y="5335863"/>
            <a:ext cx="5373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" name="Google Shape;80;p8"/>
          <p:cNvSpPr txBox="1"/>
          <p:nvPr/>
        </p:nvSpPr>
        <p:spPr>
          <a:xfrm>
            <a:off x="1223691" y="5217368"/>
            <a:ext cx="21057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Goa</a:t>
            </a:r>
            <a:endParaRPr sz="143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0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Resilience, Water</a:t>
            </a:r>
            <a:endParaRPr sz="1010" b="0" i="0" u="none" strike="noStrike" cap="non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8"/>
          <p:cNvCxnSpPr/>
          <p:nvPr/>
        </p:nvCxnSpPr>
        <p:spPr>
          <a:xfrm>
            <a:off x="2933418" y="3703529"/>
            <a:ext cx="591000" cy="96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" name="Google Shape;82;p8"/>
          <p:cNvCxnSpPr/>
          <p:nvPr/>
        </p:nvCxnSpPr>
        <p:spPr>
          <a:xfrm>
            <a:off x="2941550" y="4318750"/>
            <a:ext cx="682800" cy="9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" name="Google Shape;83;p8"/>
          <p:cNvCxnSpPr/>
          <p:nvPr/>
        </p:nvCxnSpPr>
        <p:spPr>
          <a:xfrm rot="10800000" flipH="1">
            <a:off x="3063135" y="4779296"/>
            <a:ext cx="921300" cy="96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" name="Google Shape;84;p8"/>
          <p:cNvCxnSpPr>
            <a:endCxn id="85" idx="1"/>
          </p:cNvCxnSpPr>
          <p:nvPr/>
        </p:nvCxnSpPr>
        <p:spPr>
          <a:xfrm>
            <a:off x="5104620" y="4395655"/>
            <a:ext cx="1417800" cy="45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8"/>
          <p:cNvSpPr txBox="1"/>
          <p:nvPr/>
        </p:nvSpPr>
        <p:spPr>
          <a:xfrm>
            <a:off x="5563972" y="4649204"/>
            <a:ext cx="15927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Madhya Pradesh</a:t>
            </a:r>
            <a:endParaRPr sz="1153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Air, Energy, Food</a:t>
            </a:r>
            <a:endParaRPr sz="1293" b="0" i="0" u="none" strike="noStrike" cap="none">
              <a:solidFill>
                <a:srgbClr val="7778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6522420" y="4190305"/>
            <a:ext cx="14271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Chhattisgarh</a:t>
            </a:r>
            <a:endParaRPr sz="1153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Energy, Mobility</a:t>
            </a:r>
            <a:endParaRPr sz="1293" b="0" i="0" u="none" strike="noStrike" cap="none">
              <a:solidFill>
                <a:srgbClr val="7778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8"/>
          <p:cNvCxnSpPr/>
          <p:nvPr/>
        </p:nvCxnSpPr>
        <p:spPr>
          <a:xfrm>
            <a:off x="4453391" y="4233304"/>
            <a:ext cx="1158300" cy="493500"/>
          </a:xfrm>
          <a:prstGeom prst="bentConnector3">
            <a:avLst>
              <a:gd name="adj1" fmla="val 14350"/>
            </a:avLst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8"/>
          <p:cNvSpPr txBox="1"/>
          <p:nvPr/>
        </p:nvSpPr>
        <p:spPr>
          <a:xfrm>
            <a:off x="899777" y="2905144"/>
            <a:ext cx="14271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Haryana</a:t>
            </a:r>
            <a:endParaRPr sz="143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925" marR="0" lvl="0" indent="32092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Air, Energy</a:t>
            </a:r>
            <a:endParaRPr sz="1013" b="0" i="0" u="none" strike="noStrike" cap="non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endParaRPr sz="1153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 txBox="1"/>
          <p:nvPr/>
        </p:nvSpPr>
        <p:spPr>
          <a:xfrm>
            <a:off x="6925534" y="3322397"/>
            <a:ext cx="1082453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Bihar</a:t>
            </a:r>
            <a:endParaRPr sz="143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Air, Livelihoods</a:t>
            </a:r>
            <a:endParaRPr sz="1293" b="0" i="0" u="none" strike="noStrike" cap="none">
              <a:solidFill>
                <a:srgbClr val="7778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8"/>
          <p:cNvCxnSpPr/>
          <p:nvPr/>
        </p:nvCxnSpPr>
        <p:spPr>
          <a:xfrm rot="10800000" flipH="1">
            <a:off x="3384973" y="3425436"/>
            <a:ext cx="912300" cy="144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" name="Google Shape;91;p8"/>
          <p:cNvCxnSpPr/>
          <p:nvPr/>
        </p:nvCxnSpPr>
        <p:spPr>
          <a:xfrm>
            <a:off x="5353365" y="4610302"/>
            <a:ext cx="14271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8"/>
          <p:cNvSpPr txBox="1"/>
          <p:nvPr/>
        </p:nvSpPr>
        <p:spPr>
          <a:xfrm>
            <a:off x="1895178" y="6038533"/>
            <a:ext cx="1498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Kerala</a:t>
            </a:r>
            <a:endParaRPr sz="143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Energy, Mobility</a:t>
            </a:r>
            <a:endParaRPr sz="1013" b="0" i="0" u="none" strike="noStrike" cap="non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 txBox="1"/>
          <p:nvPr/>
        </p:nvSpPr>
        <p:spPr>
          <a:xfrm>
            <a:off x="5164235" y="5018709"/>
            <a:ext cx="19845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Telangana</a:t>
            </a:r>
            <a:endParaRPr sz="143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Mobility</a:t>
            </a:r>
            <a:endParaRPr sz="1013" b="0" i="0" u="none" strike="noStrike" cap="non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endParaRPr sz="1153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8"/>
          <p:cNvCxnSpPr/>
          <p:nvPr/>
        </p:nvCxnSpPr>
        <p:spPr>
          <a:xfrm rot="10800000" flipH="1">
            <a:off x="4519676" y="5154287"/>
            <a:ext cx="621900" cy="9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8"/>
          <p:cNvSpPr txBox="1"/>
          <p:nvPr/>
        </p:nvSpPr>
        <p:spPr>
          <a:xfrm>
            <a:off x="6814550" y="3761537"/>
            <a:ext cx="11748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50" tIns="42775" rIns="85550" bIns="427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153" b="0" i="0" u="none" strike="noStrike" cap="non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Jharkhand</a:t>
            </a:r>
            <a:endParaRPr sz="143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lang="en-IN" sz="1013" b="0" i="0" u="none" strike="noStrike" cap="none">
                <a:solidFill>
                  <a:srgbClr val="777877"/>
                </a:solidFill>
                <a:latin typeface="Calibri"/>
                <a:ea typeface="Calibri"/>
                <a:cs typeface="Calibri"/>
                <a:sym typeface="Calibri"/>
              </a:rPr>
              <a:t>Energy</a:t>
            </a:r>
            <a:endParaRPr sz="1013" b="0" i="0" u="none" strike="noStrike" cap="none">
              <a:solidFill>
                <a:srgbClr val="7778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endParaRPr sz="1153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8"/>
          <p:cNvCxnSpPr/>
          <p:nvPr/>
        </p:nvCxnSpPr>
        <p:spPr>
          <a:xfrm>
            <a:off x="3354735" y="6171590"/>
            <a:ext cx="824401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" name="Google Shape;97;p8"/>
          <p:cNvCxnSpPr/>
          <p:nvPr/>
        </p:nvCxnSpPr>
        <p:spPr>
          <a:xfrm>
            <a:off x="2770802" y="2735302"/>
            <a:ext cx="1217400" cy="369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" name="Google Shape;98;p8"/>
          <p:cNvCxnSpPr>
            <a:stCxn id="63" idx="2"/>
          </p:cNvCxnSpPr>
          <p:nvPr/>
        </p:nvCxnSpPr>
        <p:spPr>
          <a:xfrm rot="5400000">
            <a:off x="4886953" y="3042878"/>
            <a:ext cx="406200" cy="8919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" name="Google Shape;99;p8"/>
          <p:cNvCxnSpPr/>
          <p:nvPr/>
        </p:nvCxnSpPr>
        <p:spPr>
          <a:xfrm rot="5400000">
            <a:off x="4324681" y="2778768"/>
            <a:ext cx="712800" cy="128700"/>
          </a:xfrm>
          <a:prstGeom prst="bentConnector2">
            <a:avLst/>
          </a:prstGeom>
          <a:noFill/>
          <a:ln w="119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" name="Google Shape;100;p8"/>
          <p:cNvCxnSpPr/>
          <p:nvPr/>
        </p:nvCxnSpPr>
        <p:spPr>
          <a:xfrm flipH="1">
            <a:off x="5548612" y="3439781"/>
            <a:ext cx="1346100" cy="411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" name="Google Shape;101;p8"/>
          <p:cNvCxnSpPr>
            <a:stCxn id="95" idx="1"/>
          </p:cNvCxnSpPr>
          <p:nvPr/>
        </p:nvCxnSpPr>
        <p:spPr>
          <a:xfrm flipH="1">
            <a:off x="5326550" y="4071887"/>
            <a:ext cx="1488000" cy="168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" name="Google Shape;102;p8"/>
          <p:cNvCxnSpPr/>
          <p:nvPr/>
        </p:nvCxnSpPr>
        <p:spPr>
          <a:xfrm rot="10800000">
            <a:off x="6443120" y="2963016"/>
            <a:ext cx="5700" cy="6138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" name="Google Shape;103;p8"/>
          <p:cNvCxnSpPr/>
          <p:nvPr/>
        </p:nvCxnSpPr>
        <p:spPr>
          <a:xfrm>
            <a:off x="2326877" y="3037687"/>
            <a:ext cx="1844100" cy="236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4" name="Google Shape;10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336" y="1229937"/>
            <a:ext cx="622278" cy="60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60586" y="1279238"/>
            <a:ext cx="744239" cy="580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30293" y="1277164"/>
            <a:ext cx="552846" cy="55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8"/>
          <p:cNvCxnSpPr/>
          <p:nvPr/>
        </p:nvCxnSpPr>
        <p:spPr>
          <a:xfrm>
            <a:off x="8166016" y="2368718"/>
            <a:ext cx="0" cy="37152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8" name="Google Shape;108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0361" y="1202523"/>
            <a:ext cx="693410" cy="693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8"/>
          <p:cNvPicPr preferRelativeResize="0"/>
          <p:nvPr/>
        </p:nvPicPr>
        <p:blipFill rotWithShape="1">
          <a:blip r:embed="rId8">
            <a:alphaModFix/>
          </a:blip>
          <a:srcRect l="11000" t="8390" r="12596" b="9214"/>
          <a:stretch/>
        </p:blipFill>
        <p:spPr>
          <a:xfrm>
            <a:off x="5713708" y="1262804"/>
            <a:ext cx="545916" cy="58873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8"/>
          <p:cNvSpPr/>
          <p:nvPr/>
        </p:nvSpPr>
        <p:spPr>
          <a:xfrm>
            <a:off x="4756790" y="1336094"/>
            <a:ext cx="1169455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1"/>
              <a:buFont typeface="Arial"/>
              <a:buNone/>
            </a:pPr>
            <a:r>
              <a:rPr lang="en-IN" sz="1500" b="1" i="0" u="none" strike="noStrike" cap="none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Fuels of the future</a:t>
            </a:r>
            <a:endParaRPr sz="1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8"/>
          <p:cNvPicPr preferRelativeResize="0"/>
          <p:nvPr/>
        </p:nvPicPr>
        <p:blipFill rotWithShape="1">
          <a:blip r:embed="rId9">
            <a:alphaModFix/>
          </a:blip>
          <a:srcRect l="4513" t="7833" r="5260" b="7627"/>
          <a:stretch/>
        </p:blipFill>
        <p:spPr>
          <a:xfrm flipH="1">
            <a:off x="4078748" y="1264814"/>
            <a:ext cx="601433" cy="56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g3a1f07bbfc6_0_0"/>
          <p:cNvPicPr preferRelativeResize="0"/>
          <p:nvPr/>
        </p:nvPicPr>
        <p:blipFill rotWithShape="1">
          <a:blip r:embed="rId3">
            <a:alphaModFix/>
          </a:blip>
          <a:srcRect l="33709" r="55109" b="84114"/>
          <a:stretch/>
        </p:blipFill>
        <p:spPr>
          <a:xfrm>
            <a:off x="997769" y="1344986"/>
            <a:ext cx="400855" cy="30206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g3a1f07bbfc6_0_0"/>
          <p:cNvSpPr txBox="1">
            <a:spLocks noGrp="1"/>
          </p:cNvSpPr>
          <p:nvPr>
            <p:ph type="title"/>
          </p:nvPr>
        </p:nvSpPr>
        <p:spPr>
          <a:xfrm>
            <a:off x="362842" y="342882"/>
            <a:ext cx="11411100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 sz="2200" dirty="0"/>
              <a:t>Impacting sustainable development at scale with data, integrated analysis, and strategic outreach</a:t>
            </a:r>
            <a:endParaRPr sz="2200" dirty="0"/>
          </a:p>
        </p:txBody>
      </p:sp>
      <p:sp>
        <p:nvSpPr>
          <p:cNvPr id="56" name="Google Shape;56;g3a1f07bbfc6_0_0"/>
          <p:cNvSpPr/>
          <p:nvPr/>
        </p:nvSpPr>
        <p:spPr>
          <a:xfrm>
            <a:off x="6578574" y="5863226"/>
            <a:ext cx="1790100" cy="383100"/>
          </a:xfrm>
          <a:prstGeom prst="rect">
            <a:avLst/>
          </a:prstGeom>
          <a:solidFill>
            <a:srgbClr val="E9E9E9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Emerging Economies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3a1f07bbfc6_0_0"/>
          <p:cNvSpPr/>
          <p:nvPr/>
        </p:nvSpPr>
        <p:spPr>
          <a:xfrm>
            <a:off x="1640537" y="5859672"/>
            <a:ext cx="2568000" cy="384000"/>
          </a:xfrm>
          <a:prstGeom prst="rect">
            <a:avLst/>
          </a:prstGeom>
          <a:solidFill>
            <a:srgbClr val="E9E9E9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CEEW Green Finance Centre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a1f07bbfc6_0_0"/>
          <p:cNvSpPr/>
          <p:nvPr/>
        </p:nvSpPr>
        <p:spPr>
          <a:xfrm>
            <a:off x="8645440" y="5857368"/>
            <a:ext cx="1389000" cy="384000"/>
          </a:xfrm>
          <a:prstGeom prst="rect">
            <a:avLst/>
          </a:prstGeom>
          <a:solidFill>
            <a:srgbClr val="E9E9E9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UP State Office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" name="Google Shape;60;g3a1f07bbfc6_0_0"/>
          <p:cNvGrpSpPr/>
          <p:nvPr/>
        </p:nvGrpSpPr>
        <p:grpSpPr>
          <a:xfrm>
            <a:off x="969824" y="1262056"/>
            <a:ext cx="2461419" cy="2995124"/>
            <a:chOff x="310621" y="1400956"/>
            <a:chExt cx="2715000" cy="2995124"/>
          </a:xfrm>
        </p:grpSpPr>
        <p:cxnSp>
          <p:nvCxnSpPr>
            <p:cNvPr id="61" name="Google Shape;61;g3a1f07bbfc6_0_0"/>
            <p:cNvCxnSpPr/>
            <p:nvPr/>
          </p:nvCxnSpPr>
          <p:spPr>
            <a:xfrm>
              <a:off x="725127" y="1736439"/>
              <a:ext cx="1647600" cy="0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lgDash"/>
              <a:round/>
              <a:headEnd type="none" w="sm" len="sm"/>
              <a:tailEnd type="none" w="sm" len="sm"/>
            </a:ln>
          </p:spPr>
        </p:cxnSp>
        <p:sp>
          <p:nvSpPr>
            <p:cNvPr id="62" name="Google Shape;62;g3a1f07bbfc6_0_0"/>
            <p:cNvSpPr/>
            <p:nvPr/>
          </p:nvSpPr>
          <p:spPr>
            <a:xfrm>
              <a:off x="310621" y="2385771"/>
              <a:ext cx="2705100" cy="4026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Energy Transitions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3a1f07bbfc6_0_0"/>
            <p:cNvSpPr/>
            <p:nvPr/>
          </p:nvSpPr>
          <p:spPr>
            <a:xfrm>
              <a:off x="310621" y="3459108"/>
              <a:ext cx="2705100" cy="4017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Industrial Sustainability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g3a1f07bbfc6_0_0"/>
            <p:cNvSpPr/>
            <p:nvPr/>
          </p:nvSpPr>
          <p:spPr>
            <a:xfrm>
              <a:off x="310621" y="3994980"/>
              <a:ext cx="2705100" cy="4011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Livelihoods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g3a1f07bbfc6_0_0"/>
            <p:cNvSpPr/>
            <p:nvPr/>
          </p:nvSpPr>
          <p:spPr>
            <a:xfrm>
              <a:off x="310621" y="1849103"/>
              <a:ext cx="2705100" cy="4026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Low-carbon Economy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g3a1f07bbfc6_0_0"/>
            <p:cNvSpPr/>
            <p:nvPr/>
          </p:nvSpPr>
          <p:spPr>
            <a:xfrm>
              <a:off x="310621" y="2922439"/>
              <a:ext cx="2715000" cy="4026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Power Markets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g3a1f07bbfc6_0_0"/>
            <p:cNvSpPr/>
            <p:nvPr/>
          </p:nvSpPr>
          <p:spPr>
            <a:xfrm>
              <a:off x="562056" y="1400956"/>
              <a:ext cx="1930800" cy="40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600" b="1" i="1" u="none" strike="noStrike" cap="none">
                  <a:solidFill>
                    <a:srgbClr val="F16223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lang="en-IN" sz="1300" b="1" i="1" u="none" strike="noStrike" cap="none">
                  <a:solidFill>
                    <a:srgbClr val="F16223"/>
                  </a:solidFill>
                  <a:latin typeface="Calibri"/>
                  <a:ea typeface="Calibri"/>
                  <a:cs typeface="Calibri"/>
                  <a:sym typeface="Calibri"/>
                </a:rPr>
                <a:t>RANSFORMATIONS</a:t>
              </a:r>
              <a:endParaRPr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" name="Google Shape;68;g3a1f07bbfc6_0_0"/>
          <p:cNvGrpSpPr/>
          <p:nvPr/>
        </p:nvGrpSpPr>
        <p:grpSpPr>
          <a:xfrm>
            <a:off x="5056730" y="1274336"/>
            <a:ext cx="2452444" cy="2997614"/>
            <a:chOff x="3305715" y="1398520"/>
            <a:chExt cx="2705100" cy="2997614"/>
          </a:xfrm>
        </p:grpSpPr>
        <p:sp>
          <p:nvSpPr>
            <p:cNvPr id="69" name="Google Shape;69;g3a1f07bbfc6_0_0"/>
            <p:cNvSpPr/>
            <p:nvPr/>
          </p:nvSpPr>
          <p:spPr>
            <a:xfrm>
              <a:off x="3385658" y="1398520"/>
              <a:ext cx="1995300" cy="40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600" b="1" i="1" u="none" strike="noStrike" cap="none">
                  <a:solidFill>
                    <a:srgbClr val="86BB3F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lang="en-IN" sz="1300" b="1" i="1" u="none" strike="noStrike" cap="none">
                  <a:solidFill>
                    <a:srgbClr val="86BB3F"/>
                  </a:solidFill>
                  <a:latin typeface="Calibri"/>
                  <a:ea typeface="Calibri"/>
                  <a:cs typeface="Calibri"/>
                  <a:sym typeface="Calibri"/>
                </a:rPr>
                <a:t>UALITY OF LIFE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" name="Google Shape;70;g3a1f07bbfc6_0_0"/>
            <p:cNvCxnSpPr/>
            <p:nvPr/>
          </p:nvCxnSpPr>
          <p:spPr>
            <a:xfrm>
              <a:off x="3716954" y="1739306"/>
              <a:ext cx="1348200" cy="0"/>
            </a:xfrm>
            <a:prstGeom prst="straightConnector1">
              <a:avLst/>
            </a:prstGeom>
            <a:noFill/>
            <a:ln w="12700" cap="flat" cmpd="sng">
              <a:solidFill>
                <a:schemeClr val="accent3"/>
              </a:solidFill>
              <a:prstDash val="lgDash"/>
              <a:round/>
              <a:headEnd type="none" w="sm" len="sm"/>
              <a:tailEnd type="none" w="sm" len="sm"/>
            </a:ln>
          </p:spPr>
        </p:cxnSp>
        <p:sp>
          <p:nvSpPr>
            <p:cNvPr id="71" name="Google Shape;71;g3a1f07bbfc6_0_0"/>
            <p:cNvSpPr/>
            <p:nvPr/>
          </p:nvSpPr>
          <p:spPr>
            <a:xfrm>
              <a:off x="3305715" y="1849103"/>
              <a:ext cx="2705100" cy="38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Clean Air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g3a1f07bbfc6_0_0"/>
            <p:cNvSpPr/>
            <p:nvPr/>
          </p:nvSpPr>
          <p:spPr>
            <a:xfrm>
              <a:off x="3305715" y="4008234"/>
              <a:ext cx="2705100" cy="38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Mobility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g3a1f07bbfc6_0_0"/>
            <p:cNvSpPr/>
            <p:nvPr/>
          </p:nvSpPr>
          <p:spPr>
            <a:xfrm>
              <a:off x="3305715" y="2374716"/>
              <a:ext cx="2705100" cy="40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Water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g3a1f07bbfc6_0_0"/>
            <p:cNvSpPr/>
            <p:nvPr/>
          </p:nvSpPr>
          <p:spPr>
            <a:xfrm>
              <a:off x="3305715" y="2922772"/>
              <a:ext cx="2705100" cy="3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Food Systems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g3a1f07bbfc6_0_0"/>
            <p:cNvSpPr/>
            <p:nvPr/>
          </p:nvSpPr>
          <p:spPr>
            <a:xfrm>
              <a:off x="3305715" y="3465504"/>
              <a:ext cx="2705100" cy="3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Cooling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6" name="Google Shape;76;g3a1f07bbfc6_0_0"/>
          <p:cNvCxnSpPr/>
          <p:nvPr/>
        </p:nvCxnSpPr>
        <p:spPr>
          <a:xfrm>
            <a:off x="1618863" y="5615291"/>
            <a:ext cx="8440800" cy="2640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77" name="Google Shape;77;g3a1f07bbfc6_0_0"/>
          <p:cNvSpPr/>
          <p:nvPr/>
        </p:nvSpPr>
        <p:spPr>
          <a:xfrm>
            <a:off x="5179640" y="5424940"/>
            <a:ext cx="1790100" cy="40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1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IN" sz="1300" b="1" i="1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PECIAL INITIATIVES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a1f07bbfc6_0_0"/>
          <p:cNvSpPr/>
          <p:nvPr/>
        </p:nvSpPr>
        <p:spPr>
          <a:xfrm>
            <a:off x="4514845" y="5870032"/>
            <a:ext cx="1790100" cy="383100"/>
          </a:xfrm>
          <a:prstGeom prst="rect">
            <a:avLst/>
          </a:prstGeom>
          <a:solidFill>
            <a:srgbClr val="E9E9E9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Powering Livelihoods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" name="Google Shape;79;g3a1f07bbfc6_0_0"/>
          <p:cNvGrpSpPr/>
          <p:nvPr/>
        </p:nvGrpSpPr>
        <p:grpSpPr>
          <a:xfrm>
            <a:off x="8836810" y="1289197"/>
            <a:ext cx="2433297" cy="2982753"/>
            <a:chOff x="6508076" y="1258498"/>
            <a:chExt cx="2433297" cy="2982753"/>
          </a:xfrm>
        </p:grpSpPr>
        <p:grpSp>
          <p:nvGrpSpPr>
            <p:cNvPr id="80" name="Google Shape;80;g3a1f07bbfc6_0_0"/>
            <p:cNvGrpSpPr/>
            <p:nvPr/>
          </p:nvGrpSpPr>
          <p:grpSpPr>
            <a:xfrm>
              <a:off x="6508076" y="1258498"/>
              <a:ext cx="2432862" cy="2443299"/>
              <a:chOff x="6529905" y="1397398"/>
              <a:chExt cx="2683501" cy="2443299"/>
            </a:xfrm>
          </p:grpSpPr>
          <p:cxnSp>
            <p:nvCxnSpPr>
              <p:cNvPr id="81" name="Google Shape;81;g3a1f07bbfc6_0_0"/>
              <p:cNvCxnSpPr/>
              <p:nvPr/>
            </p:nvCxnSpPr>
            <p:spPr>
              <a:xfrm>
                <a:off x="6940213" y="1741860"/>
                <a:ext cx="8733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1"/>
                </a:solidFill>
                <a:prstDash val="lgDash"/>
                <a:round/>
                <a:headEnd type="none" w="sm" len="sm"/>
                <a:tailEnd type="none" w="sm" len="sm"/>
              </a:ln>
            </p:spPr>
          </p:cxnSp>
          <p:sp>
            <p:nvSpPr>
              <p:cNvPr id="82" name="Google Shape;82;g3a1f07bbfc6_0_0"/>
              <p:cNvSpPr/>
              <p:nvPr/>
            </p:nvSpPr>
            <p:spPr>
              <a:xfrm>
                <a:off x="6529905" y="3448297"/>
                <a:ext cx="2683500" cy="3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IN" sz="1400" b="1" i="0" u="none" strike="noStrike" cap="none">
                    <a:solidFill>
                      <a:srgbClr val="595A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Climate Resilience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g3a1f07bbfc6_0_0"/>
              <p:cNvSpPr/>
              <p:nvPr/>
            </p:nvSpPr>
            <p:spPr>
              <a:xfrm>
                <a:off x="6529906" y="1866103"/>
                <a:ext cx="2683500" cy="36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IN" sz="1400" b="1" i="0" u="none" strike="noStrike" cap="none">
                    <a:solidFill>
                      <a:srgbClr val="595A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Sustainable Finance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g3a1f07bbfc6_0_0"/>
              <p:cNvSpPr/>
              <p:nvPr/>
            </p:nvSpPr>
            <p:spPr>
              <a:xfrm>
                <a:off x="6529905" y="2374594"/>
                <a:ext cx="2683500" cy="39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IN" sz="1400" b="1" i="0" u="none" strike="noStrike" cap="none">
                    <a:solidFill>
                      <a:srgbClr val="595A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Technology Futures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g3a1f07bbfc6_0_0"/>
              <p:cNvSpPr/>
              <p:nvPr/>
            </p:nvSpPr>
            <p:spPr>
              <a:xfrm>
                <a:off x="6529905" y="2918074"/>
                <a:ext cx="2683500" cy="38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IN" sz="1400" b="1" i="0" u="none" strike="noStrike" cap="none">
                    <a:solidFill>
                      <a:srgbClr val="595A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Circular Economy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g3a1f07bbfc6_0_0"/>
              <p:cNvSpPr/>
              <p:nvPr/>
            </p:nvSpPr>
            <p:spPr>
              <a:xfrm>
                <a:off x="6800539" y="1397398"/>
                <a:ext cx="1078200" cy="40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IN" sz="1600" b="1" i="1" u="none" strike="noStrike" cap="none">
                    <a:solidFill>
                      <a:srgbClr val="009E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lang="en-IN" sz="1300" b="1" i="1" u="none" strike="noStrike" cap="none">
                    <a:solidFill>
                      <a:srgbClr val="009E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NABLERS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" name="Google Shape;87;g3a1f07bbfc6_0_0"/>
            <p:cNvSpPr/>
            <p:nvPr/>
          </p:nvSpPr>
          <p:spPr>
            <a:xfrm>
              <a:off x="6508373" y="3848851"/>
              <a:ext cx="2433000" cy="39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IN" sz="1400" b="1" i="0" u="none" strike="noStrike" cap="non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International Cooperation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" name="Google Shape;88;g3a1f07bbfc6_0_0"/>
          <p:cNvGrpSpPr/>
          <p:nvPr/>
        </p:nvGrpSpPr>
        <p:grpSpPr>
          <a:xfrm>
            <a:off x="8924106" y="2049994"/>
            <a:ext cx="429325" cy="2143136"/>
            <a:chOff x="6296456" y="2056960"/>
            <a:chExt cx="2444906" cy="2143136"/>
          </a:xfrm>
        </p:grpSpPr>
        <p:cxnSp>
          <p:nvCxnSpPr>
            <p:cNvPr id="89" name="Google Shape;89;g3a1f07bbfc6_0_0"/>
            <p:cNvCxnSpPr/>
            <p:nvPr/>
          </p:nvCxnSpPr>
          <p:spPr>
            <a:xfrm>
              <a:off x="6308355" y="2056960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g3a1f07bbfc6_0_0"/>
            <p:cNvCxnSpPr/>
            <p:nvPr/>
          </p:nvCxnSpPr>
          <p:spPr>
            <a:xfrm>
              <a:off x="6308362" y="2599885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g3a1f07bbfc6_0_0"/>
            <p:cNvCxnSpPr/>
            <p:nvPr/>
          </p:nvCxnSpPr>
          <p:spPr>
            <a:xfrm>
              <a:off x="6308361" y="3126143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g3a1f07bbfc6_0_0"/>
            <p:cNvCxnSpPr/>
            <p:nvPr/>
          </p:nvCxnSpPr>
          <p:spPr>
            <a:xfrm>
              <a:off x="6308361" y="3671457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g3a1f07bbfc6_0_0"/>
            <p:cNvCxnSpPr/>
            <p:nvPr/>
          </p:nvCxnSpPr>
          <p:spPr>
            <a:xfrm>
              <a:off x="6296456" y="4200096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94" name="Google Shape;94;g3a1f07bbfc6_0_0"/>
          <p:cNvGrpSpPr/>
          <p:nvPr/>
        </p:nvGrpSpPr>
        <p:grpSpPr>
          <a:xfrm>
            <a:off x="5153128" y="2034011"/>
            <a:ext cx="429326" cy="2162186"/>
            <a:chOff x="6296456" y="2047435"/>
            <a:chExt cx="2444907" cy="2162186"/>
          </a:xfrm>
        </p:grpSpPr>
        <p:cxnSp>
          <p:nvCxnSpPr>
            <p:cNvPr id="95" name="Google Shape;95;g3a1f07bbfc6_0_0"/>
            <p:cNvCxnSpPr/>
            <p:nvPr/>
          </p:nvCxnSpPr>
          <p:spPr>
            <a:xfrm>
              <a:off x="6308357" y="2047435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g3a1f07bbfc6_0_0"/>
            <p:cNvCxnSpPr/>
            <p:nvPr/>
          </p:nvCxnSpPr>
          <p:spPr>
            <a:xfrm>
              <a:off x="6308362" y="2599885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g3a1f07bbfc6_0_0"/>
            <p:cNvCxnSpPr/>
            <p:nvPr/>
          </p:nvCxnSpPr>
          <p:spPr>
            <a:xfrm>
              <a:off x="6308361" y="3135668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g3a1f07bbfc6_0_0"/>
            <p:cNvCxnSpPr/>
            <p:nvPr/>
          </p:nvCxnSpPr>
          <p:spPr>
            <a:xfrm>
              <a:off x="6308363" y="3680982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9;g3a1f07bbfc6_0_0"/>
            <p:cNvCxnSpPr/>
            <p:nvPr/>
          </p:nvCxnSpPr>
          <p:spPr>
            <a:xfrm>
              <a:off x="6296456" y="4209621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00" name="Google Shape;100;g3a1f07bbfc6_0_0"/>
          <p:cNvGrpSpPr/>
          <p:nvPr/>
        </p:nvGrpSpPr>
        <p:grpSpPr>
          <a:xfrm>
            <a:off x="1089974" y="2019295"/>
            <a:ext cx="429325" cy="2162186"/>
            <a:chOff x="6296456" y="2047435"/>
            <a:chExt cx="2444906" cy="2162186"/>
          </a:xfrm>
        </p:grpSpPr>
        <p:cxnSp>
          <p:nvCxnSpPr>
            <p:cNvPr id="101" name="Google Shape;101;g3a1f07bbfc6_0_0"/>
            <p:cNvCxnSpPr/>
            <p:nvPr/>
          </p:nvCxnSpPr>
          <p:spPr>
            <a:xfrm>
              <a:off x="6308357" y="2047435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102;g3a1f07bbfc6_0_0"/>
            <p:cNvCxnSpPr/>
            <p:nvPr/>
          </p:nvCxnSpPr>
          <p:spPr>
            <a:xfrm>
              <a:off x="6308362" y="2599885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" name="Google Shape;103;g3a1f07bbfc6_0_0"/>
            <p:cNvCxnSpPr/>
            <p:nvPr/>
          </p:nvCxnSpPr>
          <p:spPr>
            <a:xfrm>
              <a:off x="6308361" y="3135668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" name="Google Shape;104;g3a1f07bbfc6_0_0"/>
            <p:cNvCxnSpPr/>
            <p:nvPr/>
          </p:nvCxnSpPr>
          <p:spPr>
            <a:xfrm>
              <a:off x="6308361" y="3661932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" name="Google Shape;105;g3a1f07bbfc6_0_0"/>
            <p:cNvCxnSpPr/>
            <p:nvPr/>
          </p:nvCxnSpPr>
          <p:spPr>
            <a:xfrm>
              <a:off x="6296456" y="4209621"/>
              <a:ext cx="2433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06" name="Google Shape;106;g3a1f07bbfc6_0_0"/>
          <p:cNvPicPr preferRelativeResize="0"/>
          <p:nvPr/>
        </p:nvPicPr>
        <p:blipFill rotWithShape="1">
          <a:blip r:embed="rId3">
            <a:alphaModFix/>
          </a:blip>
          <a:srcRect l="86245" b="83573"/>
          <a:stretch/>
        </p:blipFill>
        <p:spPr>
          <a:xfrm>
            <a:off x="8769734" y="1350220"/>
            <a:ext cx="493051" cy="312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a1f07bbfc6_0_0"/>
          <p:cNvPicPr preferRelativeResize="0"/>
          <p:nvPr/>
        </p:nvPicPr>
        <p:blipFill rotWithShape="1">
          <a:blip r:embed="rId3">
            <a:alphaModFix/>
          </a:blip>
          <a:srcRect l="47168" r="39627" b="84432"/>
          <a:stretch/>
        </p:blipFill>
        <p:spPr>
          <a:xfrm>
            <a:off x="5026595" y="1344450"/>
            <a:ext cx="473343" cy="29598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a1f07bbfc6_0_0"/>
          <p:cNvSpPr txBox="1">
            <a:spLocks noGrp="1"/>
          </p:cNvSpPr>
          <p:nvPr>
            <p:ph type="sldNum" idx="12"/>
          </p:nvPr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3</a:t>
            </a:fld>
            <a:r>
              <a:rPr lang="en-IN"/>
              <a:t>|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/>
          <p:nvPr/>
        </p:nvSpPr>
        <p:spPr>
          <a:xfrm>
            <a:off x="457200" y="210086"/>
            <a:ext cx="10669600" cy="5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Global collaborations since 2010</a:t>
            </a:r>
            <a:endParaRPr sz="22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9"/>
          <p:cNvGrpSpPr/>
          <p:nvPr/>
        </p:nvGrpSpPr>
        <p:grpSpPr>
          <a:xfrm>
            <a:off x="241005" y="773130"/>
            <a:ext cx="10689799" cy="5871681"/>
            <a:chOff x="127991" y="814226"/>
            <a:chExt cx="10689799" cy="5871681"/>
          </a:xfrm>
        </p:grpSpPr>
        <p:pic>
          <p:nvPicPr>
            <p:cNvPr id="118" name="Google Shape;118;p9"/>
            <p:cNvPicPr preferRelativeResize="0"/>
            <p:nvPr/>
          </p:nvPicPr>
          <p:blipFill rotWithShape="1">
            <a:blip r:embed="rId3">
              <a:alphaModFix/>
            </a:blip>
            <a:srcRect l="8865" t="15281" r="3005" b="16255"/>
            <a:stretch/>
          </p:blipFill>
          <p:spPr>
            <a:xfrm>
              <a:off x="127991" y="814226"/>
              <a:ext cx="10689799" cy="5871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9"/>
            <p:cNvSpPr/>
            <p:nvPr/>
          </p:nvSpPr>
          <p:spPr>
            <a:xfrm rot="10800000" flipH="1">
              <a:off x="7434159" y="3633095"/>
              <a:ext cx="84814" cy="74166"/>
            </a:xfrm>
            <a:prstGeom prst="ellipse">
              <a:avLst/>
            </a:prstGeom>
            <a:solidFill>
              <a:srgbClr val="00608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608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9"/>
          <p:cNvSpPr/>
          <p:nvPr/>
        </p:nvSpPr>
        <p:spPr>
          <a:xfrm>
            <a:off x="457200" y="3045068"/>
            <a:ext cx="2125602" cy="76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60+ </a:t>
            </a:r>
            <a:r>
              <a:rPr lang="en-I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countries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230+ </a:t>
            </a:r>
            <a:r>
              <a:rPr lang="en-I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 txBox="1"/>
          <p:nvPr/>
        </p:nvSpPr>
        <p:spPr>
          <a:xfrm>
            <a:off x="-276585" y="6297039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00" rIns="121900" bIns="609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I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r>
              <a:rPr lang="en-IN" sz="1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sz="13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4957482" y="2299411"/>
            <a:ext cx="1783977" cy="1369582"/>
          </a:xfrm>
          <a:prstGeom prst="ellipse">
            <a:avLst/>
          </a:prstGeom>
          <a:solidFill>
            <a:srgbClr val="4ECEFF"/>
          </a:solidFill>
          <a:ln w="25400" cap="flat" cmpd="sng">
            <a:solidFill>
              <a:srgbClr val="0073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>
            <a:spLocks noGrp="1"/>
          </p:cNvSpPr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BBUS: the project’s key components </a:t>
            </a:r>
            <a:endParaRPr/>
          </a:p>
        </p:txBody>
      </p:sp>
      <p:sp>
        <p:nvSpPr>
          <p:cNvPr id="116" name="Google Shape;116;p3"/>
          <p:cNvSpPr txBox="1">
            <a:spLocks noGrp="1"/>
          </p:cNvSpPr>
          <p:nvPr>
            <p:ph type="sldNum" idx="4294967295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5</a:t>
            </a:fld>
            <a:r>
              <a:rPr lang="en-IN"/>
              <a:t>|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2045213" y="1228421"/>
            <a:ext cx="3361766" cy="83099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M1 - Socio-economic co-benefits, especially for women, low-income groups, &amp; vulnerable road users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6427694" y="1228421"/>
            <a:ext cx="3361766" cy="83099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M2 - Health and air quality benefits from increased bus usage and reduced reliance on private vehicles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2045213" y="4001721"/>
            <a:ext cx="3361766" cy="83099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M3 - Greenhouse gas (GHG) mitigation potential benefits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bus deployment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6427694" y="4001720"/>
            <a:ext cx="3361766" cy="83099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M4 - Resilience &amp; adaptive benefits of robust bus transport on the economy and physical infrastructure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3"/>
          <p:cNvCxnSpPr>
            <a:stCxn id="120" idx="0"/>
            <a:endCxn id="114" idx="2"/>
          </p:cNvCxnSpPr>
          <p:nvPr/>
        </p:nvCxnSpPr>
        <p:spPr>
          <a:xfrm rot="-5400000">
            <a:off x="3833046" y="2877171"/>
            <a:ext cx="1017600" cy="12315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3"/>
          <p:cNvCxnSpPr>
            <a:stCxn id="118" idx="2"/>
            <a:endCxn id="114" idx="2"/>
          </p:cNvCxnSpPr>
          <p:nvPr/>
        </p:nvCxnSpPr>
        <p:spPr>
          <a:xfrm rot="-5400000" flipH="1">
            <a:off x="3879396" y="1906118"/>
            <a:ext cx="924900" cy="12315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3"/>
          <p:cNvCxnSpPr>
            <a:stCxn id="119" idx="2"/>
            <a:endCxn id="114" idx="6"/>
          </p:cNvCxnSpPr>
          <p:nvPr/>
        </p:nvCxnSpPr>
        <p:spPr>
          <a:xfrm rot="5400000">
            <a:off x="6962577" y="1838318"/>
            <a:ext cx="924900" cy="13671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" name="Google Shape;125;p3"/>
          <p:cNvCxnSpPr>
            <a:stCxn id="121" idx="0"/>
            <a:endCxn id="114" idx="6"/>
          </p:cNvCxnSpPr>
          <p:nvPr/>
        </p:nvCxnSpPr>
        <p:spPr>
          <a:xfrm rot="5400000" flipH="1">
            <a:off x="6916227" y="2809370"/>
            <a:ext cx="1017600" cy="13671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6" name="Google Shape;126;p3"/>
          <p:cNvSpPr txBox="1"/>
          <p:nvPr/>
        </p:nvSpPr>
        <p:spPr>
          <a:xfrm>
            <a:off x="4997822" y="2521779"/>
            <a:ext cx="1703295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4-in-1 co-benefits model of bus-based public transport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3"/>
          <p:cNvCxnSpPr>
            <a:stCxn id="114" idx="4"/>
            <a:endCxn id="128" idx="3"/>
          </p:cNvCxnSpPr>
          <p:nvPr/>
        </p:nvCxnSpPr>
        <p:spPr>
          <a:xfrm rot="5400000">
            <a:off x="4415771" y="4210793"/>
            <a:ext cx="1975500" cy="8919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8" name="Google Shape;128;p3"/>
          <p:cNvSpPr/>
          <p:nvPr/>
        </p:nvSpPr>
        <p:spPr>
          <a:xfrm>
            <a:off x="1595716" y="5228893"/>
            <a:ext cx="3361766" cy="830997"/>
          </a:xfrm>
          <a:prstGeom prst="rect">
            <a:avLst/>
          </a:prstGeom>
          <a:solidFill>
            <a:srgbClr val="4ECEFF"/>
          </a:solidFill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Easing access to climate, green funds and other potential avenues for bus and allied infrastructures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6774741" y="5228893"/>
            <a:ext cx="3361766" cy="830997"/>
          </a:xfrm>
          <a:prstGeom prst="rect">
            <a:avLst/>
          </a:prstGeom>
          <a:solidFill>
            <a:srgbClr val="4ECEFF"/>
          </a:solidFill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Build institutional support for bus systems through strategic communication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3"/>
          <p:cNvCxnSpPr>
            <a:stCxn id="114" idx="4"/>
            <a:endCxn id="129" idx="1"/>
          </p:cNvCxnSpPr>
          <p:nvPr/>
        </p:nvCxnSpPr>
        <p:spPr>
          <a:xfrm rot="-5400000" flipH="1">
            <a:off x="5324321" y="4194143"/>
            <a:ext cx="1975500" cy="925200"/>
          </a:xfrm>
          <a:prstGeom prst="bentConnector2">
            <a:avLst/>
          </a:prstGeom>
          <a:noFill/>
          <a:ln w="9525" cap="flat" cmpd="sng">
            <a:solidFill>
              <a:srgbClr val="009CD8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61287-0197-40AF-908A-28EE723C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Our approach: how we're building the evidence</a:t>
            </a:r>
          </a:p>
        </p:txBody>
      </p:sp>
      <p:sp>
        <p:nvSpPr>
          <p:cNvPr id="1001" name="TextBox 1001"/>
          <p:cNvSpPr txBox="1"/>
          <p:nvPr/>
        </p:nvSpPr>
        <p:spPr>
          <a:xfrm>
            <a:off x="395705" y="1000000"/>
            <a:ext cx="11284400" cy="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None/>
            </a:pPr>
            <a:r>
              <a:rPr lang="en-IN" sz="1550" b="0" dirty="0">
                <a:solidFill>
                  <a:srgbClr val="575756"/>
                </a:solidFill>
                <a:latin typeface="Calibri"/>
                <a:cs typeface="Calibri"/>
              </a:rPr>
              <a:t>BBUS pairs lived-experience research — interviews and focus groups with bus users and non-users — with a structured survey across 6 Indian cities, split between control and treatment groups.</a:t>
            </a:r>
          </a:p>
        </p:txBody>
      </p:sp>
      <p:sp>
        <p:nvSpPr>
          <p:cNvPr id="1002" name="Header 1002"/>
          <p:cNvSpPr/>
          <p:nvPr/>
        </p:nvSpPr>
        <p:spPr>
          <a:xfrm>
            <a:off x="395705" y="1920000"/>
            <a:ext cx="5492200" cy="580000"/>
          </a:xfrm>
          <a:prstGeom prst="rect">
            <a:avLst/>
          </a:prstGeom>
          <a:solidFill>
            <a:srgbClr val="86BB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None/>
            </a:pPr>
            <a:r>
              <a:rPr lang="en-IN" sz="1400" b="1" dirty="0">
                <a:solidFill>
                  <a:srgbClr val="FFFFFF"/>
                </a:solidFill>
                <a:latin typeface="Calibri"/>
                <a:cs typeface="Calibri"/>
              </a:rPr>
              <a:t>Group A — cities with buses already running</a:t>
            </a:r>
          </a:p>
        </p:txBody>
      </p:sp>
      <p:sp>
        <p:nvSpPr>
          <p:cNvPr id="1003" name="TextBox 1003"/>
          <p:cNvSpPr txBox="1"/>
          <p:nvPr/>
        </p:nvSpPr>
        <p:spPr>
          <a:xfrm>
            <a:off x="395705" y="2630000"/>
            <a:ext cx="5492200" cy="1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None/>
            </a:pPr>
            <a:r>
              <a:rPr lang="en-IN" sz="1250" b="0" dirty="0">
                <a:solidFill>
                  <a:srgbClr val="575756"/>
                </a:solidFill>
                <a:latin typeface="Calibri"/>
                <a:cs typeface="Calibri"/>
              </a:rPr>
              <a:t>Bengaluru, Jaipur, Bhubaneswar. A cross-sectional comparison of bus users, non-users and private-vehicle users — estimating today's co-benefits.</a:t>
            </a:r>
          </a:p>
        </p:txBody>
      </p:sp>
      <p:sp>
        <p:nvSpPr>
          <p:cNvPr id="1004" name="Header 1004"/>
          <p:cNvSpPr/>
          <p:nvPr/>
        </p:nvSpPr>
        <p:spPr>
          <a:xfrm>
            <a:off x="6187905" y="1920000"/>
            <a:ext cx="5492200" cy="580000"/>
          </a:xfrm>
          <a:prstGeom prst="rect">
            <a:avLst/>
          </a:prstGeom>
          <a:solidFill>
            <a:srgbClr val="009E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None/>
            </a:pPr>
            <a:r>
              <a:rPr lang="en-IN" sz="1400" b="1" dirty="0">
                <a:solidFill>
                  <a:srgbClr val="FFFFFF"/>
                </a:solidFill>
                <a:latin typeface="Calibri"/>
                <a:cs typeface="Calibri"/>
              </a:rPr>
              <a:t>Group B — cities where buses are about to launch</a:t>
            </a:r>
          </a:p>
        </p:txBody>
      </p:sp>
      <p:sp>
        <p:nvSpPr>
          <p:cNvPr id="1005" name="TextBox 1005"/>
          <p:cNvSpPr txBox="1"/>
          <p:nvPr/>
        </p:nvSpPr>
        <p:spPr>
          <a:xfrm>
            <a:off x="6187905" y="2630000"/>
            <a:ext cx="5492200" cy="1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None/>
            </a:pPr>
            <a:r>
              <a:rPr lang="en-IN" sz="1250" b="0" dirty="0">
                <a:solidFill>
                  <a:srgbClr val="575756"/>
                </a:solidFill>
                <a:latin typeface="Calibri"/>
                <a:cs typeface="Calibri"/>
              </a:rPr>
              <a:t>A before/after (Difference-in-Differences) comparison of the same residents, tracked pre- and post-deployment — isolating the true causal effect of bus access.</a:t>
            </a:r>
          </a:p>
        </p:txBody>
      </p:sp>
      <p:sp>
        <p:nvSpPr>
          <p:cNvPr id="1006" name="TextBox 1006"/>
          <p:cNvSpPr txBox="1"/>
          <p:nvPr/>
        </p:nvSpPr>
        <p:spPr>
          <a:xfrm>
            <a:off x="395705" y="3900000"/>
            <a:ext cx="112844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None/>
            </a:pPr>
            <a:r>
              <a:rPr lang="en-IN" sz="1400" b="1" dirty="0">
                <a:solidFill>
                  <a:srgbClr val="333232"/>
                </a:solidFill>
                <a:latin typeface="Calibri"/>
                <a:cs typeface="Calibri"/>
              </a:rPr>
              <a:t>For Group B cities, the same survey also feeds route-level planning:</a:t>
            </a:r>
          </a:p>
        </p:txBody>
      </p:sp>
      <p:sp>
        <p:nvSpPr>
          <p:cNvPr id="1007" name="FlowStep 1007"/>
          <p:cNvSpPr/>
          <p:nvPr/>
        </p:nvSpPr>
        <p:spPr>
          <a:xfrm>
            <a:off x="395705" y="4430000"/>
            <a:ext cx="3060000" cy="1250000"/>
          </a:xfrm>
          <a:prstGeom prst="roundRect">
            <a:avLst>
              <a:gd name="adj" fmla="val 8000"/>
            </a:avLst>
          </a:prstGeom>
          <a:solidFill>
            <a:srgbClr val="929497"/>
          </a:solidFill>
          <a:ln>
            <a:noFill/>
          </a:ln>
        </p:spPr>
        <p:txBody>
          <a:bodyPr spcFirstLastPara="1" wrap="square" lIns="90000" tIns="80000" rIns="90000" bIns="80000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None/>
            </a:pPr>
            <a:r>
              <a:rPr lang="en-IN" sz="115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  <a:p>
            <a:pPr marL="0" lvl="0" indent="0" algn="ctr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Clr>
                <a:srgbClr val="FFFFFF"/>
              </a:buClr>
              <a:buNone/>
            </a:pPr>
            <a:r>
              <a:rPr lang="en-IN" sz="1350" b="1" dirty="0">
                <a:solidFill>
                  <a:srgbClr val="FFFFFF"/>
                </a:solidFill>
                <a:latin typeface="Calibri"/>
                <a:cs typeface="Calibri"/>
              </a:rPr>
              <a:t>Conduct the survey</a:t>
            </a:r>
          </a:p>
          <a:p>
            <a:pPr marL="0" lvl="0" indent="0" algn="ctr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None/>
            </a:pPr>
            <a:r>
              <a:rPr lang="en-IN" sz="1150" b="0" dirty="0">
                <a:solidFill>
                  <a:srgbClr val="FFFFFF"/>
                </a:solidFill>
                <a:latin typeface="Calibri"/>
                <a:cs typeface="Calibri"/>
              </a:rPr>
              <a:t>Travel behaviour, current mode, trip patterns</a:t>
            </a:r>
          </a:p>
        </p:txBody>
      </p:sp>
      <p:sp>
        <p:nvSpPr>
          <p:cNvPr id="1008" name="Arrow 1008"/>
          <p:cNvSpPr/>
          <p:nvPr/>
        </p:nvSpPr>
        <p:spPr>
          <a:xfrm>
            <a:off x="3455705" y="4430000"/>
            <a:ext cx="1052200" cy="1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497"/>
              </a:buClr>
              <a:buNone/>
            </a:pPr>
            <a:r>
              <a:rPr lang="en-IN" sz="2200" b="1" dirty="0">
                <a:solidFill>
                  <a:srgbClr val="929497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1009" name="FlowStep 1009"/>
          <p:cNvSpPr/>
          <p:nvPr/>
        </p:nvSpPr>
        <p:spPr>
          <a:xfrm>
            <a:off x="4507905" y="4430000"/>
            <a:ext cx="3060000" cy="1250000"/>
          </a:xfrm>
          <a:prstGeom prst="roundRect">
            <a:avLst>
              <a:gd name="adj" fmla="val 8000"/>
            </a:avLst>
          </a:prstGeom>
          <a:solidFill>
            <a:srgbClr val="F16223"/>
          </a:solidFill>
          <a:ln>
            <a:noFill/>
          </a:ln>
        </p:spPr>
        <p:txBody>
          <a:bodyPr spcFirstLastPara="1" wrap="square" lIns="90000" tIns="80000" rIns="90000" bIns="80000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None/>
            </a:pPr>
            <a:r>
              <a:rPr lang="en-IN" sz="115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  <a:p>
            <a:pPr marL="0" lvl="0" indent="0" algn="ctr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Clr>
                <a:srgbClr val="FFFFFF"/>
              </a:buClr>
              <a:buNone/>
            </a:pPr>
            <a:r>
              <a:rPr lang="en-IN" sz="1350" b="1" dirty="0">
                <a:solidFill>
                  <a:srgbClr val="FFFFFF"/>
                </a:solidFill>
                <a:latin typeface="Calibri"/>
                <a:cs typeface="Calibri"/>
              </a:rPr>
              <a:t>Map travel patterns &amp; gaps</a:t>
            </a:r>
          </a:p>
          <a:p>
            <a:pPr marL="0" lvl="0" indent="0" algn="ctr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None/>
            </a:pPr>
            <a:r>
              <a:rPr lang="en-IN" sz="1150" b="0" dirty="0">
                <a:solidFill>
                  <a:srgbClr val="FFFFFF"/>
                </a:solidFill>
                <a:latin typeface="Calibri"/>
                <a:cs typeface="Calibri"/>
              </a:rPr>
              <a:t>Which areas and routes are under-served, using GIS</a:t>
            </a:r>
          </a:p>
        </p:txBody>
      </p:sp>
      <p:sp>
        <p:nvSpPr>
          <p:cNvPr id="1010" name="Arrow 1010"/>
          <p:cNvSpPr/>
          <p:nvPr/>
        </p:nvSpPr>
        <p:spPr>
          <a:xfrm>
            <a:off x="7567905" y="4430000"/>
            <a:ext cx="1052200" cy="1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497"/>
              </a:buClr>
              <a:buNone/>
            </a:pPr>
            <a:r>
              <a:rPr lang="en-IN" sz="2200" b="1" dirty="0">
                <a:solidFill>
                  <a:srgbClr val="929497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1011" name="FlowStep 1011"/>
          <p:cNvSpPr/>
          <p:nvPr/>
        </p:nvSpPr>
        <p:spPr>
          <a:xfrm>
            <a:off x="8620105" y="4430000"/>
            <a:ext cx="3060000" cy="1250000"/>
          </a:xfrm>
          <a:prstGeom prst="roundRect">
            <a:avLst>
              <a:gd name="adj" fmla="val 8000"/>
            </a:avLst>
          </a:prstGeom>
          <a:solidFill>
            <a:srgbClr val="009ED8"/>
          </a:solidFill>
          <a:ln>
            <a:noFill/>
          </a:ln>
        </p:spPr>
        <p:txBody>
          <a:bodyPr spcFirstLastPara="1" wrap="square" lIns="90000" tIns="80000" rIns="90000" bIns="80000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None/>
            </a:pPr>
            <a:r>
              <a:rPr lang="en-IN" sz="115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  <a:p>
            <a:pPr marL="0" lvl="0" indent="0" algn="ctr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Clr>
                <a:srgbClr val="FFFFFF"/>
              </a:buClr>
              <a:buNone/>
            </a:pPr>
            <a:r>
              <a:rPr lang="en-IN" sz="1350" b="1" dirty="0">
                <a:solidFill>
                  <a:srgbClr val="FFFFFF"/>
                </a:solidFill>
                <a:latin typeface="Calibri"/>
                <a:cs typeface="Calibri"/>
              </a:rPr>
              <a:t>Route-level plan for e-buses</a:t>
            </a:r>
          </a:p>
          <a:p>
            <a:pPr marL="0" lvl="0" indent="0" algn="ctr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None/>
            </a:pPr>
            <a:r>
              <a:rPr lang="en-IN" sz="1150" b="0" dirty="0">
                <a:solidFill>
                  <a:srgbClr val="FFFFFF"/>
                </a:solidFill>
                <a:latin typeface="Calibri"/>
                <a:cs typeface="Calibri"/>
              </a:rPr>
              <a:t>Where new routes &amp; stops are needed most</a:t>
            </a:r>
          </a:p>
        </p:txBody>
      </p:sp>
      <p:sp>
        <p:nvSpPr>
          <p:cNvPr id="1012" name="Slide Number"/>
          <p:cNvSpPr txBox="1">
            <a:spLocks noGrp="1"/>
          </p:cNvSpPr>
          <p:nvPr>
            <p:ph type="sldNum" idx="4294967295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0006}" type="slidenum">
              <a:rPr lang="en-IN"/>
              <a:t>6</a:t>
            </a:fld>
            <a:r>
              <a:rPr lang="en-IN"/>
              <a:t>|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77401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61287-0197-40AF-908A-28EE723C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we'll do: from evidence to investment-ready tools</a:t>
            </a:r>
          </a:p>
        </p:txBody>
      </p:sp>
      <p:sp>
        <p:nvSpPr>
          <p:cNvPr id="1013" name="TextBox 1013"/>
          <p:cNvSpPr txBox="1"/>
          <p:nvPr/>
        </p:nvSpPr>
        <p:spPr>
          <a:xfrm>
            <a:off x="395705" y="1030000"/>
            <a:ext cx="11284400" cy="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None/>
            </a:pPr>
            <a:r>
              <a:rPr lang="en-IN" sz="1600" b="1" dirty="0">
                <a:solidFill>
                  <a:srgbClr val="333232"/>
                </a:solidFill>
                <a:latin typeface="Calibri"/>
                <a:cs typeface="Calibri"/>
              </a:rPr>
              <a:t>Stages that turn co-benefit evidence into a financeable case for bus investment.</a:t>
            </a:r>
          </a:p>
        </p:txBody>
      </p:sp>
      <p:sp>
        <p:nvSpPr>
          <p:cNvPr id="1014" name="StageBox 1014"/>
          <p:cNvSpPr/>
          <p:nvPr/>
        </p:nvSpPr>
        <p:spPr>
          <a:xfrm>
            <a:off x="395705" y="1820000"/>
            <a:ext cx="2649650" cy="2350000"/>
          </a:xfrm>
          <a:prstGeom prst="rect">
            <a:avLst/>
          </a:prstGeom>
          <a:noFill/>
          <a:ln w="19050" cap="flat" cmpd="sng">
            <a:solidFill>
              <a:srgbClr val="929497"/>
            </a:solidFill>
            <a:prstDash val="solid"/>
          </a:ln>
        </p:spPr>
        <p:txBody>
          <a:bodyPr spcFirstLastPara="1" wrap="square" lIns="110000" tIns="100000" rIns="110000" bIns="100000" anchor="t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29497"/>
              </a:buClr>
              <a:buNone/>
            </a:pPr>
            <a:r>
              <a:rPr lang="en-IN" sz="1150" b="1" dirty="0">
                <a:solidFill>
                  <a:srgbClr val="929497"/>
                </a:solidFill>
                <a:latin typeface="Calibri"/>
                <a:cs typeface="Calibri"/>
              </a:rPr>
              <a:t>STAGE 1</a:t>
            </a:r>
          </a:p>
          <a:p>
            <a:pPr marL="0" lvl="0" indent="0" algn="ctr" rtl="0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Clr>
                <a:srgbClr val="333232"/>
              </a:buClr>
              <a:buNone/>
            </a:pPr>
            <a:r>
              <a:rPr lang="en-IN" sz="1450" b="1" dirty="0">
                <a:solidFill>
                  <a:srgbClr val="333232"/>
                </a:solidFill>
                <a:latin typeface="Calibri"/>
                <a:cs typeface="Calibri"/>
              </a:rPr>
              <a:t>Review &amp; design</a:t>
            </a:r>
          </a:p>
          <a:p>
            <a:pPr marL="0" lvl="0" indent="0" algn="ctr" rtl="0">
              <a:lnSpc>
                <a:spcPct val="114000"/>
              </a:lnSpc>
              <a:spcBef>
                <a:spcPts val="450"/>
              </a:spcBef>
              <a:spcAft>
                <a:spcPts val="0"/>
              </a:spcAft>
              <a:buClr>
                <a:srgbClr val="575756"/>
              </a:buClr>
              <a:buNone/>
            </a:pPr>
            <a:r>
              <a:rPr lang="en-IN" sz="1200" b="0" dirty="0">
                <a:solidFill>
                  <a:srgbClr val="575756"/>
                </a:solidFill>
                <a:latin typeface="Calibri"/>
                <a:cs typeface="Calibri"/>
              </a:rPr>
              <a:t>Synthesise global evidence; finalise survey tools through interviews and focus groups with bus users and non-users</a:t>
            </a:r>
          </a:p>
        </p:txBody>
      </p:sp>
      <p:sp>
        <p:nvSpPr>
          <p:cNvPr id="1015" name="StageBox 1015"/>
          <p:cNvSpPr/>
          <p:nvPr/>
        </p:nvSpPr>
        <p:spPr>
          <a:xfrm>
            <a:off x="3273955" y="1820000"/>
            <a:ext cx="2649650" cy="2350000"/>
          </a:xfrm>
          <a:prstGeom prst="rect">
            <a:avLst/>
          </a:prstGeom>
          <a:noFill/>
          <a:ln w="19050" cap="flat" cmpd="sng">
            <a:solidFill>
              <a:srgbClr val="F16223"/>
            </a:solidFill>
            <a:prstDash val="solid"/>
          </a:ln>
        </p:spPr>
        <p:txBody>
          <a:bodyPr spcFirstLastPara="1" wrap="square" lIns="110000" tIns="100000" rIns="110000" bIns="100000" anchor="t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16223"/>
              </a:buClr>
              <a:buNone/>
            </a:pPr>
            <a:r>
              <a:rPr lang="en-IN" sz="1150" b="1" dirty="0">
                <a:solidFill>
                  <a:srgbClr val="F16223"/>
                </a:solidFill>
                <a:latin typeface="Calibri"/>
                <a:cs typeface="Calibri"/>
              </a:rPr>
              <a:t>STAGE 2</a:t>
            </a:r>
          </a:p>
          <a:p>
            <a:pPr marL="0" lvl="0" indent="0" algn="ctr" rtl="0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Clr>
                <a:srgbClr val="333232"/>
              </a:buClr>
              <a:buNone/>
            </a:pPr>
            <a:r>
              <a:rPr lang="en-IN" sz="1450" b="1" dirty="0">
                <a:solidFill>
                  <a:srgbClr val="333232"/>
                </a:solidFill>
                <a:latin typeface="Calibri"/>
                <a:cs typeface="Calibri"/>
              </a:rPr>
              <a:t>Primary data collection</a:t>
            </a:r>
          </a:p>
          <a:p>
            <a:pPr marL="0" lvl="0" indent="0" algn="ctr" rtl="0">
              <a:lnSpc>
                <a:spcPct val="114000"/>
              </a:lnSpc>
              <a:spcBef>
                <a:spcPts val="450"/>
              </a:spcBef>
              <a:spcAft>
                <a:spcPts val="0"/>
              </a:spcAft>
              <a:buClr>
                <a:srgbClr val="575756"/>
              </a:buClr>
              <a:buNone/>
            </a:pPr>
            <a:r>
              <a:rPr lang="en-IN" sz="1200" b="0" dirty="0">
                <a:solidFill>
                  <a:srgbClr val="575756"/>
                </a:solidFill>
                <a:latin typeface="Calibri"/>
                <a:cs typeface="Calibri"/>
              </a:rPr>
              <a:t>A structured survey of 6,000 respondents across 6 Indian cities — Group A and Group B</a:t>
            </a:r>
          </a:p>
        </p:txBody>
      </p:sp>
      <p:sp>
        <p:nvSpPr>
          <p:cNvPr id="1016" name="StageBox 1016"/>
          <p:cNvSpPr/>
          <p:nvPr/>
        </p:nvSpPr>
        <p:spPr>
          <a:xfrm>
            <a:off x="6152205" y="1820000"/>
            <a:ext cx="2649650" cy="2350000"/>
          </a:xfrm>
          <a:prstGeom prst="rect">
            <a:avLst/>
          </a:prstGeom>
          <a:noFill/>
          <a:ln w="19050" cap="flat" cmpd="sng">
            <a:solidFill>
              <a:srgbClr val="009ED8"/>
            </a:solidFill>
            <a:prstDash val="solid"/>
          </a:ln>
        </p:spPr>
        <p:txBody>
          <a:bodyPr spcFirstLastPara="1" wrap="square" lIns="110000" tIns="100000" rIns="110000" bIns="100000" anchor="t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9ED8"/>
              </a:buClr>
              <a:buNone/>
            </a:pPr>
            <a:r>
              <a:rPr lang="en-IN" sz="1150" b="1" dirty="0">
                <a:solidFill>
                  <a:srgbClr val="009ED8"/>
                </a:solidFill>
                <a:latin typeface="Calibri"/>
                <a:cs typeface="Calibri"/>
              </a:rPr>
              <a:t>STAGE 3</a:t>
            </a:r>
          </a:p>
          <a:p>
            <a:pPr marL="0" lvl="0" indent="0" algn="ctr" rtl="0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Clr>
                <a:srgbClr val="333232"/>
              </a:buClr>
              <a:buNone/>
            </a:pPr>
            <a:r>
              <a:rPr lang="en-IN" sz="1450" b="1" dirty="0">
                <a:solidFill>
                  <a:srgbClr val="333232"/>
                </a:solidFill>
                <a:latin typeface="Calibri"/>
                <a:cs typeface="Calibri"/>
              </a:rPr>
              <a:t>Build the 4-in-1 models</a:t>
            </a:r>
          </a:p>
          <a:p>
            <a:pPr marL="0" lvl="0" indent="0" algn="ctr" rtl="0">
              <a:lnSpc>
                <a:spcPct val="114000"/>
              </a:lnSpc>
              <a:spcBef>
                <a:spcPts val="450"/>
              </a:spcBef>
              <a:spcAft>
                <a:spcPts val="0"/>
              </a:spcAft>
              <a:buClr>
                <a:srgbClr val="575756"/>
              </a:buClr>
              <a:buNone/>
            </a:pPr>
            <a:r>
              <a:rPr lang="en-IN" sz="1200" b="0" dirty="0">
                <a:solidFill>
                  <a:srgbClr val="575756"/>
                </a:solidFill>
                <a:latin typeface="Calibri"/>
                <a:cs typeface="Calibri"/>
              </a:rPr>
              <a:t>Quantify socio-economic (M1), health (M2), GHG (M3) and resilience (M4) co-benefits</a:t>
            </a:r>
          </a:p>
        </p:txBody>
      </p:sp>
      <p:sp>
        <p:nvSpPr>
          <p:cNvPr id="1017" name="StageBox 1017"/>
          <p:cNvSpPr/>
          <p:nvPr/>
        </p:nvSpPr>
        <p:spPr>
          <a:xfrm>
            <a:off x="9030455" y="1820000"/>
            <a:ext cx="2649650" cy="2350000"/>
          </a:xfrm>
          <a:prstGeom prst="rect">
            <a:avLst/>
          </a:prstGeom>
          <a:noFill/>
          <a:ln w="19050" cap="flat" cmpd="sng">
            <a:solidFill>
              <a:srgbClr val="86BB3F"/>
            </a:solidFill>
            <a:prstDash val="solid"/>
          </a:ln>
        </p:spPr>
        <p:txBody>
          <a:bodyPr spcFirstLastPara="1" wrap="square" lIns="110000" tIns="100000" rIns="110000" bIns="100000" anchor="t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6BB3F"/>
              </a:buClr>
              <a:buNone/>
            </a:pPr>
            <a:r>
              <a:rPr lang="en-IN" sz="1150" b="1" dirty="0">
                <a:solidFill>
                  <a:srgbClr val="86BB3F"/>
                </a:solidFill>
                <a:latin typeface="Calibri"/>
                <a:cs typeface="Calibri"/>
              </a:rPr>
              <a:t>STAGE 3B</a:t>
            </a:r>
          </a:p>
          <a:p>
            <a:pPr marL="0" lvl="0" indent="0" algn="ctr" rtl="0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Clr>
                <a:srgbClr val="333232"/>
              </a:buClr>
              <a:buNone/>
            </a:pPr>
            <a:r>
              <a:rPr lang="en-IN" sz="1450" b="1" dirty="0">
                <a:solidFill>
                  <a:srgbClr val="333232"/>
                </a:solidFill>
                <a:latin typeface="Calibri"/>
                <a:cs typeface="Calibri"/>
              </a:rPr>
              <a:t>Route planning for e-buses (Group B)</a:t>
            </a:r>
          </a:p>
          <a:p>
            <a:pPr marL="0" lvl="0" indent="0" algn="ctr" rtl="0">
              <a:lnSpc>
                <a:spcPct val="114000"/>
              </a:lnSpc>
              <a:spcBef>
                <a:spcPts val="450"/>
              </a:spcBef>
              <a:spcAft>
                <a:spcPts val="0"/>
              </a:spcAft>
              <a:buClr>
                <a:srgbClr val="575756"/>
              </a:buClr>
              <a:buNone/>
            </a:pPr>
            <a:r>
              <a:rPr lang="en-IN" sz="1200" b="0" dirty="0">
                <a:solidFill>
                  <a:srgbClr val="575756"/>
                </a:solidFill>
                <a:latin typeface="Calibri"/>
                <a:cs typeface="Calibri"/>
              </a:rPr>
              <a:t>Turn survey travel-pattern data into route and stop recommendations for cities about to deploy e-buses</a:t>
            </a:r>
          </a:p>
        </p:txBody>
      </p:sp>
      <p:sp>
        <p:nvSpPr>
          <p:cNvPr id="1018" name="TextBox 1018"/>
          <p:cNvSpPr txBox="1"/>
          <p:nvPr/>
        </p:nvSpPr>
        <p:spPr>
          <a:xfrm>
            <a:off x="395705" y="4450000"/>
            <a:ext cx="112844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None/>
            </a:pPr>
            <a:r>
              <a:rPr lang="en-IN" sz="1450" b="0" dirty="0">
                <a:solidFill>
                  <a:srgbClr val="575756"/>
                </a:solidFill>
                <a:latin typeface="Calibri"/>
                <a:cs typeface="Calibri"/>
              </a:rPr>
              <a:t>Each stage produces something usable on its own — you don't have to wait for the final report to get value.</a:t>
            </a:r>
          </a:p>
        </p:txBody>
      </p:sp>
      <p:sp>
        <p:nvSpPr>
          <p:cNvPr id="1019" name="Slide Number"/>
          <p:cNvSpPr txBox="1">
            <a:spLocks noGrp="1"/>
          </p:cNvSpPr>
          <p:nvPr>
            <p:ph type="sldNum" idx="4294967295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0007}" type="slidenum">
              <a:rPr lang="en-IN"/>
              <a:t>7</a:t>
            </a:fld>
            <a:r>
              <a:rPr lang="en-IN"/>
              <a:t>|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8928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61287-0197-40AF-908A-28EE723C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this produces: an investment-ready toolkit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04C06-3705-4881-8B2B-24C2C4A4A9F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Source: CEEW compilation</a:t>
            </a:r>
            <a:endParaRPr/>
          </a:p>
        </p:txBody>
      </p:sp>
      <p:sp>
        <p:nvSpPr>
          <p:cNvPr id="1008" name="TextBox 1008"/>
          <p:cNvSpPr txBox="1"/>
          <p:nvPr/>
        </p:nvSpPr>
        <p:spPr>
          <a:xfrm>
            <a:off x="395705" y="1030000"/>
            <a:ext cx="11284400" cy="512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None/>
            </a:pPr>
            <a:r>
              <a:rPr lang="en-IN" sz="1600" b="1" dirty="0">
                <a:solidFill>
                  <a:srgbClr val="333232"/>
                </a:solidFill>
                <a:latin typeface="Calibri"/>
                <a:cs typeface="Calibri"/>
              </a:rPr>
              <a:t>Every model feeds into one practical output — a tool that turns co-benefit evidence into financeable numbers.</a:t>
            </a:r>
          </a:p>
        </p:txBody>
      </p:sp>
      <p:sp>
        <p:nvSpPr>
          <p:cNvPr id="1009" name="StatBox 1009"/>
          <p:cNvSpPr/>
          <p:nvPr/>
        </p:nvSpPr>
        <p:spPr>
          <a:xfrm>
            <a:off x="395705" y="1584140"/>
            <a:ext cx="11284400" cy="1750000"/>
          </a:xfrm>
          <a:prstGeom prst="rect">
            <a:avLst/>
          </a:prstGeom>
          <a:noFill/>
          <a:ln w="19050" cap="flat" cmpd="sng">
            <a:solidFill>
              <a:srgbClr val="009ED8"/>
            </a:solidFill>
            <a:prstDash val="solid"/>
          </a:ln>
        </p:spPr>
        <p:txBody>
          <a:bodyPr spcFirstLastPara="1" wrap="square" lIns="128000" tIns="91000" rIns="128000" bIns="91000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None/>
            </a:pPr>
            <a:r>
              <a:rPr lang="en-IN" sz="1600" b="1" dirty="0">
                <a:solidFill>
                  <a:srgbClr val="333232"/>
                </a:solidFill>
                <a:latin typeface="Calibri"/>
                <a:cs typeface="Calibri"/>
              </a:rPr>
              <a:t>The Pre-Investment Appraisal Tool</a:t>
            </a:r>
          </a:p>
          <a:p>
            <a:pPr marL="0" lvl="0" indent="0" algn="ctr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75756"/>
              </a:buClr>
              <a:buNone/>
            </a:pPr>
            <a:r>
              <a:rPr lang="en-IN" sz="1250" b="0" dirty="0">
                <a:solidFill>
                  <a:srgbClr val="575756"/>
                </a:solidFill>
                <a:latin typeface="Calibri"/>
                <a:cs typeface="Calibri"/>
              </a:rPr>
              <a:t>Input: fleet size, city population, current modal share, grid emission factor  →  Output: projected GHG savings, health co-benefits (DALYs averted, hospitalisation costs saved), an SROI ratio, eligible climate-finance instruments, and an MRV dashboard aligned to India's NDC, state targets and the SDGs</a:t>
            </a:r>
          </a:p>
        </p:txBody>
      </p:sp>
      <p:sp>
        <p:nvSpPr>
          <p:cNvPr id="1010" name="TextBox 1010"/>
          <p:cNvSpPr txBox="1"/>
          <p:nvPr/>
        </p:nvSpPr>
        <p:spPr>
          <a:xfrm>
            <a:off x="395705" y="3860000"/>
            <a:ext cx="112844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None/>
            </a:pPr>
            <a:r>
              <a:rPr lang="en-IN" sz="1600" b="1" dirty="0">
                <a:solidFill>
                  <a:srgbClr val="333232"/>
                </a:solidFill>
                <a:latin typeface="Calibri"/>
                <a:cs typeface="Calibri"/>
              </a:rPr>
              <a:t>Built to speak to three audiences, from the same underlying data:</a:t>
            </a:r>
          </a:p>
        </p:txBody>
      </p:sp>
      <p:sp>
        <p:nvSpPr>
          <p:cNvPr id="1011" name="StatBox 1011"/>
          <p:cNvSpPr/>
          <p:nvPr/>
        </p:nvSpPr>
        <p:spPr>
          <a:xfrm>
            <a:off x="395705" y="4430000"/>
            <a:ext cx="3609066" cy="1550000"/>
          </a:xfrm>
          <a:prstGeom prst="rect">
            <a:avLst/>
          </a:prstGeom>
          <a:noFill/>
          <a:ln w="19050" cap="flat" cmpd="sng">
            <a:solidFill>
              <a:srgbClr val="929497"/>
            </a:solidFill>
            <a:prstDash val="solid"/>
          </a:ln>
        </p:spPr>
        <p:txBody>
          <a:bodyPr spcFirstLastPara="1" wrap="square" lIns="128000" tIns="91000" rIns="128000" bIns="91000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None/>
            </a:pPr>
            <a:r>
              <a:rPr lang="en-IN" sz="1500" b="1" dirty="0">
                <a:solidFill>
                  <a:srgbClr val="333232"/>
                </a:solidFill>
                <a:latin typeface="Calibri"/>
                <a:cs typeface="Calibri"/>
              </a:rPr>
              <a:t>Government</a:t>
            </a:r>
          </a:p>
          <a:p>
            <a:pPr marL="0" lvl="0" indent="0" algn="ctr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75756"/>
              </a:buClr>
              <a:buNone/>
            </a:pPr>
            <a:r>
              <a:rPr lang="en-IN" sz="1200" b="0" dirty="0">
                <a:solidFill>
                  <a:srgbClr val="575756"/>
                </a:solidFill>
                <a:latin typeface="Calibri"/>
                <a:cs typeface="Calibri"/>
              </a:rPr>
              <a:t>value-for-money — societal co-benefits per rupee of public spend</a:t>
            </a:r>
          </a:p>
        </p:txBody>
      </p:sp>
      <p:sp>
        <p:nvSpPr>
          <p:cNvPr id="1012" name="StatBox 1012"/>
          <p:cNvSpPr/>
          <p:nvPr/>
        </p:nvSpPr>
        <p:spPr>
          <a:xfrm>
            <a:off x="4233371" y="4430000"/>
            <a:ext cx="3609066" cy="1550000"/>
          </a:xfrm>
          <a:prstGeom prst="rect">
            <a:avLst/>
          </a:prstGeom>
          <a:noFill/>
          <a:ln w="19050" cap="flat" cmpd="sng">
            <a:solidFill>
              <a:srgbClr val="F16223"/>
            </a:solidFill>
            <a:prstDash val="solid"/>
          </a:ln>
        </p:spPr>
        <p:txBody>
          <a:bodyPr spcFirstLastPara="1" wrap="square" lIns="128000" tIns="91000" rIns="128000" bIns="91000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None/>
            </a:pPr>
            <a:r>
              <a:rPr lang="en-IN" sz="1500" b="1" dirty="0">
                <a:solidFill>
                  <a:srgbClr val="333232"/>
                </a:solidFill>
                <a:latin typeface="Calibri"/>
                <a:cs typeface="Calibri"/>
              </a:rPr>
              <a:t>Climate &amp; development finance</a:t>
            </a:r>
          </a:p>
          <a:p>
            <a:pPr marL="0" lvl="0" indent="0" algn="ctr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75756"/>
              </a:buClr>
              <a:buNone/>
            </a:pPr>
            <a:r>
              <a:rPr lang="en-IN" sz="1200" b="0" dirty="0">
                <a:solidFill>
                  <a:srgbClr val="575756"/>
                </a:solidFill>
                <a:latin typeface="Calibri"/>
                <a:cs typeface="Calibri"/>
              </a:rPr>
              <a:t>metrics structured for GCF, ADB and World Bank appraisal</a:t>
            </a:r>
          </a:p>
        </p:txBody>
      </p:sp>
      <p:sp>
        <p:nvSpPr>
          <p:cNvPr id="1013" name="StatBox 1013"/>
          <p:cNvSpPr/>
          <p:nvPr/>
        </p:nvSpPr>
        <p:spPr>
          <a:xfrm>
            <a:off x="8071037" y="4430000"/>
            <a:ext cx="3609066" cy="1550000"/>
          </a:xfrm>
          <a:prstGeom prst="rect">
            <a:avLst/>
          </a:prstGeom>
          <a:noFill/>
          <a:ln w="19050" cap="flat" cmpd="sng">
            <a:solidFill>
              <a:srgbClr val="86BB3F"/>
            </a:solidFill>
            <a:prstDash val="solid"/>
          </a:ln>
        </p:spPr>
        <p:txBody>
          <a:bodyPr spcFirstLastPara="1" wrap="square" lIns="128000" tIns="91000" rIns="128000" bIns="91000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None/>
            </a:pPr>
            <a:r>
              <a:rPr lang="en-IN" sz="1500" b="1" dirty="0">
                <a:solidFill>
                  <a:srgbClr val="333232"/>
                </a:solidFill>
                <a:latin typeface="Calibri"/>
                <a:cs typeface="Calibri"/>
              </a:rPr>
              <a:t>Private sector &amp; capital markets</a:t>
            </a:r>
          </a:p>
          <a:p>
            <a:pPr marL="0" lvl="0" indent="0" algn="ctr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75756"/>
              </a:buClr>
              <a:buNone/>
            </a:pPr>
            <a:r>
              <a:rPr lang="en-IN" sz="1200" b="0" dirty="0">
                <a:solidFill>
                  <a:srgbClr val="575756"/>
                </a:solidFill>
                <a:latin typeface="Calibri"/>
                <a:cs typeface="Calibri"/>
              </a:rPr>
              <a:t>de-risking data for blended finance and revenue guarantees</a:t>
            </a:r>
          </a:p>
        </p:txBody>
      </p:sp>
      <p:sp>
        <p:nvSpPr>
          <p:cNvPr id="1014" name="Slide Number"/>
          <p:cNvSpPr txBox="1">
            <a:spLocks noGrp="1"/>
          </p:cNvSpPr>
          <p:nvPr>
            <p:ph type="sldNum" idx="4294967295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0008}" type="slidenum">
              <a:rPr lang="en-IN"/>
              <a:t>8</a:t>
            </a:fld>
            <a:r>
              <a:rPr lang="en-IN"/>
              <a:t>|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540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61287-0197-40AF-908A-28EE723C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together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04C06-3705-4881-8B2B-24C2C4A4A9F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1015" name="TextBox 1015"/>
          <p:cNvSpPr txBox="1"/>
          <p:nvPr/>
        </p:nvSpPr>
        <p:spPr>
          <a:xfrm>
            <a:off x="395705" y="1050000"/>
            <a:ext cx="11284400" cy="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None/>
            </a:pPr>
            <a:r>
              <a:rPr lang="en-IN" sz="1700" b="1" dirty="0">
                <a:solidFill>
                  <a:srgbClr val="333232"/>
                </a:solidFill>
                <a:latin typeface="Calibri"/>
                <a:cs typeface="Calibri"/>
              </a:rPr>
              <a:t>None of this works without a partner on the ground. Here's what would help:</a:t>
            </a:r>
          </a:p>
        </p:txBody>
      </p:sp>
      <p:sp>
        <p:nvSpPr>
          <p:cNvPr id="1016" name="TextBox 1016"/>
          <p:cNvSpPr txBox="1"/>
          <p:nvPr/>
        </p:nvSpPr>
        <p:spPr>
          <a:xfrm>
            <a:off x="395705" y="1780000"/>
            <a:ext cx="11284400" cy="1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650"/>
              </a:spcBef>
              <a:spcAft>
                <a:spcPts val="0"/>
              </a:spcAft>
              <a:buClr>
                <a:srgbClr val="575756"/>
              </a:buClr>
              <a:buFont typeface="Arial"/>
              <a:buChar char="•"/>
            </a:pPr>
            <a:r>
              <a:rPr lang="en-IN" sz="1500" b="0" dirty="0">
                <a:solidFill>
                  <a:srgbClr val="575756"/>
                </a:solidFill>
                <a:latin typeface="Calibri"/>
                <a:cs typeface="Calibri"/>
              </a:rPr>
              <a:t>Access to route, ridership and fleet data, where available</a:t>
            </a:r>
          </a:p>
          <a:p>
            <a:pPr marL="228600" lvl="0" indent="-228600" algn="l" rtl="0">
              <a:lnSpc>
                <a:spcPct val="120000"/>
              </a:lnSpc>
              <a:spcBef>
                <a:spcPts val="650"/>
              </a:spcBef>
              <a:spcAft>
                <a:spcPts val="0"/>
              </a:spcAft>
              <a:buClr>
                <a:srgbClr val="575756"/>
              </a:buClr>
              <a:buFont typeface="Arial"/>
              <a:buChar char="•"/>
            </a:pPr>
            <a:r>
              <a:rPr lang="en-IN" sz="1500" b="0" dirty="0">
                <a:solidFill>
                  <a:srgbClr val="575756"/>
                </a:solidFill>
                <a:latin typeface="Calibri"/>
                <a:cs typeface="Calibri"/>
              </a:rPr>
              <a:t>Support connecting with the local transport agency for on-ground survey access</a:t>
            </a:r>
          </a:p>
          <a:p>
            <a:pPr marL="228600" lvl="0" indent="-228600" algn="l" rtl="0">
              <a:lnSpc>
                <a:spcPct val="120000"/>
              </a:lnSpc>
              <a:spcBef>
                <a:spcPts val="650"/>
              </a:spcBef>
              <a:spcAft>
                <a:spcPts val="0"/>
              </a:spcAft>
              <a:buClr>
                <a:srgbClr val="575756"/>
              </a:buClr>
              <a:buFont typeface="Arial"/>
              <a:buChar char="•"/>
            </a:pPr>
            <a:r>
              <a:rPr lang="en-IN" sz="1500" b="0" dirty="0">
                <a:solidFill>
                  <a:srgbClr val="575756"/>
                </a:solidFill>
                <a:latin typeface="Calibri"/>
                <a:cs typeface="Calibri"/>
              </a:rPr>
              <a:t>A nodal contact for coordination through the data-collection period</a:t>
            </a:r>
          </a:p>
          <a:p>
            <a:pPr marL="228600" lvl="0" indent="-228600" algn="l" rtl="0">
              <a:lnSpc>
                <a:spcPct val="120000"/>
              </a:lnSpc>
              <a:spcBef>
                <a:spcPts val="650"/>
              </a:spcBef>
              <a:spcAft>
                <a:spcPts val="0"/>
              </a:spcAft>
              <a:buClr>
                <a:srgbClr val="575756"/>
              </a:buClr>
              <a:buFont typeface="Arial"/>
              <a:buChar char="•"/>
            </a:pPr>
            <a:r>
              <a:rPr lang="en-IN" sz="1500" b="0" dirty="0">
                <a:solidFill>
                  <a:srgbClr val="575756"/>
                </a:solidFill>
                <a:latin typeface="Calibri"/>
                <a:cs typeface="Calibri"/>
              </a:rPr>
              <a:t>A short window to feed findings back as they take shape — this is meant to be useful to you, not just about you</a:t>
            </a:r>
          </a:p>
        </p:txBody>
      </p:sp>
      <p:sp>
        <p:nvSpPr>
          <p:cNvPr id="1018" name="Slide Number"/>
          <p:cNvSpPr txBox="1">
            <a:spLocks noGrp="1"/>
          </p:cNvSpPr>
          <p:nvPr>
            <p:ph type="sldNum" idx="4294967295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0009}" type="slidenum">
              <a:rPr lang="en-IN"/>
              <a:t>9</a:t>
            </a:fld>
            <a:r>
              <a:rPr lang="en-IN"/>
              <a:t>|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32142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"/>
          <p:cNvSpPr txBox="1">
            <a:spLocks noGrp="1"/>
          </p:cNvSpPr>
          <p:nvPr>
            <p:ph type="body" idx="1"/>
          </p:nvPr>
        </p:nvSpPr>
        <p:spPr>
          <a:xfrm>
            <a:off x="826800" y="942160"/>
            <a:ext cx="10538400" cy="4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SzPts val="2200"/>
              <a:buNone/>
            </a:pPr>
            <a:endParaRPr sz="2400"/>
          </a:p>
          <a:p>
            <a:pPr marL="0" lvl="0" indent="0" algn="ctr" rtl="0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SzPts val="2200"/>
              <a:buNone/>
            </a:pPr>
            <a:endParaRPr sz="2400"/>
          </a:p>
          <a:p>
            <a:pPr marL="0" lvl="0" indent="0" algn="ctr" rtl="0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SzPts val="2200"/>
              <a:buNone/>
            </a:pPr>
            <a:endParaRPr sz="2400"/>
          </a:p>
          <a:p>
            <a:pPr marL="0" lvl="0" indent="0" algn="ctr" rtl="0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SzPts val="2200"/>
              <a:buNone/>
            </a:pPr>
            <a:endParaRPr sz="2400"/>
          </a:p>
          <a:p>
            <a:pPr marL="0" lvl="0" indent="0" algn="ctr" rtl="0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</a:pPr>
            <a:r>
              <a:rPr lang="en-IN" sz="2400" b="1">
                <a:solidFill>
                  <a:schemeClr val="accent1"/>
                </a:solidFill>
              </a:rPr>
              <a:t>Thank you</a:t>
            </a:r>
            <a:endParaRPr sz="2400"/>
          </a:p>
          <a:p>
            <a:pPr marL="0" lvl="0" indent="0" algn="ctr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000"/>
              <a:buNone/>
            </a:pPr>
            <a:r>
              <a:rPr lang="en-IN"/>
              <a:t>ceew.in | @CEEWIndia</a:t>
            </a:r>
            <a:endParaRPr/>
          </a:p>
        </p:txBody>
      </p:sp>
      <p:sp>
        <p:nvSpPr>
          <p:cNvPr id="320" name="Google Shape;320;p30"/>
          <p:cNvSpPr txBox="1">
            <a:spLocks noGrp="1"/>
          </p:cNvSpPr>
          <p:nvPr>
            <p:ph type="sldNum" idx="4294967295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10</a:t>
            </a:fld>
            <a:r>
              <a:rPr lang="en-IN"/>
              <a:t>|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EW - PPT Template 28Mar18">
  <a:themeElements>
    <a:clrScheme name="CEEW">
      <a:dk1>
        <a:srgbClr val="000000"/>
      </a:dk1>
      <a:lt1>
        <a:srgbClr val="FFFFFF"/>
      </a:lt1>
      <a:dk2>
        <a:srgbClr val="777877"/>
      </a:dk2>
      <a:lt2>
        <a:srgbClr val="FFFFFE"/>
      </a:lt2>
      <a:accent1>
        <a:srgbClr val="009ED8"/>
      </a:accent1>
      <a:accent2>
        <a:srgbClr val="F16223"/>
      </a:accent2>
      <a:accent3>
        <a:srgbClr val="86BB3F"/>
      </a:accent3>
      <a:accent4>
        <a:srgbClr val="929497"/>
      </a:accent4>
      <a:accent5>
        <a:srgbClr val="FFFFFE"/>
      </a:accent5>
      <a:accent6>
        <a:srgbClr val="FFFFFE"/>
      </a:accent6>
      <a:hlink>
        <a:srgbClr val="0D81B9"/>
      </a:hlink>
      <a:folHlink>
        <a:srgbClr val="0D81B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931</Words>
  <Application>Microsoft Macintosh PowerPoint</Application>
  <PresentationFormat>Widescreen</PresentationFormat>
  <Paragraphs>174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Familjen Grotesk</vt:lpstr>
      <vt:lpstr>Calibri</vt:lpstr>
      <vt:lpstr>CEEW - PPT Template 28Mar18</vt:lpstr>
      <vt:lpstr>Efficiency and Bus Fleet Management:</vt:lpstr>
      <vt:lpstr>Impacting sustainable development at scale with data, integrated analysis, and strategic outreach </vt:lpstr>
      <vt:lpstr>Impacting sustainable development at scale with data, integrated analysis, and strategic outreach</vt:lpstr>
      <vt:lpstr>PowerPoint Presentation</vt:lpstr>
      <vt:lpstr>BBUS: the project’s key components </vt:lpstr>
      <vt:lpstr>Our approach: how we're building the evidence</vt:lpstr>
      <vt:lpstr>What we'll do: from evidence to investment-ready tools</vt:lpstr>
      <vt:lpstr>What this produces: an investment-ready toolkit</vt:lpstr>
      <vt:lpstr>Working together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prince patel</cp:lastModifiedBy>
  <cp:revision>2</cp:revision>
  <dcterms:modified xsi:type="dcterms:W3CDTF">2026-08-04T09:44:53Z</dcterms:modified>
</cp:coreProperties>
</file>
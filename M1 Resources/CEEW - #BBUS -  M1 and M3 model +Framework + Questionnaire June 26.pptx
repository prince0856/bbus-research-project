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y="6858000" cx="12192000"/>
  <p:notesSz cx="6858000" cy="9144000"/>
  <p:embeddedFontLst>
    <p:embeddedFont>
      <p:font typeface="Robo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jxoWYKg+bl4ILNXzJJppfd07ej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C976CB-5D4F-4D33-9BE2-8629A44AEFD3}">
  <a:tblStyle styleId="{DFC976CB-5D4F-4D33-9BE2-8629A44AEF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B5553A4-2154-4094-822D-F7633A346B5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8BB97D2-7D7E-4C93-B79D-6AB28F514387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Roboto-regular.fntdata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font" Target="fonts/Roboto-italic.fntdata"/><Relationship Id="rId23" Type="http://schemas.openxmlformats.org/officeDocument/2006/relationships/slide" Target="slides/slide16.xml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customschemas.google.com/relationships/presentationmetadata" Target="metadata"/><Relationship Id="rId25" Type="http://schemas.openxmlformats.org/officeDocument/2006/relationships/slide" Target="slides/slide18.xml"/><Relationship Id="rId47" Type="http://schemas.openxmlformats.org/officeDocument/2006/relationships/font" Target="fonts/Roboto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f07bbf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g3a1f07bbf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213d091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e5213d091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ffd729c0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ecffd729c0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Change the map</a:t>
            </a:r>
            <a:endParaRPr/>
          </a:p>
        </p:txBody>
      </p:sp>
      <p:sp>
        <p:nvSpPr>
          <p:cNvPr id="225" name="Google Shape;2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7350ef5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7350ef5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7350ef5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5213d091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e5213d091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e5213d091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213d0914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e5213d0914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e5213d0914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cc9b63667_2_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ecc9b63667_2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cde7f9a7e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ecde7f9a7e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cde7f9a7e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8e9c6296f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8e9c6296f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8e9c6296f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cc9b63667_2_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ecc9b63667_2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cc9b63667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ecc9b63667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c75cc9b3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c75cc9b3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c75cc9b34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c75cc9b34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c75cc9b34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ec75cc9b34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c75cc9b34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c75cc9b34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ec75cc9b34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c75cc9b34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ec75cc9b34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ec75cc9b34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8e9c6296f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e8e9c6296f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e8e9c6296f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8e9c6296f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8e9c6296f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e8e9c6296f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8e9c6296f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8e9c6296f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e8e9c6296f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8e9c6296f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8e9c6296f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e8e9c6296f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7350ef53c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e7350ef53c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g3e7350ef53c_0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7350ef53c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e7350ef53c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e7350ef53c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e7350ef53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e7350ef53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e7350ef53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7350ef53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e7350ef53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g3e7350ef53c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7350ef53c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e7350ef53c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e7350ef53c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e7350ef53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e7350ef53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e7350ef53c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1274dd058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f1274dd058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f1274dd058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f1274dd05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f1274dd05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f1274dd058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f1274dd0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f1274dd0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f1274dd0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7350ef53c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e7350ef53c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e7350ef53c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e7350ef53c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e7350ef53c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e7350ef53c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f2214fd49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f2214fd49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f2214fd49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rotWithShape="0" dir="5400000" dist="23000">
              <a:srgbClr val="000000">
                <a:alpha val="32941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5"/>
          <p:cNvSpPr txBox="1"/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2" type="body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134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34" y="2349773"/>
            <a:ext cx="2619359" cy="196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ayout">
  <p:cSld name="Section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33">
                <a:solidFill>
                  <a:srgbClr val="009C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>
                <a:solidFill>
                  <a:srgbClr val="575756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cxnSp>
        <p:nvCxnSpPr>
          <p:cNvPr id="27" name="Google Shape;27;p27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" name="Google Shape;2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200" cap="none">
                <a:solidFill>
                  <a:srgbClr val="009C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2" name="Google Shape;32;p26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2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/>
        </p:txBody>
      </p:sp>
      <p:sp>
        <p:nvSpPr>
          <p:cNvPr id="38" name="Google Shape;38;p28"/>
          <p:cNvSpPr txBox="1"/>
          <p:nvPr>
            <p:ph idx="2" type="body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indent="-3429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indent="-3302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/>
        </p:txBody>
      </p:sp>
      <p:sp>
        <p:nvSpPr>
          <p:cNvPr id="39" name="Google Shape;39;p28"/>
          <p:cNvSpPr txBox="1"/>
          <p:nvPr>
            <p:ph idx="3" type="body"/>
          </p:nvPr>
        </p:nvSpPr>
        <p:spPr>
          <a:xfrm>
            <a:off x="354419" y="6475387"/>
            <a:ext cx="63400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" name="Google Shape;40;p28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" name="Google Shape;4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cc9b63667_2_7"/>
          <p:cNvSpPr/>
          <p:nvPr/>
        </p:nvSpPr>
        <p:spPr>
          <a:xfrm>
            <a:off x="3834064" y="0"/>
            <a:ext cx="8386000" cy="68580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40000" rotWithShape="0" dir="5400000" dist="23000">
              <a:srgbClr val="000000">
                <a:alpha val="32941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ecc9b63667_2_7"/>
          <p:cNvSpPr txBox="1"/>
          <p:nvPr>
            <p:ph type="title"/>
          </p:nvPr>
        </p:nvSpPr>
        <p:spPr>
          <a:xfrm>
            <a:off x="4165600" y="2695073"/>
            <a:ext cx="7812400" cy="1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g3ecc9b63667_2_7"/>
          <p:cNvSpPr txBox="1"/>
          <p:nvPr>
            <p:ph idx="1" type="body"/>
          </p:nvPr>
        </p:nvSpPr>
        <p:spPr>
          <a:xfrm>
            <a:off x="4165600" y="4319588"/>
            <a:ext cx="45404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700"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3" name="Google Shape;53;g3ecc9b63667_2_7"/>
          <p:cNvSpPr txBox="1"/>
          <p:nvPr>
            <p:ph idx="2" type="body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00"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54" name="Google Shape;54;g3ecc9b63667_2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135" y="2839400"/>
            <a:ext cx="2480433" cy="1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ecc9b63667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35" y="2349773"/>
            <a:ext cx="2619359" cy="196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cc9b63667_2_14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300" cap="none">
                <a:solidFill>
                  <a:srgbClr val="029BD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g3ecc9b63667_2_14"/>
          <p:cNvSpPr txBox="1"/>
          <p:nvPr>
            <p:ph idx="1" type="body"/>
          </p:nvPr>
        </p:nvSpPr>
        <p:spPr>
          <a:xfrm>
            <a:off x="395705" y="988341"/>
            <a:ext cx="11284400" cy="4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cxnSp>
        <p:nvCxnSpPr>
          <p:cNvPr id="59" name="Google Shape;59;g3ecc9b63667_2_14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g3ecc9b63667_2_14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61" name="Google Shape;61;g3ecc9b63667_2_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ayout">
  <p:cSld name="Section Layou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cc9b63667_2_20"/>
          <p:cNvSpPr txBox="1"/>
          <p:nvPr>
            <p:ph type="title"/>
          </p:nvPr>
        </p:nvSpPr>
        <p:spPr>
          <a:xfrm>
            <a:off x="661288" y="4389057"/>
            <a:ext cx="11411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3700">
                <a:solidFill>
                  <a:srgbClr val="029BD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g3ecc9b63667_2_20"/>
          <p:cNvSpPr txBox="1"/>
          <p:nvPr>
            <p:ph idx="1" type="body"/>
          </p:nvPr>
        </p:nvSpPr>
        <p:spPr>
          <a:xfrm>
            <a:off x="582992" y="4005943"/>
            <a:ext cx="114132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700">
                <a:solidFill>
                  <a:srgbClr val="575756"/>
                </a:solidFill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g3ecc9b63667_2_20"/>
          <p:cNvSpPr txBox="1"/>
          <p:nvPr>
            <p:ph idx="12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cxnSp>
        <p:nvCxnSpPr>
          <p:cNvPr id="66" name="Google Shape;66;g3ecc9b63667_2_20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" name="Google Shape;67;g3ecc9b63667_2_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cc9b63667_2_26"/>
          <p:cNvSpPr txBox="1"/>
          <p:nvPr>
            <p:ph type="title"/>
          </p:nvPr>
        </p:nvSpPr>
        <p:spPr>
          <a:xfrm>
            <a:off x="354419" y="226512"/>
            <a:ext cx="11228000" cy="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sz="23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g3ecc9b63667_2_26"/>
          <p:cNvSpPr txBox="1"/>
          <p:nvPr>
            <p:ph idx="1" type="body"/>
          </p:nvPr>
        </p:nvSpPr>
        <p:spPr>
          <a:xfrm>
            <a:off x="354419" y="1152456"/>
            <a:ext cx="56400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900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700"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00"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9pPr>
          </a:lstStyle>
          <a:p/>
        </p:txBody>
      </p:sp>
      <p:sp>
        <p:nvSpPr>
          <p:cNvPr id="71" name="Google Shape;71;g3ecc9b63667_2_26"/>
          <p:cNvSpPr txBox="1"/>
          <p:nvPr>
            <p:ph idx="2" type="body"/>
          </p:nvPr>
        </p:nvSpPr>
        <p:spPr>
          <a:xfrm>
            <a:off x="6197600" y="1152456"/>
            <a:ext cx="5384800" cy="4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900">
                <a:solidFill>
                  <a:srgbClr val="575756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700"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00"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2400"/>
            </a:lvl9pPr>
          </a:lstStyle>
          <a:p/>
        </p:txBody>
      </p:sp>
      <p:sp>
        <p:nvSpPr>
          <p:cNvPr id="72" name="Google Shape;72;g3ecc9b63667_2_26"/>
          <p:cNvSpPr txBox="1"/>
          <p:nvPr>
            <p:ph idx="3" type="body"/>
          </p:nvPr>
        </p:nvSpPr>
        <p:spPr>
          <a:xfrm>
            <a:off x="354419" y="6475387"/>
            <a:ext cx="63400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1200" cap="none">
                <a:solidFill>
                  <a:srgbClr val="9D9D9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cxnSp>
        <p:nvCxnSpPr>
          <p:cNvPr id="73" name="Google Shape;73;g3ecc9b63667_2_26"/>
          <p:cNvCxnSpPr/>
          <p:nvPr/>
        </p:nvCxnSpPr>
        <p:spPr>
          <a:xfrm flipH="1" rot="10800000">
            <a:off x="395705" y="6408357"/>
            <a:ext cx="10315200" cy="9600"/>
          </a:xfrm>
          <a:prstGeom prst="straightConnector1">
            <a:avLst/>
          </a:prstGeom>
          <a:noFill/>
          <a:ln cap="flat" cmpd="sng" w="9525">
            <a:solidFill>
              <a:srgbClr val="8D8F9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g3ecc9b63667_2_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42215" y="5869659"/>
            <a:ext cx="1152389" cy="86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" name="Google Shape;15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14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cc9b63667_2_0"/>
          <p:cNvSpPr txBox="1"/>
          <p:nvPr>
            <p:ph type="title"/>
          </p:nvPr>
        </p:nvSpPr>
        <p:spPr>
          <a:xfrm>
            <a:off x="374317" y="194428"/>
            <a:ext cx="11411200" cy="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ecc9b63667_2_0"/>
          <p:cNvSpPr txBox="1"/>
          <p:nvPr>
            <p:ph idx="1" type="body"/>
          </p:nvPr>
        </p:nvSpPr>
        <p:spPr>
          <a:xfrm>
            <a:off x="377509" y="1105471"/>
            <a:ext cx="11390000" cy="49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ecc9b63667_2_0"/>
          <p:cNvSpPr txBox="1"/>
          <p:nvPr>
            <p:ph idx="10" type="dt"/>
          </p:nvPr>
        </p:nvSpPr>
        <p:spPr>
          <a:xfrm>
            <a:off x="374317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9D9D9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g3ecc9b63667_2_0"/>
          <p:cNvSpPr txBox="1"/>
          <p:nvPr>
            <p:ph idx="11" type="ftr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600" u="none" cap="none" strike="noStrike">
                <a:solidFill>
                  <a:srgbClr val="9D9D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ecc9b63667_2_0"/>
          <p:cNvSpPr txBox="1"/>
          <p:nvPr>
            <p:ph idx="12" type="sldNum"/>
          </p:nvPr>
        </p:nvSpPr>
        <p:spPr>
          <a:xfrm>
            <a:off x="9415604" y="6590193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" name="Google Shape;48;g3ecc9b63667_2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1468" y="6179275"/>
            <a:ext cx="1022449" cy="54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www.pib.gov.in/PressReleasePage.aspx?PRID=2147040&amp;reg=3&amp;lang=2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www.pib.gov.in/PressReleaseIframePage.aspx?PRID=2034921&amp;reg=3&amp;lang=2#:~:text=Highlighting%20the%20vibrant%20Start%2DUp,2024%20from%20300%20in%202016." TargetMode="External"/><Relationship Id="rId6" Type="http://schemas.openxmlformats.org/officeDocument/2006/relationships/hyperlink" Target="https://www.colliers.com/en-in/news/press-release-india-real-estate-2026-outlook" TargetMode="External"/><Relationship Id="rId7" Type="http://schemas.openxmlformats.org/officeDocument/2006/relationships/hyperlink" Target="https://prana.cpcb.gov.in/#/home" TargetMode="External"/><Relationship Id="rId8" Type="http://schemas.openxmlformats.org/officeDocument/2006/relationships/hyperlink" Target="https://www.researchgate.net/publication/398893931_A_Comparative_Geospatial_Analysis_of_Urban_Growth_Patterns_Across_India's_Different_City_Tiers_for_Citizen-Centered_Governance_and_Sustainabilit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title"/>
          </p:nvPr>
        </p:nvSpPr>
        <p:spPr>
          <a:xfrm>
            <a:off x="4165600" y="2567453"/>
            <a:ext cx="78123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3466">
                <a:solidFill>
                  <a:srgbClr val="6C6E71"/>
                </a:solidFill>
              </a:rPr>
              <a:t>Efficiency and Bus Fleet Management: Strategic Communications and quantifying GHG and other co-benefits (#BBUS)</a:t>
            </a:r>
            <a:endParaRPr sz="3466">
              <a:solidFill>
                <a:srgbClr val="6C6E7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E71"/>
              </a:buClr>
              <a:buSzPts val="3200"/>
              <a:buNone/>
            </a:pPr>
            <a:r>
              <a:rPr lang="en-IN" sz="2466">
                <a:solidFill>
                  <a:schemeClr val="accent1"/>
                </a:solidFill>
              </a:rPr>
              <a:t>M1 &amp; M3 LR+Model+ Framework+Questionnaire </a:t>
            </a:r>
            <a:endParaRPr sz="2466">
              <a:solidFill>
                <a:schemeClr val="accent1"/>
              </a:solidFill>
            </a:endParaRPr>
          </a:p>
        </p:txBody>
      </p:sp>
      <p:sp>
        <p:nvSpPr>
          <p:cNvPr id="80" name="Google Shape;80;p1"/>
          <p:cNvSpPr txBox="1"/>
          <p:nvPr>
            <p:ph idx="1" type="body"/>
          </p:nvPr>
        </p:nvSpPr>
        <p:spPr>
          <a:xfrm>
            <a:off x="4165600" y="4774120"/>
            <a:ext cx="45405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t/>
            </a:r>
            <a:endParaRPr sz="1627">
              <a:solidFill>
                <a:srgbClr val="6C6E7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t/>
            </a:r>
            <a:endParaRPr sz="1627">
              <a:solidFill>
                <a:srgbClr val="6C6E7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427"/>
              </a:spcBef>
              <a:spcAft>
                <a:spcPts val="0"/>
              </a:spcAft>
              <a:buClr>
                <a:srgbClr val="6C6E71"/>
              </a:buClr>
              <a:buSzPts val="1120"/>
              <a:buNone/>
            </a:pPr>
            <a:r>
              <a:rPr lang="en-IN" sz="1627">
                <a:solidFill>
                  <a:srgbClr val="6C6E71"/>
                </a:solidFill>
              </a:rPr>
              <a:t>J</a:t>
            </a:r>
            <a:r>
              <a:rPr lang="en-IN" sz="1627">
                <a:solidFill>
                  <a:srgbClr val="6C6E71"/>
                </a:solidFill>
              </a:rPr>
              <a:t>une  2026</a:t>
            </a:r>
            <a:endParaRPr b="1" sz="2000">
              <a:solidFill>
                <a:schemeClr val="accent1"/>
              </a:solidFill>
            </a:endParaRPr>
          </a:p>
        </p:txBody>
      </p:sp>
      <p:sp>
        <p:nvSpPr>
          <p:cNvPr id="81" name="Google Shape;81;p1"/>
          <p:cNvSpPr txBox="1"/>
          <p:nvPr>
            <p:ph idx="2" type="body"/>
          </p:nvPr>
        </p:nvSpPr>
        <p:spPr>
          <a:xfrm>
            <a:off x="4165600" y="6303963"/>
            <a:ext cx="7812400" cy="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733">
                <a:solidFill>
                  <a:srgbClr val="575756"/>
                </a:solidFill>
              </a:rPr>
              <a:t>© Council on Energy, Environment and Water, 2026</a:t>
            </a:r>
            <a:endParaRPr>
              <a:solidFill>
                <a:srgbClr val="575756"/>
              </a:solidFill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-35733" y="53575"/>
            <a:ext cx="3839600" cy="62923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a1f07bbfc6_0_0"/>
          <p:cNvPicPr preferRelativeResize="0"/>
          <p:nvPr/>
        </p:nvPicPr>
        <p:blipFill rotWithShape="1">
          <a:blip r:embed="rId3">
            <a:alphaModFix/>
          </a:blip>
          <a:srcRect b="84114" l="33709" r="55109" t="0"/>
          <a:stretch/>
        </p:blipFill>
        <p:spPr>
          <a:xfrm>
            <a:off x="338550" y="1344986"/>
            <a:ext cx="400855" cy="30206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a1f07bbfc6_0_0"/>
          <p:cNvSpPr txBox="1"/>
          <p:nvPr>
            <p:ph type="title"/>
          </p:nvPr>
        </p:nvSpPr>
        <p:spPr>
          <a:xfrm>
            <a:off x="362842" y="342882"/>
            <a:ext cx="114111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 sz="2200"/>
              <a:t>Impacting sustainable development at scale with </a:t>
            </a:r>
            <a:r>
              <a:rPr lang="en-IN" sz="2200" u="sng"/>
              <a:t>data</a:t>
            </a:r>
            <a:r>
              <a:rPr lang="en-IN" sz="2200"/>
              <a:t>, </a:t>
            </a:r>
            <a:r>
              <a:rPr lang="en-IN" sz="2200" u="sng"/>
              <a:t>integrated analysis</a:t>
            </a:r>
            <a:r>
              <a:rPr lang="en-IN" sz="2200"/>
              <a:t>, and </a:t>
            </a:r>
            <a:r>
              <a:rPr lang="en-IN" sz="2200" u="sng"/>
              <a:t>strategic outreach</a:t>
            </a:r>
            <a:endParaRPr sz="2200" u="sng"/>
          </a:p>
        </p:txBody>
      </p:sp>
      <p:sp>
        <p:nvSpPr>
          <p:cNvPr id="89" name="Google Shape;89;g3a1f07bbfc6_0_0"/>
          <p:cNvSpPr/>
          <p:nvPr/>
        </p:nvSpPr>
        <p:spPr>
          <a:xfrm>
            <a:off x="5248125" y="5794458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Emerging Economies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a1f07bbfc6_0_0"/>
          <p:cNvSpPr/>
          <p:nvPr/>
        </p:nvSpPr>
        <p:spPr>
          <a:xfrm>
            <a:off x="310088" y="5790904"/>
            <a:ext cx="2568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CEEW Green Finance Centre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1f07bbfc6_0_0"/>
          <p:cNvSpPr/>
          <p:nvPr/>
        </p:nvSpPr>
        <p:spPr>
          <a:xfrm>
            <a:off x="7314991" y="5788600"/>
            <a:ext cx="1389000" cy="3840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UP State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a1f07bbfc6_0_0"/>
          <p:cNvCxnSpPr/>
          <p:nvPr/>
        </p:nvCxnSpPr>
        <p:spPr>
          <a:xfrm>
            <a:off x="9078215" y="1190790"/>
            <a:ext cx="0" cy="4981800"/>
          </a:xfrm>
          <a:prstGeom prst="straightConnector1">
            <a:avLst/>
          </a:prstGeom>
          <a:noFill/>
          <a:ln cap="flat" cmpd="sng" w="12700">
            <a:solidFill>
              <a:srgbClr val="009CD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" name="Google Shape;93;g3a1f07bbfc6_0_0"/>
          <p:cNvGrpSpPr/>
          <p:nvPr/>
        </p:nvGrpSpPr>
        <p:grpSpPr>
          <a:xfrm>
            <a:off x="310605" y="1262056"/>
            <a:ext cx="2461419" cy="2995124"/>
            <a:chOff x="310621" y="1400956"/>
            <a:chExt cx="2715000" cy="2995124"/>
          </a:xfrm>
        </p:grpSpPr>
        <p:cxnSp>
          <p:nvCxnSpPr>
            <p:cNvPr id="94" name="Google Shape;94;g3a1f07bbfc6_0_0"/>
            <p:cNvCxnSpPr/>
            <p:nvPr/>
          </p:nvCxnSpPr>
          <p:spPr>
            <a:xfrm>
              <a:off x="725127" y="1736439"/>
              <a:ext cx="1647600" cy="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lgDash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g3a1f07bbfc6_0_0"/>
            <p:cNvSpPr/>
            <p:nvPr/>
          </p:nvSpPr>
          <p:spPr>
            <a:xfrm>
              <a:off x="310621" y="2385771"/>
              <a:ext cx="2705100" cy="402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Energy Transitions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1f07bbfc6_0_0"/>
            <p:cNvSpPr/>
            <p:nvPr/>
          </p:nvSpPr>
          <p:spPr>
            <a:xfrm>
              <a:off x="310621" y="3459108"/>
              <a:ext cx="2705100" cy="401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Industrial Sustainability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1f07bbfc6_0_0"/>
            <p:cNvSpPr/>
            <p:nvPr/>
          </p:nvSpPr>
          <p:spPr>
            <a:xfrm>
              <a:off x="310621" y="3994980"/>
              <a:ext cx="2705100" cy="401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Livelihoods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a1f07bbfc6_0_0"/>
            <p:cNvSpPr/>
            <p:nvPr/>
          </p:nvSpPr>
          <p:spPr>
            <a:xfrm>
              <a:off x="310621" y="1849103"/>
              <a:ext cx="2705100" cy="402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Low-carbon Economy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1f07bbfc6_0_0"/>
            <p:cNvSpPr/>
            <p:nvPr/>
          </p:nvSpPr>
          <p:spPr>
            <a:xfrm>
              <a:off x="310621" y="2922439"/>
              <a:ext cx="2715000" cy="402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Power Markets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1f07bbfc6_0_0"/>
            <p:cNvSpPr/>
            <p:nvPr/>
          </p:nvSpPr>
          <p:spPr>
            <a:xfrm>
              <a:off x="562056" y="1400956"/>
              <a:ext cx="19308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-IN" sz="1600" u="none" cap="none" strike="noStrik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1" i="1" lang="en-IN" sz="1300" u="none" cap="none" strike="noStrike">
                  <a:solidFill>
                    <a:srgbClr val="F16223"/>
                  </a:solidFill>
                  <a:latin typeface="Calibri"/>
                  <a:ea typeface="Calibri"/>
                  <a:cs typeface="Calibri"/>
                  <a:sym typeface="Calibri"/>
                </a:rPr>
                <a:t>RANSFORMATIONS</a:t>
              </a:r>
              <a:endParaRPr b="0" i="1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g3a1f07bbfc6_0_0"/>
          <p:cNvGrpSpPr/>
          <p:nvPr/>
        </p:nvGrpSpPr>
        <p:grpSpPr>
          <a:xfrm>
            <a:off x="3436062" y="1259620"/>
            <a:ext cx="2452444" cy="2997614"/>
            <a:chOff x="3305715" y="1398520"/>
            <a:chExt cx="2705100" cy="2997614"/>
          </a:xfrm>
        </p:grpSpPr>
        <p:sp>
          <p:nvSpPr>
            <p:cNvPr id="102" name="Google Shape;102;g3a1f07bbfc6_0_0"/>
            <p:cNvSpPr/>
            <p:nvPr/>
          </p:nvSpPr>
          <p:spPr>
            <a:xfrm>
              <a:off x="3385658" y="1398520"/>
              <a:ext cx="19953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-IN" sz="1600" u="none" cap="none" strike="noStrik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b="1" i="1" lang="en-IN" sz="1300" u="none" cap="none" strike="noStrik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UALITY OF LIFE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" name="Google Shape;103;g3a1f07bbfc6_0_0"/>
            <p:cNvCxnSpPr/>
            <p:nvPr/>
          </p:nvCxnSpPr>
          <p:spPr>
            <a:xfrm>
              <a:off x="3716954" y="1739306"/>
              <a:ext cx="1348200" cy="0"/>
            </a:xfrm>
            <a:prstGeom prst="straightConnector1">
              <a:avLst/>
            </a:prstGeom>
            <a:noFill/>
            <a:ln cap="flat" cmpd="sng" w="12700">
              <a:solidFill>
                <a:schemeClr val="accent3"/>
              </a:solidFill>
              <a:prstDash val="lgDash"/>
              <a:round/>
              <a:headEnd len="sm" w="sm" type="none"/>
              <a:tailEnd len="sm" w="sm" type="none"/>
            </a:ln>
          </p:spPr>
        </p:cxnSp>
        <p:sp>
          <p:nvSpPr>
            <p:cNvPr id="104" name="Google Shape;104;g3a1f07bbfc6_0_0"/>
            <p:cNvSpPr/>
            <p:nvPr/>
          </p:nvSpPr>
          <p:spPr>
            <a:xfrm>
              <a:off x="3305715" y="1849103"/>
              <a:ext cx="27051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Clean Air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1f07bbfc6_0_0"/>
            <p:cNvSpPr/>
            <p:nvPr/>
          </p:nvSpPr>
          <p:spPr>
            <a:xfrm>
              <a:off x="3305715" y="4008234"/>
              <a:ext cx="27051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Mobility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1f07bbfc6_0_0"/>
            <p:cNvSpPr/>
            <p:nvPr/>
          </p:nvSpPr>
          <p:spPr>
            <a:xfrm>
              <a:off x="3305715" y="2374716"/>
              <a:ext cx="2705100" cy="40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Water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1f07bbfc6_0_0"/>
            <p:cNvSpPr/>
            <p:nvPr/>
          </p:nvSpPr>
          <p:spPr>
            <a:xfrm>
              <a:off x="3305715" y="2922772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Food Systems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a1f07bbfc6_0_0"/>
            <p:cNvSpPr/>
            <p:nvPr/>
          </p:nvSpPr>
          <p:spPr>
            <a:xfrm>
              <a:off x="3305715" y="3465504"/>
              <a:ext cx="27051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Sustainable Cooling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" name="Google Shape;109;g3a1f07bbfc6_0_0"/>
          <p:cNvCxnSpPr/>
          <p:nvPr/>
        </p:nvCxnSpPr>
        <p:spPr>
          <a:xfrm>
            <a:off x="288414" y="5546523"/>
            <a:ext cx="8440800" cy="2640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0" name="Google Shape;110;g3a1f07bbfc6_0_0"/>
          <p:cNvSpPr/>
          <p:nvPr/>
        </p:nvSpPr>
        <p:spPr>
          <a:xfrm>
            <a:off x="3849191" y="5356172"/>
            <a:ext cx="1790100" cy="4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IN" sz="16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1" lang="en-IN" sz="13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PECIAL INITIATIVES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1f07bbfc6_0_0"/>
          <p:cNvSpPr/>
          <p:nvPr/>
        </p:nvSpPr>
        <p:spPr>
          <a:xfrm>
            <a:off x="3184396" y="5801264"/>
            <a:ext cx="1790100" cy="383100"/>
          </a:xfrm>
          <a:prstGeom prst="rect">
            <a:avLst/>
          </a:prstGeom>
          <a:solidFill>
            <a:srgbClr val="E9E9E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595A59"/>
                </a:solidFill>
                <a:latin typeface="Calibri"/>
                <a:ea typeface="Calibri"/>
                <a:cs typeface="Calibri"/>
                <a:sym typeface="Calibri"/>
              </a:rPr>
              <a:t>Powering Livelihoods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g3a1f07bbfc6_0_0"/>
          <p:cNvGrpSpPr/>
          <p:nvPr/>
        </p:nvGrpSpPr>
        <p:grpSpPr>
          <a:xfrm>
            <a:off x="6508076" y="1258498"/>
            <a:ext cx="2433297" cy="2982753"/>
            <a:chOff x="6508076" y="1258498"/>
            <a:chExt cx="2433297" cy="2982753"/>
          </a:xfrm>
        </p:grpSpPr>
        <p:grpSp>
          <p:nvGrpSpPr>
            <p:cNvPr id="113" name="Google Shape;113;g3a1f07bbfc6_0_0"/>
            <p:cNvGrpSpPr/>
            <p:nvPr/>
          </p:nvGrpSpPr>
          <p:grpSpPr>
            <a:xfrm>
              <a:off x="6508076" y="1258498"/>
              <a:ext cx="2432862" cy="2443299"/>
              <a:chOff x="6529905" y="1397398"/>
              <a:chExt cx="2683501" cy="2443299"/>
            </a:xfrm>
          </p:grpSpPr>
          <p:cxnSp>
            <p:nvCxnSpPr>
              <p:cNvPr id="114" name="Google Shape;114;g3a1f07bbfc6_0_0"/>
              <p:cNvCxnSpPr/>
              <p:nvPr/>
            </p:nvCxnSpPr>
            <p:spPr>
              <a:xfrm>
                <a:off x="6940213" y="1741860"/>
                <a:ext cx="8733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1"/>
                </a:solidFill>
                <a:prstDash val="lg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15" name="Google Shape;115;g3a1f07bbfc6_0_0"/>
              <p:cNvSpPr/>
              <p:nvPr/>
            </p:nvSpPr>
            <p:spPr>
              <a:xfrm>
                <a:off x="6529905" y="3448297"/>
                <a:ext cx="26835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Climate Resilience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g3a1f07bbfc6_0_0"/>
              <p:cNvSpPr/>
              <p:nvPr/>
            </p:nvSpPr>
            <p:spPr>
              <a:xfrm>
                <a:off x="6529906" y="1866103"/>
                <a:ext cx="2683500" cy="36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Sustainable Finance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g3a1f07bbfc6_0_0"/>
              <p:cNvSpPr/>
              <p:nvPr/>
            </p:nvSpPr>
            <p:spPr>
              <a:xfrm>
                <a:off x="6529905" y="2374594"/>
                <a:ext cx="26835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Technology Futures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g3a1f07bbfc6_0_0"/>
              <p:cNvSpPr/>
              <p:nvPr/>
            </p:nvSpPr>
            <p:spPr>
              <a:xfrm>
                <a:off x="6529905" y="2918074"/>
                <a:ext cx="2683500" cy="3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IN" sz="1400" u="none" cap="none" strike="noStrike">
                    <a:solidFill>
                      <a:srgbClr val="595A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Circular Economy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g3a1f07bbfc6_0_0"/>
              <p:cNvSpPr/>
              <p:nvPr/>
            </p:nvSpPr>
            <p:spPr>
              <a:xfrm>
                <a:off x="6800539" y="1397398"/>
                <a:ext cx="1078200" cy="4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1" lang="en-IN" sz="1600" u="none" cap="none" strike="noStrik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1" i="1" lang="en-IN" sz="1300" u="none" cap="none" strike="noStrike">
                    <a:solidFill>
                      <a:srgbClr val="009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NABLERS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g3a1f07bbfc6_0_0"/>
            <p:cNvSpPr/>
            <p:nvPr/>
          </p:nvSpPr>
          <p:spPr>
            <a:xfrm>
              <a:off x="6508373" y="3848851"/>
              <a:ext cx="24330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IN" sz="1400" u="none" cap="none" strike="noStrike">
                  <a:solidFill>
                    <a:srgbClr val="595A59"/>
                  </a:solidFill>
                  <a:latin typeface="Calibri"/>
                  <a:ea typeface="Calibri"/>
                  <a:cs typeface="Calibri"/>
                  <a:sym typeface="Calibri"/>
                </a:rPr>
                <a:t>International Cooperation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g3a1f07bbfc6_0_0"/>
          <p:cNvGrpSpPr/>
          <p:nvPr/>
        </p:nvGrpSpPr>
        <p:grpSpPr>
          <a:xfrm>
            <a:off x="6595372" y="2019295"/>
            <a:ext cx="429325" cy="2143136"/>
            <a:chOff x="6296456" y="2056960"/>
            <a:chExt cx="2444906" cy="2143136"/>
          </a:xfrm>
        </p:grpSpPr>
        <p:cxnSp>
          <p:nvCxnSpPr>
            <p:cNvPr id="122" name="Google Shape;122;g3a1f07bbfc6_0_0"/>
            <p:cNvCxnSpPr/>
            <p:nvPr/>
          </p:nvCxnSpPr>
          <p:spPr>
            <a:xfrm>
              <a:off x="6308355" y="2056960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g3a1f07bbfc6_0_0"/>
            <p:cNvCxnSpPr/>
            <p:nvPr/>
          </p:nvCxnSpPr>
          <p:spPr>
            <a:xfrm>
              <a:off x="6308361" y="3126143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g3a1f07bbfc6_0_0"/>
            <p:cNvCxnSpPr/>
            <p:nvPr/>
          </p:nvCxnSpPr>
          <p:spPr>
            <a:xfrm>
              <a:off x="6308361" y="3671457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g3a1f07bbfc6_0_0"/>
            <p:cNvCxnSpPr/>
            <p:nvPr/>
          </p:nvCxnSpPr>
          <p:spPr>
            <a:xfrm>
              <a:off x="6296456" y="4200096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g3a1f07bbfc6_0_0"/>
          <p:cNvGrpSpPr/>
          <p:nvPr/>
        </p:nvGrpSpPr>
        <p:grpSpPr>
          <a:xfrm>
            <a:off x="3532460" y="2019295"/>
            <a:ext cx="429326" cy="2162186"/>
            <a:chOff x="6296456" y="2047435"/>
            <a:chExt cx="2444907" cy="2162186"/>
          </a:xfrm>
        </p:grpSpPr>
        <p:cxnSp>
          <p:nvCxnSpPr>
            <p:cNvPr id="128" name="Google Shape;128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g3a1f07bbfc6_0_0"/>
            <p:cNvCxnSpPr/>
            <p:nvPr/>
          </p:nvCxnSpPr>
          <p:spPr>
            <a:xfrm>
              <a:off x="6308363" y="3680982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" name="Google Shape;133;g3a1f07bbfc6_0_0"/>
          <p:cNvGrpSpPr/>
          <p:nvPr/>
        </p:nvGrpSpPr>
        <p:grpSpPr>
          <a:xfrm>
            <a:off x="430755" y="2019295"/>
            <a:ext cx="429325" cy="2162186"/>
            <a:chOff x="6296456" y="2047435"/>
            <a:chExt cx="2444906" cy="2162186"/>
          </a:xfrm>
        </p:grpSpPr>
        <p:cxnSp>
          <p:nvCxnSpPr>
            <p:cNvPr id="134" name="Google Shape;134;g3a1f07bbfc6_0_0"/>
            <p:cNvCxnSpPr/>
            <p:nvPr/>
          </p:nvCxnSpPr>
          <p:spPr>
            <a:xfrm>
              <a:off x="6308357" y="2047435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g3a1f07bbfc6_0_0"/>
            <p:cNvCxnSpPr/>
            <p:nvPr/>
          </p:nvCxnSpPr>
          <p:spPr>
            <a:xfrm>
              <a:off x="6308362" y="2599885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g3a1f07bbfc6_0_0"/>
            <p:cNvCxnSpPr/>
            <p:nvPr/>
          </p:nvCxnSpPr>
          <p:spPr>
            <a:xfrm>
              <a:off x="6308361" y="3135668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g3a1f07bbfc6_0_0"/>
            <p:cNvCxnSpPr/>
            <p:nvPr/>
          </p:nvCxnSpPr>
          <p:spPr>
            <a:xfrm>
              <a:off x="6308361" y="3661932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g3a1f07bbfc6_0_0"/>
            <p:cNvCxnSpPr/>
            <p:nvPr/>
          </p:nvCxnSpPr>
          <p:spPr>
            <a:xfrm>
              <a:off x="6296456" y="4209621"/>
              <a:ext cx="24330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9" name="Google Shape;139;g3a1f07bbfc6_0_0"/>
          <p:cNvPicPr preferRelativeResize="0"/>
          <p:nvPr/>
        </p:nvPicPr>
        <p:blipFill rotWithShape="1">
          <a:blip r:embed="rId3">
            <a:alphaModFix/>
          </a:blip>
          <a:srcRect b="83573" l="86245" r="0" t="0"/>
          <a:stretch/>
        </p:blipFill>
        <p:spPr>
          <a:xfrm>
            <a:off x="6441000" y="1319521"/>
            <a:ext cx="493051" cy="31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1f07bbfc6_0_0"/>
          <p:cNvPicPr preferRelativeResize="0"/>
          <p:nvPr/>
        </p:nvPicPr>
        <p:blipFill rotWithShape="1">
          <a:blip r:embed="rId3">
            <a:alphaModFix/>
          </a:blip>
          <a:srcRect b="84432" l="47168" r="39627" t="0"/>
          <a:stretch/>
        </p:blipFill>
        <p:spPr>
          <a:xfrm>
            <a:off x="3405927" y="1329734"/>
            <a:ext cx="473343" cy="2959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1f07bbfc6_0_0"/>
          <p:cNvSpPr txBox="1"/>
          <p:nvPr/>
        </p:nvSpPr>
        <p:spPr>
          <a:xfrm>
            <a:off x="9224133" y="1172273"/>
            <a:ext cx="29124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390+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Multidisciplinary team</a:t>
            </a:r>
            <a:endParaRPr b="0" i="0" sz="14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550+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Peer-reviewed publications</a:t>
            </a:r>
            <a:endParaRPr b="0" i="0" sz="14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700+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Convenings </a:t>
            </a:r>
            <a:endParaRPr b="0" i="0" sz="14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400 million+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Lives impacted </a:t>
            </a:r>
            <a:endParaRPr b="0" i="0" sz="1400" u="none" cap="none" strike="noStrike">
              <a:solidFill>
                <a:srgbClr val="5757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9ED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Union ministries supported</a:t>
            </a:r>
            <a:endParaRPr b="0" i="0" sz="12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20+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State governments supported</a:t>
            </a:r>
            <a:endParaRPr b="0" i="0" sz="12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a1f07bbfc6_0_0"/>
          <p:cNvSpPr txBox="1"/>
          <p:nvPr>
            <p:ph idx="12" type="sldNum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4957482" y="2299411"/>
            <a:ext cx="1783977" cy="1369582"/>
          </a:xfrm>
          <a:prstGeom prst="ellipse">
            <a:avLst/>
          </a:prstGeom>
          <a:solidFill>
            <a:srgbClr val="4ECEFF"/>
          </a:solidFill>
          <a:ln cap="flat" cmpd="sng" w="25400">
            <a:solidFill>
              <a:srgbClr val="0073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The project’s key components </a:t>
            </a:r>
            <a:endParaRPr/>
          </a:p>
        </p:txBody>
      </p:sp>
      <p:sp>
        <p:nvSpPr>
          <p:cNvPr id="149" name="Google Shape;149;p3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150" name="Google Shape;150;p3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045213" y="1228421"/>
            <a:ext cx="3361766" cy="830997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M1 - Socio-economic co-benefits, especially for women, low-income groups, &amp; vulnerable road users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427694" y="1228421"/>
            <a:ext cx="3361766" cy="8309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M2 - Health and air quality benefits from increased bus usage and reduced reliance on private vehicles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045213" y="4001721"/>
            <a:ext cx="3361766" cy="830997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M3 - Greenhouse gas (GHG) mitigation potential benefits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bus deployment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427694" y="4001720"/>
            <a:ext cx="3361766" cy="8309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M4 - Resilience &amp; adaptive benefits of robust bus transport on the economy and physical infrastructure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3"/>
          <p:cNvCxnSpPr>
            <a:stCxn id="153" idx="0"/>
            <a:endCxn id="147" idx="2"/>
          </p:cNvCxnSpPr>
          <p:nvPr/>
        </p:nvCxnSpPr>
        <p:spPr>
          <a:xfrm rot="-5400000">
            <a:off x="3833046" y="2877171"/>
            <a:ext cx="1017600" cy="12315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3"/>
          <p:cNvCxnSpPr>
            <a:stCxn id="151" idx="2"/>
            <a:endCxn id="147" idx="2"/>
          </p:cNvCxnSpPr>
          <p:nvPr/>
        </p:nvCxnSpPr>
        <p:spPr>
          <a:xfrm flipH="1" rot="-5400000">
            <a:off x="3879396" y="1906118"/>
            <a:ext cx="924900" cy="12315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" name="Google Shape;157;p3"/>
          <p:cNvCxnSpPr>
            <a:stCxn id="152" idx="2"/>
            <a:endCxn id="147" idx="6"/>
          </p:cNvCxnSpPr>
          <p:nvPr/>
        </p:nvCxnSpPr>
        <p:spPr>
          <a:xfrm rot="5400000">
            <a:off x="6962577" y="1838318"/>
            <a:ext cx="924900" cy="13671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" name="Google Shape;158;p3"/>
          <p:cNvCxnSpPr>
            <a:stCxn id="154" idx="0"/>
            <a:endCxn id="147" idx="6"/>
          </p:cNvCxnSpPr>
          <p:nvPr/>
        </p:nvCxnSpPr>
        <p:spPr>
          <a:xfrm flipH="1" rot="5400000">
            <a:off x="6916227" y="2809370"/>
            <a:ext cx="1017600" cy="13671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3"/>
          <p:cNvSpPr txBox="1"/>
          <p:nvPr/>
        </p:nvSpPr>
        <p:spPr>
          <a:xfrm>
            <a:off x="4997822" y="2521779"/>
            <a:ext cx="170329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4-in-1 co-benefits model of bus-based public 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3"/>
          <p:cNvCxnSpPr>
            <a:stCxn id="147" idx="4"/>
            <a:endCxn id="161" idx="3"/>
          </p:cNvCxnSpPr>
          <p:nvPr/>
        </p:nvCxnSpPr>
        <p:spPr>
          <a:xfrm rot="5400000">
            <a:off x="4415771" y="4210793"/>
            <a:ext cx="1975500" cy="8919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3"/>
          <p:cNvSpPr/>
          <p:nvPr/>
        </p:nvSpPr>
        <p:spPr>
          <a:xfrm>
            <a:off x="1595716" y="5228893"/>
            <a:ext cx="3361766" cy="830997"/>
          </a:xfrm>
          <a:prstGeom prst="rect">
            <a:avLst/>
          </a:prstGeom>
          <a:solidFill>
            <a:srgbClr val="4ECEFF"/>
          </a:solidFill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Easing access to climate, green funds and other potential avenues for bus and allied infrastructures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774741" y="5228893"/>
            <a:ext cx="3361766" cy="830997"/>
          </a:xfrm>
          <a:prstGeom prst="rect">
            <a:avLst/>
          </a:prstGeom>
          <a:solidFill>
            <a:srgbClr val="4ECEFF"/>
          </a:solidFill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institutional support for bus systems through strategic communication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3"/>
          <p:cNvCxnSpPr>
            <a:stCxn id="147" idx="4"/>
            <a:endCxn id="162" idx="1"/>
          </p:cNvCxnSpPr>
          <p:nvPr/>
        </p:nvCxnSpPr>
        <p:spPr>
          <a:xfrm flipH="1" rot="-5400000">
            <a:off x="5324321" y="4194143"/>
            <a:ext cx="1975500" cy="925200"/>
          </a:xfrm>
          <a:prstGeom prst="bentConnector2">
            <a:avLst/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Criteria for study geography selection</a:t>
            </a:r>
            <a:endParaRPr/>
          </a:p>
        </p:txBody>
      </p:sp>
      <p:sp>
        <p:nvSpPr>
          <p:cNvPr id="169" name="Google Shape;169;p4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70" name="Google Shape;170;p4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218775" y="988525"/>
            <a:ext cx="50727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Population: Below 10 lakh</a:t>
            </a: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- Medium, 10 to 40 lakh - Large, 40 lakh to 1 Crore - Metro, 1 Crore and above - Mega 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Socio economic status (annual per capita income): </a:t>
            </a:r>
            <a: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INR 95000 - Low income, INR 95000 to 370000 - Lower middle income, Above INR 370000 - Upper middle income</a:t>
            </a: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Extent of PT supply(Buses per lakh population): </a:t>
            </a:r>
            <a: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Above 60 - LOS 1, 40 to 60 - LOS 2, 20 to 40 - LOS 3, Below 20 - LOS 4</a:t>
            </a:r>
            <a:endParaRPr b="1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Annual PM2.5 levels: </a:t>
            </a:r>
            <a: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Below 40 μg/m3 - Compliant, Above 40 μg/m3 - Non-compliant </a:t>
            </a:r>
            <a:b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Climate vulnerability </a:t>
            </a:r>
            <a:r>
              <a:rPr b="1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(exposure to events - floods, droughts, cyclones): [High(0.41-1), Medium(0.21-0.40), Low(0.00-0.20)]</a:t>
            </a:r>
            <a:endParaRPr b="1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 title="grou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16" y="988525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 title="money-exchang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516" y="2014850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 title="bu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518" y="3071797"/>
            <a:ext cx="714426" cy="7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 title="air-pollutio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568" y="4050184"/>
            <a:ext cx="864325" cy="8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"/>
          <p:cNvPicPr preferRelativeResize="0"/>
          <p:nvPr/>
        </p:nvPicPr>
        <p:blipFill rotWithShape="1">
          <a:blip r:embed="rId7">
            <a:alphaModFix/>
          </a:blip>
          <a:srcRect b="0" l="12807" r="13507" t="0"/>
          <a:stretch/>
        </p:blipFill>
        <p:spPr>
          <a:xfrm>
            <a:off x="6442093" y="1170333"/>
            <a:ext cx="5404649" cy="41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 title="climate-change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825" y="5009250"/>
            <a:ext cx="864325" cy="8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213d0914_0_30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183" name="Google Shape;183;g3e5213d0914_0_30"/>
          <p:cNvSpPr txBox="1"/>
          <p:nvPr>
            <p:ph idx="1" type="body"/>
          </p:nvPr>
        </p:nvSpPr>
        <p:spPr>
          <a:xfrm>
            <a:off x="395700" y="901250"/>
            <a:ext cx="52932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50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IN" sz="1600"/>
              <a:t>Group A: Cities with bus systems</a:t>
            </a:r>
            <a:endParaRPr/>
          </a:p>
          <a:p>
            <a:pPr indent="0" lvl="0" marL="50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Bengaluru: A megacity in South India featuring 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well-maintained fleet and a broad user spectrum. </a:t>
            </a:r>
            <a:endParaRPr/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An essential site for studying transit-oriented resilience amid escalating climate vulnerabilities, such as seasonal flooding and urban heat.</a:t>
            </a:r>
            <a:endParaRPr/>
          </a:p>
          <a:p>
            <a:pPr indent="0" lvl="1" marL="507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Jaipur: One of the fastest-growing cities in Northern India with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fleet of buses operational for more than 10 years, and new bus inductions scheduled in the coming year. </a:t>
            </a:r>
            <a:endParaRPr/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heavy tourist population mix in its service coverage. </a:t>
            </a:r>
            <a:endParaRPr/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Heavy air pollution during the winter season.</a:t>
            </a:r>
            <a:endParaRPr/>
          </a:p>
          <a:p>
            <a:pPr indent="0" lvl="1" marL="507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Bhubaneswar: An emerging city in eastern India with 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modern, award-winning, tech-enabled, inclusive transit system.</a:t>
            </a:r>
            <a:endParaRPr/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High climate vulnerability, especially heavy rains and cyclones.</a:t>
            </a:r>
            <a:endParaRPr sz="1400"/>
          </a:p>
        </p:txBody>
      </p:sp>
      <p:sp>
        <p:nvSpPr>
          <p:cNvPr id="184" name="Google Shape;184;g3e5213d0914_0_3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185" name="Google Shape;185;g3e5213d0914_0_30"/>
          <p:cNvSpPr txBox="1"/>
          <p:nvPr>
            <p:ph idx="4294967295" type="sldNum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id="186" name="Google Shape;186;g3e5213d0914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5213d0914_0_30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6500-7000 buses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5213d0914_0_30"/>
          <p:cNvSpPr txBox="1"/>
          <p:nvPr/>
        </p:nvSpPr>
        <p:spPr>
          <a:xfrm>
            <a:off x="9502135" y="1829637"/>
            <a:ext cx="173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e5213d0914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g3e5213d0914_0_30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1" name="Google Shape;191;g3e5213d0914_0_30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192" name="Google Shape;192;g3e5213d0914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e5213d0914_0_30"/>
          <p:cNvSpPr txBox="1"/>
          <p:nvPr/>
        </p:nvSpPr>
        <p:spPr>
          <a:xfrm>
            <a:off x="7002300" y="3179599"/>
            <a:ext cx="153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300-400 buses</a:t>
            </a:r>
            <a:b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(+450 in coming years)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5213d0914_0_30"/>
          <p:cNvSpPr txBox="1"/>
          <p:nvPr/>
        </p:nvSpPr>
        <p:spPr>
          <a:xfrm>
            <a:off x="9557124" y="339515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4.5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e5213d0914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e5213d0914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5213d0914_0_30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500+ buses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5213d0914_0_30"/>
          <p:cNvSpPr txBox="1"/>
          <p:nvPr/>
        </p:nvSpPr>
        <p:spPr>
          <a:xfrm>
            <a:off x="9557124" y="486550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1.4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e5213d0914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ffd729c0_3_0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205" name="Google Shape;205;g3ecffd729c0_3_0"/>
          <p:cNvSpPr txBox="1"/>
          <p:nvPr>
            <p:ph idx="1" type="body"/>
          </p:nvPr>
        </p:nvSpPr>
        <p:spPr>
          <a:xfrm>
            <a:off x="395700" y="901250"/>
            <a:ext cx="52932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50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IN" sz="1600"/>
              <a:t>Group B: Cities with soon to be operational bus systems</a:t>
            </a:r>
            <a:endParaRPr/>
          </a:p>
          <a:p>
            <a:pPr indent="0" lvl="0" marL="50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Jodhpur</a:t>
            </a:r>
            <a:r>
              <a:rPr b="1" lang="en-IN" sz="1600">
                <a:solidFill>
                  <a:schemeClr val="accent1"/>
                </a:solidFill>
              </a:rPr>
              <a:t>: An emerging city in North India 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First time adopter of electric buses</a:t>
            </a:r>
            <a:endParaRPr/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An essential site for studying transit-oriented resilience amid escalating climate vulnerabilities, such as seasonal flooding and urban heat.</a:t>
            </a:r>
            <a:endParaRPr/>
          </a:p>
          <a:p>
            <a:pPr indent="0" lvl="1" marL="507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Puducherry</a:t>
            </a:r>
            <a:r>
              <a:rPr b="1" lang="en-IN" sz="1600">
                <a:solidFill>
                  <a:schemeClr val="accent1"/>
                </a:solidFill>
              </a:rPr>
              <a:t>: One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fleet of </a:t>
            </a:r>
            <a:endParaRPr/>
          </a:p>
          <a:p>
            <a:pPr indent="0" lvl="1" marL="507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</a:endParaRPr>
          </a:p>
          <a:p>
            <a:pPr indent="-406390" lvl="0" marL="457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</a:pPr>
            <a:r>
              <a:rPr b="1" lang="en-IN" sz="1600">
                <a:solidFill>
                  <a:schemeClr val="accent1"/>
                </a:solidFill>
              </a:rPr>
              <a:t>Gandhinagar</a:t>
            </a:r>
            <a:r>
              <a:rPr b="1" lang="en-IN" sz="1600">
                <a:solidFill>
                  <a:schemeClr val="accent1"/>
                </a:solidFill>
              </a:rPr>
              <a:t>: </a:t>
            </a:r>
            <a:endParaRPr b="1">
              <a:solidFill>
                <a:schemeClr val="accent1"/>
              </a:solidFill>
            </a:endParaRPr>
          </a:p>
          <a:p>
            <a:pPr indent="-406390" lvl="1" marL="9143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IN" sz="1400"/>
              <a:t>A </a:t>
            </a:r>
            <a:endParaRPr sz="1400"/>
          </a:p>
        </p:txBody>
      </p:sp>
      <p:sp>
        <p:nvSpPr>
          <p:cNvPr id="206" name="Google Shape;206;g3ecffd729c0_3_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CEEW compilation</a:t>
            </a:r>
            <a:endParaRPr/>
          </a:p>
        </p:txBody>
      </p:sp>
      <p:sp>
        <p:nvSpPr>
          <p:cNvPr id="207" name="Google Shape;207;g3ecffd729c0_3_0"/>
          <p:cNvSpPr txBox="1"/>
          <p:nvPr>
            <p:ph idx="4294967295" type="sldNum"/>
          </p:nvPr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  <p:pic>
        <p:nvPicPr>
          <p:cNvPr id="208" name="Google Shape;208;g3ecffd729c0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4258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cffd729c0_3_0"/>
          <p:cNvSpPr txBox="1"/>
          <p:nvPr/>
        </p:nvSpPr>
        <p:spPr>
          <a:xfrm>
            <a:off x="6947300" y="1829637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100 e-buses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ffd729c0_3_0"/>
          <p:cNvSpPr txBox="1"/>
          <p:nvPr/>
        </p:nvSpPr>
        <p:spPr>
          <a:xfrm>
            <a:off x="9502124" y="1829625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1.2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ecffd729c0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094" y="1697006"/>
            <a:ext cx="573041" cy="573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g3ecffd729c0_3_0"/>
          <p:cNvCxnSpPr/>
          <p:nvPr/>
        </p:nvCxnSpPr>
        <p:spPr>
          <a:xfrm>
            <a:off x="477325" y="2717874"/>
            <a:ext cx="110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" name="Google Shape;213;g3ecffd729c0_3_0"/>
          <p:cNvCxnSpPr/>
          <p:nvPr/>
        </p:nvCxnSpPr>
        <p:spPr>
          <a:xfrm>
            <a:off x="434895" y="4380203"/>
            <a:ext cx="110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214" name="Google Shape;214;g3ecffd729c0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258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ecffd729c0_3_0"/>
          <p:cNvSpPr txBox="1"/>
          <p:nvPr/>
        </p:nvSpPr>
        <p:spPr>
          <a:xfrm>
            <a:off x="7002300" y="3395149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75 e-buses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ffd729c0_3_0"/>
          <p:cNvSpPr txBox="1"/>
          <p:nvPr/>
        </p:nvSpPr>
        <p:spPr>
          <a:xfrm>
            <a:off x="9557124" y="339515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0.35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ecffd729c0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094" y="3262518"/>
            <a:ext cx="573041" cy="57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ecffd729c0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258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ecffd729c0_3_0"/>
          <p:cNvSpPr txBox="1"/>
          <p:nvPr/>
        </p:nvSpPr>
        <p:spPr>
          <a:xfrm>
            <a:off x="7002300" y="4865512"/>
            <a:ext cx="15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100 e-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cffd729c0_3_0"/>
          <p:cNvSpPr txBox="1"/>
          <p:nvPr/>
        </p:nvSpPr>
        <p:spPr>
          <a:xfrm>
            <a:off x="9557124" y="4865500"/>
            <a:ext cx="18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million </a:t>
            </a:r>
            <a:r>
              <a:rPr b="0" i="1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(2025 est.)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ecffd729c0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094" y="4732881"/>
            <a:ext cx="573041" cy="57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"/>
          <p:cNvPicPr preferRelativeResize="0"/>
          <p:nvPr/>
        </p:nvPicPr>
        <p:blipFill rotWithShape="1">
          <a:blip r:embed="rId3">
            <a:alphaModFix/>
          </a:blip>
          <a:srcRect b="10654" l="3219" r="0" t="14177"/>
          <a:stretch/>
        </p:blipFill>
        <p:spPr>
          <a:xfrm>
            <a:off x="7712170" y="1097577"/>
            <a:ext cx="4244902" cy="466284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i="1" lang="en-IN"/>
              <a:t>PM e-Bus Sewa</a:t>
            </a:r>
            <a:r>
              <a:rPr lang="en-IN"/>
              <a:t> scheme is launching public bus transport in 100+ Indian cities</a:t>
            </a:r>
            <a:br>
              <a:rPr b="0" lang="en-IN"/>
            </a:b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2"/>
          <p:cNvSpPr txBox="1"/>
          <p:nvPr>
            <p:ph idx="1" type="body"/>
          </p:nvPr>
        </p:nvSpPr>
        <p:spPr>
          <a:xfrm>
            <a:off x="338050" y="919368"/>
            <a:ext cx="3495418" cy="11293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IN" sz="1400">
                <a:solidFill>
                  <a:schemeClr val="dk1"/>
                </a:solidFill>
              </a:rPr>
              <a:t>As part of the Government of India’s </a:t>
            </a:r>
            <a:r>
              <a:rPr i="1" lang="en-IN" sz="1400">
                <a:solidFill>
                  <a:schemeClr val="dk1"/>
                </a:solidFill>
              </a:rPr>
              <a:t>PM e-Bus Sewa </a:t>
            </a:r>
            <a:r>
              <a:rPr lang="en-IN" sz="1400">
                <a:solidFill>
                  <a:schemeClr val="dk1"/>
                </a:solidFill>
              </a:rPr>
              <a:t>scheme, </a:t>
            </a:r>
            <a:r>
              <a:rPr b="1" lang="en-IN" sz="1400">
                <a:solidFill>
                  <a:schemeClr val="dk1"/>
                </a:solidFill>
              </a:rPr>
              <a:t>10,000 electric buses will be deployed in 100+ Indian cities</a:t>
            </a:r>
            <a:r>
              <a:rPr lang="en-IN" sz="1400">
                <a:solidFill>
                  <a:schemeClr val="dk1"/>
                </a:solidFill>
              </a:rPr>
              <a:t>. The main criterion for this scheme is a city population between 3 and 40 lakh.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Source: 1,2,3. Census 2011; 4.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PIB 2025</a:t>
            </a:r>
            <a:r>
              <a:rPr lang="en-IN"/>
              <a:t>, 5. </a:t>
            </a:r>
            <a:r>
              <a:rPr lang="en-IN" u="sng">
                <a:solidFill>
                  <a:schemeClr val="hlink"/>
                </a:solidFill>
                <a:hlinkClick r:id="rId5"/>
              </a:rPr>
              <a:t>PIB 2024</a:t>
            </a:r>
            <a:r>
              <a:rPr lang="en-IN"/>
              <a:t>, 6. </a:t>
            </a:r>
            <a:r>
              <a:rPr lang="en-IN" u="sng">
                <a:solidFill>
                  <a:schemeClr val="hlink"/>
                </a:solidFill>
                <a:hlinkClick r:id="rId6"/>
              </a:rPr>
              <a:t>Colliers 2025</a:t>
            </a:r>
            <a:r>
              <a:rPr lang="en-IN"/>
              <a:t>, 7. </a:t>
            </a:r>
            <a:r>
              <a:rPr lang="en-IN" u="sng">
                <a:solidFill>
                  <a:schemeClr val="hlink"/>
                </a:solidFill>
                <a:hlinkClick r:id="rId7"/>
              </a:rPr>
              <a:t>MoEFCC</a:t>
            </a:r>
            <a:r>
              <a:rPr lang="en-IN"/>
              <a:t>; 8. </a:t>
            </a:r>
            <a:r>
              <a:rPr lang="en-IN" u="sng">
                <a:solidFill>
                  <a:schemeClr val="hlink"/>
                </a:solidFill>
                <a:hlinkClick r:id="rId8"/>
              </a:rPr>
              <a:t>Ramanna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IN"/>
              <a:t>UT: Union territory</a:t>
            </a:r>
            <a:endParaRPr/>
          </a:p>
        </p:txBody>
      </p:sp>
      <p:sp>
        <p:nvSpPr>
          <p:cNvPr id="232" name="Google Shape;232;p2"/>
          <p:cNvSpPr txBox="1"/>
          <p:nvPr/>
        </p:nvSpPr>
        <p:spPr>
          <a:xfrm>
            <a:off x="7668124" y="851195"/>
            <a:ext cx="4369135" cy="29609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1" lang="en-IN" sz="1200" u="none" cap="none" strike="noStrike">
                <a:solidFill>
                  <a:srgbClr val="575756"/>
                </a:solidFill>
                <a:latin typeface="Calibri"/>
                <a:ea typeface="Calibri"/>
                <a:cs typeface="Calibri"/>
                <a:sym typeface="Calibri"/>
              </a:rPr>
              <a:t>Figure 1: PM-eBus Sewa covers 117 cities across 26 states &amp; UTs</a:t>
            </a:r>
            <a:endParaRPr b="0" i="1" sz="1200" u="none" cap="none" strike="noStrike">
              <a:solidFill>
                <a:srgbClr val="5757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707" y="2282662"/>
            <a:ext cx="794000" cy="7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"/>
          <p:cNvSpPr txBox="1"/>
          <p:nvPr/>
        </p:nvSpPr>
        <p:spPr>
          <a:xfrm>
            <a:off x="1189701" y="2310330"/>
            <a:ext cx="26437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India has 450+ cities with a population above 1 lakh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I cities</a:t>
            </a:r>
            <a:r>
              <a:rPr b="0" baseline="3000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baseline="30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2"/>
          <p:cNvGrpSpPr/>
          <p:nvPr/>
        </p:nvGrpSpPr>
        <p:grpSpPr>
          <a:xfrm>
            <a:off x="792706" y="3165564"/>
            <a:ext cx="255777" cy="2539978"/>
            <a:chOff x="792706" y="1871330"/>
            <a:chExt cx="255777" cy="1510364"/>
          </a:xfrm>
        </p:grpSpPr>
        <p:cxnSp>
          <p:nvCxnSpPr>
            <p:cNvPr id="236" name="Google Shape;236;p2"/>
            <p:cNvCxnSpPr/>
            <p:nvPr/>
          </p:nvCxnSpPr>
          <p:spPr>
            <a:xfrm>
              <a:off x="792707" y="1871330"/>
              <a:ext cx="0" cy="1510364"/>
            </a:xfrm>
            <a:prstGeom prst="straightConnector1">
              <a:avLst/>
            </a:prstGeom>
            <a:noFill/>
            <a:ln cap="flat" cmpd="sng" w="9525">
              <a:solidFill>
                <a:srgbClr val="009C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"/>
            <p:cNvCxnSpPr/>
            <p:nvPr/>
          </p:nvCxnSpPr>
          <p:spPr>
            <a:xfrm>
              <a:off x="792706" y="2199708"/>
              <a:ext cx="249285" cy="0"/>
            </a:xfrm>
            <a:prstGeom prst="straightConnector1">
              <a:avLst/>
            </a:prstGeom>
            <a:noFill/>
            <a:ln cap="flat" cmpd="sng" w="9525">
              <a:solidFill>
                <a:srgbClr val="009C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"/>
            <p:cNvCxnSpPr/>
            <p:nvPr/>
          </p:nvCxnSpPr>
          <p:spPr>
            <a:xfrm>
              <a:off x="799198" y="2756144"/>
              <a:ext cx="249285" cy="0"/>
            </a:xfrm>
            <a:prstGeom prst="straightConnector1">
              <a:avLst/>
            </a:prstGeom>
            <a:noFill/>
            <a:ln cap="flat" cmpd="sng" w="9525">
              <a:solidFill>
                <a:srgbClr val="009C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"/>
            <p:cNvCxnSpPr/>
            <p:nvPr/>
          </p:nvCxnSpPr>
          <p:spPr>
            <a:xfrm>
              <a:off x="792706" y="3381694"/>
              <a:ext cx="249285" cy="0"/>
            </a:xfrm>
            <a:prstGeom prst="straightConnector1">
              <a:avLst/>
            </a:prstGeom>
            <a:noFill/>
            <a:ln cap="flat" cmpd="sng" w="9525">
              <a:solidFill>
                <a:srgbClr val="009C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0" name="Google Shape;240;p2"/>
          <p:cNvSpPr txBox="1"/>
          <p:nvPr/>
        </p:nvSpPr>
        <p:spPr>
          <a:xfrm>
            <a:off x="1189702" y="3368091"/>
            <a:ext cx="2643766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300+ cities with a population between 1 and 3 lakh</a:t>
            </a:r>
            <a:r>
              <a:rPr b="0" baseline="3000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baseline="30000" i="0" sz="1400" u="none" cap="none" strike="sng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1189700" y="4365135"/>
            <a:ext cx="2410747" cy="52318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140+ cities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a population between 3 and 40 lakh</a:t>
            </a:r>
            <a:r>
              <a:rPr b="0" baseline="3000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baseline="3000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"/>
          <p:cNvSpPr txBox="1"/>
          <p:nvPr/>
        </p:nvSpPr>
        <p:spPr>
          <a:xfrm>
            <a:off x="1189701" y="5438816"/>
            <a:ext cx="24107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cities with a population above 40 lakh</a:t>
            </a:r>
            <a:r>
              <a:rPr b="0" baseline="3000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baseline="3000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"/>
          <p:cNvCxnSpPr>
            <a:stCxn id="241" idx="3"/>
          </p:cNvCxnSpPr>
          <p:nvPr/>
        </p:nvCxnSpPr>
        <p:spPr>
          <a:xfrm flipH="1" rot="10800000">
            <a:off x="3600447" y="3338525"/>
            <a:ext cx="630000" cy="12882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44" name="Google Shape;244;p2"/>
          <p:cNvGraphicFramePr/>
          <p:nvPr/>
        </p:nvGraphicFramePr>
        <p:xfrm>
          <a:off x="4230385" y="1169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{DFC976CB-5D4F-4D33-9BE2-8629A44AEFD3}</a:tableStyleId>
              </a:tblPr>
              <a:tblGrid>
                <a:gridCol w="32845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are growing</a:t>
                      </a:r>
                      <a:endParaRPr b="1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86BB3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 population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share amongst India’s Class I cities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45% of India’s start-ups 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originated from non-metro cities, falling within this population range</a:t>
                      </a:r>
                      <a:r>
                        <a:rPr baseline="30000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aseline="3000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capital investments 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flexible workspaces, residential projects, data centres, etc.</a:t>
                      </a:r>
                      <a:r>
                        <a:rPr baseline="30000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aseline="3000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E9E9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These cities also face challenges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 out of the 131 NCAP cities 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 India; these cities consistently struggle with </a:t>
                      </a: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air quality 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throughout the year.</a:t>
                      </a:r>
                      <a:r>
                        <a:rPr baseline="30000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aseline="3000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Unchecked urban expansion </a:t>
                      </a:r>
                      <a:r>
                        <a:rPr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low-density development due to lack of regulated planning.</a:t>
                      </a:r>
                      <a:r>
                        <a:rPr baseline="30000" lang="en-I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aseline="3000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2"/>
          <p:cNvSpPr txBox="1"/>
          <p:nvPr/>
        </p:nvSpPr>
        <p:spPr>
          <a:xfrm>
            <a:off x="1189622" y="4074893"/>
            <a:ext cx="226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 e-Bus Sewa focus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7668124" y="5850294"/>
            <a:ext cx="25955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Authors’ compilation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395707" y="194428"/>
            <a:ext cx="11284400" cy="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0" spcFirstLastPara="1" rIns="0" wrap="square" tIns="609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IN"/>
              <a:t>Geographies in focus</a:t>
            </a:r>
            <a:endParaRPr/>
          </a:p>
        </p:txBody>
      </p:sp>
      <p:sp>
        <p:nvSpPr>
          <p:cNvPr id="252" name="Google Shape;252;p29"/>
          <p:cNvSpPr txBox="1"/>
          <p:nvPr>
            <p:ph idx="1" type="body"/>
          </p:nvPr>
        </p:nvSpPr>
        <p:spPr>
          <a:xfrm>
            <a:off x="324475" y="642325"/>
            <a:ext cx="11094000" cy="57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IN" sz="1600"/>
              <a:t>Group B: Cities with no operational bus systems (discussion with MoHUA ongoing to finalise 3 cities)</a:t>
            </a:r>
            <a:endParaRPr/>
          </a:p>
          <a:p>
            <a:pPr indent="0" lvl="0" marL="50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400">
                <a:solidFill>
                  <a:srgbClr val="009ED8"/>
                </a:solidFill>
              </a:rPr>
              <a:t>Jodhpur: Blue city , Tourism Hotspot</a:t>
            </a:r>
            <a:endParaRPr sz="1400">
              <a:solidFill>
                <a:srgbClr val="009ED8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Major tourism and heritage city known for Mehrangarh Fort and the “Blue City” landscape.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Important regional centre for handicrafts, defence establishments, and desert trade.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IN" sz="1400">
                <a:solidFill>
                  <a:schemeClr val="accent1"/>
                </a:solidFill>
              </a:rPr>
              <a:t>Puducherry :coastal union territory city with French Colonial heritage and tourism </a:t>
            </a:r>
            <a:endParaRPr b="1" sz="1400"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Famous for French architecture, beaches, and cultural tourism.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Emerging centre for education, wellness tourism, and small-scale industries.</a:t>
            </a:r>
            <a:endParaRPr sz="14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400">
                <a:solidFill>
                  <a:srgbClr val="009ED8"/>
                </a:solidFill>
              </a:rPr>
              <a:t>Gandhinagar</a:t>
            </a:r>
            <a:r>
              <a:rPr b="1" lang="en-IN" sz="1400">
                <a:solidFill>
                  <a:srgbClr val="009ED8"/>
                </a:solidFill>
              </a:rPr>
              <a:t>: One of the important Hindu pilgrimage Cities</a:t>
            </a:r>
            <a:endParaRPr b="1" sz="1400">
              <a:solidFill>
                <a:srgbClr val="009ED8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One of the seven holiest Hindu pilgrimage cities situated along the Ganga River.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Hosts major religious gatherings like Kumbh Mela and attracts millions of tourists annually.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400">
                <a:solidFill>
                  <a:srgbClr val="009ED8"/>
                </a:solidFill>
              </a:rPr>
              <a:t>Gaya: A globally significant Buddhist and Hindu pilgrimage city </a:t>
            </a:r>
            <a:endParaRPr b="1" sz="1400">
              <a:solidFill>
                <a:srgbClr val="009ED8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Important religious destination for both Hindu rituals and Buddhist pilgrimage tourism.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Home to nearby Bodh Gaya, where Gautama Buddha attained enlightenment.</a:t>
            </a:r>
            <a:endParaRPr sz="1400">
              <a:solidFill>
                <a:srgbClr val="666666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400">
                <a:solidFill>
                  <a:srgbClr val="009ED8"/>
                </a:solidFill>
              </a:rPr>
              <a:t>Bilaspur: An important railway, educational, and administrative hub </a:t>
            </a:r>
            <a:endParaRPr b="1" sz="1400">
              <a:solidFill>
                <a:srgbClr val="009ED8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Key railway and administrative hub in central India with strong regional connectivity.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Emerging educational and commercial centre supporting nearby industrial and mining regions.</a:t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IN" sz="1400">
                <a:solidFill>
                  <a:srgbClr val="009ED8"/>
                </a:solidFill>
              </a:rPr>
              <a:t>Tirupati: prominent pilgrimage and temple city in Andhra Pradesh </a:t>
            </a:r>
            <a:endParaRPr b="1" sz="1400">
              <a:solidFill>
                <a:srgbClr val="009ED8"/>
              </a:solidFill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Home to the Tirumala Venkateswara Temple, one of the world’s most visited temples.</a:t>
            </a:r>
            <a:endParaRPr sz="1400">
              <a:solidFill>
                <a:srgbClr val="666666"/>
              </a:solidFill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rPr lang="en-IN" sz="1400">
                <a:solidFill>
                  <a:srgbClr val="666666"/>
                </a:solidFill>
              </a:rPr>
              <a:t>Growing educational and tourism economy supported by religious travel.</a:t>
            </a:r>
            <a:endParaRPr sz="1400">
              <a:solidFill>
                <a:srgbClr val="66666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–"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400"/>
          </a:p>
        </p:txBody>
      </p:sp>
      <p:sp>
        <p:nvSpPr>
          <p:cNvPr id="253" name="Google Shape;253;p29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0" spcFirstLastPara="1" rIns="121900" wrap="square" tIns="60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54" name="Google Shape;254;p29"/>
          <p:cNvSpPr txBox="1"/>
          <p:nvPr>
            <p:ph idx="4294967295" type="sldNum"/>
          </p:nvPr>
        </p:nvSpPr>
        <p:spPr>
          <a:xfrm>
            <a:off x="-276585" y="6235395"/>
            <a:ext cx="77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r>
              <a:rPr lang="en-IN"/>
              <a:t>|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7350ef53c_0_0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Structure of the Presentation </a:t>
            </a:r>
            <a:endParaRPr/>
          </a:p>
        </p:txBody>
      </p:sp>
      <p:sp>
        <p:nvSpPr>
          <p:cNvPr id="261" name="Google Shape;261;g3e7350ef53c_0_0"/>
          <p:cNvSpPr txBox="1"/>
          <p:nvPr>
            <p:ph idx="1" type="body"/>
          </p:nvPr>
        </p:nvSpPr>
        <p:spPr>
          <a:xfrm>
            <a:off x="395705" y="988341"/>
            <a:ext cx="11284500" cy="47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587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Literature Review (Geographic  Coverage , Inferences , Model used, Parameters /</a:t>
            </a:r>
            <a:r>
              <a:rPr lang="en-IN"/>
              <a:t>variables</a:t>
            </a:r>
            <a:r>
              <a:rPr lang="en-IN"/>
              <a:t> 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Final Model Framework 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Identification of Parameters / Variables - Thematic sections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Identification of overlap of M1, M3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Variable</a:t>
            </a:r>
            <a:r>
              <a:rPr lang="en-IN"/>
              <a:t> - ( Direct </a:t>
            </a:r>
            <a:r>
              <a:rPr lang="en-IN"/>
              <a:t>Variables</a:t>
            </a:r>
            <a:r>
              <a:rPr lang="en-IN"/>
              <a:t>, Latent Variables) - </a:t>
            </a:r>
            <a:r>
              <a:rPr lang="en-IN"/>
              <a:t>Data/ Information to collect data for this latent Variables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Identification of sources - which can be collected from secondary literature, need Primary survey, Which variables need cross check from Primary Survey)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IN"/>
              <a:t>Draft Questionnaire (It can be one questionnaire , three section as discussed , 1- For M1 and M3, 2- only M1 , 3- only M3)  </a:t>
            </a:r>
            <a:endParaRPr/>
          </a:p>
        </p:txBody>
      </p:sp>
      <p:sp>
        <p:nvSpPr>
          <p:cNvPr id="262" name="Google Shape;262;g3e7350ef53c_0_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213d0914_1_0"/>
          <p:cNvSpPr txBox="1"/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M1 : Socio Economic co-benefit model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F0"/>
              </a:buClr>
              <a:buSzPts val="1300"/>
              <a:buFont typeface="Calibri"/>
              <a:buNone/>
            </a:pPr>
            <a:r>
              <a:rPr b="0" lang="en-IN" sz="1600">
                <a:solidFill>
                  <a:srgbClr val="009CD8"/>
                </a:solidFill>
              </a:rPr>
              <a:t>Literature Review — Geographic Coverage &amp; Key Sources  (n = 27)</a:t>
            </a:r>
            <a:endParaRPr sz="1600">
              <a:solidFill>
                <a:srgbClr val="009CD8"/>
              </a:solidFill>
            </a:endParaRPr>
          </a:p>
        </p:txBody>
      </p:sp>
      <p:sp>
        <p:nvSpPr>
          <p:cNvPr id="269" name="Google Shape;269;g3e5213d0914_1_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70" name="Google Shape;270;g3e5213d0914_1_0"/>
          <p:cNvSpPr/>
          <p:nvPr/>
        </p:nvSpPr>
        <p:spPr>
          <a:xfrm>
            <a:off x="256025" y="941250"/>
            <a:ext cx="112845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b="0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Similar economic regions to India (Global South, developing/emerging cities). 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b="0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Very limited direct Indian literature , make the case stronger for the project 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5213d0914_1_0"/>
          <p:cNvSpPr/>
          <p:nvPr/>
        </p:nvSpPr>
        <p:spPr>
          <a:xfrm>
            <a:off x="389792" y="1586587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300"/>
              <a:buFont typeface="Calibri"/>
              <a:buNone/>
            </a:pPr>
            <a:r>
              <a:rPr b="1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Geographic Coverage 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g3e5213d0914_1_0"/>
          <p:cNvGrpSpPr/>
          <p:nvPr/>
        </p:nvGrpSpPr>
        <p:grpSpPr>
          <a:xfrm>
            <a:off x="421132" y="1980043"/>
            <a:ext cx="5833872" cy="594504"/>
            <a:chOff x="256032" y="1980043"/>
            <a:chExt cx="5833872" cy="594504"/>
          </a:xfrm>
        </p:grpSpPr>
        <p:sp>
          <p:nvSpPr>
            <p:cNvPr id="273" name="Google Shape;273;g3e5213d0914_1_0"/>
            <p:cNvSpPr/>
            <p:nvPr/>
          </p:nvSpPr>
          <p:spPr>
            <a:xfrm>
              <a:off x="256032" y="1980043"/>
              <a:ext cx="5303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b="1" i="0" lang="en-IN" sz="15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South and South-East Asia </a:t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e5213d0914_1_0"/>
            <p:cNvSpPr/>
            <p:nvPr/>
          </p:nvSpPr>
          <p:spPr>
            <a:xfrm>
              <a:off x="256032" y="2172067"/>
              <a:ext cx="51207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b="0" i="0" lang="en-IN" sz="15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Bogotá, Lagos, Dhaka, Lahore, Santiago</a:t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g3e5213d0914_1_0"/>
            <p:cNvGrpSpPr/>
            <p:nvPr/>
          </p:nvGrpSpPr>
          <p:grpSpPr>
            <a:xfrm>
              <a:off x="256032" y="2354947"/>
              <a:ext cx="5833872" cy="219600"/>
              <a:chOff x="256032" y="2354947"/>
              <a:chExt cx="5833872" cy="219600"/>
            </a:xfrm>
          </p:grpSpPr>
          <p:sp>
            <p:nvSpPr>
              <p:cNvPr id="276" name="Google Shape;276;g3e5213d0914_1_0"/>
              <p:cNvSpPr/>
              <p:nvPr/>
            </p:nvSpPr>
            <p:spPr>
              <a:xfrm>
                <a:off x="256032" y="2373235"/>
                <a:ext cx="5303400" cy="183000"/>
              </a:xfrm>
              <a:prstGeom prst="rect">
                <a:avLst/>
              </a:prstGeom>
              <a:solidFill>
                <a:srgbClr val="F1F5F9"/>
              </a:solidFill>
              <a:ln cap="flat" cmpd="sng" w="127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0" i="0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g3e5213d0914_1_0"/>
              <p:cNvSpPr/>
              <p:nvPr/>
            </p:nvSpPr>
            <p:spPr>
              <a:xfrm>
                <a:off x="256032" y="2373235"/>
                <a:ext cx="1750200" cy="183000"/>
              </a:xfrm>
              <a:prstGeom prst="rect">
                <a:avLst/>
              </a:prstGeom>
              <a:solidFill>
                <a:srgbClr val="E05A1B"/>
              </a:solidFill>
              <a:ln cap="flat" cmpd="sng" w="12700">
                <a:solidFill>
                  <a:srgbClr val="E05A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0" i="0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g3e5213d0914_1_0"/>
              <p:cNvSpPr/>
              <p:nvPr/>
            </p:nvSpPr>
            <p:spPr>
              <a:xfrm>
                <a:off x="5632704" y="2354947"/>
                <a:ext cx="4572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05A1B"/>
                  </a:buClr>
                  <a:buSzPts val="1000"/>
                  <a:buFont typeface="Calibri"/>
                  <a:buNone/>
                </a:pPr>
                <a:r>
                  <a:rPr b="1" i="0" lang="en-IN" sz="1500" u="none" cap="none" strike="noStrike">
                    <a:solidFill>
                      <a:srgbClr val="E05A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33%</a:t>
                </a:r>
                <a:endParaRPr b="0" i="0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" name="Google Shape;279;g3e5213d0914_1_0"/>
          <p:cNvGrpSpPr/>
          <p:nvPr/>
        </p:nvGrpSpPr>
        <p:grpSpPr>
          <a:xfrm>
            <a:off x="421132" y="2705111"/>
            <a:ext cx="5833872" cy="642732"/>
            <a:chOff x="256032" y="2705111"/>
            <a:chExt cx="5833872" cy="642732"/>
          </a:xfrm>
        </p:grpSpPr>
        <p:sp>
          <p:nvSpPr>
            <p:cNvPr id="280" name="Google Shape;280;g3e5213d0914_1_0"/>
            <p:cNvSpPr/>
            <p:nvPr/>
          </p:nvSpPr>
          <p:spPr>
            <a:xfrm>
              <a:off x="256032" y="2705111"/>
              <a:ext cx="53034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b="1" i="0" lang="en-IN" sz="15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East Asia (China, South Korea)</a:t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g3e5213d0914_1_0"/>
            <p:cNvSpPr/>
            <p:nvPr/>
          </p:nvSpPr>
          <p:spPr>
            <a:xfrm>
              <a:off x="256032" y="2897135"/>
              <a:ext cx="51207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b="0" i="0" lang="en-IN" sz="15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Shenyang, Hangzhou, Beijing — comparable urban scale</a:t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" name="Google Shape;282;g3e5213d0914_1_0"/>
            <p:cNvGrpSpPr/>
            <p:nvPr/>
          </p:nvGrpSpPr>
          <p:grpSpPr>
            <a:xfrm>
              <a:off x="256032" y="3128243"/>
              <a:ext cx="5833872" cy="219600"/>
              <a:chOff x="256032" y="3086467"/>
              <a:chExt cx="5833872" cy="219600"/>
            </a:xfrm>
          </p:grpSpPr>
          <p:sp>
            <p:nvSpPr>
              <p:cNvPr id="283" name="Google Shape;283;g3e5213d0914_1_0"/>
              <p:cNvSpPr/>
              <p:nvPr/>
            </p:nvSpPr>
            <p:spPr>
              <a:xfrm>
                <a:off x="256032" y="3104755"/>
                <a:ext cx="5303400" cy="183000"/>
              </a:xfrm>
              <a:prstGeom prst="rect">
                <a:avLst/>
              </a:prstGeom>
              <a:solidFill>
                <a:srgbClr val="F1F5F9"/>
              </a:solidFill>
              <a:ln cap="flat" cmpd="sng" w="127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0" i="0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g3e5213d0914_1_0"/>
              <p:cNvSpPr/>
              <p:nvPr/>
            </p:nvSpPr>
            <p:spPr>
              <a:xfrm>
                <a:off x="256032" y="3104755"/>
                <a:ext cx="954600" cy="18300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t/>
                </a:r>
                <a:endParaRPr b="0" i="0" sz="1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g3e5213d0914_1_0"/>
              <p:cNvSpPr/>
              <p:nvPr/>
            </p:nvSpPr>
            <p:spPr>
              <a:xfrm>
                <a:off x="5632704" y="3086467"/>
                <a:ext cx="4572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63A8"/>
                  </a:buClr>
                  <a:buSzPts val="1000"/>
                  <a:buFont typeface="Calibri"/>
                  <a:buNone/>
                </a:pPr>
                <a:r>
                  <a:rPr b="1" i="0" lang="en-IN" sz="1500" u="none" cap="none" strike="noStrike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18%</a:t>
                </a:r>
                <a:endParaRPr b="0" i="0" sz="15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6" name="Google Shape;286;g3e5213d0914_1_0"/>
          <p:cNvSpPr/>
          <p:nvPr/>
        </p:nvSpPr>
        <p:spPr>
          <a:xfrm>
            <a:off x="446094" y="4343070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I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Australia / New Zealand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5213d0914_1_0"/>
          <p:cNvSpPr/>
          <p:nvPr/>
        </p:nvSpPr>
        <p:spPr>
          <a:xfrm>
            <a:off x="446094" y="4535094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IN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Melbourne — advanced PT equity &amp; health studies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" name="Google Shape;288;g3e5213d0914_1_0"/>
          <p:cNvGrpSpPr/>
          <p:nvPr/>
        </p:nvGrpSpPr>
        <p:grpSpPr>
          <a:xfrm>
            <a:off x="446094" y="4766202"/>
            <a:ext cx="5833872" cy="219600"/>
            <a:chOff x="256032" y="3817987"/>
            <a:chExt cx="5833872" cy="219600"/>
          </a:xfrm>
        </p:grpSpPr>
        <p:sp>
          <p:nvSpPr>
            <p:cNvPr id="289" name="Google Shape;289;g3e5213d0914_1_0"/>
            <p:cNvSpPr/>
            <p:nvPr/>
          </p:nvSpPr>
          <p:spPr>
            <a:xfrm>
              <a:off x="256032" y="3836275"/>
              <a:ext cx="5303400" cy="1830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g3e5213d0914_1_0"/>
            <p:cNvSpPr/>
            <p:nvPr/>
          </p:nvSpPr>
          <p:spPr>
            <a:xfrm>
              <a:off x="256032" y="3836275"/>
              <a:ext cx="795600" cy="183000"/>
            </a:xfrm>
            <a:prstGeom prst="rect">
              <a:avLst/>
            </a:prstGeom>
            <a:solidFill>
              <a:srgbClr val="4B9035"/>
            </a:solidFill>
            <a:ln cap="flat" cmpd="sng" w="12700">
              <a:solidFill>
                <a:srgbClr val="4B90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g3e5213d0914_1_0"/>
            <p:cNvSpPr/>
            <p:nvPr/>
          </p:nvSpPr>
          <p:spPr>
            <a:xfrm>
              <a:off x="5632704" y="381798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A75"/>
                </a:buClr>
                <a:buSzPts val="1000"/>
                <a:buFont typeface="Calibri"/>
                <a:buNone/>
              </a:pPr>
              <a:r>
                <a:rPr b="1" i="0" lang="en-IN" sz="1500" u="none" cap="none" strike="noStrike">
                  <a:solidFill>
                    <a:srgbClr val="4B9035"/>
                  </a:solidFill>
                  <a:latin typeface="Calibri"/>
                  <a:ea typeface="Calibri"/>
                  <a:cs typeface="Calibri"/>
                  <a:sym typeface="Calibri"/>
                </a:rPr>
                <a:t>15%</a:t>
              </a:r>
              <a:endParaRPr b="0" i="0" sz="1500" u="none" cap="none" strike="noStrike">
                <a:solidFill>
                  <a:srgbClr val="4B90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g3e5213d0914_1_0"/>
          <p:cNvSpPr/>
          <p:nvPr/>
        </p:nvSpPr>
        <p:spPr>
          <a:xfrm>
            <a:off x="446094" y="5121020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I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North America / Europe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e5213d0914_1_0"/>
          <p:cNvSpPr/>
          <p:nvPr/>
        </p:nvSpPr>
        <p:spPr>
          <a:xfrm>
            <a:off x="446094" y="5313044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IN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Toronto, Rome, Chicago, Miami, Austria, Atlanta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g3e5213d0914_1_0"/>
          <p:cNvGrpSpPr/>
          <p:nvPr/>
        </p:nvGrpSpPr>
        <p:grpSpPr>
          <a:xfrm>
            <a:off x="446094" y="5556208"/>
            <a:ext cx="5833872" cy="219600"/>
            <a:chOff x="256032" y="4549507"/>
            <a:chExt cx="5833872" cy="219600"/>
          </a:xfrm>
        </p:grpSpPr>
        <p:sp>
          <p:nvSpPr>
            <p:cNvPr id="295" name="Google Shape;295;g3e5213d0914_1_0"/>
            <p:cNvSpPr/>
            <p:nvPr/>
          </p:nvSpPr>
          <p:spPr>
            <a:xfrm>
              <a:off x="256032" y="4567795"/>
              <a:ext cx="5303400" cy="1830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e5213d0914_1_0"/>
            <p:cNvSpPr/>
            <p:nvPr/>
          </p:nvSpPr>
          <p:spPr>
            <a:xfrm>
              <a:off x="256032" y="4567795"/>
              <a:ext cx="1378800" cy="183000"/>
            </a:xfrm>
            <a:prstGeom prst="rect">
              <a:avLst/>
            </a:prstGeom>
            <a:solidFill>
              <a:srgbClr val="1C5C95"/>
            </a:solidFill>
            <a:ln cap="flat" cmpd="sng" w="12700">
              <a:solidFill>
                <a:srgbClr val="1C5C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g3e5213d0914_1_0"/>
            <p:cNvSpPr/>
            <p:nvPr/>
          </p:nvSpPr>
          <p:spPr>
            <a:xfrm>
              <a:off x="5632704" y="454950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B5EA7"/>
                </a:buClr>
                <a:buSzPts val="1000"/>
                <a:buFont typeface="Calibri"/>
                <a:buNone/>
              </a:pPr>
              <a:r>
                <a:rPr b="1" i="0" lang="en-IN" sz="1500" u="none" cap="none" strike="noStrike">
                  <a:solidFill>
                    <a:srgbClr val="1C5C95"/>
                  </a:solidFill>
                  <a:latin typeface="Calibri"/>
                  <a:ea typeface="Calibri"/>
                  <a:cs typeface="Calibri"/>
                  <a:sym typeface="Calibri"/>
                </a:rPr>
                <a:t>26%</a:t>
              </a:r>
              <a:endParaRPr b="1" i="0" sz="1500" u="none" cap="none" strike="noStrike">
                <a:solidFill>
                  <a:srgbClr val="1C5C9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g3e5213d0914_1_0"/>
          <p:cNvSpPr/>
          <p:nvPr/>
        </p:nvSpPr>
        <p:spPr>
          <a:xfrm>
            <a:off x="425769" y="3457598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I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5213d0914_1_0"/>
          <p:cNvSpPr/>
          <p:nvPr/>
        </p:nvSpPr>
        <p:spPr>
          <a:xfrm>
            <a:off x="425769" y="3649622"/>
            <a:ext cx="512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IN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Delhi NMT co-benefit study , Surat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g3e5213d0914_1_0"/>
          <p:cNvGrpSpPr/>
          <p:nvPr/>
        </p:nvGrpSpPr>
        <p:grpSpPr>
          <a:xfrm>
            <a:off x="425769" y="3932765"/>
            <a:ext cx="5833872" cy="219600"/>
            <a:chOff x="256032" y="5281027"/>
            <a:chExt cx="5833872" cy="219600"/>
          </a:xfrm>
        </p:grpSpPr>
        <p:sp>
          <p:nvSpPr>
            <p:cNvPr id="301" name="Google Shape;301;g3e5213d0914_1_0"/>
            <p:cNvSpPr/>
            <p:nvPr/>
          </p:nvSpPr>
          <p:spPr>
            <a:xfrm>
              <a:off x="256032" y="5299315"/>
              <a:ext cx="5303400" cy="1830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g3e5213d0914_1_0"/>
            <p:cNvSpPr/>
            <p:nvPr/>
          </p:nvSpPr>
          <p:spPr>
            <a:xfrm>
              <a:off x="256032" y="5299315"/>
              <a:ext cx="424200" cy="183000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g3e5213d0914_1_0"/>
            <p:cNvSpPr/>
            <p:nvPr/>
          </p:nvSpPr>
          <p:spPr>
            <a:xfrm>
              <a:off x="5632704" y="5281027"/>
              <a:ext cx="4572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7D3D"/>
                </a:buClr>
                <a:buSzPts val="1000"/>
                <a:buFont typeface="Calibri"/>
                <a:buNone/>
              </a:pPr>
              <a:r>
                <a:rPr b="1" i="0" lang="en-IN" sz="1500" u="none" cap="none" strike="noStrike">
                  <a:solidFill>
                    <a:srgbClr val="86BB3F"/>
                  </a:solidFill>
                  <a:latin typeface="Calibri"/>
                  <a:ea typeface="Calibri"/>
                  <a:cs typeface="Calibri"/>
                  <a:sym typeface="Calibri"/>
                </a:rPr>
                <a:t>8%</a:t>
              </a:r>
              <a:endParaRPr b="0" i="0" sz="1500" u="none" cap="none" strike="noStrike">
                <a:solidFill>
                  <a:srgbClr val="86BB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e5213d0914_1_0"/>
          <p:cNvSpPr/>
          <p:nvPr/>
        </p:nvSpPr>
        <p:spPr>
          <a:xfrm>
            <a:off x="446100" y="5860400"/>
            <a:ext cx="10404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700"/>
              </a:buClr>
              <a:buSzPts val="850"/>
              <a:buFont typeface="Calibri"/>
              <a:buNone/>
            </a:pPr>
            <a:r>
              <a:rPr b="0" i="0" lang="en-IN" sz="13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Research Gap: Limited Indian study found (Delhi NMT/active transport). Socio-economic evidence base is largely from similar economic-context cities — transferability assumed but needs validation.</a:t>
            </a:r>
            <a:endParaRPr b="0" i="0" sz="135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5213d0914_1_0"/>
          <p:cNvSpPr/>
          <p:nvPr/>
        </p:nvSpPr>
        <p:spPr>
          <a:xfrm>
            <a:off x="6763675" y="1684825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b="1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Economic &amp; Social Impacts Scoping Review (Global)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5213d0914_1_0"/>
          <p:cNvSpPr/>
          <p:nvPr/>
        </p:nvSpPr>
        <p:spPr>
          <a:xfrm>
            <a:off x="6763675" y="1943576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Methodology evolution from CBA to resilience &amp; social inclusion; 30+ publications synthesised globally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e5213d0914_1_0"/>
          <p:cNvSpPr/>
          <p:nvPr/>
        </p:nvSpPr>
        <p:spPr>
          <a:xfrm>
            <a:off x="6763675" y="2523177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b="1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Chicago Transit Impact Study — Agent-Based Model (2024)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5213d0914_1_0"/>
          <p:cNvSpPr/>
          <p:nvPr/>
        </p:nvSpPr>
        <p:spPr>
          <a:xfrm>
            <a:off x="6763675" y="2781928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BCR = 13:1; transit removal costs $35.4B; 53.7% of non-work losses fall on women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e5213d0914_1_0"/>
          <p:cNvSpPr/>
          <p:nvPr/>
        </p:nvSpPr>
        <p:spPr>
          <a:xfrm>
            <a:off x="6763675" y="3361529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b="1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Rome Metro DID — Economic Activity (2024)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5213d0914_1_0"/>
          <p:cNvSpPr/>
          <p:nvPr/>
        </p:nvSpPr>
        <p:spPr>
          <a:xfrm>
            <a:off x="6763675" y="3620280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Quasi-experimental: new metro line increases economic establishments within 1km of stations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e5213d0914_1_0"/>
          <p:cNvSpPr/>
          <p:nvPr/>
        </p:nvSpPr>
        <p:spPr>
          <a:xfrm>
            <a:off x="6763675" y="4199882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b="1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Delhi NMT Co-benefit Study (2022)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5213d0914_1_0"/>
          <p:cNvSpPr/>
          <p:nvPr/>
        </p:nvSpPr>
        <p:spPr>
          <a:xfrm>
            <a:off x="6763675" y="4458632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Only India study found; VSL-based method yields USD 4,870M/yr &amp; 121.5 kt CO₂ reduction from NMT shift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5213d0914_1_0"/>
          <p:cNvSpPr/>
          <p:nvPr/>
        </p:nvSpPr>
        <p:spPr>
          <a:xfrm>
            <a:off x="6763675" y="5038260"/>
            <a:ext cx="4389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900"/>
              <a:buFont typeface="Calibri"/>
              <a:buNone/>
            </a:pPr>
            <a:r>
              <a:rPr b="1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Bogotá BRT Socioeconomic Study (COVID-19)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5213d0914_1_0"/>
          <p:cNvSpPr/>
          <p:nvPr/>
        </p:nvSpPr>
        <p:spPr>
          <a:xfrm>
            <a:off x="6763675" y="5297011"/>
            <a:ext cx="495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Lower-income strata cannot reduce PT trips in crisis — demonstrates critical transport dependency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5213d0914_1_0"/>
          <p:cNvSpPr txBox="1"/>
          <p:nvPr/>
        </p:nvSpPr>
        <p:spPr>
          <a:xfrm rot="-5400000">
            <a:off x="-845381" y="2715962"/>
            <a:ext cx="2073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South </a:t>
            </a:r>
            <a:r>
              <a:rPr b="0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(59%)</a:t>
            </a:r>
            <a:r>
              <a:rPr b="1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6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5213d0914_1_0"/>
          <p:cNvSpPr txBox="1"/>
          <p:nvPr/>
        </p:nvSpPr>
        <p:spPr>
          <a:xfrm rot="-5400000">
            <a:off x="-782925" y="4734675"/>
            <a:ext cx="1926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Global North</a:t>
            </a:r>
            <a:r>
              <a:rPr b="0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(41%)</a:t>
            </a:r>
            <a:r>
              <a:rPr b="1" i="0" lang="en-IN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6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5213d0914_1_0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5213d0914_1_7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324" name="Google Shape;324;g3e5213d0914_1_7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e5213d0914_1_7"/>
          <p:cNvSpPr/>
          <p:nvPr/>
        </p:nvSpPr>
        <p:spPr>
          <a:xfrm>
            <a:off x="395700" y="1167500"/>
            <a:ext cx="2657700" cy="4902900"/>
          </a:xfrm>
          <a:prstGeom prst="rect">
            <a:avLst/>
          </a:prstGeom>
          <a:solidFill>
            <a:srgbClr val="FFFFFF"/>
          </a:solidFill>
          <a:ln cap="flat" cmpd="sng" w="15075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  <a:effectLst>
            <a:outerShdw blurRad="60263" rotWithShape="0" algn="bl" dir="8100000" dist="15066">
              <a:srgbClr val="000000">
                <a:alpha val="7843"/>
              </a:srgbClr>
            </a:outerShdw>
          </a:effectLst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6" name="Google Shape;326;g3e5213d0914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173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e5213d0914_1_7"/>
          <p:cNvSpPr/>
          <p:nvPr/>
        </p:nvSpPr>
        <p:spPr>
          <a:xfrm>
            <a:off x="959760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Structural Equation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 (SEM)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g3e5213d0914_1_7"/>
          <p:cNvGrpSpPr/>
          <p:nvPr/>
        </p:nvGrpSpPr>
        <p:grpSpPr>
          <a:xfrm>
            <a:off x="484500" y="1964275"/>
            <a:ext cx="2494500" cy="2453945"/>
            <a:chOff x="504200" y="1870225"/>
            <a:chExt cx="2494500" cy="2453945"/>
          </a:xfrm>
        </p:grpSpPr>
        <p:sp>
          <p:nvSpPr>
            <p:cNvPr id="329" name="Google Shape;329;g3e5213d0914_1_7"/>
            <p:cNvSpPr/>
            <p:nvPr/>
          </p:nvSpPr>
          <p:spPr>
            <a:xfrm>
              <a:off x="504200" y="1870225"/>
              <a:ext cx="24945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b="1" i="0" lang="en-IN" sz="1549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b="0" i="0" sz="15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3e5213d0914_1_7"/>
            <p:cNvSpPr/>
            <p:nvPr/>
          </p:nvSpPr>
          <p:spPr>
            <a:xfrm>
              <a:off x="656052" y="2264782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9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Service quality (safety, comfort, freq.)</a:t>
              </a:r>
              <a:endParaRPr b="0" i="0" sz="14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g3e5213d0914_1_7"/>
            <p:cNvSpPr/>
            <p:nvPr/>
          </p:nvSpPr>
          <p:spPr>
            <a:xfrm>
              <a:off x="656052" y="2790545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9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Perceived accessibility &amp; inclusion</a:t>
              </a:r>
              <a:endParaRPr b="0" i="0" sz="14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g3e5213d0914_1_7"/>
            <p:cNvSpPr/>
            <p:nvPr/>
          </p:nvSpPr>
          <p:spPr>
            <a:xfrm>
              <a:off x="656052" y="3316308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9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Quality of life &amp; wellbeing</a:t>
              </a:r>
              <a:endParaRPr b="0" i="0" sz="14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g3e5213d0914_1_7"/>
            <p:cNvSpPr/>
            <p:nvPr/>
          </p:nvSpPr>
          <p:spPr>
            <a:xfrm>
              <a:off x="656052" y="3842070"/>
              <a:ext cx="233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9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Policy support &amp; latent constructs</a:t>
              </a:r>
              <a:endParaRPr b="0" i="0" sz="149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g3e5213d0914_1_7"/>
          <p:cNvSpPr/>
          <p:nvPr/>
        </p:nvSpPr>
        <p:spPr>
          <a:xfrm>
            <a:off x="525875" y="4703700"/>
            <a:ext cx="2440500" cy="119340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b="0" i="0" lang="en-I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Captures abstract outcomes like social inclusion, transport justice &amp; perception changes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5213d0914_1_7"/>
          <p:cNvSpPr/>
          <p:nvPr/>
        </p:nvSpPr>
        <p:spPr>
          <a:xfrm>
            <a:off x="3237694" y="1167500"/>
            <a:ext cx="2657700" cy="4902900"/>
          </a:xfrm>
          <a:prstGeom prst="rect">
            <a:avLst/>
          </a:prstGeom>
          <a:solidFill>
            <a:srgbClr val="FFFFFF"/>
          </a:solidFill>
          <a:ln cap="flat" cmpd="sng" w="15075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  <a:effectLst>
            <a:outerShdw blurRad="60263" rotWithShape="0" algn="bl" dir="8100000" dist="15066">
              <a:srgbClr val="000000">
                <a:alpha val="7843"/>
              </a:srgbClr>
            </a:outerShdw>
          </a:effectLst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6" name="Google Shape;336;g3e5213d0914_1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6167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e5213d0914_1_7"/>
          <p:cNvSpPr/>
          <p:nvPr/>
        </p:nvSpPr>
        <p:spPr>
          <a:xfrm>
            <a:off x="3801754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Difference-in-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Differences (DID)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g3e5213d0914_1_7"/>
          <p:cNvGrpSpPr/>
          <p:nvPr/>
        </p:nvGrpSpPr>
        <p:grpSpPr>
          <a:xfrm>
            <a:off x="3384241" y="1932350"/>
            <a:ext cx="2290200" cy="2517792"/>
            <a:chOff x="3346167" y="2566798"/>
            <a:chExt cx="2494500" cy="1757498"/>
          </a:xfrm>
        </p:grpSpPr>
        <p:sp>
          <p:nvSpPr>
            <p:cNvPr id="339" name="Google Shape;339;g3e5213d0914_1_7"/>
            <p:cNvSpPr/>
            <p:nvPr/>
          </p:nvSpPr>
          <p:spPr>
            <a:xfrm>
              <a:off x="3346167" y="2566798"/>
              <a:ext cx="2494500" cy="2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g3e5213d0914_1_7"/>
            <p:cNvSpPr/>
            <p:nvPr/>
          </p:nvSpPr>
          <p:spPr>
            <a:xfrm>
              <a:off x="3498029" y="2794591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Before vs. after bus deployment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g3e5213d0914_1_7"/>
            <p:cNvSpPr/>
            <p:nvPr/>
          </p:nvSpPr>
          <p:spPr>
            <a:xfrm>
              <a:off x="3498029" y="3185093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Group A vs. Group B cities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3e5213d0914_1_7"/>
            <p:cNvSpPr/>
            <p:nvPr/>
          </p:nvSpPr>
          <p:spPr>
            <a:xfrm>
              <a:off x="3498029" y="3575595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Control vs. treatment zones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g3e5213d0914_1_7"/>
            <p:cNvSpPr/>
            <p:nvPr/>
          </p:nvSpPr>
          <p:spPr>
            <a:xfrm>
              <a:off x="3498029" y="3966096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Measurable impact attribution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g3e5213d0914_1_7"/>
          <p:cNvSpPr/>
          <p:nvPr/>
        </p:nvSpPr>
        <p:spPr>
          <a:xfrm>
            <a:off x="3367862" y="4703711"/>
            <a:ext cx="2440500" cy="1193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b="0" i="0" lang="en-I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BBUS project structure (Group A/B) is naturally suited to DID — measures causal impact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5213d0914_1_7"/>
          <p:cNvSpPr/>
          <p:nvPr/>
        </p:nvSpPr>
        <p:spPr>
          <a:xfrm>
            <a:off x="6079688" y="1167500"/>
            <a:ext cx="2657700" cy="4902900"/>
          </a:xfrm>
          <a:prstGeom prst="rect">
            <a:avLst/>
          </a:prstGeom>
          <a:solidFill>
            <a:srgbClr val="FFFFFF"/>
          </a:solidFill>
          <a:ln cap="flat" cmpd="sng" w="15075">
            <a:solidFill>
              <a:srgbClr val="1A7D3D"/>
            </a:solidFill>
            <a:prstDash val="solid"/>
            <a:round/>
            <a:headEnd len="sm" w="sm" type="none"/>
            <a:tailEnd len="sm" w="sm" type="none"/>
          </a:ln>
          <a:effectLst>
            <a:outerShdw blurRad="60263" rotWithShape="0" algn="bl" dir="8100000" dist="15066">
              <a:srgbClr val="000000">
                <a:alpha val="7843"/>
              </a:srgbClr>
            </a:outerShdw>
          </a:effectLst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6" name="Google Shape;346;g3e5213d0914_1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161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e5213d0914_1_7"/>
          <p:cNvSpPr/>
          <p:nvPr/>
        </p:nvSpPr>
        <p:spPr>
          <a:xfrm>
            <a:off x="6643748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Multivariate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g3e5213d0914_1_7"/>
          <p:cNvGrpSpPr/>
          <p:nvPr/>
        </p:nvGrpSpPr>
        <p:grpSpPr>
          <a:xfrm>
            <a:off x="6153485" y="1932239"/>
            <a:ext cx="2440619" cy="2517792"/>
            <a:chOff x="6188161" y="2566798"/>
            <a:chExt cx="2494500" cy="1757498"/>
          </a:xfrm>
        </p:grpSpPr>
        <p:sp>
          <p:nvSpPr>
            <p:cNvPr id="349" name="Google Shape;349;g3e5213d0914_1_7"/>
            <p:cNvSpPr/>
            <p:nvPr/>
          </p:nvSpPr>
          <p:spPr>
            <a:xfrm>
              <a:off x="6188161" y="2566798"/>
              <a:ext cx="2494500" cy="2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g3e5213d0914_1_7"/>
            <p:cNvSpPr/>
            <p:nvPr/>
          </p:nvSpPr>
          <p:spPr>
            <a:xfrm>
              <a:off x="6340023" y="2794591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Employment &amp; livelihood indicators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g3e5213d0914_1_7"/>
            <p:cNvSpPr/>
            <p:nvPr/>
          </p:nvSpPr>
          <p:spPr>
            <a:xfrm>
              <a:off x="6340023" y="3185093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Affordability &amp; income metrics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g3e5213d0914_1_7"/>
            <p:cNvSpPr/>
            <p:nvPr/>
          </p:nvSpPr>
          <p:spPr>
            <a:xfrm>
              <a:off x="6340023" y="3575595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Health &amp; resilience outcomes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g3e5213d0914_1_7"/>
            <p:cNvSpPr/>
            <p:nvPr/>
          </p:nvSpPr>
          <p:spPr>
            <a:xfrm>
              <a:off x="6340023" y="3966096"/>
              <a:ext cx="23322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City productivity proxies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g3e5213d0914_1_7"/>
          <p:cNvSpPr/>
          <p:nvPr/>
        </p:nvSpPr>
        <p:spPr>
          <a:xfrm>
            <a:off x="6188293" y="4715811"/>
            <a:ext cx="2440500" cy="1193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b="0" i="0" lang="en-I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Identifies which variables are most impacted by bus service; separates bus effect from correlated factors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5213d0914_1_7"/>
          <p:cNvSpPr/>
          <p:nvPr/>
        </p:nvSpPr>
        <p:spPr>
          <a:xfrm>
            <a:off x="8921682" y="1167500"/>
            <a:ext cx="2657700" cy="4902900"/>
          </a:xfrm>
          <a:prstGeom prst="rect">
            <a:avLst/>
          </a:prstGeom>
          <a:solidFill>
            <a:srgbClr val="FFFFFF"/>
          </a:solidFill>
          <a:ln cap="flat" cmpd="sng" w="15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60263" rotWithShape="0" algn="bl" dir="8100000" dist="15066">
              <a:srgbClr val="000000">
                <a:alpha val="7843"/>
              </a:srgbClr>
            </a:outerShdw>
          </a:effectLst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6" name="Google Shape;356;g3e5213d0914_1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0155" y="1254278"/>
            <a:ext cx="412196" cy="41219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e5213d0914_1_7"/>
          <p:cNvSpPr/>
          <p:nvPr/>
        </p:nvSpPr>
        <p:spPr>
          <a:xfrm>
            <a:off x="9485742" y="1254278"/>
            <a:ext cx="2028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Spatial / GIS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8"/>
              <a:buFont typeface="Calibri"/>
              <a:buNone/>
            </a:pPr>
            <a:r>
              <a:rPr b="1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g3e5213d0914_1_7"/>
          <p:cNvGrpSpPr/>
          <p:nvPr/>
        </p:nvGrpSpPr>
        <p:grpSpPr>
          <a:xfrm>
            <a:off x="9073125" y="1970771"/>
            <a:ext cx="2494500" cy="2545774"/>
            <a:chOff x="9073125" y="1970771"/>
            <a:chExt cx="2494500" cy="2545774"/>
          </a:xfrm>
        </p:grpSpPr>
        <p:sp>
          <p:nvSpPr>
            <p:cNvPr id="359" name="Google Shape;359;g3e5213d0914_1_7"/>
            <p:cNvSpPr/>
            <p:nvPr/>
          </p:nvSpPr>
          <p:spPr>
            <a:xfrm>
              <a:off x="9073125" y="1970771"/>
              <a:ext cx="24945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49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Key Parameters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g3e5213d0914_1_7"/>
            <p:cNvSpPr/>
            <p:nvPr/>
          </p:nvSpPr>
          <p:spPr>
            <a:xfrm>
              <a:off x="9142662" y="2308905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Bus stop catchment &amp; accessibility buffers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g3e5213d0914_1_7"/>
            <p:cNvSpPr/>
            <p:nvPr/>
          </p:nvSpPr>
          <p:spPr>
            <a:xfrm>
              <a:off x="9142662" y="2947356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Hotspot analysis (Getis-Ord)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g3e5213d0914_1_7"/>
            <p:cNvSpPr/>
            <p:nvPr/>
          </p:nvSpPr>
          <p:spPr>
            <a:xfrm>
              <a:off x="9154287" y="3490607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O-D mapping low-income commuters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g3e5213d0914_1_7"/>
            <p:cNvSpPr/>
            <p:nvPr/>
          </p:nvSpPr>
          <p:spPr>
            <a:xfrm>
              <a:off x="9142662" y="4033845"/>
              <a:ext cx="23322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9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Accident &amp; safe travel zone mapping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g3e5213d0914_1_7"/>
          <p:cNvSpPr/>
          <p:nvPr/>
        </p:nvSpPr>
        <p:spPr>
          <a:xfrm>
            <a:off x="9051849" y="4703711"/>
            <a:ext cx="2440500" cy="1193400"/>
          </a:xfrm>
          <a:prstGeom prst="rect">
            <a:avLst/>
          </a:prstGeom>
          <a:solidFill>
            <a:srgbClr val="D3D4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4"/>
              <a:buFont typeface="Calibri"/>
              <a:buNone/>
            </a:pPr>
            <a:r>
              <a:rPr b="0" i="0" lang="en-I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Maps existing network gaps, underserved areas, and validates BBUS route equity coverage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5213d0914_1_7"/>
          <p:cNvSpPr txBox="1"/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M1 : Socio Economic co-benefit model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IN" sz="1600"/>
              <a:t>Detailed analysis of Model and parameters </a:t>
            </a:r>
            <a:endParaRPr sz="1600">
              <a:solidFill>
                <a:srgbClr val="009CD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cc9b63667_2_40"/>
          <p:cNvSpPr txBox="1"/>
          <p:nvPr>
            <p:ph type="title"/>
          </p:nvPr>
        </p:nvSpPr>
        <p:spPr>
          <a:xfrm>
            <a:off x="395700" y="194423"/>
            <a:ext cx="11284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>
                <a:solidFill>
                  <a:srgbClr val="009CD8"/>
                </a:solidFill>
              </a:rPr>
              <a:t>Deep dive in M1 : Socio Economic co-benefit model </a:t>
            </a:r>
            <a:endParaRPr sz="2200">
              <a:solidFill>
                <a:srgbClr val="009C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en-IN" sz="1600">
                <a:solidFill>
                  <a:srgbClr val="009CD8"/>
                </a:solidFill>
              </a:rPr>
              <a:t> Groupwise Model Selection</a:t>
            </a:r>
            <a:endParaRPr b="0" sz="1600">
              <a:solidFill>
                <a:srgbClr val="009CD8"/>
              </a:solidFill>
            </a:endParaRPr>
          </a:p>
        </p:txBody>
      </p:sp>
      <p:sp>
        <p:nvSpPr>
          <p:cNvPr id="371" name="Google Shape;371;g3ecc9b63667_2_40"/>
          <p:cNvSpPr txBox="1"/>
          <p:nvPr/>
        </p:nvSpPr>
        <p:spPr>
          <a:xfrm>
            <a:off x="395707" y="1240233"/>
            <a:ext cx="5400000" cy="420000"/>
          </a:xfrm>
          <a:prstGeom prst="rect">
            <a:avLst/>
          </a:prstGeom>
          <a:solidFill>
            <a:srgbClr val="8CB73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A - Cities with buses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cc9b63667_2_40"/>
          <p:cNvSpPr txBox="1"/>
          <p:nvPr/>
        </p:nvSpPr>
        <p:spPr>
          <a:xfrm>
            <a:off x="395707" y="1660233"/>
            <a:ext cx="5400000" cy="280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005C3A"/>
                </a:solidFill>
                <a:latin typeface="Arial"/>
                <a:ea typeface="Arial"/>
                <a:cs typeface="Arial"/>
                <a:sym typeface="Arial"/>
              </a:rPr>
              <a:t>Bengaluru  |  Jaipur  |  Bhubaneswar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ecc9b63667_2_40"/>
          <p:cNvSpPr txBox="1"/>
          <p:nvPr/>
        </p:nvSpPr>
        <p:spPr>
          <a:xfrm>
            <a:off x="395700" y="1940225"/>
            <a:ext cx="5400000" cy="30240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811C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8CB73F"/>
                </a:solidFill>
                <a:latin typeface="Arial"/>
                <a:ea typeface="Arial"/>
                <a:cs typeface="Arial"/>
                <a:sym typeface="Arial"/>
              </a:rPr>
              <a:t>Multivariate Regression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Why?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 cities have mature bus system. Buses have been in operation for years. No clean pre and post study is feasible.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Cross-sectional association via multivariate regression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estimates the relationship between proximity to bus routes and outcomes, controlling for household and neighbourhood characteristics including the Vulnerability Index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cc9b63667_2_40"/>
          <p:cNvSpPr txBox="1"/>
          <p:nvPr/>
        </p:nvSpPr>
        <p:spPr>
          <a:xfrm>
            <a:off x="6095707" y="1240233"/>
            <a:ext cx="5400000" cy="420000"/>
          </a:xfrm>
          <a:prstGeom prst="rect">
            <a:avLst/>
          </a:prstGeom>
          <a:solidFill>
            <a:srgbClr val="03649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B - Buses incoming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ecc9b63667_2_40"/>
          <p:cNvSpPr txBox="1"/>
          <p:nvPr/>
        </p:nvSpPr>
        <p:spPr>
          <a:xfrm>
            <a:off x="6095707" y="1660233"/>
            <a:ext cx="5400000" cy="2800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023F5C"/>
                </a:solidFill>
                <a:latin typeface="Arial"/>
                <a:ea typeface="Arial"/>
                <a:cs typeface="Arial"/>
                <a:sym typeface="Arial"/>
              </a:rPr>
              <a:t>Haridwar  |  Gaya  |  </a:t>
            </a:r>
            <a:r>
              <a:rPr lang="en-IN" sz="1100">
                <a:solidFill>
                  <a:srgbClr val="023F5C"/>
                </a:solidFill>
              </a:rPr>
              <a:t>Jodhpur etc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cc9b63667_2_40"/>
          <p:cNvSpPr txBox="1"/>
          <p:nvPr/>
        </p:nvSpPr>
        <p:spPr>
          <a:xfrm>
            <a:off x="6095700" y="1940224"/>
            <a:ext cx="5400000" cy="30240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811C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036493"/>
                </a:solidFill>
                <a:latin typeface="Arial"/>
                <a:ea typeface="Arial"/>
                <a:cs typeface="Arial"/>
                <a:sym typeface="Arial"/>
              </a:rPr>
              <a:t> Di</a:t>
            </a:r>
            <a:r>
              <a:rPr b="1" lang="en-IN" sz="1500">
                <a:solidFill>
                  <a:srgbClr val="036493"/>
                </a:solidFill>
              </a:rPr>
              <a:t>fference in Difference(DiD)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</a:rPr>
              <a:t>Why?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of Buses under the scheme serves as a natural experiment for DiD to estimate the causal effect of bus access on socio-economic indicators.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Credible counterfactual via parallel trends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households near routes not yet activated serve as the comparison group, isolating the effect of new bus deployment from pre-existing differences across neighbourhoods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cc9b63667_2_4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-215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</a:pPr>
            <a:r>
              <a:rPr lang="en-IN" sz="1100"/>
              <a:t>Source:</a:t>
            </a:r>
            <a:endParaRPr sz="1300">
              <a:solidFill>
                <a:srgbClr val="036493"/>
              </a:solidFill>
            </a:endParaRPr>
          </a:p>
        </p:txBody>
      </p:sp>
      <p:sp>
        <p:nvSpPr>
          <p:cNvPr id="378" name="Google Shape;378;g3ecc9b63667_2_40"/>
          <p:cNvSpPr txBox="1"/>
          <p:nvPr/>
        </p:nvSpPr>
        <p:spPr>
          <a:xfrm>
            <a:off x="395700" y="5232013"/>
            <a:ext cx="11100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Descriptive analysis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(cross-tabs, means, distributions) where regression is infeasible.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GIS-derived bus access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(500m walkshed, binary) as the key independent variable — exogenous to individual behaviour.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cde7f9a7e_0_8"/>
          <p:cNvSpPr txBox="1"/>
          <p:nvPr>
            <p:ph type="title"/>
          </p:nvPr>
        </p:nvSpPr>
        <p:spPr>
          <a:xfrm>
            <a:off x="395700" y="194426"/>
            <a:ext cx="11284500" cy="5820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Key Variables </a:t>
            </a:r>
            <a:endParaRPr/>
          </a:p>
        </p:txBody>
      </p:sp>
      <p:sp>
        <p:nvSpPr>
          <p:cNvPr id="385" name="Google Shape;385;g3ecde7f9a7e_0_8"/>
          <p:cNvSpPr txBox="1"/>
          <p:nvPr>
            <p:ph idx="1" type="body"/>
          </p:nvPr>
        </p:nvSpPr>
        <p:spPr>
          <a:xfrm>
            <a:off x="143100" y="976550"/>
            <a:ext cx="3571200" cy="4092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600"/>
              <a:t>hf</a:t>
            </a:r>
            <a:endParaRPr sz="1600"/>
          </a:p>
        </p:txBody>
      </p:sp>
      <p:sp>
        <p:nvSpPr>
          <p:cNvPr id="386" name="Google Shape;386;g3ecde7f9a7e_0_8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ecde7f9a7e_0_8"/>
          <p:cNvSpPr/>
          <p:nvPr/>
        </p:nvSpPr>
        <p:spPr>
          <a:xfrm>
            <a:off x="143100" y="958875"/>
            <a:ext cx="3571200" cy="4305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outcome Variables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cde7f9a7e_0_8"/>
          <p:cNvSpPr txBox="1"/>
          <p:nvPr/>
        </p:nvSpPr>
        <p:spPr>
          <a:xfrm>
            <a:off x="140350" y="1443425"/>
            <a:ext cx="36957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Analysis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Individual transport Expenditure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Employment Status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Female Employment Status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Women's trip frequency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Descriptive Analysis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Value of travel time saved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Educational Access for children/youth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Health care access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*open to suggestion on dependent variables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cde7f9a7e_0_8"/>
          <p:cNvSpPr/>
          <p:nvPr/>
        </p:nvSpPr>
        <p:spPr>
          <a:xfrm>
            <a:off x="4317750" y="976475"/>
            <a:ext cx="3695700" cy="409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cde7f9a7e_0_8"/>
          <p:cNvSpPr/>
          <p:nvPr/>
        </p:nvSpPr>
        <p:spPr>
          <a:xfrm>
            <a:off x="4317750" y="958875"/>
            <a:ext cx="3695700" cy="430500"/>
          </a:xfrm>
          <a:prstGeom prst="rect">
            <a:avLst/>
          </a:prstGeom>
          <a:solidFill>
            <a:srgbClr val="E857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latin typeface="Calibri"/>
                <a:ea typeface="Calibri"/>
                <a:cs typeface="Calibri"/>
                <a:sym typeface="Calibri"/>
              </a:rPr>
              <a:t>Independent Variable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cde7f9a7e_0_8"/>
          <p:cNvSpPr txBox="1"/>
          <p:nvPr/>
        </p:nvSpPr>
        <p:spPr>
          <a:xfrm>
            <a:off x="4467600" y="1534375"/>
            <a:ext cx="28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E85724"/>
                </a:solidFill>
                <a:latin typeface="Calibri"/>
                <a:ea typeface="Calibri"/>
                <a:cs typeface="Calibri"/>
                <a:sym typeface="Calibri"/>
              </a:rPr>
              <a:t>Bus Access</a:t>
            </a:r>
            <a:r>
              <a:rPr lang="en-IN" sz="1600">
                <a:solidFill>
                  <a:srgbClr val="0364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0364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cde7f9a7e_0_8"/>
          <p:cNvSpPr txBox="1"/>
          <p:nvPr/>
        </p:nvSpPr>
        <p:spPr>
          <a:xfrm>
            <a:off x="4475550" y="1815775"/>
            <a:ext cx="3124800" cy="4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our primary Independent Variable 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Walking distance to nearest bus stop (minutes/metres) — collected via survey and cross-validated using GIS data from STU route maps.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approach was chosen for its simplicity and alignment with internationally recognised thresholds used by the World Bank and ITDP.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cde7f9a7e_0_8"/>
          <p:cNvSpPr/>
          <p:nvPr/>
        </p:nvSpPr>
        <p:spPr>
          <a:xfrm>
            <a:off x="8616900" y="976550"/>
            <a:ext cx="3480300" cy="409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9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cde7f9a7e_0_8"/>
          <p:cNvSpPr txBox="1"/>
          <p:nvPr/>
        </p:nvSpPr>
        <p:spPr>
          <a:xfrm>
            <a:off x="8616900" y="976550"/>
            <a:ext cx="3480300" cy="431100"/>
          </a:xfrm>
          <a:prstGeom prst="rect">
            <a:avLst/>
          </a:prstGeom>
          <a:solidFill>
            <a:srgbClr val="029BD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Vulnerability index(VI)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cde7f9a7e_0_8"/>
          <p:cNvSpPr txBox="1"/>
          <p:nvPr/>
        </p:nvSpPr>
        <p:spPr>
          <a:xfrm>
            <a:off x="8818050" y="1571825"/>
            <a:ext cx="3078000" cy="3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(VI) is constructed as a unweighted or  (PCA weighted) normalised composite of four binary  components capturing dimensions of socio-economic vulnerability.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 is used in the regression both as a standalone regressor and as an interaction term with bus access, to test whether the economic benefits of bus access are disproportionately larger for more vulnerable populations.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cde7f9a7e_0_8"/>
          <p:cNvSpPr txBox="1"/>
          <p:nvPr/>
        </p:nvSpPr>
        <p:spPr>
          <a:xfrm>
            <a:off x="143100" y="5557200"/>
            <a:ext cx="1175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Women's trip frequency 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regression restricted to women in households without private vehicle access (captive users), controlling for income, to isolate the bus access effect from private vehicle availability bias.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8e9c6296f_0_99"/>
          <p:cNvSpPr txBox="1"/>
          <p:nvPr>
            <p:ph type="title"/>
          </p:nvPr>
        </p:nvSpPr>
        <p:spPr>
          <a:xfrm>
            <a:off x="395700" y="194426"/>
            <a:ext cx="11284500" cy="549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Vulnerability Index : Construction </a:t>
            </a:r>
            <a:endParaRPr/>
          </a:p>
        </p:txBody>
      </p:sp>
      <p:sp>
        <p:nvSpPr>
          <p:cNvPr id="403" name="Google Shape;403;g3e8e9c6296f_0_99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8e9c6296f_0_99"/>
          <p:cNvSpPr/>
          <p:nvPr/>
        </p:nvSpPr>
        <p:spPr>
          <a:xfrm>
            <a:off x="365735" y="969345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700"/>
              <a:buFont typeface="Calibri"/>
              <a:buNone/>
            </a:pPr>
            <a:r>
              <a:rPr b="1" i="0" lang="en-IN" sz="1700" u="none" cap="none" strike="noStrik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Index Components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8e9c6296f_0_99"/>
          <p:cNvSpPr/>
          <p:nvPr/>
        </p:nvSpPr>
        <p:spPr>
          <a:xfrm>
            <a:off x="365760" y="1524000"/>
            <a:ext cx="54864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8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8e9c6296f_0_99"/>
          <p:cNvSpPr/>
          <p:nvPr/>
        </p:nvSpPr>
        <p:spPr>
          <a:xfrm>
            <a:off x="365760" y="1524000"/>
            <a:ext cx="121800" cy="877800"/>
          </a:xfrm>
          <a:prstGeom prst="rect">
            <a:avLst/>
          </a:prstGeom>
          <a:solidFill>
            <a:srgbClr val="86BB3F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e8e9c6296f_0_99"/>
          <p:cNvSpPr/>
          <p:nvPr/>
        </p:nvSpPr>
        <p:spPr>
          <a:xfrm>
            <a:off x="609600" y="1584960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500" u="none" cap="none" strike="noStrike">
              <a:solidFill>
                <a:srgbClr val="0D7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8e9c6296f_0_99"/>
          <p:cNvSpPr/>
          <p:nvPr/>
        </p:nvSpPr>
        <p:spPr>
          <a:xfrm>
            <a:off x="609600" y="1962912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b="0" i="0" lang="en-IN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Min-max normalised, reversed: 1 = lowest income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8e9c6296f_0_99"/>
          <p:cNvSpPr/>
          <p:nvPr/>
        </p:nvSpPr>
        <p:spPr>
          <a:xfrm>
            <a:off x="365760" y="2523744"/>
            <a:ext cx="54864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8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8e9c6296f_0_99"/>
          <p:cNvSpPr/>
          <p:nvPr/>
        </p:nvSpPr>
        <p:spPr>
          <a:xfrm>
            <a:off x="365760" y="2523744"/>
            <a:ext cx="121800" cy="877800"/>
          </a:xfrm>
          <a:prstGeom prst="rect">
            <a:avLst/>
          </a:prstGeom>
          <a:solidFill>
            <a:srgbClr val="86BB3F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8e9c6296f_0_99"/>
          <p:cNvSpPr/>
          <p:nvPr/>
        </p:nvSpPr>
        <p:spPr>
          <a:xfrm>
            <a:off x="609600" y="2584704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Vehicle Ownership</a:t>
            </a:r>
            <a:endParaRPr b="0" i="0" sz="1500" u="none" cap="none" strike="noStrike">
              <a:solidFill>
                <a:srgbClr val="0D7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8e9c6296f_0_99"/>
          <p:cNvSpPr/>
          <p:nvPr/>
        </p:nvSpPr>
        <p:spPr>
          <a:xfrm>
            <a:off x="609600" y="2962656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b="0" i="0" lang="en-IN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No vehicle in household = 1; owns vehicle =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8e9c6296f_0_99"/>
          <p:cNvSpPr/>
          <p:nvPr/>
        </p:nvSpPr>
        <p:spPr>
          <a:xfrm>
            <a:off x="365760" y="3523488"/>
            <a:ext cx="54864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8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e8e9c6296f_0_99"/>
          <p:cNvSpPr/>
          <p:nvPr/>
        </p:nvSpPr>
        <p:spPr>
          <a:xfrm>
            <a:off x="365760" y="3523488"/>
            <a:ext cx="121800" cy="877800"/>
          </a:xfrm>
          <a:prstGeom prst="rect">
            <a:avLst/>
          </a:prstGeom>
          <a:solidFill>
            <a:srgbClr val="F39673"/>
          </a:solidFill>
          <a:ln cap="flat" cmpd="sng" w="12700">
            <a:solidFill>
              <a:srgbClr val="F39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8e9c6296f_0_99"/>
          <p:cNvSpPr/>
          <p:nvPr/>
        </p:nvSpPr>
        <p:spPr>
          <a:xfrm>
            <a:off x="609600" y="3584448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621A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D4621A"/>
                </a:solidFill>
                <a:latin typeface="Calibri"/>
                <a:ea typeface="Calibri"/>
                <a:cs typeface="Calibri"/>
                <a:sym typeface="Calibri"/>
              </a:rPr>
              <a:t>Disability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8e9c6296f_0_99"/>
          <p:cNvSpPr/>
          <p:nvPr/>
        </p:nvSpPr>
        <p:spPr>
          <a:xfrm>
            <a:off x="609600" y="3962400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b="0" i="0" lang="en-IN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Person with disability = 1; no disability =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8e9c6296f_0_99"/>
          <p:cNvSpPr/>
          <p:nvPr/>
        </p:nvSpPr>
        <p:spPr>
          <a:xfrm>
            <a:off x="365760" y="4523232"/>
            <a:ext cx="5486400" cy="87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8D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8e9c6296f_0_99"/>
          <p:cNvSpPr/>
          <p:nvPr/>
        </p:nvSpPr>
        <p:spPr>
          <a:xfrm>
            <a:off x="365760" y="4523232"/>
            <a:ext cx="121800" cy="877800"/>
          </a:xfrm>
          <a:prstGeom prst="rect">
            <a:avLst/>
          </a:prstGeom>
          <a:solidFill>
            <a:srgbClr val="F39673"/>
          </a:solidFill>
          <a:ln cap="flat" cmpd="sng" w="12700">
            <a:solidFill>
              <a:srgbClr val="F396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e8e9c6296f_0_99"/>
          <p:cNvSpPr/>
          <p:nvPr/>
        </p:nvSpPr>
        <p:spPr>
          <a:xfrm>
            <a:off x="609600" y="4584192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621A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D4621A"/>
                </a:solidFill>
                <a:latin typeface="Calibri"/>
                <a:ea typeface="Calibri"/>
                <a:cs typeface="Calibri"/>
                <a:sym typeface="Calibri"/>
              </a:rPr>
              <a:t>Elderly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8e9c6296f_0_99"/>
          <p:cNvSpPr/>
          <p:nvPr/>
        </p:nvSpPr>
        <p:spPr>
          <a:xfrm>
            <a:off x="609600" y="4962144"/>
            <a:ext cx="5120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b="0" i="0" lang="en-IN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Age 60 or above = 1; below 60 =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8e9c6296f_0_99"/>
          <p:cNvSpPr/>
          <p:nvPr/>
        </p:nvSpPr>
        <p:spPr>
          <a:xfrm>
            <a:off x="365760" y="5510784"/>
            <a:ext cx="5486400" cy="877800"/>
          </a:xfrm>
          <a:prstGeom prst="rect">
            <a:avLst/>
          </a:prstGeom>
          <a:solidFill>
            <a:srgbClr val="F5F0E7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8e9c6296f_0_99"/>
          <p:cNvSpPr/>
          <p:nvPr/>
        </p:nvSpPr>
        <p:spPr>
          <a:xfrm>
            <a:off x="458985" y="5530857"/>
            <a:ext cx="524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on Gender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8e9c6296f_0_99"/>
          <p:cNvSpPr/>
          <p:nvPr/>
        </p:nvSpPr>
        <p:spPr>
          <a:xfrm>
            <a:off x="487675" y="5825006"/>
            <a:ext cx="52425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5200"/>
              </a:buClr>
              <a:buSzPts val="1200"/>
              <a:buFont typeface="Calibri"/>
              <a:buNone/>
            </a:pPr>
            <a:r>
              <a:rPr b="0" i="1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excluded from index — used as stratification variable and control in X_igt to avoid treating all women as uniformly vulnerable regardless of income or vehicle access.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8e9c6296f_0_99"/>
          <p:cNvSpPr/>
          <p:nvPr/>
        </p:nvSpPr>
        <p:spPr>
          <a:xfrm>
            <a:off x="6554540" y="1045883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700"/>
              <a:buFont typeface="Calibri"/>
              <a:buNone/>
            </a:pPr>
            <a:r>
              <a:rPr b="1" i="0" lang="en-IN" sz="1700" u="none" cap="none" strike="noStrik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Construction Method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8e9c6296f_0_99"/>
          <p:cNvSpPr txBox="1"/>
          <p:nvPr/>
        </p:nvSpPr>
        <p:spPr>
          <a:xfrm>
            <a:off x="6543000" y="1510200"/>
            <a:ext cx="5413200" cy="892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(Income +vehicle_ownership+disability 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elderly)</a:t>
            </a:r>
            <a:r>
              <a:rPr baseline="-25000"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8e9c6296f_0_99"/>
          <p:cNvSpPr txBox="1"/>
          <p:nvPr/>
        </p:nvSpPr>
        <p:spPr>
          <a:xfrm>
            <a:off x="6543000" y="2926099"/>
            <a:ext cx="5509500" cy="16623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Rationale for unweighted index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 importance to all dimensions.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credible and widely used composite indices in development policy use equal weights.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8e9c6296f_0_99"/>
          <p:cNvSpPr/>
          <p:nvPr/>
        </p:nvSpPr>
        <p:spPr>
          <a:xfrm>
            <a:off x="6629100" y="2255013"/>
            <a:ext cx="5337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FCC"/>
              </a:buClr>
              <a:buSzPts val="1200"/>
              <a:buFont typeface="Calibri"/>
              <a:buNone/>
            </a:pPr>
            <a:r>
              <a:rPr b="0" i="1" lang="en-I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Range: 0 (least vulnerable) → 1 (most vulnerable)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cc9b63667_2_53"/>
          <p:cNvSpPr txBox="1"/>
          <p:nvPr>
            <p:ph type="title"/>
          </p:nvPr>
        </p:nvSpPr>
        <p:spPr>
          <a:xfrm>
            <a:off x="395707" y="194428"/>
            <a:ext cx="112845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/>
              <a:t>Group A cities Study design and framework</a:t>
            </a:r>
            <a:endParaRPr sz="2100"/>
          </a:p>
        </p:txBody>
      </p:sp>
      <p:sp>
        <p:nvSpPr>
          <p:cNvPr id="433" name="Google Shape;433;g3ecc9b63667_2_53"/>
          <p:cNvSpPr txBox="1"/>
          <p:nvPr/>
        </p:nvSpPr>
        <p:spPr>
          <a:xfrm>
            <a:off x="395693" y="873025"/>
            <a:ext cx="11056200" cy="320100"/>
          </a:xfrm>
          <a:prstGeom prst="rect">
            <a:avLst/>
          </a:prstGeom>
          <a:solidFill>
            <a:srgbClr val="8CB7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I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 specification</a:t>
            </a:r>
            <a:r>
              <a:rPr lang="en-IN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N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estimated separately for each city)</a:t>
            </a:r>
            <a:endParaRPr i="0" sz="16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cc9b63667_2_53"/>
          <p:cNvSpPr txBox="1"/>
          <p:nvPr/>
        </p:nvSpPr>
        <p:spPr>
          <a:xfrm>
            <a:off x="395700" y="1193125"/>
            <a:ext cx="11056200" cy="1033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ecc9b63667_2_53"/>
          <p:cNvSpPr txBox="1"/>
          <p:nvPr/>
        </p:nvSpPr>
        <p:spPr>
          <a:xfrm>
            <a:off x="395700" y="4754775"/>
            <a:ext cx="11500800" cy="1317300"/>
          </a:xfrm>
          <a:prstGeom prst="rect">
            <a:avLst/>
          </a:prstGeom>
          <a:solidFill>
            <a:srgbClr val="F5F0E7"/>
          </a:solidFill>
          <a:ln cap="flat" cmpd="sng" w="9525">
            <a:solidFill>
              <a:srgbClr val="E857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52400" spcFirstLastPara="1" rIns="1524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ecc9b63667_2_53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-215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</a:pPr>
            <a:r>
              <a:rPr lang="en-IN" sz="1100"/>
              <a:t>Source:</a:t>
            </a:r>
            <a:endParaRPr sz="1300">
              <a:solidFill>
                <a:srgbClr val="036493"/>
              </a:solidFill>
            </a:endParaRPr>
          </a:p>
        </p:txBody>
      </p:sp>
      <p:sp>
        <p:nvSpPr>
          <p:cNvPr id="437" name="Google Shape;437;g3ecc9b63667_2_53"/>
          <p:cNvSpPr/>
          <p:nvPr/>
        </p:nvSpPr>
        <p:spPr>
          <a:xfrm>
            <a:off x="483669" y="1185625"/>
            <a:ext cx="110001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lang="en-I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 β₀  +  β₁(bus_access</a:t>
            </a:r>
            <a:r>
              <a:rPr b="0" baseline="-2500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+  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β₂(VI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baseline="-2500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+  β₃(bus_access</a:t>
            </a:r>
            <a:r>
              <a:rPr b="0" baseline="-2500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× VI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1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1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aseline="-25000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>
                <a:solidFill>
                  <a:schemeClr val="dk1"/>
                </a:solidFill>
              </a:rPr>
              <a:t>Γ</a:t>
            </a:r>
            <a:r>
              <a:rPr baseline="-25000" lang="en-IN">
                <a:solidFill>
                  <a:schemeClr val="dk1"/>
                </a:solidFill>
              </a:rPr>
              <a:t>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b="0" lang="en-I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cc9b63667_2_53"/>
          <p:cNvSpPr/>
          <p:nvPr/>
        </p:nvSpPr>
        <p:spPr>
          <a:xfrm>
            <a:off x="395695" y="2380501"/>
            <a:ext cx="3657600" cy="209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4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ecc9b63667_2_53"/>
          <p:cNvSpPr/>
          <p:nvPr/>
        </p:nvSpPr>
        <p:spPr>
          <a:xfrm>
            <a:off x="395695" y="2380501"/>
            <a:ext cx="3657600" cy="73200"/>
          </a:xfrm>
          <a:prstGeom prst="rect">
            <a:avLst/>
          </a:prstGeom>
          <a:solidFill>
            <a:srgbClr val="C4EEFF"/>
          </a:solidFill>
          <a:ln cap="flat" cmpd="sng" w="12700">
            <a:solidFill>
              <a:srgbClr val="C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ecc9b63667_2_53"/>
          <p:cNvSpPr txBox="1"/>
          <p:nvPr/>
        </p:nvSpPr>
        <p:spPr>
          <a:xfrm>
            <a:off x="483675" y="2526400"/>
            <a:ext cx="246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β₁  (bus_access)</a:t>
            </a:r>
            <a:endParaRPr b="1" sz="17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t/>
            </a:r>
            <a:endParaRPr b="1" sz="17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ecc9b63667_2_53"/>
          <p:cNvSpPr/>
          <p:nvPr/>
        </p:nvSpPr>
        <p:spPr>
          <a:xfrm>
            <a:off x="580075" y="2990500"/>
            <a:ext cx="3268800" cy="243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TREATMENT 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cc9b63667_2_53"/>
          <p:cNvSpPr/>
          <p:nvPr/>
        </p:nvSpPr>
        <p:spPr>
          <a:xfrm>
            <a:off x="579975" y="3307100"/>
            <a:ext cx="32688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IN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Average difference in outcome between individuals with bus access (≤500m) vs. without, for the reference group (VI = 0). Core policy number.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ecc9b63667_2_53"/>
          <p:cNvSpPr/>
          <p:nvPr/>
        </p:nvSpPr>
        <p:spPr>
          <a:xfrm>
            <a:off x="4384310" y="2380501"/>
            <a:ext cx="3657600" cy="209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6E4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cc9b63667_2_53"/>
          <p:cNvSpPr/>
          <p:nvPr/>
        </p:nvSpPr>
        <p:spPr>
          <a:xfrm>
            <a:off x="8238950" y="2380501"/>
            <a:ext cx="3657600" cy="209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4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ecc9b63667_2_53"/>
          <p:cNvSpPr/>
          <p:nvPr/>
        </p:nvSpPr>
        <p:spPr>
          <a:xfrm>
            <a:off x="4384310" y="2380501"/>
            <a:ext cx="3657600" cy="73200"/>
          </a:xfrm>
          <a:prstGeom prst="rect">
            <a:avLst/>
          </a:prstGeom>
          <a:solidFill>
            <a:srgbClr val="C4EEFF"/>
          </a:solidFill>
          <a:ln cap="flat" cmpd="sng" w="12700">
            <a:solidFill>
              <a:srgbClr val="C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cc9b63667_2_53"/>
          <p:cNvSpPr/>
          <p:nvPr/>
        </p:nvSpPr>
        <p:spPr>
          <a:xfrm>
            <a:off x="8238960" y="2380501"/>
            <a:ext cx="3657600" cy="73200"/>
          </a:xfrm>
          <a:prstGeom prst="rect">
            <a:avLst/>
          </a:prstGeom>
          <a:solidFill>
            <a:srgbClr val="C4EEFF"/>
          </a:solidFill>
          <a:ln cap="flat" cmpd="sng" w="12700">
            <a:solidFill>
              <a:srgbClr val="C4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cc9b63667_2_53"/>
          <p:cNvSpPr txBox="1"/>
          <p:nvPr/>
        </p:nvSpPr>
        <p:spPr>
          <a:xfrm>
            <a:off x="4566225" y="2526400"/>
            <a:ext cx="238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Calibri"/>
              <a:buNone/>
            </a:pPr>
            <a:r>
              <a:rPr b="1" lang="en-IN" sz="17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β₂  (VI)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cc9b63667_2_53"/>
          <p:cNvSpPr/>
          <p:nvPr/>
        </p:nvSpPr>
        <p:spPr>
          <a:xfrm>
            <a:off x="8315104" y="2526412"/>
            <a:ext cx="3365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Calibri"/>
              <a:buNone/>
            </a:pPr>
            <a:r>
              <a:rPr b="1" i="0" lang="en-IN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β₃  (bus_access × VI)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ecc9b63667_2_53"/>
          <p:cNvSpPr txBox="1"/>
          <p:nvPr/>
        </p:nvSpPr>
        <p:spPr>
          <a:xfrm>
            <a:off x="4524225" y="3265075"/>
            <a:ext cx="342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IN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Effect of being more vulnerable on the outcome, independent of bus access. Captures baseline disadvantage of VRUs.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cc9b63667_2_53"/>
          <p:cNvSpPr/>
          <p:nvPr/>
        </p:nvSpPr>
        <p:spPr>
          <a:xfrm>
            <a:off x="4555864" y="2990490"/>
            <a:ext cx="3365100" cy="243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000"/>
              <a:buFont typeface="Calibri"/>
              <a:buNone/>
            </a:pPr>
            <a:r>
              <a:rPr b="1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VULNERABILITY MAIN 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cc9b63667_2_53"/>
          <p:cNvSpPr/>
          <p:nvPr/>
        </p:nvSpPr>
        <p:spPr>
          <a:xfrm>
            <a:off x="8372904" y="2964790"/>
            <a:ext cx="3365100" cy="243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GBA+ EQUITY COEFFICIENT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cc9b63667_2_53"/>
          <p:cNvSpPr txBox="1"/>
          <p:nvPr/>
        </p:nvSpPr>
        <p:spPr>
          <a:xfrm>
            <a:off x="8372900" y="3330850"/>
            <a:ext cx="336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IN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Differential benefit of bus access for more vulnerable individuals. Significant positive β₃ is the core equity argument for bus investment.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cc9b63667_2_53"/>
          <p:cNvSpPr/>
          <p:nvPr/>
        </p:nvSpPr>
        <p:spPr>
          <a:xfrm>
            <a:off x="483674" y="4813622"/>
            <a:ext cx="195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1" i="0" lang="en-IN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CONTROLS INCLUDED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cc9b63667_2_53"/>
          <p:cNvSpPr/>
          <p:nvPr/>
        </p:nvSpPr>
        <p:spPr>
          <a:xfrm>
            <a:off x="498299" y="5127337"/>
            <a:ext cx="10851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I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I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Individual:  household size,gender,marital status</a:t>
            </a:r>
            <a:r>
              <a:rPr lang="en-IN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cc9b63667_2_53"/>
          <p:cNvSpPr/>
          <p:nvPr/>
        </p:nvSpPr>
        <p:spPr>
          <a:xfrm>
            <a:off x="498299" y="5331963"/>
            <a:ext cx="10851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I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I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Trip: commute distance</a:t>
            </a:r>
            <a:r>
              <a:rPr lang="en-IN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cc9b63667_2_53"/>
          <p:cNvSpPr/>
          <p:nvPr/>
        </p:nvSpPr>
        <p:spPr>
          <a:xfrm>
            <a:off x="498299" y="5536614"/>
            <a:ext cx="10851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I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I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Neighbourhood: </a:t>
            </a:r>
            <a:r>
              <a:rPr lang="en-IN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population density, ward-level bus supply</a:t>
            </a:r>
            <a:r>
              <a:rPr lang="en-IN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cc9b63667_2_53"/>
          <p:cNvSpPr txBox="1"/>
          <p:nvPr/>
        </p:nvSpPr>
        <p:spPr>
          <a:xfrm>
            <a:off x="483675" y="5726513"/>
            <a:ext cx="6676200" cy="338700"/>
          </a:xfrm>
          <a:prstGeom prst="rect">
            <a:avLst/>
          </a:prstGeom>
          <a:solidFill>
            <a:srgbClr val="F5F0E7"/>
          </a:solidFill>
          <a:ln cap="flat" cmpd="sng" w="9525">
            <a:solidFill>
              <a:srgbClr val="F5F0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*have not finalised on controls more can be added or </a:t>
            </a: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one omitted.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cc9b63667_2_53"/>
          <p:cNvSpPr/>
          <p:nvPr/>
        </p:nvSpPr>
        <p:spPr>
          <a:xfrm>
            <a:off x="543845" y="4782777"/>
            <a:ext cx="11338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cc9b63667_2_63"/>
          <p:cNvSpPr txBox="1"/>
          <p:nvPr>
            <p:ph type="title"/>
          </p:nvPr>
        </p:nvSpPr>
        <p:spPr>
          <a:xfrm>
            <a:off x="490555" y="289828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200"/>
              <a:t>Group B cities study design and framework</a:t>
            </a:r>
            <a:endParaRPr sz="2200"/>
          </a:p>
        </p:txBody>
      </p:sp>
      <p:sp>
        <p:nvSpPr>
          <p:cNvPr id="464" name="Google Shape;464;g3ecc9b63667_2_63"/>
          <p:cNvSpPr txBox="1"/>
          <p:nvPr>
            <p:ph idx="2" type="body"/>
          </p:nvPr>
        </p:nvSpPr>
        <p:spPr>
          <a:xfrm>
            <a:off x="395707" y="6475388"/>
            <a:ext cx="9740800" cy="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465" name="Google Shape;465;g3ecc9b63667_2_63"/>
          <p:cNvSpPr txBox="1"/>
          <p:nvPr/>
        </p:nvSpPr>
        <p:spPr>
          <a:xfrm>
            <a:off x="9385900" y="2116667"/>
            <a:ext cx="28304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cc9b63667_2_63"/>
          <p:cNvSpPr txBox="1"/>
          <p:nvPr/>
        </p:nvSpPr>
        <p:spPr>
          <a:xfrm>
            <a:off x="395700" y="908100"/>
            <a:ext cx="11094900" cy="35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IN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Regression Specification</a:t>
            </a:r>
            <a:endParaRPr b="1" i="0" sz="16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ecc9b63667_2_63"/>
          <p:cNvSpPr/>
          <p:nvPr/>
        </p:nvSpPr>
        <p:spPr>
          <a:xfrm>
            <a:off x="395700" y="1260325"/>
            <a:ext cx="11094900" cy="9387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ijt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 β₀ + β₁(bus_access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(bus_access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× post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(bus_access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× VI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× post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ijt</a:t>
            </a:r>
            <a:r>
              <a:rPr i="1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β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IN">
                <a:solidFill>
                  <a:schemeClr val="dk1"/>
                </a:solidFill>
              </a:rPr>
              <a:t>Γ</a:t>
            </a:r>
            <a:r>
              <a:rPr baseline="-25000" lang="en-IN">
                <a:solidFill>
                  <a:schemeClr val="dk1"/>
                </a:solidFill>
              </a:rPr>
              <a:t>j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λ</a:t>
            </a:r>
            <a:r>
              <a:rPr baseline="-25000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+ε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ecc9b63667_2_63"/>
          <p:cNvSpPr/>
          <p:nvPr/>
        </p:nvSpPr>
        <p:spPr>
          <a:xfrm>
            <a:off x="4340367" y="5821633"/>
            <a:ext cx="6668000" cy="51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1C19"/>
              </a:buClr>
              <a:buSzPts val="13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ecc9b63667_2_63"/>
          <p:cNvSpPr/>
          <p:nvPr/>
        </p:nvSpPr>
        <p:spPr>
          <a:xfrm>
            <a:off x="395710" y="2375420"/>
            <a:ext cx="6705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700"/>
              <a:buFont typeface="Calibri"/>
              <a:buNone/>
            </a:pPr>
            <a:r>
              <a:rPr b="1" i="0" lang="en-I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2×2 Difference-in-Differences Structure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cc9b63667_2_63"/>
          <p:cNvSpPr/>
          <p:nvPr/>
        </p:nvSpPr>
        <p:spPr>
          <a:xfrm>
            <a:off x="362250" y="2941822"/>
            <a:ext cx="1813800" cy="440400"/>
          </a:xfrm>
          <a:prstGeom prst="rect">
            <a:avLst/>
          </a:prstGeom>
          <a:solidFill>
            <a:srgbClr val="C4EEFF"/>
          </a:solidFill>
          <a:ln cap="flat" cmpd="sng" w="12700">
            <a:solidFill>
              <a:srgbClr val="0F2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cc9b63667_2_63"/>
          <p:cNvSpPr/>
          <p:nvPr/>
        </p:nvSpPr>
        <p:spPr>
          <a:xfrm>
            <a:off x="2280600" y="2938750"/>
            <a:ext cx="1813800" cy="440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1 (Pre)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ecc9b63667_2_63"/>
          <p:cNvSpPr/>
          <p:nvPr/>
        </p:nvSpPr>
        <p:spPr>
          <a:xfrm>
            <a:off x="4332700" y="2941825"/>
            <a:ext cx="1813800" cy="44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2 (Post)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ecc9b63667_2_63"/>
          <p:cNvSpPr/>
          <p:nvPr/>
        </p:nvSpPr>
        <p:spPr>
          <a:xfrm>
            <a:off x="362250" y="3534525"/>
            <a:ext cx="1813800" cy="390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Treatment Zone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(Bus Access)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cc9b63667_2_63"/>
          <p:cNvSpPr/>
          <p:nvPr/>
        </p:nvSpPr>
        <p:spPr>
          <a:xfrm>
            <a:off x="2280600" y="3509964"/>
            <a:ext cx="1813800" cy="44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Baseline (A)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cc9b63667_2_63"/>
          <p:cNvSpPr/>
          <p:nvPr/>
        </p:nvSpPr>
        <p:spPr>
          <a:xfrm>
            <a:off x="4340375" y="3497363"/>
            <a:ext cx="1813800" cy="440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6E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0D7A6E"/>
                </a:solidFill>
                <a:latin typeface="Calibri"/>
                <a:ea typeface="Calibri"/>
                <a:cs typeface="Calibri"/>
                <a:sym typeface="Calibri"/>
              </a:rPr>
              <a:t>Endline (B)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ecc9b63667_2_63"/>
          <p:cNvSpPr/>
          <p:nvPr/>
        </p:nvSpPr>
        <p:spPr>
          <a:xfrm>
            <a:off x="362250" y="4099525"/>
            <a:ext cx="1813800" cy="440400"/>
          </a:xfrm>
          <a:prstGeom prst="rect">
            <a:avLst/>
          </a:prstGeom>
          <a:solidFill>
            <a:srgbClr val="86BB3F"/>
          </a:solidFill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Zone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(No Bus Access)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cc9b63667_2_63"/>
          <p:cNvSpPr/>
          <p:nvPr/>
        </p:nvSpPr>
        <p:spPr>
          <a:xfrm>
            <a:off x="2280600" y="4081174"/>
            <a:ext cx="1813800" cy="440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Baseline (C)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cc9b63667_2_63"/>
          <p:cNvSpPr/>
          <p:nvPr/>
        </p:nvSpPr>
        <p:spPr>
          <a:xfrm>
            <a:off x="4340375" y="4073325"/>
            <a:ext cx="1813800" cy="440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Endline (D)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cc9b63667_2_63"/>
          <p:cNvSpPr/>
          <p:nvPr/>
        </p:nvSpPr>
        <p:spPr>
          <a:xfrm>
            <a:off x="395701" y="4935750"/>
            <a:ext cx="5903100" cy="633900"/>
          </a:xfrm>
          <a:prstGeom prst="rect">
            <a:avLst/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cc9b63667_2_63"/>
          <p:cNvSpPr/>
          <p:nvPr/>
        </p:nvSpPr>
        <p:spPr>
          <a:xfrm>
            <a:off x="149400" y="4895938"/>
            <a:ext cx="6076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75" lIns="33875" spcFirstLastPara="1" rIns="33875" wrap="square" tIns="3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C5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0F2C59"/>
                </a:solidFill>
                <a:latin typeface="Calibri"/>
                <a:ea typeface="Calibri"/>
                <a:cs typeface="Calibri"/>
                <a:sym typeface="Calibri"/>
              </a:rPr>
              <a:t>DiD Estimator = (B − A) − (D − 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cc9b63667_2_63"/>
          <p:cNvSpPr/>
          <p:nvPr/>
        </p:nvSpPr>
        <p:spPr>
          <a:xfrm>
            <a:off x="395710" y="5445290"/>
            <a:ext cx="6583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Treatment: within 500m GIS walkshed of planned bus stop/route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i="0" lang="en-I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Control: beyond 500m, matched on baseline income, density &amp; infrastructure</a:t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2" name="Google Shape;482;g3ecc9b63667_2_63"/>
          <p:cNvGraphicFramePr/>
          <p:nvPr/>
        </p:nvGraphicFramePr>
        <p:xfrm>
          <a:off x="6643575" y="282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1972000"/>
                <a:gridCol w="1646750"/>
                <a:gridCol w="1646725"/>
              </a:tblGrid>
              <a:tr h="55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Notation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Definition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Role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A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BusAccess_j × Post_t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4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>
                          <a:solidFill>
                            <a:srgbClr val="1A2E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 interaction term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52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β₂ = average treatment effect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A6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BusAccess_j × Post_t × VI_ij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44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>
                          <a:solidFill>
                            <a:srgbClr val="1A2E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Triple interaction with vulnerability index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52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β₃ = heterogeneous treatment effect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483" name="Google Shape;483;g3ecc9b63667_2_63"/>
          <p:cNvCxnSpPr/>
          <p:nvPr/>
        </p:nvCxnSpPr>
        <p:spPr>
          <a:xfrm>
            <a:off x="6513675" y="2653763"/>
            <a:ext cx="19200" cy="336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4" name="Google Shape;484;g3ecc9b63667_2_63"/>
          <p:cNvSpPr txBox="1"/>
          <p:nvPr/>
        </p:nvSpPr>
        <p:spPr>
          <a:xfrm>
            <a:off x="6643575" y="4610775"/>
            <a:ext cx="5265600" cy="1477500"/>
          </a:xfrm>
          <a:prstGeom prst="rect">
            <a:avLst/>
          </a:prstGeom>
          <a:noFill/>
          <a:ln cap="flat" cmpd="sng" w="9525">
            <a:solidFill>
              <a:srgbClr val="E857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</a:rPr>
              <a:t>parallel trends assumption</a:t>
            </a:r>
            <a:r>
              <a:rPr lang="en-IN">
                <a:solidFill>
                  <a:schemeClr val="dk1"/>
                </a:solidFill>
              </a:rPr>
              <a:t> is the core identifying assumption in difference-in-differences (DiD) estimation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IN">
                <a:solidFill>
                  <a:schemeClr val="dk1"/>
                </a:solidFill>
              </a:rPr>
              <a:t>Since only one pre-deployment wave is collected, the parallel trends assumption cannot be tested statistically. Will be acknowledged as a limitation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c75cc9b34_0_8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MECC</a:t>
            </a:r>
            <a:r>
              <a:rPr lang="en-IN" sz="2200">
                <a:solidFill>
                  <a:schemeClr val="accent1"/>
                </a:solidFill>
              </a:rPr>
              <a:t>× ΔVKT </a:t>
            </a:r>
            <a:r>
              <a:rPr lang="en-IN" sz="2200"/>
              <a:t>  Framework for decongestion benefits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(Marginal external congestion cost)</a:t>
            </a:r>
            <a:endParaRPr sz="1600"/>
          </a:p>
        </p:txBody>
      </p:sp>
      <p:sp>
        <p:nvSpPr>
          <p:cNvPr id="491" name="Google Shape;491;g3ec75cc9b34_0_8"/>
          <p:cNvSpPr txBox="1"/>
          <p:nvPr>
            <p:ph idx="2" type="body"/>
          </p:nvPr>
        </p:nvSpPr>
        <p:spPr>
          <a:xfrm>
            <a:off x="395707" y="6319282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IN"/>
              <a:t>Source: </a:t>
            </a:r>
            <a:r>
              <a:rPr i="1" lang="en-IN" sz="1000">
                <a:solidFill>
                  <a:schemeClr val="dk1"/>
                </a:solidFill>
              </a:rPr>
              <a:t>Walters (1961)  ·  Small &amp; Verhoef (2007)  ·  Sen, Tiwari &amp; Upadhyay (2010)  ·  Marginal External Congestion Cost (MECC) approach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92" name="Google Shape;492;g3ec75cc9b34_0_8"/>
          <p:cNvSpPr/>
          <p:nvPr/>
        </p:nvSpPr>
        <p:spPr>
          <a:xfrm>
            <a:off x="161400" y="2179182"/>
            <a:ext cx="2375700" cy="1773900"/>
          </a:xfrm>
          <a:prstGeom prst="rect">
            <a:avLst/>
          </a:prstGeom>
          <a:solidFill>
            <a:srgbClr val="D5E2D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ec75cc9b34_0_8"/>
          <p:cNvSpPr txBox="1"/>
          <p:nvPr/>
        </p:nvSpPr>
        <p:spPr>
          <a:xfrm>
            <a:off x="874200" y="1667400"/>
            <a:ext cx="104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ec75cc9b34_0_8"/>
          <p:cNvSpPr/>
          <p:nvPr/>
        </p:nvSpPr>
        <p:spPr>
          <a:xfrm>
            <a:off x="232349" y="2267712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2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Counterfactual mode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ec75cc9b34_0_8"/>
          <p:cNvSpPr/>
          <p:nvPr/>
        </p:nvSpPr>
        <p:spPr>
          <a:xfrm>
            <a:off x="232349" y="2490845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2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Trip length by vehicle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ec75cc9b34_0_8"/>
          <p:cNvSpPr/>
          <p:nvPr/>
        </p:nvSpPr>
        <p:spPr>
          <a:xfrm>
            <a:off x="232349" y="2714003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2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Vehicle occupancy by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ec75cc9b34_0_8"/>
          <p:cNvSpPr/>
          <p:nvPr/>
        </p:nvSpPr>
        <p:spPr>
          <a:xfrm>
            <a:off x="232349" y="2937161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ec75cc9b34_0_8"/>
          <p:cNvSpPr/>
          <p:nvPr/>
        </p:nvSpPr>
        <p:spPr>
          <a:xfrm>
            <a:off x="232349" y="3140237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1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Total daily ridership (AFCS / GCC logs)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ec75cc9b34_0_8"/>
          <p:cNvSpPr/>
          <p:nvPr/>
        </p:nvSpPr>
        <p:spPr>
          <a:xfrm>
            <a:off x="232349" y="2927116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2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Route and network length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ec75cc9b34_0_8"/>
          <p:cNvSpPr/>
          <p:nvPr/>
        </p:nvSpPr>
        <p:spPr>
          <a:xfrm>
            <a:off x="232349" y="3342476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1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IRC:106 PCE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ec75cc9b34_0_8"/>
          <p:cNvSpPr/>
          <p:nvPr/>
        </p:nvSpPr>
        <p:spPr>
          <a:xfrm>
            <a:off x="232349" y="3547440"/>
            <a:ext cx="312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5041"/>
              </a:buClr>
              <a:buSzPts val="900"/>
              <a:buFont typeface="Calibri"/>
              <a:buNone/>
            </a:pPr>
            <a:r>
              <a:rPr b="0" i="0" lang="en-IN" sz="1200" u="none" cap="none" strike="noStrike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· MECC</a:t>
            </a:r>
            <a:r>
              <a:rPr lang="en-IN" sz="1200">
                <a:solidFill>
                  <a:srgbClr val="085041"/>
                </a:solidFill>
                <a:latin typeface="Calibri"/>
                <a:ea typeface="Calibri"/>
                <a:cs typeface="Calibri"/>
                <a:sym typeface="Calibri"/>
              </a:rPr>
              <a:t>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g3ec75cc9b34_0_8"/>
          <p:cNvCxnSpPr/>
          <p:nvPr/>
        </p:nvCxnSpPr>
        <p:spPr>
          <a:xfrm>
            <a:off x="2598500" y="3231713"/>
            <a:ext cx="175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g3ec75cc9b34_0_8"/>
          <p:cNvSpPr/>
          <p:nvPr/>
        </p:nvSpPr>
        <p:spPr>
          <a:xfrm>
            <a:off x="4428575" y="932328"/>
            <a:ext cx="2537100" cy="914400"/>
          </a:xfrm>
          <a:prstGeom prst="roundRect">
            <a:avLst>
              <a:gd fmla="val 16667" name="adj"/>
            </a:avLst>
          </a:prstGeom>
          <a:solidFill>
            <a:srgbClr val="B8D4F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c75cc9b34_0_8"/>
          <p:cNvSpPr/>
          <p:nvPr/>
        </p:nvSpPr>
        <p:spPr>
          <a:xfrm>
            <a:off x="4428575" y="2267699"/>
            <a:ext cx="2537100" cy="914400"/>
          </a:xfrm>
          <a:prstGeom prst="roundRect">
            <a:avLst>
              <a:gd fmla="val 16667" name="adj"/>
            </a:avLst>
          </a:prstGeom>
          <a:solidFill>
            <a:srgbClr val="B8D4F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ec75cc9b34_0_8"/>
          <p:cNvSpPr/>
          <p:nvPr/>
        </p:nvSpPr>
        <p:spPr>
          <a:xfrm>
            <a:off x="4428575" y="3603075"/>
            <a:ext cx="2537100" cy="914400"/>
          </a:xfrm>
          <a:prstGeom prst="roundRect">
            <a:avLst>
              <a:gd fmla="val 16667" name="adj"/>
            </a:avLst>
          </a:prstGeom>
          <a:solidFill>
            <a:srgbClr val="B8D4F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ec75cc9b34_0_8"/>
          <p:cNvSpPr/>
          <p:nvPr/>
        </p:nvSpPr>
        <p:spPr>
          <a:xfrm>
            <a:off x="4428575" y="4938450"/>
            <a:ext cx="2537100" cy="914400"/>
          </a:xfrm>
          <a:prstGeom prst="roundRect">
            <a:avLst>
              <a:gd fmla="val 16667" name="adj"/>
            </a:avLst>
          </a:prstGeom>
          <a:solidFill>
            <a:srgbClr val="B8D4F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c75cc9b34_0_8"/>
          <p:cNvSpPr/>
          <p:nvPr/>
        </p:nvSpPr>
        <p:spPr>
          <a:xfrm>
            <a:off x="4490071" y="988526"/>
            <a:ext cx="241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050"/>
              <a:buFont typeface="Calibri"/>
              <a:buNone/>
            </a:pPr>
            <a:r>
              <a:rPr b="1" i="0" lang="en-I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 — </a:t>
            </a:r>
            <a:r>
              <a:rPr b="1" lang="en-IN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diverted trips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c75cc9b34_0_8"/>
          <p:cNvSpPr/>
          <p:nvPr/>
        </p:nvSpPr>
        <p:spPr>
          <a:xfrm>
            <a:off x="4490071" y="1288871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share off car or two-wheeler or private vehicles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c75cc9b34_0_8"/>
          <p:cNvSpPr/>
          <p:nvPr/>
        </p:nvSpPr>
        <p:spPr>
          <a:xfrm>
            <a:off x="4490071" y="1554346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Diverted</a:t>
            </a: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trips = total ridership × 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c75cc9b34_0_8"/>
          <p:cNvSpPr/>
          <p:nvPr/>
        </p:nvSpPr>
        <p:spPr>
          <a:xfrm>
            <a:off x="4551575" y="2358426"/>
            <a:ext cx="241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050"/>
              <a:buFont typeface="Calibri"/>
              <a:buNone/>
            </a:pPr>
            <a:r>
              <a:rPr b="1" i="0" lang="en-I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 — gross VKT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g3ec75cc9b34_0_8"/>
          <p:cNvCxnSpPr>
            <a:stCxn id="503" idx="2"/>
            <a:endCxn id="504" idx="0"/>
          </p:cNvCxnSpPr>
          <p:nvPr/>
        </p:nvCxnSpPr>
        <p:spPr>
          <a:xfrm>
            <a:off x="5697125" y="1846728"/>
            <a:ext cx="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g3ec75cc9b34_0_8"/>
          <p:cNvCxnSpPr>
            <a:stCxn id="504" idx="2"/>
            <a:endCxn id="505" idx="0"/>
          </p:cNvCxnSpPr>
          <p:nvPr/>
        </p:nvCxnSpPr>
        <p:spPr>
          <a:xfrm>
            <a:off x="5697125" y="3182099"/>
            <a:ext cx="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g3ec75cc9b34_0_8"/>
          <p:cNvCxnSpPr>
            <a:stCxn id="505" idx="2"/>
            <a:endCxn id="506" idx="0"/>
          </p:cNvCxnSpPr>
          <p:nvPr/>
        </p:nvCxnSpPr>
        <p:spPr>
          <a:xfrm>
            <a:off x="5697125" y="4517475"/>
            <a:ext cx="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g3ec75cc9b34_0_8"/>
          <p:cNvSpPr/>
          <p:nvPr/>
        </p:nvSpPr>
        <p:spPr>
          <a:xfrm>
            <a:off x="4490075" y="2624209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Diverted trips ÷ avera</a:t>
            </a: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 vehicle </a:t>
            </a: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occupancy)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ec75cc9b34_0_8"/>
          <p:cNvSpPr/>
          <p:nvPr/>
        </p:nvSpPr>
        <p:spPr>
          <a:xfrm>
            <a:off x="4490075" y="2788402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× average trip length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ec75cc9b34_0_8"/>
          <p:cNvSpPr/>
          <p:nvPr/>
        </p:nvSpPr>
        <p:spPr>
          <a:xfrm>
            <a:off x="4551579" y="3634776"/>
            <a:ext cx="241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050"/>
              <a:buFont typeface="Calibri"/>
              <a:buNone/>
            </a:pPr>
            <a:r>
              <a:rPr b="1" i="0" lang="en-I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 — net PCE-km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c75cc9b34_0_8"/>
          <p:cNvSpPr/>
          <p:nvPr/>
        </p:nvSpPr>
        <p:spPr>
          <a:xfrm>
            <a:off x="4551579" y="4001421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VKT × IRC:106 PCE factor</a:t>
            </a:r>
            <a:r>
              <a:rPr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total bus PCE-km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ec75cc9b34_0_8"/>
          <p:cNvSpPr/>
          <p:nvPr/>
        </p:nvSpPr>
        <p:spPr>
          <a:xfrm>
            <a:off x="4551583" y="5022051"/>
            <a:ext cx="241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050"/>
              <a:buFont typeface="Calibri"/>
              <a:buNone/>
            </a:pPr>
            <a:r>
              <a:rPr b="1" i="0" lang="en-IN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4 — monetise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ec75cc9b34_0_8"/>
          <p:cNvSpPr/>
          <p:nvPr/>
        </p:nvSpPr>
        <p:spPr>
          <a:xfrm>
            <a:off x="4551583" y="5395796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b="0" i="0" lang="en-I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PCE-km × 365 × MECC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ec75cc9b34_0_8"/>
          <p:cNvSpPr txBox="1"/>
          <p:nvPr/>
        </p:nvSpPr>
        <p:spPr>
          <a:xfrm>
            <a:off x="4419598" y="2875925"/>
            <a:ext cx="253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*Calculated </a:t>
            </a:r>
            <a:r>
              <a:rPr i="1"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separately</a:t>
            </a:r>
            <a:r>
              <a:rPr i="1"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each vehicle type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ec75cc9b34_0_8"/>
          <p:cNvSpPr/>
          <p:nvPr/>
        </p:nvSpPr>
        <p:spPr>
          <a:xfrm>
            <a:off x="9090225" y="725225"/>
            <a:ext cx="2375700" cy="2150700"/>
          </a:xfrm>
          <a:prstGeom prst="rect">
            <a:avLst/>
          </a:prstGeom>
          <a:solidFill>
            <a:srgbClr val="C4EE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ec75cc9b34_0_8"/>
          <p:cNvSpPr/>
          <p:nvPr/>
        </p:nvSpPr>
        <p:spPr>
          <a:xfrm>
            <a:off x="9126100" y="3528450"/>
            <a:ext cx="2375700" cy="2150700"/>
          </a:xfrm>
          <a:prstGeom prst="rect">
            <a:avLst/>
          </a:prstGeom>
          <a:solidFill>
            <a:srgbClr val="C4EE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g3ec75cc9b34_0_8"/>
          <p:cNvCxnSpPr/>
          <p:nvPr/>
        </p:nvCxnSpPr>
        <p:spPr>
          <a:xfrm>
            <a:off x="7135900" y="3218325"/>
            <a:ext cx="14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g3ec75cc9b34_0_8"/>
          <p:cNvCxnSpPr/>
          <p:nvPr/>
        </p:nvCxnSpPr>
        <p:spPr>
          <a:xfrm>
            <a:off x="8641975" y="3218325"/>
            <a:ext cx="9000" cy="14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g3ec75cc9b34_0_8"/>
          <p:cNvCxnSpPr/>
          <p:nvPr/>
        </p:nvCxnSpPr>
        <p:spPr>
          <a:xfrm>
            <a:off x="8632865" y="1802025"/>
            <a:ext cx="9000" cy="14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g3ec75cc9b34_0_8"/>
          <p:cNvCxnSpPr/>
          <p:nvPr/>
        </p:nvCxnSpPr>
        <p:spPr>
          <a:xfrm flipH="1" rot="10800000">
            <a:off x="8642060" y="1800575"/>
            <a:ext cx="439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g3ec75cc9b34_0_8"/>
          <p:cNvCxnSpPr/>
          <p:nvPr/>
        </p:nvCxnSpPr>
        <p:spPr>
          <a:xfrm flipH="1" rot="10800000">
            <a:off x="8659935" y="4621729"/>
            <a:ext cx="4572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g3ec75cc9b34_0_8"/>
          <p:cNvSpPr txBox="1"/>
          <p:nvPr/>
        </p:nvSpPr>
        <p:spPr>
          <a:xfrm>
            <a:off x="5039375" y="588300"/>
            <a:ext cx="186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ec75cc9b34_0_8"/>
          <p:cNvSpPr txBox="1"/>
          <p:nvPr/>
        </p:nvSpPr>
        <p:spPr>
          <a:xfrm>
            <a:off x="9798400" y="391375"/>
            <a:ext cx="21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ec75cc9b34_0_8"/>
          <p:cNvSpPr txBox="1"/>
          <p:nvPr/>
        </p:nvSpPr>
        <p:spPr>
          <a:xfrm>
            <a:off x="9126100" y="791575"/>
            <a:ext cx="24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 cities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ec75cc9b34_0_8"/>
          <p:cNvSpPr txBox="1"/>
          <p:nvPr/>
        </p:nvSpPr>
        <p:spPr>
          <a:xfrm>
            <a:off x="10058400" y="1855700"/>
            <a:ext cx="215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ec75cc9b34_0_8"/>
          <p:cNvSpPr/>
          <p:nvPr/>
        </p:nvSpPr>
        <p:spPr>
          <a:xfrm>
            <a:off x="6363683" y="5935596"/>
            <a:ext cx="2414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0"/>
              <a:buFont typeface="Calibri"/>
              <a:buNone/>
            </a:pPr>
            <a:r>
              <a:rPr lang="en-I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I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gives the decongestion benefits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g3ec75cc9b34_0_8"/>
          <p:cNvCxnSpPr>
            <a:stCxn id="532" idx="1"/>
            <a:endCxn id="506" idx="2"/>
          </p:cNvCxnSpPr>
          <p:nvPr/>
        </p:nvCxnSpPr>
        <p:spPr>
          <a:xfrm rot="10800000">
            <a:off x="5697083" y="5852946"/>
            <a:ext cx="666600" cy="183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g3ec75cc9b34_0_8"/>
          <p:cNvSpPr txBox="1"/>
          <p:nvPr/>
        </p:nvSpPr>
        <p:spPr>
          <a:xfrm>
            <a:off x="9179875" y="1170125"/>
            <a:ext cx="224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before/after study possible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Counterfactual from stated preference method.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ec75cc9b34_0_8"/>
          <p:cNvSpPr txBox="1"/>
          <p:nvPr/>
        </p:nvSpPr>
        <p:spPr>
          <a:xfrm>
            <a:off x="9179875" y="1994200"/>
            <a:ext cx="241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latin typeface="Calibri"/>
                <a:ea typeface="Calibri"/>
                <a:cs typeface="Calibri"/>
                <a:sym typeface="Calibri"/>
              </a:rPr>
              <a:t>Report as:  congestion cost currently averted by existing network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g3ec75cc9b34_0_8"/>
          <p:cNvCxnSpPr>
            <a:endCxn id="537" idx="1"/>
          </p:cNvCxnSpPr>
          <p:nvPr/>
        </p:nvCxnSpPr>
        <p:spPr>
          <a:xfrm flipH="1" rot="-5400000">
            <a:off x="136075" y="4229800"/>
            <a:ext cx="1314600" cy="29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g3ec75cc9b34_0_8"/>
          <p:cNvSpPr txBox="1"/>
          <p:nvPr/>
        </p:nvSpPr>
        <p:spPr>
          <a:xfrm>
            <a:off x="941275" y="4604050"/>
            <a:ext cx="2698500" cy="8619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can be imputed from </a:t>
            </a:r>
            <a:r>
              <a:rPr lang="en-I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lang="en-I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literature or can be calculated if we have data for current traffic volume and roads maximum capacity in PCE/hr for each city.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ec75cc9b34_0_8"/>
          <p:cNvSpPr txBox="1"/>
          <p:nvPr/>
        </p:nvSpPr>
        <p:spPr>
          <a:xfrm>
            <a:off x="9158725" y="3633488"/>
            <a:ext cx="24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 cities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ec75cc9b34_0_8"/>
          <p:cNvSpPr txBox="1"/>
          <p:nvPr/>
        </p:nvSpPr>
        <p:spPr>
          <a:xfrm>
            <a:off x="9239425" y="4111700"/>
            <a:ext cx="2295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 and post deployment survey gives clean counterfactual and causal estimates.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as:  causal reduction in congestion cost post-deployment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c75cc9b34_0_91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Agglomeration Economies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500"/>
              <a:t>Wider benefits of a transport system</a:t>
            </a:r>
            <a:endParaRPr b="0" sz="1500"/>
          </a:p>
        </p:txBody>
      </p:sp>
      <p:sp>
        <p:nvSpPr>
          <p:cNvPr id="546" name="Google Shape;546;g3ec75cc9b34_0_91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IN"/>
              <a:t>Source: </a:t>
            </a:r>
            <a:r>
              <a:rPr i="1" lang="en-IN">
                <a:solidFill>
                  <a:srgbClr val="8A8A85"/>
                </a:solidFill>
              </a:rPr>
              <a:t> </a:t>
            </a:r>
            <a:r>
              <a:rPr i="1" lang="en-IN">
                <a:solidFill>
                  <a:schemeClr val="dk1"/>
                </a:solidFill>
              </a:rPr>
              <a:t>Duranton &amp; Puga (2004) — Micro-foundations of urban agglomeration economies. Channels first formalised by Marshall (1890).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7" name="Google Shape;547;g3ec75cc9b34_0_91"/>
          <p:cNvSpPr/>
          <p:nvPr/>
        </p:nvSpPr>
        <p:spPr>
          <a:xfrm>
            <a:off x="395705" y="901845"/>
            <a:ext cx="112167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600"/>
              <a:buFont typeface="Calibri"/>
              <a:buNone/>
            </a:pP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When a transport network improves, workers can reach more jobs and firms can draw on a larger labour pool within a given commute budget. </a:t>
            </a:r>
            <a:endParaRPr b="0" i="0" sz="1600" u="none" cap="none" strike="noStrike">
              <a:solidFill>
                <a:srgbClr val="3D3D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600"/>
              <a:buFont typeface="Calibri"/>
              <a:buNone/>
            </a:pP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The effective economic size of the city rises — and denser effective labour markets are more productive. This productivity gain is over and above the direct travel-time savings already captured by standard cost-benefit analysis.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ec75cc9b34_0_91"/>
          <p:cNvSpPr/>
          <p:nvPr/>
        </p:nvSpPr>
        <p:spPr>
          <a:xfrm>
            <a:off x="475175" y="2386270"/>
            <a:ext cx="731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2E"/>
              </a:buClr>
              <a:buSzPts val="2900"/>
              <a:buFont typeface="Cambria"/>
              <a:buNone/>
            </a:pPr>
            <a:r>
              <a:rPr b="1" i="0" lang="en-IN" sz="2000" u="none" cap="none" strike="noStrike">
                <a:solidFill>
                  <a:srgbClr val="C97B2E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ec75cc9b34_0_91"/>
          <p:cNvSpPr/>
          <p:nvPr/>
        </p:nvSpPr>
        <p:spPr>
          <a:xfrm>
            <a:off x="171575" y="2495200"/>
            <a:ext cx="3596700" cy="2080800"/>
          </a:xfrm>
          <a:prstGeom prst="rect">
            <a:avLst/>
          </a:prstGeom>
          <a:solidFill>
            <a:srgbClr val="C4EE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c75cc9b34_0_91"/>
          <p:cNvSpPr/>
          <p:nvPr/>
        </p:nvSpPr>
        <p:spPr>
          <a:xfrm>
            <a:off x="4284850" y="2495200"/>
            <a:ext cx="3596700" cy="2080800"/>
          </a:xfrm>
          <a:prstGeom prst="rect">
            <a:avLst/>
          </a:prstGeom>
          <a:solidFill>
            <a:srgbClr val="F3967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ec75cc9b34_0_91"/>
          <p:cNvSpPr/>
          <p:nvPr/>
        </p:nvSpPr>
        <p:spPr>
          <a:xfrm>
            <a:off x="8398125" y="2495200"/>
            <a:ext cx="3596700" cy="20808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ec75cc9b34_0_91"/>
          <p:cNvSpPr/>
          <p:nvPr/>
        </p:nvSpPr>
        <p:spPr>
          <a:xfrm>
            <a:off x="233075" y="2529699"/>
            <a:ext cx="731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2E"/>
              </a:buClr>
              <a:buSzPts val="2900"/>
              <a:buFont typeface="Cambria"/>
              <a:buNone/>
            </a:pPr>
            <a:r>
              <a:rPr b="1" i="0" lang="en-IN" sz="21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ec75cc9b34_0_91"/>
          <p:cNvSpPr/>
          <p:nvPr/>
        </p:nvSpPr>
        <p:spPr>
          <a:xfrm>
            <a:off x="475175" y="3304340"/>
            <a:ext cx="31089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Calibri"/>
              <a:buNone/>
            </a:pPr>
            <a:r>
              <a:rPr b="0" i="0" lang="en-IN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Larger talent pools and customer bases improve worker–firm fit. Higher output at the same hours and capital.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ec75cc9b34_0_91"/>
          <p:cNvSpPr/>
          <p:nvPr/>
        </p:nvSpPr>
        <p:spPr>
          <a:xfrm>
            <a:off x="551775" y="2816550"/>
            <a:ext cx="310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mbria"/>
              <a:buNone/>
            </a:pPr>
            <a:r>
              <a:rPr b="1" i="0" lang="en-IN" sz="20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Matching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ec75cc9b34_0_91"/>
          <p:cNvSpPr/>
          <p:nvPr/>
        </p:nvSpPr>
        <p:spPr>
          <a:xfrm>
            <a:off x="4655386" y="2816560"/>
            <a:ext cx="310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mbria"/>
              <a:buNone/>
            </a:pPr>
            <a:r>
              <a:rPr b="1" i="0" lang="en-IN" sz="20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Knowledge spillovers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ec75cc9b34_0_91"/>
          <p:cNvSpPr/>
          <p:nvPr/>
        </p:nvSpPr>
        <p:spPr>
          <a:xfrm>
            <a:off x="4617085" y="3304339"/>
            <a:ext cx="31089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Calibri"/>
              <a:buNone/>
            </a:pPr>
            <a:r>
              <a:rPr b="0" i="0" lang="en-IN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Ideas, skills and technologies diffuse faster at higher density. Firms in dense areas innovate more.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ec75cc9b34_0_91"/>
          <p:cNvSpPr/>
          <p:nvPr/>
        </p:nvSpPr>
        <p:spPr>
          <a:xfrm>
            <a:off x="4333724" y="2556530"/>
            <a:ext cx="731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2E"/>
              </a:buClr>
              <a:buSzPts val="2900"/>
              <a:buFont typeface="Cambria"/>
              <a:buNone/>
            </a:pPr>
            <a:r>
              <a:rPr b="1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ec75cc9b34_0_91"/>
          <p:cNvSpPr/>
          <p:nvPr/>
        </p:nvSpPr>
        <p:spPr>
          <a:xfrm>
            <a:off x="8796175" y="2771731"/>
            <a:ext cx="310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mbria"/>
              <a:buNone/>
            </a:pPr>
            <a:r>
              <a:rPr b="1" i="0" lang="en-IN" sz="20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Input sharing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ec75cc9b34_0_91"/>
          <p:cNvSpPr/>
          <p:nvPr/>
        </p:nvSpPr>
        <p:spPr>
          <a:xfrm>
            <a:off x="8459582" y="2484441"/>
            <a:ext cx="731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2E"/>
              </a:buClr>
              <a:buSzPts val="2900"/>
              <a:buFont typeface="Cambria"/>
              <a:buNone/>
            </a:pPr>
            <a:r>
              <a:rPr b="1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ec75cc9b34_0_91"/>
          <p:cNvSpPr/>
          <p:nvPr/>
        </p:nvSpPr>
        <p:spPr>
          <a:xfrm>
            <a:off x="8758975" y="3213862"/>
            <a:ext cx="31089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Calibri"/>
              <a:buNone/>
            </a:pPr>
            <a:r>
              <a:rPr b="0" i="0" lang="en-IN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Thicker markets support deeper firm specialisation. Lower per-unit costs of intermediate inputs and services.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ec75cc9b34_0_91"/>
          <p:cNvSpPr/>
          <p:nvPr/>
        </p:nvSpPr>
        <p:spPr>
          <a:xfrm>
            <a:off x="287996" y="4350150"/>
            <a:ext cx="9956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600"/>
              <a:buFont typeface="Calibri"/>
              <a:buNone/>
            </a:pP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Standard appraisal monetises individual travel-time savings (VTTS). Agglomeration is an externality — gains accrue to </a:t>
            </a: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firms and workers beyond the trip-m</a:t>
            </a: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aker, so it is reported separately as a </a:t>
            </a:r>
            <a:r>
              <a:rPr b="1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wider economic benefit (WEB)</a:t>
            </a:r>
            <a:r>
              <a:rPr b="0" i="0" lang="en-IN" sz="1600" u="none" cap="none" strike="noStrike">
                <a:solidFill>
                  <a:srgbClr val="3D3D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c75cc9b34_0_128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Agglomeration Economies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/>
              <a:t>Model Framework and parameters</a:t>
            </a:r>
            <a:endParaRPr b="0" sz="1600"/>
          </a:p>
        </p:txBody>
      </p:sp>
      <p:sp>
        <p:nvSpPr>
          <p:cNvPr id="568" name="Google Shape;568;g3ec75cc9b34_0_128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accent4"/>
                </a:solidFill>
              </a:rPr>
              <a:t>Source</a:t>
            </a:r>
            <a:r>
              <a:rPr lang="en-IN">
                <a:solidFill>
                  <a:schemeClr val="dk1"/>
                </a:solidFill>
              </a:rPr>
              <a:t>: Graham, D. J. (2007a), Venables, A. J. (2007), Chauvin, J. P., Glaeser, E., Ma, Y., &amp; Tobio, K. (2017)</a:t>
            </a:r>
            <a:endParaRPr/>
          </a:p>
        </p:txBody>
      </p:sp>
      <p:sp>
        <p:nvSpPr>
          <p:cNvPr id="569" name="Google Shape;569;g3ec75cc9b34_0_128"/>
          <p:cNvSpPr txBox="1"/>
          <p:nvPr/>
        </p:nvSpPr>
        <p:spPr>
          <a:xfrm>
            <a:off x="239352" y="792800"/>
            <a:ext cx="607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Graham-WEBTAG(2007)effective density approach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ec75cc9b34_0_128"/>
          <p:cNvSpPr/>
          <p:nvPr/>
        </p:nvSpPr>
        <p:spPr>
          <a:xfrm>
            <a:off x="297110" y="1933607"/>
            <a:ext cx="2621400" cy="3596700"/>
          </a:xfrm>
          <a:prstGeom prst="roundRect">
            <a:avLst>
              <a:gd fmla="val 3721" name="adj"/>
            </a:avLst>
          </a:prstGeom>
          <a:solidFill>
            <a:srgbClr val="F4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ec75cc9b34_0_128"/>
          <p:cNvSpPr/>
          <p:nvPr/>
        </p:nvSpPr>
        <p:spPr>
          <a:xfrm>
            <a:off x="3268410" y="1933607"/>
            <a:ext cx="2621400" cy="3596700"/>
          </a:xfrm>
          <a:prstGeom prst="roundRect">
            <a:avLst>
              <a:gd fmla="val 3721" name="adj"/>
            </a:avLst>
          </a:prstGeom>
          <a:solidFill>
            <a:srgbClr val="F4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ec75cc9b34_0_128"/>
          <p:cNvSpPr/>
          <p:nvPr/>
        </p:nvSpPr>
        <p:spPr>
          <a:xfrm>
            <a:off x="6167960" y="1933607"/>
            <a:ext cx="2621400" cy="3596700"/>
          </a:xfrm>
          <a:prstGeom prst="roundRect">
            <a:avLst>
              <a:gd fmla="val 3721" name="adj"/>
            </a:avLst>
          </a:prstGeom>
          <a:solidFill>
            <a:srgbClr val="F4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ec75cc9b34_0_128"/>
          <p:cNvSpPr/>
          <p:nvPr/>
        </p:nvSpPr>
        <p:spPr>
          <a:xfrm>
            <a:off x="9103385" y="1933607"/>
            <a:ext cx="2621400" cy="3596700"/>
          </a:xfrm>
          <a:prstGeom prst="roundRect">
            <a:avLst>
              <a:gd fmla="val 3721" name="adj"/>
            </a:avLst>
          </a:prstGeom>
          <a:solidFill>
            <a:srgbClr val="F4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ec75cc9b34_0_128"/>
          <p:cNvSpPr/>
          <p:nvPr/>
        </p:nvSpPr>
        <p:spPr>
          <a:xfrm>
            <a:off x="1389525" y="131601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ec75cc9b34_0_128"/>
          <p:cNvSpPr/>
          <p:nvPr/>
        </p:nvSpPr>
        <p:spPr>
          <a:xfrm>
            <a:off x="448250" y="2095935"/>
            <a:ext cx="548700" cy="548700"/>
          </a:xfrm>
          <a:prstGeom prst="ellipse">
            <a:avLst/>
          </a:prstGeom>
          <a:solidFill>
            <a:srgbClr val="009CD8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ec75cc9b34_0_128"/>
          <p:cNvSpPr/>
          <p:nvPr/>
        </p:nvSpPr>
        <p:spPr>
          <a:xfrm>
            <a:off x="3415675" y="2095935"/>
            <a:ext cx="548700" cy="548700"/>
          </a:xfrm>
          <a:prstGeom prst="ellipse">
            <a:avLst/>
          </a:prstGeom>
          <a:solidFill>
            <a:srgbClr val="009CD8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ec75cc9b34_0_128"/>
          <p:cNvSpPr/>
          <p:nvPr/>
        </p:nvSpPr>
        <p:spPr>
          <a:xfrm>
            <a:off x="6259525" y="2095935"/>
            <a:ext cx="548700" cy="548700"/>
          </a:xfrm>
          <a:prstGeom prst="ellipse">
            <a:avLst/>
          </a:prstGeom>
          <a:solidFill>
            <a:srgbClr val="009CD8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ec75cc9b34_0_128"/>
          <p:cNvSpPr/>
          <p:nvPr/>
        </p:nvSpPr>
        <p:spPr>
          <a:xfrm>
            <a:off x="9260550" y="2095935"/>
            <a:ext cx="548700" cy="548700"/>
          </a:xfrm>
          <a:prstGeom prst="ellipse">
            <a:avLst/>
          </a:prstGeom>
          <a:solidFill>
            <a:srgbClr val="009CD8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ec75cc9b34_0_128"/>
          <p:cNvSpPr/>
          <p:nvPr/>
        </p:nvSpPr>
        <p:spPr>
          <a:xfrm>
            <a:off x="448250" y="209593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ec75cc9b34_0_128"/>
          <p:cNvSpPr/>
          <p:nvPr/>
        </p:nvSpPr>
        <p:spPr>
          <a:xfrm>
            <a:off x="3415685" y="209593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ec75cc9b34_0_128"/>
          <p:cNvSpPr/>
          <p:nvPr/>
        </p:nvSpPr>
        <p:spPr>
          <a:xfrm>
            <a:off x="6259535" y="209593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ec75cc9b34_0_128"/>
          <p:cNvSpPr/>
          <p:nvPr/>
        </p:nvSpPr>
        <p:spPr>
          <a:xfrm>
            <a:off x="9260560" y="209593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I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g3ec75cc9b34_0_128"/>
          <p:cNvCxnSpPr>
            <a:stCxn id="570" idx="3"/>
            <a:endCxn id="570" idx="3"/>
          </p:cNvCxnSpPr>
          <p:nvPr/>
        </p:nvCxnSpPr>
        <p:spPr>
          <a:xfrm>
            <a:off x="2918510" y="3731957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g3ec75cc9b34_0_128"/>
          <p:cNvCxnSpPr>
            <a:stCxn id="570" idx="3"/>
            <a:endCxn id="571" idx="1"/>
          </p:cNvCxnSpPr>
          <p:nvPr/>
        </p:nvCxnSpPr>
        <p:spPr>
          <a:xfrm>
            <a:off x="2918510" y="3731957"/>
            <a:ext cx="34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g3ec75cc9b34_0_128"/>
          <p:cNvCxnSpPr>
            <a:stCxn id="571" idx="3"/>
            <a:endCxn id="572" idx="1"/>
          </p:cNvCxnSpPr>
          <p:nvPr/>
        </p:nvCxnSpPr>
        <p:spPr>
          <a:xfrm>
            <a:off x="5889810" y="3731957"/>
            <a:ext cx="27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g3ec75cc9b34_0_128"/>
          <p:cNvCxnSpPr>
            <a:stCxn id="572" idx="3"/>
            <a:endCxn id="573" idx="1"/>
          </p:cNvCxnSpPr>
          <p:nvPr/>
        </p:nvCxnSpPr>
        <p:spPr>
          <a:xfrm>
            <a:off x="8789360" y="3731957"/>
            <a:ext cx="31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g3ec75cc9b34_0_128"/>
          <p:cNvSpPr/>
          <p:nvPr/>
        </p:nvSpPr>
        <p:spPr>
          <a:xfrm>
            <a:off x="663090" y="2675765"/>
            <a:ext cx="22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D4A"/>
              </a:buClr>
              <a:buSzPts val="1900"/>
              <a:buFont typeface="Calibri"/>
              <a:buNone/>
            </a:pPr>
            <a:r>
              <a:rPr b="1" i="0" lang="en-IN" sz="1900" u="none" cap="none" strike="noStrike">
                <a:solidFill>
                  <a:srgbClr val="0A3D4A"/>
                </a:solidFill>
                <a:latin typeface="Calibri"/>
                <a:ea typeface="Calibri"/>
                <a:cs typeface="Calibri"/>
                <a:sym typeface="Calibri"/>
              </a:rPr>
              <a:t>Define zones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ec75cc9b34_0_128"/>
          <p:cNvSpPr/>
          <p:nvPr/>
        </p:nvSpPr>
        <p:spPr>
          <a:xfrm>
            <a:off x="3517750" y="2660190"/>
            <a:ext cx="22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D4A"/>
              </a:buClr>
              <a:buSzPts val="1900"/>
              <a:buFont typeface="Calibri"/>
              <a:buNone/>
            </a:pPr>
            <a:r>
              <a:rPr b="1" i="0" lang="en-IN" sz="1900" u="none" cap="none" strike="noStrike">
                <a:solidFill>
                  <a:srgbClr val="0A3D4A"/>
                </a:solidFill>
                <a:latin typeface="Calibri"/>
                <a:ea typeface="Calibri"/>
                <a:cs typeface="Calibri"/>
                <a:sym typeface="Calibri"/>
              </a:rPr>
              <a:t>Effective density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ec75cc9b34_0_128"/>
          <p:cNvSpPr/>
          <p:nvPr/>
        </p:nvSpPr>
        <p:spPr>
          <a:xfrm>
            <a:off x="6322903" y="2660625"/>
            <a:ext cx="252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D4A"/>
              </a:buClr>
              <a:buSzPts val="1900"/>
              <a:buFont typeface="Calibri"/>
              <a:buNone/>
            </a:pPr>
            <a:r>
              <a:rPr b="1" i="0" lang="en-IN" sz="1900" u="none" cap="none" strike="noStrike">
                <a:solidFill>
                  <a:srgbClr val="0A3D4A"/>
                </a:solidFill>
                <a:latin typeface="Calibri"/>
                <a:ea typeface="Calibri"/>
                <a:cs typeface="Calibri"/>
                <a:sym typeface="Calibri"/>
              </a:rPr>
              <a:t>Change from investment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ec75cc9b34_0_128"/>
          <p:cNvSpPr/>
          <p:nvPr/>
        </p:nvSpPr>
        <p:spPr>
          <a:xfrm>
            <a:off x="9469345" y="2660615"/>
            <a:ext cx="22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3D4A"/>
              </a:buClr>
              <a:buSzPts val="1900"/>
              <a:buFont typeface="Calibri"/>
              <a:buNone/>
            </a:pPr>
            <a:r>
              <a:rPr b="1" i="0" lang="en-IN" sz="1900" u="none" cap="none" strike="noStrike">
                <a:solidFill>
                  <a:srgbClr val="0A3D4A"/>
                </a:solidFill>
                <a:latin typeface="Calibri"/>
                <a:ea typeface="Calibri"/>
                <a:cs typeface="Calibri"/>
                <a:sym typeface="Calibri"/>
              </a:rPr>
              <a:t>Apply ρ, monetise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ec75cc9b34_0_128"/>
          <p:cNvSpPr/>
          <p:nvPr/>
        </p:nvSpPr>
        <p:spPr>
          <a:xfrm>
            <a:off x="536175" y="3508802"/>
            <a:ext cx="2255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Divide each city into ward-level zones. Build the employment and GVA panel.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ec75cc9b34_0_128"/>
          <p:cNvSpPr/>
          <p:nvPr/>
        </p:nvSpPr>
        <p:spPr>
          <a:xfrm>
            <a:off x="3415525" y="3224465"/>
            <a:ext cx="2255400" cy="67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Uᵢ = Σⱼ Eⱼ · f(dᵢⱼ)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ec75cc9b34_0_128"/>
          <p:cNvSpPr/>
          <p:nvPr/>
        </p:nvSpPr>
        <p:spPr>
          <a:xfrm>
            <a:off x="3415525" y="3894281"/>
            <a:ext cx="22554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ward's accessible economic mass, weighted by travel cost between wards.</a:t>
            </a:r>
            <a:endParaRPr b="0" i="0" sz="13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Eⱼ</a:t>
            </a:r>
            <a:r>
              <a:rPr b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 : </a:t>
            </a: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of jobs in ward j.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dᵢⱼ</a:t>
            </a:r>
            <a:r>
              <a:rPr b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generalised travel cost    from ward j to i.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f(.)</a:t>
            </a:r>
            <a:r>
              <a:rPr b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IN" sz="1200">
                <a:solidFill>
                  <a:schemeClr val="dk1"/>
                </a:solidFill>
              </a:rPr>
              <a:t>distance decay function</a:t>
            </a:r>
            <a:endParaRPr b="1"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t/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ec75cc9b34_0_128"/>
          <p:cNvSpPr/>
          <p:nvPr/>
        </p:nvSpPr>
        <p:spPr>
          <a:xfrm>
            <a:off x="6350935" y="3175290"/>
            <a:ext cx="2255400" cy="67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ΔUᵢ / Uᵢ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ec75cc9b34_0_128"/>
          <p:cNvSpPr/>
          <p:nvPr/>
        </p:nvSpPr>
        <p:spPr>
          <a:xfrm>
            <a:off x="6372400" y="3894277"/>
            <a:ext cx="22554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 deployment lowers d</a:t>
            </a:r>
            <a:r>
              <a:rPr b="1" baseline="-25000" lang="en-IN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on served corridors; effective density rises. </a:t>
            </a:r>
            <a:r>
              <a:rPr lang="en-IN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nd on unserved corridors it </a:t>
            </a:r>
            <a:r>
              <a:rPr lang="en-IN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would be unchanged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ec75cc9b34_0_128"/>
          <p:cNvSpPr/>
          <p:nvPr/>
        </p:nvSpPr>
        <p:spPr>
          <a:xfrm>
            <a:off x="9286375" y="3894272"/>
            <a:ext cx="22554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Density change → productivity uplift via elasticity ρ; multiplied by ward GVA.</a:t>
            </a:r>
            <a:endParaRPr b="0" i="0" sz="13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 ρ </a:t>
            </a:r>
            <a:r>
              <a:rPr b="1" lang="en-IN" sz="1700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agglomeration elasticity.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(Percentage change in </a:t>
            </a: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productivity</a:t>
            </a:r>
            <a:r>
              <a:rPr lang="en-IN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with a percentage change in effective density)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ec75cc9b34_0_128"/>
          <p:cNvSpPr/>
          <p:nvPr/>
        </p:nvSpPr>
        <p:spPr>
          <a:xfrm>
            <a:off x="9286470" y="3175290"/>
            <a:ext cx="2255400" cy="67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mbria"/>
              <a:buNone/>
            </a:pPr>
            <a:r>
              <a:rPr b="1" i="1" lang="en-IN" sz="1700" u="none" cap="none" strike="noStrike">
                <a:solidFill>
                  <a:srgbClr val="1A1A1A"/>
                </a:solidFill>
                <a:latin typeface="Cambria"/>
                <a:ea typeface="Cambria"/>
                <a:cs typeface="Cambria"/>
                <a:sym typeface="Cambria"/>
              </a:rPr>
              <a:t>ρ · (ΔUᵢ/Uᵢ) · GVAᵢ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ec75cc9b34_0_128"/>
          <p:cNvSpPr/>
          <p:nvPr/>
        </p:nvSpPr>
        <p:spPr>
          <a:xfrm>
            <a:off x="297100" y="5637150"/>
            <a:ext cx="10433700" cy="731400"/>
          </a:xfrm>
          <a:prstGeom prst="rect">
            <a:avLst/>
          </a:prstGeom>
          <a:solidFill>
            <a:srgbClr val="C4EE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mbria"/>
              <a:buNone/>
            </a:pPr>
            <a:r>
              <a:rPr i="0" lang="en-I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 across wards:   </a:t>
            </a:r>
            <a:r>
              <a:rPr b="1" i="1" lang="en-IN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ΔWEB = Σᵢ ρ · (ΔUᵢ / Uᵢ) · GVAᵢ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ec75cc9b34_0_128"/>
          <p:cNvSpPr txBox="1"/>
          <p:nvPr/>
        </p:nvSpPr>
        <p:spPr>
          <a:xfrm>
            <a:off x="255159" y="1316000"/>
            <a:ext cx="87204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2E2F2C"/>
                </a:solidFill>
                <a:latin typeface="Calibri"/>
                <a:ea typeface="Calibri"/>
                <a:cs typeface="Calibri"/>
                <a:sym typeface="Calibri"/>
              </a:rPr>
              <a:t>Effective density measures the transport-weighted labour market mass accessible from a location.</a:t>
            </a:r>
            <a:endParaRPr sz="1600">
              <a:solidFill>
                <a:srgbClr val="2E2F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c75cc9b34_0_143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22"/>
              <a:t>Agglomeration Economies</a:t>
            </a:r>
            <a:endParaRPr sz="25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11"/>
              <a:t>Model framework and parameters</a:t>
            </a:r>
            <a:endParaRPr b="0" sz="18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ec75cc9b34_0_143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7" name="Google Shape;607;g3ec75cc9b34_0_143"/>
          <p:cNvGraphicFramePr/>
          <p:nvPr/>
        </p:nvGraphicFramePr>
        <p:xfrm>
          <a:off x="395700" y="988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2763825"/>
                <a:gridCol w="853425"/>
                <a:gridCol w="3901425"/>
                <a:gridCol w="3535650"/>
              </a:tblGrid>
              <a:tr h="463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of measurement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</a:tr>
              <a:tr h="68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Ward boundaries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Municipal corporations / census 2013 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Destination employment Eⱼ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count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Economic Census 2013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Distance decay α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N/A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From literature 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Generalised cost matrix d</a:t>
                      </a:r>
                      <a:r>
                        <a:rPr b="1" baseline="-25000" lang="en-IN" sz="13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ij</a:t>
                      </a:r>
                      <a:endParaRPr b="1" baseline="-25000"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2, 3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</a:rPr>
                        <a:t>₹ per trip</a:t>
                      </a:r>
                      <a:endParaRPr sz="1600"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Primary survey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 deployment scenario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Count of buses,frequency, operational routes etc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PM Ebus sewa DPR , STU operation plans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Agglomeration elasticity ρ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From literature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Sectoral GVA-per-worker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</a:rPr>
                        <a:t>₹ per worker per year</a:t>
                      </a:r>
                      <a:endParaRPr sz="1600"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ASI(MOSPI) , NAS , PLFS ,NSSO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6"/>
                    </a:solidFill>
                  </a:tcPr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Ward-level GVA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3D4A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IN" sz="1500" u="none" cap="none" strike="noStrike">
                          <a:solidFill>
                            <a:srgbClr val="0A3D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</a:rPr>
                        <a:t>₹ per ward per year</a:t>
                      </a:r>
                      <a:endParaRPr sz="1600"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Will be calculated(using employment share) </a:t>
                      </a:r>
                      <a:endParaRPr/>
                    </a:p>
                  </a:txBody>
                  <a:tcPr marT="60975" marB="60975" marR="121925" marL="1219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8" name="Google Shape;608;g3ec75cc9b34_0_143"/>
          <p:cNvSpPr txBox="1"/>
          <p:nvPr/>
        </p:nvSpPr>
        <p:spPr>
          <a:xfrm>
            <a:off x="453225" y="5780100"/>
            <a:ext cx="10996800" cy="585000"/>
          </a:xfrm>
          <a:prstGeom prst="rect">
            <a:avLst/>
          </a:prstGeom>
          <a:solidFill>
            <a:srgbClr val="F5F0E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d_ij = VOT × (IVT_ij + λ_w · wait_ij + λ_a · access_ij + λ_t · transfers_ij) + fare_ij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*parameters from primary survey and literature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8e9c6296f_0_161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accent1"/>
                </a:solidFill>
              </a:rPr>
              <a:t>Parameters for M1 - Socio Economic co-benefit model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15" name="Google Shape;615;g3e8e9c6296f_0_161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16" name="Google Shape;616;g3e8e9c6296f_0_161"/>
          <p:cNvGraphicFramePr/>
          <p:nvPr/>
        </p:nvGraphicFramePr>
        <p:xfrm>
          <a:off x="156600" y="82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761000"/>
                <a:gridCol w="2645350"/>
                <a:gridCol w="2479275"/>
                <a:gridCol w="3143600"/>
                <a:gridCol w="2894500"/>
              </a:tblGrid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Sl no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variables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Data source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Unit of measurement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Role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6562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Socio Demographic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Categorical (1=Male, 2=Female, 3=Other)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Controls for gender disaggregation;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Age (years)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Years (continuous)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Identifies elderly (60+) for vulnerability index component; controls in all regression models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Household size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Count (number of persons)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Control variable across all models; affects per-capita expenditure and mobility demand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Number of children (&lt;18 yrs) in household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Count (number of children)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Educational access Analysis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Number of elderly (60+) in household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Count (number of elderly members)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healthcare access analysis.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6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Disability status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Binary (1=Yes, 0=No)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Vulnerability index component ; key VRU indicator for GBA+ disaggregation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Household monthly income bracket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Ordinal bracket (₹/month — 5 categories)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vulnerability index  component (normalised, reversed); income decile disaggregation across all outcomes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8e9c6296f_0_171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623" name="Google Shape;623;g3e8e9c6296f_0_17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9550"/>
                <a:gridCol w="2717050"/>
                <a:gridCol w="2546475"/>
                <a:gridCol w="3228775"/>
                <a:gridCol w="2972900"/>
              </a:tblGrid>
              <a:tr h="57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8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Household vehicle ownership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Binary (1=Owns vehicle, 0=No vehicle)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Vulnerability index component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67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Transport Expenditure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624" name="Google Shape;624;g3e8e9c6296f_0_171"/>
          <p:cNvGraphicFramePr/>
          <p:nvPr/>
        </p:nvGraphicFramePr>
        <p:xfrm>
          <a:off x="152425" y="111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9525"/>
                <a:gridCol w="2717050"/>
                <a:gridCol w="2546475"/>
                <a:gridCol w="3228775"/>
                <a:gridCol w="2972900"/>
              </a:tblGrid>
              <a:tr h="62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9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Primary transport mode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Categorical ( mode categories)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Classifies bus users vs. non-users for descriptive analysis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10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 monthly transport expenditure (₹)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₹ per month (continuous)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dependent variable.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7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11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Counterfactual transport expenditure without bus (₹/month)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₹ per month (continuous — stated preference)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KEY counterfactual . Estimated expenditure if bus were unavailable — enables direct computation of savings attributed to bus access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12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Direction of expenditure change in last 12 months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Ordinal (1=Increased significantly … 5=Decreased significantly)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Descriptive indicator of expenditure trend; cross-validated against Group B pre/post changes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7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13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Primary reason for expenditure change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Categorical (reason categories)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Attribution check — identifies whether bus adoption (vs. fuel price, distance change) drove expenditure shift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92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Employment Status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625" name="Google Shape;625;g3e8e9c6296f_0_171"/>
          <p:cNvGraphicFramePr/>
          <p:nvPr/>
        </p:nvGraphicFramePr>
        <p:xfrm>
          <a:off x="152413" y="474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9550"/>
                <a:gridCol w="2717025"/>
                <a:gridCol w="2546475"/>
                <a:gridCol w="3228775"/>
                <a:gridCol w="2972900"/>
              </a:tblGrid>
              <a:tr h="6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14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Employment status (8-category)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Categorical ( employment status categories); recoded to Binary for regression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dependent variable.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15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Commute mode to workplace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Categorical (mode categories)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Cross-validates bus usage for employment trips;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16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Distance from home to workplace (km band)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Ordinal distance band (km — categories)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aptures mobility-enabled labour market access; control variable.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8e9c6296f_0_186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2" name="Google Shape;632;g3e8e9c6296f_0_18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7550"/>
                <a:gridCol w="2706175"/>
                <a:gridCol w="2536300"/>
                <a:gridCol w="3215875"/>
                <a:gridCol w="2961025"/>
              </a:tblGrid>
              <a:tr h="27622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Women's Trip Frequency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  <a:tr h="465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   17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Number of daily trips outside home (weekday)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Count (number of trips per weekday — integer)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dependent variable 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18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Trip purposes (multi-select)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Categorical multi-select ( purpose categories)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Disaggregates trip frequency by purpose (work, healthcare, school, market); reveals mobility breadth beyond employment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5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19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Primary transport mode for trips outside home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Categorical (mode categories)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Identifies bus-dependent women.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20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Counterfactual: trips made without bus (number)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Count (number of trips — integer, stated preference)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Direct mobility counterfactual — estimated trip frequency if bus were unavailable.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3" name="Google Shape;633;g3e8e9c6296f_0_186"/>
          <p:cNvGraphicFramePr/>
          <p:nvPr/>
        </p:nvGraphicFramePr>
        <p:xfrm>
          <a:off x="152400" y="27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7550"/>
                <a:gridCol w="2706175"/>
                <a:gridCol w="2536300"/>
                <a:gridCol w="3215875"/>
                <a:gridCol w="2961025"/>
              </a:tblGrid>
              <a:tr h="3412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Educational Access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  <a:tr h="50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21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Number of children/youth in education in HH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Count (number of children/youth — integer)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determines sub-sample size for educational access analysis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0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22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Primary commute mode for children to school/college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Categorical ( mode categories)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Identifies bus-dependent students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06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23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School/college days missed due to transport (last 3 months)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Count (days — integer)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key descriptive outcome.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24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Counterfactual: would children attend same institution without bus?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Ordinal (1=Yes easily … 5=Not applicable)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Educational access counterfactual — captures whether bus enables access to preferred/better institution vs. nearest only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1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0F2C59"/>
                          </a:solidFill>
                        </a:rPr>
                        <a:t>25</a:t>
                      </a:r>
                      <a:endParaRPr b="1" sz="1000">
                        <a:solidFill>
                          <a:srgbClr val="0F2C59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1A2E44"/>
                          </a:solidFill>
                        </a:rPr>
                        <a:t>Change in attendance since bus deployment</a:t>
                      </a:r>
                      <a:endParaRPr b="1"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Primary survey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Ordinal (1=Improved significantly … 5=Not applicable)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1A2E44"/>
                          </a:solidFill>
                        </a:rPr>
                        <a:t>Self-reported attendance change; pre/post comparison for Group B; </a:t>
                      </a:r>
                      <a:endParaRPr sz="1000">
                        <a:solidFill>
                          <a:srgbClr val="1A2E44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8e9c6296f_0_199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40" name="Google Shape;640;g3e8e9c6296f_0_199"/>
          <p:cNvGraphicFramePr/>
          <p:nvPr/>
        </p:nvGraphicFramePr>
        <p:xfrm>
          <a:off x="161975" y="13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40325"/>
                <a:gridCol w="2394875"/>
                <a:gridCol w="2244525"/>
                <a:gridCol w="2845950"/>
                <a:gridCol w="4000800"/>
              </a:tblGrid>
              <a:tr h="32927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Healthcare Access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  <a:tr h="48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26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Number of healthcare visits in last 3 months (HH)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Count (number of visits — integer)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Frequency indicator for healthcare utilisation; descriptive outcome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27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Mode used for healthcare visits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Categorical ( mode categories)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Identifies bus-dependent healthcare trips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28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Delayed or skipped healthcare visit due to transport (binary)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Binary (1=Yes delayed/skipped, 0=No)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measures unmet healthcare need attributable to transport difficulty;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0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29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Change in healthcare access since bus deployment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survey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Ordinal (1=Much easier … 5=Not applicable)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Self-reported improvement in healthcare access; Group B pre/post; retrospective for Group A. descriptive output.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1" name="Google Shape;641;g3e8e9c6296f_0_199"/>
          <p:cNvGraphicFramePr/>
          <p:nvPr/>
        </p:nvGraphicFramePr>
        <p:xfrm>
          <a:off x="161975" y="251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497950"/>
                <a:gridCol w="2337250"/>
                <a:gridCol w="2244525"/>
                <a:gridCol w="2845950"/>
                <a:gridCol w="4000825"/>
              </a:tblGrid>
              <a:tr h="27622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Spatial / GIS Variables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9673"/>
                    </a:solidFill>
                  </a:tcPr>
                </a:tc>
                <a:tc hMerge="1"/>
                <a:tc hMerge="1"/>
                <a:tc hMerge="1"/>
                <a:tc hMerge="1"/>
              </a:tr>
              <a:tr h="723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30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Bus access dummy [BusAccess_j]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GIS mapping — MoHUA/STU shapefiles, OSM, GTFS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Binary (1=Within 500m walkshed, 0=Outside)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PRIMARY independent variable for all regression models. Binary: 1 = household within 500m walkshed of bus stop; 0 = outside. Exogenous to individual choice.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3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31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Walking distance to nearest bus stop (metres)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GIS mapping (continuous)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Metres (continuous)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Continuous version of bus access for robustness checks at 400m and 800m thresholds; used in spatial accessibility maps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32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Zone classification (treatment/control)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GIS-defined buffer + matched zone assignment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Binary (1=Treatment zone, 0=Control zone)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Group B DiD design variable. Treatment = within 500m of planned route; control = beyond 500m, matched on baseline characteristics.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33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Population density (ward/zone level)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Census 2011 / 2024 ward-level data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Persons per sq. km (continuous)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Zone-level control variable in pooled DiD; matching variable for control zone selection in Group B design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5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34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chemeClr val="dk1"/>
                          </a:solidFill>
                        </a:rPr>
                        <a:t>Existing road quality index (ward level)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MoRTH / state PWD records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Index score (0–1 composite — MoRTH/PWD data)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chemeClr val="dk1"/>
                          </a:solidFill>
                        </a:rPr>
                        <a:t>Zone-level control for matched DiD design; ensures treatment/control zones comparable on baseline infrastructure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7350ef53c_0_225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648" name="Google Shape;648;g3e7350ef53c_0_225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e7350ef53c_0_225"/>
          <p:cNvSpPr/>
          <p:nvPr/>
        </p:nvSpPr>
        <p:spPr>
          <a:xfrm>
            <a:off x="347713" y="1777387"/>
            <a:ext cx="5669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300"/>
              <a:buFont typeface="Calibri"/>
              <a:buNone/>
            </a:pPr>
            <a:r>
              <a:rPr b="1" i="0" lang="en-I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Geographic Coverage 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g3e7350ef53c_0_225"/>
          <p:cNvGrpSpPr/>
          <p:nvPr/>
        </p:nvGrpSpPr>
        <p:grpSpPr>
          <a:xfrm>
            <a:off x="347712" y="2223864"/>
            <a:ext cx="5833872" cy="794081"/>
            <a:chOff x="439120" y="2315399"/>
            <a:chExt cx="5833872" cy="649236"/>
          </a:xfrm>
        </p:grpSpPr>
        <p:sp>
          <p:nvSpPr>
            <p:cNvPr id="651" name="Google Shape;651;g3e7350ef53c_0_225"/>
            <p:cNvSpPr/>
            <p:nvPr/>
          </p:nvSpPr>
          <p:spPr>
            <a:xfrm>
              <a:off x="439120" y="2315399"/>
              <a:ext cx="5303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India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e7350ef53c_0_225"/>
            <p:cNvSpPr/>
            <p:nvPr/>
          </p:nvSpPr>
          <p:spPr>
            <a:xfrm>
              <a:off x="439120" y="2534855"/>
              <a:ext cx="51207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7 studies — national, city-level &amp; multi-city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g3e7350ef53c_0_225"/>
            <p:cNvSpPr/>
            <p:nvPr/>
          </p:nvSpPr>
          <p:spPr>
            <a:xfrm>
              <a:off x="439120" y="2745167"/>
              <a:ext cx="5303400" cy="2013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e7350ef53c_0_225"/>
            <p:cNvSpPr/>
            <p:nvPr/>
          </p:nvSpPr>
          <p:spPr>
            <a:xfrm>
              <a:off x="439120" y="2745167"/>
              <a:ext cx="3075900" cy="201300"/>
            </a:xfrm>
            <a:prstGeom prst="rect">
              <a:avLst/>
            </a:prstGeom>
            <a:solidFill>
              <a:srgbClr val="4B9035"/>
            </a:solidFill>
            <a:ln cap="flat" cmpd="sng" w="12700">
              <a:solidFill>
                <a:srgbClr val="4B90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e7350ef53c_0_225"/>
            <p:cNvSpPr/>
            <p:nvPr/>
          </p:nvSpPr>
          <p:spPr>
            <a:xfrm>
              <a:off x="5815792" y="2717735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A75"/>
                </a:buClr>
                <a:buSzPts val="1000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4B9035"/>
                  </a:solidFill>
                  <a:latin typeface="Calibri"/>
                  <a:ea typeface="Calibri"/>
                  <a:cs typeface="Calibri"/>
                  <a:sym typeface="Calibri"/>
                </a:rPr>
                <a:t>58%</a:t>
              </a:r>
              <a:endParaRPr b="0" i="0" sz="1400" u="none" cap="none" strike="noStrike">
                <a:solidFill>
                  <a:srgbClr val="4B90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g3e7350ef53c_0_225"/>
          <p:cNvGrpSpPr/>
          <p:nvPr/>
        </p:nvGrpSpPr>
        <p:grpSpPr>
          <a:xfrm>
            <a:off x="347708" y="3095787"/>
            <a:ext cx="5833872" cy="726932"/>
            <a:chOff x="439120" y="3042375"/>
            <a:chExt cx="5833872" cy="726932"/>
          </a:xfrm>
        </p:grpSpPr>
        <p:sp>
          <p:nvSpPr>
            <p:cNvPr id="657" name="Google Shape;657;g3e7350ef53c_0_225"/>
            <p:cNvSpPr/>
            <p:nvPr/>
          </p:nvSpPr>
          <p:spPr>
            <a:xfrm>
              <a:off x="439125" y="3042375"/>
              <a:ext cx="5303400" cy="2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Global / OECD Frameworks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g3e7350ef53c_0_225"/>
            <p:cNvSpPr/>
            <p:nvPr/>
          </p:nvSpPr>
          <p:spPr>
            <a:xfrm>
              <a:off x="439125" y="3304197"/>
              <a:ext cx="5120700" cy="2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2 studies — ITF-OECD, UNFCCC-aligned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g3e7350ef53c_0_225"/>
            <p:cNvSpPr/>
            <p:nvPr/>
          </p:nvSpPr>
          <p:spPr>
            <a:xfrm>
              <a:off x="439120" y="3549839"/>
              <a:ext cx="5303400" cy="2013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e7350ef53c_0_225"/>
            <p:cNvSpPr/>
            <p:nvPr/>
          </p:nvSpPr>
          <p:spPr>
            <a:xfrm>
              <a:off x="439120" y="3549839"/>
              <a:ext cx="901500" cy="201300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e7350ef53c_0_225"/>
            <p:cNvSpPr/>
            <p:nvPr/>
          </p:nvSpPr>
          <p:spPr>
            <a:xfrm>
              <a:off x="5815792" y="3522407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63A8"/>
                </a:buClr>
                <a:buSzPts val="1000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2563A8"/>
                  </a:solidFill>
                  <a:latin typeface="Calibri"/>
                  <a:ea typeface="Calibri"/>
                  <a:cs typeface="Calibri"/>
                  <a:sym typeface="Calibri"/>
                </a:rPr>
                <a:t>17%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2" name="Google Shape;662;g3e7350ef53c_0_225"/>
          <p:cNvSpPr/>
          <p:nvPr/>
        </p:nvSpPr>
        <p:spPr>
          <a:xfrm>
            <a:off x="347713" y="3822713"/>
            <a:ext cx="5303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I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West Africa (Burkina Faso)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e7350ef53c_0_225"/>
          <p:cNvSpPr/>
          <p:nvPr/>
        </p:nvSpPr>
        <p:spPr>
          <a:xfrm>
            <a:off x="347713" y="4126931"/>
            <a:ext cx="5120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study — developing country analogy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e7350ef53c_0_225"/>
          <p:cNvSpPr/>
          <p:nvPr/>
        </p:nvSpPr>
        <p:spPr>
          <a:xfrm>
            <a:off x="347708" y="4407923"/>
            <a:ext cx="5303400" cy="2013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e7350ef53c_0_225"/>
          <p:cNvSpPr/>
          <p:nvPr/>
        </p:nvSpPr>
        <p:spPr>
          <a:xfrm>
            <a:off x="347708" y="4407923"/>
            <a:ext cx="424200" cy="201300"/>
          </a:xfrm>
          <a:prstGeom prst="rect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e7350ef53c_0_225"/>
          <p:cNvSpPr/>
          <p:nvPr/>
        </p:nvSpPr>
        <p:spPr>
          <a:xfrm>
            <a:off x="5724380" y="4380491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A1B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E05A1B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7" name="Google Shape;667;g3e7350ef53c_0_225"/>
          <p:cNvGrpSpPr/>
          <p:nvPr/>
        </p:nvGrpSpPr>
        <p:grpSpPr>
          <a:xfrm>
            <a:off x="347708" y="4675551"/>
            <a:ext cx="5833872" cy="756513"/>
            <a:chOff x="439120" y="4622138"/>
            <a:chExt cx="5833872" cy="756513"/>
          </a:xfrm>
        </p:grpSpPr>
        <p:sp>
          <p:nvSpPr>
            <p:cNvPr id="668" name="Google Shape;668;g3e7350ef53c_0_225"/>
            <p:cNvSpPr/>
            <p:nvPr/>
          </p:nvSpPr>
          <p:spPr>
            <a:xfrm>
              <a:off x="439125" y="4622138"/>
              <a:ext cx="5303400" cy="2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b="1" i="0" lang="en-IN" sz="14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Global Meta-Analysis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e7350ef53c_0_225"/>
            <p:cNvSpPr/>
            <p:nvPr/>
          </p:nvSpPr>
          <p:spPr>
            <a:xfrm>
              <a:off x="439125" y="4900094"/>
              <a:ext cx="51207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IN" sz="14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2 studies — cross-country model comparison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g3e7350ef53c_0_225"/>
            <p:cNvSpPr/>
            <p:nvPr/>
          </p:nvSpPr>
          <p:spPr>
            <a:xfrm>
              <a:off x="439120" y="5159183"/>
              <a:ext cx="5303400" cy="201300"/>
            </a:xfrm>
            <a:prstGeom prst="rect">
              <a:avLst/>
            </a:prstGeom>
            <a:solidFill>
              <a:srgbClr val="F1F5F9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e7350ef53c_0_225"/>
            <p:cNvSpPr/>
            <p:nvPr/>
          </p:nvSpPr>
          <p:spPr>
            <a:xfrm>
              <a:off x="439120" y="5159183"/>
              <a:ext cx="901500" cy="201300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rgbClr val="86BB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e7350ef53c_0_225"/>
            <p:cNvSpPr/>
            <p:nvPr/>
          </p:nvSpPr>
          <p:spPr>
            <a:xfrm>
              <a:off x="5815792" y="5131751"/>
              <a:ext cx="4572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7D3D"/>
                </a:buClr>
                <a:buSzPts val="1000"/>
                <a:buFont typeface="Calibri"/>
                <a:buNone/>
              </a:pPr>
              <a:r>
                <a:rPr b="1" i="0" lang="en-IN" sz="14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17%</a:t>
              </a:r>
              <a:endParaRPr b="0" i="0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g3e7350ef53c_0_225"/>
          <p:cNvSpPr/>
          <p:nvPr/>
        </p:nvSpPr>
        <p:spPr>
          <a:xfrm>
            <a:off x="6638775" y="1197800"/>
            <a:ext cx="4881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61"/>
              <a:buFont typeface="Calibri"/>
              <a:buNone/>
            </a:pPr>
            <a:r>
              <a:rPr b="1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ITF-OECD GHG Accounting Framework (2024)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3e7350ef53c_0_225"/>
          <p:cNvSpPr/>
          <p:nvPr/>
        </p:nvSpPr>
        <p:spPr>
          <a:xfrm>
            <a:off x="6638775" y="1520394"/>
            <a:ext cx="5535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49"/>
              <a:buFont typeface="Calibri"/>
              <a:buNone/>
            </a:pPr>
            <a:r>
              <a:rPr b="0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Defines WTW/TTW boundaries, Scope 1-3, and international reporting standards — foundational for BBUS model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e7350ef53c_0_225"/>
          <p:cNvSpPr/>
          <p:nvPr/>
        </p:nvSpPr>
        <p:spPr>
          <a:xfrm>
            <a:off x="6638775" y="2243449"/>
            <a:ext cx="4881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61"/>
              <a:buFont typeface="Calibri"/>
              <a:buNone/>
            </a:pPr>
            <a:r>
              <a:rPr b="1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ITF-OECD LCA — Indian Passenger Transport (2023)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e7350ef53c_0_225"/>
          <p:cNvSpPr/>
          <p:nvPr/>
        </p:nvSpPr>
        <p:spPr>
          <a:xfrm>
            <a:off x="6638775" y="2566043"/>
            <a:ext cx="5535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49"/>
              <a:buFont typeface="Calibri"/>
              <a:buNone/>
            </a:pPr>
            <a:r>
              <a:rPr b="0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First comprehensive lifecycle GHG tool for India; Bus: 30–90 gCO₂e/pax-km depending on powertrain &amp; grid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e7350ef53c_0_225"/>
          <p:cNvSpPr/>
          <p:nvPr/>
        </p:nvSpPr>
        <p:spPr>
          <a:xfrm>
            <a:off x="6638775" y="3289099"/>
            <a:ext cx="4881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61"/>
              <a:buFont typeface="Calibri"/>
              <a:buNone/>
            </a:pPr>
            <a:r>
              <a:rPr b="1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ICCT Meta-Analysis of India Models (2022)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e7350ef53c_0_225"/>
          <p:cNvSpPr/>
          <p:nvPr/>
        </p:nvSpPr>
        <p:spPr>
          <a:xfrm>
            <a:off x="6638775" y="3611693"/>
            <a:ext cx="5535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49"/>
              <a:buFont typeface="Calibri"/>
              <a:buNone/>
            </a:pPr>
            <a:r>
              <a:rPr b="0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Compares 8 major India transport models (TERI, IEA, ITF, ICCT, CEEW) — validates ASIF bottom-up approach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3e7350ef53c_0_225"/>
          <p:cNvSpPr/>
          <p:nvPr/>
        </p:nvSpPr>
        <p:spPr>
          <a:xfrm>
            <a:off x="6638775" y="4334748"/>
            <a:ext cx="4881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61"/>
              <a:buFont typeface="Calibri"/>
              <a:buNone/>
            </a:pPr>
            <a:r>
              <a:rPr b="1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Ahmedabad BRTS Co-benefit Study (2015)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e7350ef53c_0_225"/>
          <p:cNvSpPr/>
          <p:nvPr/>
        </p:nvSpPr>
        <p:spPr>
          <a:xfrm>
            <a:off x="6638775" y="4657342"/>
            <a:ext cx="5535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49"/>
              <a:buFont typeface="Calibri"/>
              <a:buNone/>
            </a:pPr>
            <a:r>
              <a:rPr b="0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ExSS model for Janmarg BRT: 74% NOₓ ↓, 83% PM₂.₅ ↓ under low-carbon scenario — direct BBUS precedent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e7350ef53c_0_225"/>
          <p:cNvSpPr/>
          <p:nvPr/>
        </p:nvSpPr>
        <p:spPr>
          <a:xfrm>
            <a:off x="6638775" y="5380397"/>
            <a:ext cx="4881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61"/>
              <a:buFont typeface="Calibri"/>
              <a:buNone/>
            </a:pPr>
            <a:r>
              <a:rPr b="1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Surat City GHG Scenario Model (2025)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e7350ef53c_0_225"/>
          <p:cNvSpPr/>
          <p:nvPr/>
        </p:nvSpPr>
        <p:spPr>
          <a:xfrm>
            <a:off x="6638775" y="5702991"/>
            <a:ext cx="55350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49"/>
              <a:buFont typeface="Calibri"/>
              <a:buNone/>
            </a:pPr>
            <a:r>
              <a:rPr b="0" i="0" lang="en-IN" sz="146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11% emission reduction with PT-focused scenario; empirical travel diary from 500+ BRTS users in India</a:t>
            </a:r>
            <a:endParaRPr b="0" i="0" sz="1464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e7350ef53c_0_225"/>
          <p:cNvSpPr txBox="1"/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M3 : GHG emission and Mitigation co-benefit model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IN" sz="1600">
                <a:solidFill>
                  <a:srgbClr val="009CD8"/>
                </a:solidFill>
              </a:rPr>
              <a:t>Literature Review — Geographic Coverage &amp; Key Sources  (n = </a:t>
            </a:r>
            <a:r>
              <a:rPr b="0" lang="en-IN" sz="1600"/>
              <a:t>12</a:t>
            </a:r>
            <a:r>
              <a:rPr b="0" lang="en-IN" sz="1600">
                <a:solidFill>
                  <a:srgbClr val="009CD8"/>
                </a:solidFill>
              </a:rPr>
              <a:t>)</a:t>
            </a:r>
            <a:endParaRPr sz="1600">
              <a:solidFill>
                <a:srgbClr val="009CD8"/>
              </a:solidFill>
            </a:endParaRPr>
          </a:p>
        </p:txBody>
      </p:sp>
      <p:sp>
        <p:nvSpPr>
          <p:cNvPr id="684" name="Google Shape;684;g3e7350ef53c_0_225"/>
          <p:cNvSpPr/>
          <p:nvPr/>
        </p:nvSpPr>
        <p:spPr>
          <a:xfrm>
            <a:off x="347700" y="956300"/>
            <a:ext cx="6154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b="0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 going Research 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1050"/>
              <a:buFont typeface="Calibri"/>
              <a:buNone/>
            </a:pPr>
            <a:r>
              <a:rPr b="0" i="0" lang="en-I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Literature Review still focused on India and similar economic region 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7350ef53c_0_267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691" name="Google Shape;691;g3e7350ef53c_0_267"/>
          <p:cNvSpPr txBox="1"/>
          <p:nvPr/>
        </p:nvSpPr>
        <p:spPr>
          <a:xfrm>
            <a:off x="-276585" y="6235395"/>
            <a:ext cx="77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-IN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endParaRPr b="0" i="0" sz="16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e7350ef53c_0_267"/>
          <p:cNvSpPr txBox="1"/>
          <p:nvPr>
            <p:ph type="title"/>
          </p:nvPr>
        </p:nvSpPr>
        <p:spPr>
          <a:xfrm>
            <a:off x="256032" y="225653"/>
            <a:ext cx="1128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Deep dive in M3  : GHG emission and mitigation co-benefit model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IN" sz="1600"/>
              <a:t>Detailed analysis of Model and parameters </a:t>
            </a:r>
            <a:endParaRPr sz="1600">
              <a:solidFill>
                <a:srgbClr val="009CD8"/>
              </a:solidFill>
            </a:endParaRPr>
          </a:p>
        </p:txBody>
      </p:sp>
      <p:sp>
        <p:nvSpPr>
          <p:cNvPr id="693" name="Google Shape;693;g3e7350ef53c_0_267"/>
          <p:cNvSpPr/>
          <p:nvPr/>
        </p:nvSpPr>
        <p:spPr>
          <a:xfrm>
            <a:off x="228600" y="93222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3e7350ef53c_0_267"/>
          <p:cNvSpPr/>
          <p:nvPr/>
        </p:nvSpPr>
        <p:spPr>
          <a:xfrm>
            <a:off x="228600" y="932225"/>
            <a:ext cx="3749100" cy="290700"/>
          </a:xfrm>
          <a:prstGeom prst="rect">
            <a:avLst/>
          </a:prstGeom>
          <a:solidFill>
            <a:srgbClr val="4B9035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e7350ef53c_0_267"/>
          <p:cNvSpPr/>
          <p:nvPr/>
        </p:nvSpPr>
        <p:spPr>
          <a:xfrm>
            <a:off x="320040" y="95547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ASIF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e7350ef53c_0_267"/>
          <p:cNvSpPr/>
          <p:nvPr/>
        </p:nvSpPr>
        <p:spPr>
          <a:xfrm>
            <a:off x="320040" y="125774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Activity × Structure × Intensity × Fuel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e7350ef53c_0_267"/>
          <p:cNvSpPr/>
          <p:nvPr/>
        </p:nvSpPr>
        <p:spPr>
          <a:xfrm>
            <a:off x="320040" y="1548387"/>
            <a:ext cx="54900" cy="69900"/>
          </a:xfrm>
          <a:prstGeom prst="ellipse">
            <a:avLst/>
          </a:prstGeom>
          <a:solidFill>
            <a:srgbClr val="4B9035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e7350ef53c_0_267"/>
          <p:cNvSpPr/>
          <p:nvPr/>
        </p:nvSpPr>
        <p:spPr>
          <a:xfrm>
            <a:off x="429768" y="151347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Passenger-km by mode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e7350ef53c_0_267"/>
          <p:cNvSpPr/>
          <p:nvPr/>
        </p:nvSpPr>
        <p:spPr>
          <a:xfrm>
            <a:off x="320040" y="1827404"/>
            <a:ext cx="54900" cy="69900"/>
          </a:xfrm>
          <a:prstGeom prst="ellipse">
            <a:avLst/>
          </a:prstGeom>
          <a:solidFill>
            <a:srgbClr val="4B9035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3e7350ef53c_0_267"/>
          <p:cNvSpPr/>
          <p:nvPr/>
        </p:nvSpPr>
        <p:spPr>
          <a:xfrm>
            <a:off x="429768" y="179248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Modal share (%)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e7350ef53c_0_267"/>
          <p:cNvSpPr/>
          <p:nvPr/>
        </p:nvSpPr>
        <p:spPr>
          <a:xfrm>
            <a:off x="320040" y="2106421"/>
            <a:ext cx="54900" cy="69900"/>
          </a:xfrm>
          <a:prstGeom prst="ellipse">
            <a:avLst/>
          </a:prstGeom>
          <a:solidFill>
            <a:srgbClr val="4B9035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e7350ef53c_0_267"/>
          <p:cNvSpPr/>
          <p:nvPr/>
        </p:nvSpPr>
        <p:spPr>
          <a:xfrm>
            <a:off x="429768" y="205991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Energy per pax-km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e7350ef53c_0_267"/>
          <p:cNvSpPr/>
          <p:nvPr/>
        </p:nvSpPr>
        <p:spPr>
          <a:xfrm>
            <a:off x="320040" y="2385438"/>
            <a:ext cx="54900" cy="69900"/>
          </a:xfrm>
          <a:prstGeom prst="ellipse">
            <a:avLst/>
          </a:prstGeom>
          <a:solidFill>
            <a:srgbClr val="4B9035"/>
          </a:solidFill>
          <a:ln cap="flat" cmpd="sng" w="12700">
            <a:solidFill>
              <a:srgbClr val="4B9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e7350ef53c_0_267"/>
          <p:cNvSpPr/>
          <p:nvPr/>
        </p:nvSpPr>
        <p:spPr>
          <a:xfrm>
            <a:off x="429768" y="233893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Emission factor (kgCO₂/MJ)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e7350ef53c_0_267"/>
          <p:cNvSpPr/>
          <p:nvPr/>
        </p:nvSpPr>
        <p:spPr>
          <a:xfrm>
            <a:off x="320040" y="273421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e7350ef53c_0_267"/>
          <p:cNvSpPr/>
          <p:nvPr/>
        </p:nvSpPr>
        <p:spPr>
          <a:xfrm>
            <a:off x="365760" y="275746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Core architecture for BBUS GHG model — used by TERI, IEA, ITF &amp; ICCT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e7350ef53c_0_267"/>
          <p:cNvSpPr/>
          <p:nvPr/>
        </p:nvSpPr>
        <p:spPr>
          <a:xfrm>
            <a:off x="4114800" y="93222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3e7350ef53c_0_267"/>
          <p:cNvSpPr/>
          <p:nvPr/>
        </p:nvSpPr>
        <p:spPr>
          <a:xfrm>
            <a:off x="4114800" y="932225"/>
            <a:ext cx="3749100" cy="290700"/>
          </a:xfrm>
          <a:prstGeom prst="rect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e7350ef53c_0_267"/>
          <p:cNvSpPr/>
          <p:nvPr/>
        </p:nvSpPr>
        <p:spPr>
          <a:xfrm>
            <a:off x="4206240" y="95547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ITF WTW / TTW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e7350ef53c_0_267"/>
          <p:cNvSpPr/>
          <p:nvPr/>
        </p:nvSpPr>
        <p:spPr>
          <a:xfrm>
            <a:off x="4206240" y="125774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Well-to-Wheel &amp; Tank-to-Wheel LCA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e7350ef53c_0_267"/>
          <p:cNvSpPr/>
          <p:nvPr/>
        </p:nvSpPr>
        <p:spPr>
          <a:xfrm>
            <a:off x="4206240" y="1548387"/>
            <a:ext cx="54900" cy="6990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e7350ef53c_0_267"/>
          <p:cNvSpPr/>
          <p:nvPr/>
        </p:nvSpPr>
        <p:spPr>
          <a:xfrm>
            <a:off x="4315968" y="1501885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Scope 1/2/3 boundaries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e7350ef53c_0_267"/>
          <p:cNvSpPr/>
          <p:nvPr/>
        </p:nvSpPr>
        <p:spPr>
          <a:xfrm>
            <a:off x="4206240" y="1827404"/>
            <a:ext cx="54900" cy="6990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e7350ef53c_0_267"/>
          <p:cNvSpPr/>
          <p:nvPr/>
        </p:nvSpPr>
        <p:spPr>
          <a:xfrm>
            <a:off x="4315968" y="178090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Load-factor adjusted EF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e7350ef53c_0_267"/>
          <p:cNvSpPr/>
          <p:nvPr/>
        </p:nvSpPr>
        <p:spPr>
          <a:xfrm>
            <a:off x="4206240" y="2106421"/>
            <a:ext cx="54900" cy="6990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g3e7350ef53c_0_267"/>
          <p:cNvSpPr/>
          <p:nvPr/>
        </p:nvSpPr>
        <p:spPr>
          <a:xfrm>
            <a:off x="4315968" y="205991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Grid carbon intensity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e7350ef53c_0_267"/>
          <p:cNvSpPr/>
          <p:nvPr/>
        </p:nvSpPr>
        <p:spPr>
          <a:xfrm>
            <a:off x="4206240" y="2385438"/>
            <a:ext cx="54900" cy="6990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e7350ef53c_0_267"/>
          <p:cNvSpPr/>
          <p:nvPr/>
        </p:nvSpPr>
        <p:spPr>
          <a:xfrm>
            <a:off x="4315968" y="233893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Vehicle lifetime GHG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e7350ef53c_0_267"/>
          <p:cNvSpPr/>
          <p:nvPr/>
        </p:nvSpPr>
        <p:spPr>
          <a:xfrm>
            <a:off x="4206240" y="273421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e7350ef53c_0_267"/>
          <p:cNvSpPr/>
          <p:nvPr/>
        </p:nvSpPr>
        <p:spPr>
          <a:xfrm>
            <a:off x="4251960" y="275746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Aligns BBUS with UNFCCC/NDC reporting; both TTW &amp; WTW should be reported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3e7350ef53c_0_267"/>
          <p:cNvSpPr/>
          <p:nvPr/>
        </p:nvSpPr>
        <p:spPr>
          <a:xfrm>
            <a:off x="8001000" y="93222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e7350ef53c_0_267"/>
          <p:cNvSpPr/>
          <p:nvPr/>
        </p:nvSpPr>
        <p:spPr>
          <a:xfrm>
            <a:off x="8001000" y="932225"/>
            <a:ext cx="3749100" cy="290700"/>
          </a:xfrm>
          <a:prstGeom prst="rect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e7350ef53c_0_267"/>
          <p:cNvSpPr/>
          <p:nvPr/>
        </p:nvSpPr>
        <p:spPr>
          <a:xfrm>
            <a:off x="8092440" y="95547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 Shift Savings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e7350ef53c_0_267"/>
          <p:cNvSpPr/>
          <p:nvPr/>
        </p:nvSpPr>
        <p:spPr>
          <a:xfrm>
            <a:off x="8092440" y="125774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Displacement / Substitution Approach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e7350ef53c_0_267"/>
          <p:cNvSpPr/>
          <p:nvPr/>
        </p:nvSpPr>
        <p:spPr>
          <a:xfrm>
            <a:off x="8092440" y="1548387"/>
            <a:ext cx="54900" cy="69900"/>
          </a:xfrm>
          <a:prstGeom prst="ellipse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e7350ef53c_0_267"/>
          <p:cNvSpPr/>
          <p:nvPr/>
        </p:nvSpPr>
        <p:spPr>
          <a:xfrm>
            <a:off x="8202168" y="1501885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India EF: 2W = 0.051 kgCO₂/km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e7350ef53c_0_267"/>
          <p:cNvSpPr/>
          <p:nvPr/>
        </p:nvSpPr>
        <p:spPr>
          <a:xfrm>
            <a:off x="8092440" y="1827404"/>
            <a:ext cx="54900" cy="69900"/>
          </a:xfrm>
          <a:prstGeom prst="ellipse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e7350ef53c_0_267"/>
          <p:cNvSpPr/>
          <p:nvPr/>
        </p:nvSpPr>
        <p:spPr>
          <a:xfrm>
            <a:off x="8202168" y="178090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Bus = 0.015 kgCO₂/pax-km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e7350ef53c_0_267"/>
          <p:cNvSpPr/>
          <p:nvPr/>
        </p:nvSpPr>
        <p:spPr>
          <a:xfrm>
            <a:off x="8092440" y="2106421"/>
            <a:ext cx="54900" cy="69900"/>
          </a:xfrm>
          <a:prstGeom prst="ellipse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e7350ef53c_0_267"/>
          <p:cNvSpPr/>
          <p:nvPr/>
        </p:nvSpPr>
        <p:spPr>
          <a:xfrm>
            <a:off x="8202168" y="205991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Saving: 0.036 kgCO₂/pax-km (2W→Bus)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e7350ef53c_0_267"/>
          <p:cNvSpPr/>
          <p:nvPr/>
        </p:nvSpPr>
        <p:spPr>
          <a:xfrm>
            <a:off x="8092440" y="2385438"/>
            <a:ext cx="54900" cy="69900"/>
          </a:xfrm>
          <a:prstGeom prst="ellipse">
            <a:avLst/>
          </a:prstGeom>
          <a:solidFill>
            <a:srgbClr val="E05A1B"/>
          </a:solidFill>
          <a:ln cap="flat" cmpd="sng" w="12700">
            <a:solidFill>
              <a:srgbClr val="E05A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3e7350ef53c_0_267"/>
          <p:cNvSpPr/>
          <p:nvPr/>
        </p:nvSpPr>
        <p:spPr>
          <a:xfrm>
            <a:off x="8202168" y="233893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Travel diary data for actual shift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e7350ef53c_0_267"/>
          <p:cNvSpPr/>
          <p:nvPr/>
        </p:nvSpPr>
        <p:spPr>
          <a:xfrm>
            <a:off x="8092440" y="273421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e7350ef53c_0_267"/>
          <p:cNvSpPr/>
          <p:nvPr/>
        </p:nvSpPr>
        <p:spPr>
          <a:xfrm>
            <a:off x="8138160" y="275746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Core BBUS impact calc — requires before/after survey of new bus users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e7350ef53c_0_267"/>
          <p:cNvSpPr/>
          <p:nvPr/>
        </p:nvSpPr>
        <p:spPr>
          <a:xfrm>
            <a:off x="228600" y="364101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e7350ef53c_0_267"/>
          <p:cNvSpPr/>
          <p:nvPr/>
        </p:nvSpPr>
        <p:spPr>
          <a:xfrm>
            <a:off x="228600" y="3641015"/>
            <a:ext cx="3749100" cy="290700"/>
          </a:xfrm>
          <a:prstGeom prst="rect">
            <a:avLst/>
          </a:prstGeom>
          <a:solidFill>
            <a:srgbClr val="86BB3F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e7350ef53c_0_267"/>
          <p:cNvSpPr/>
          <p:nvPr/>
        </p:nvSpPr>
        <p:spPr>
          <a:xfrm>
            <a:off x="320040" y="366426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e7350ef53c_0_267"/>
          <p:cNvSpPr/>
          <p:nvPr/>
        </p:nvSpPr>
        <p:spPr>
          <a:xfrm>
            <a:off x="320040" y="396653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Avoid – Shift – Improve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e7350ef53c_0_267"/>
          <p:cNvSpPr/>
          <p:nvPr/>
        </p:nvSpPr>
        <p:spPr>
          <a:xfrm>
            <a:off x="320040" y="4257178"/>
            <a:ext cx="54900" cy="699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e7350ef53c_0_267"/>
          <p:cNvSpPr/>
          <p:nvPr/>
        </p:nvSpPr>
        <p:spPr>
          <a:xfrm>
            <a:off x="429768" y="4210675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AVOID: trip reduction via TOD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e7350ef53c_0_267"/>
          <p:cNvSpPr/>
          <p:nvPr/>
        </p:nvSpPr>
        <p:spPr>
          <a:xfrm>
            <a:off x="320040" y="4536195"/>
            <a:ext cx="54900" cy="699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g3e7350ef53c_0_267"/>
          <p:cNvSpPr/>
          <p:nvPr/>
        </p:nvSpPr>
        <p:spPr>
          <a:xfrm>
            <a:off x="429768" y="448969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SHIFT: modal switch to bus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e7350ef53c_0_267"/>
          <p:cNvSpPr/>
          <p:nvPr/>
        </p:nvSpPr>
        <p:spPr>
          <a:xfrm>
            <a:off x="320040" y="4815212"/>
            <a:ext cx="54900" cy="699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e7350ef53c_0_267"/>
          <p:cNvSpPr/>
          <p:nvPr/>
        </p:nvSpPr>
        <p:spPr>
          <a:xfrm>
            <a:off x="429768" y="476870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IMPROVE: fleet electrification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e7350ef53c_0_267"/>
          <p:cNvSpPr/>
          <p:nvPr/>
        </p:nvSpPr>
        <p:spPr>
          <a:xfrm>
            <a:off x="320040" y="5094229"/>
            <a:ext cx="54900" cy="699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86B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e7350ef53c_0_267"/>
          <p:cNvSpPr/>
          <p:nvPr/>
        </p:nvSpPr>
        <p:spPr>
          <a:xfrm>
            <a:off x="429768" y="504772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All 3 reported separately for NDC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e7350ef53c_0_267"/>
          <p:cNvSpPr/>
          <p:nvPr/>
        </p:nvSpPr>
        <p:spPr>
          <a:xfrm>
            <a:off x="320040" y="544300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e7350ef53c_0_267"/>
          <p:cNvSpPr/>
          <p:nvPr/>
        </p:nvSpPr>
        <p:spPr>
          <a:xfrm>
            <a:off x="365760" y="546625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BBUS is primarily a SHIFT intervention; secondary IMPROVE from newer fleet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e7350ef53c_0_267"/>
          <p:cNvSpPr/>
          <p:nvPr/>
        </p:nvSpPr>
        <p:spPr>
          <a:xfrm>
            <a:off x="4114800" y="364101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7350ef53c_0_267"/>
          <p:cNvSpPr/>
          <p:nvPr/>
        </p:nvSpPr>
        <p:spPr>
          <a:xfrm>
            <a:off x="4114800" y="3641015"/>
            <a:ext cx="3749100" cy="290700"/>
          </a:xfrm>
          <a:prstGeom prst="rect">
            <a:avLst/>
          </a:prstGeom>
          <a:solidFill>
            <a:srgbClr val="1A3557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e7350ef53c_0_267"/>
          <p:cNvSpPr/>
          <p:nvPr/>
        </p:nvSpPr>
        <p:spPr>
          <a:xfrm>
            <a:off x="4206240" y="366426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ExSS / Scenario Analysis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e7350ef53c_0_267"/>
          <p:cNvSpPr/>
          <p:nvPr/>
        </p:nvSpPr>
        <p:spPr>
          <a:xfrm>
            <a:off x="4206240" y="396653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Extended Snapshot + BAU vs LCS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g3e7350ef53c_0_267"/>
          <p:cNvSpPr/>
          <p:nvPr/>
        </p:nvSpPr>
        <p:spPr>
          <a:xfrm>
            <a:off x="4206240" y="4257178"/>
            <a:ext cx="54900" cy="69900"/>
          </a:xfrm>
          <a:prstGeom prst="ellipse">
            <a:avLst/>
          </a:prstGeom>
          <a:solidFill>
            <a:srgbClr val="1A3557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e7350ef53c_0_267"/>
          <p:cNvSpPr/>
          <p:nvPr/>
        </p:nvSpPr>
        <p:spPr>
          <a:xfrm>
            <a:off x="4315968" y="4210675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BAU, Moderate, Ambitious scenarios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e7350ef53c_0_267"/>
          <p:cNvSpPr/>
          <p:nvPr/>
        </p:nvSpPr>
        <p:spPr>
          <a:xfrm>
            <a:off x="4206240" y="4536195"/>
            <a:ext cx="54900" cy="69900"/>
          </a:xfrm>
          <a:prstGeom prst="ellipse">
            <a:avLst/>
          </a:prstGeom>
          <a:solidFill>
            <a:srgbClr val="1A3557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e7350ef53c_0_267"/>
          <p:cNvSpPr/>
          <p:nvPr/>
        </p:nvSpPr>
        <p:spPr>
          <a:xfrm>
            <a:off x="4315968" y="448969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VKT × EF by mode per year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e7350ef53c_0_267"/>
          <p:cNvSpPr/>
          <p:nvPr/>
        </p:nvSpPr>
        <p:spPr>
          <a:xfrm>
            <a:off x="4206240" y="4815212"/>
            <a:ext cx="54900" cy="69900"/>
          </a:xfrm>
          <a:prstGeom prst="ellipse">
            <a:avLst/>
          </a:prstGeom>
          <a:solidFill>
            <a:srgbClr val="1A3557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e7350ef53c_0_267"/>
          <p:cNvSpPr/>
          <p:nvPr/>
        </p:nvSpPr>
        <p:spPr>
          <a:xfrm>
            <a:off x="4315968" y="476870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Grid decarbonisation trajectory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e7350ef53c_0_267"/>
          <p:cNvSpPr/>
          <p:nvPr/>
        </p:nvSpPr>
        <p:spPr>
          <a:xfrm>
            <a:off x="4206240" y="5094229"/>
            <a:ext cx="54900" cy="69900"/>
          </a:xfrm>
          <a:prstGeom prst="ellipse">
            <a:avLst/>
          </a:prstGeom>
          <a:solidFill>
            <a:srgbClr val="1A3557"/>
          </a:solidFill>
          <a:ln cap="flat" cmpd="sng" w="12700">
            <a:solidFill>
              <a:srgbClr val="1A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e7350ef53c_0_267"/>
          <p:cNvSpPr/>
          <p:nvPr/>
        </p:nvSpPr>
        <p:spPr>
          <a:xfrm>
            <a:off x="4315968" y="504772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2025–2035 GHG reduction potential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e7350ef53c_0_267"/>
          <p:cNvSpPr/>
          <p:nvPr/>
        </p:nvSpPr>
        <p:spPr>
          <a:xfrm>
            <a:off x="4206240" y="544300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e7350ef53c_0_267"/>
          <p:cNvSpPr/>
          <p:nvPr/>
        </p:nvSpPr>
        <p:spPr>
          <a:xfrm>
            <a:off x="4251960" y="546625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For long-term projections: BBUS should model 3 scenarios vs baseline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e7350ef53c_0_267"/>
          <p:cNvSpPr/>
          <p:nvPr/>
        </p:nvSpPr>
        <p:spPr>
          <a:xfrm>
            <a:off x="8001000" y="3641015"/>
            <a:ext cx="3749100" cy="249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e7350ef53c_0_267"/>
          <p:cNvSpPr/>
          <p:nvPr/>
        </p:nvSpPr>
        <p:spPr>
          <a:xfrm>
            <a:off x="8001000" y="3641015"/>
            <a:ext cx="3749100" cy="29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e7350ef53c_0_267"/>
          <p:cNvSpPr/>
          <p:nvPr/>
        </p:nvSpPr>
        <p:spPr>
          <a:xfrm>
            <a:off x="8092440" y="3664266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I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IPCC Tier 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e7350ef53c_0_267"/>
          <p:cNvSpPr/>
          <p:nvPr/>
        </p:nvSpPr>
        <p:spPr>
          <a:xfrm>
            <a:off x="8092440" y="3966535"/>
            <a:ext cx="3612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IN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Mobile Combustion (Road Transport)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e7350ef53c_0_267"/>
          <p:cNvSpPr/>
          <p:nvPr/>
        </p:nvSpPr>
        <p:spPr>
          <a:xfrm>
            <a:off x="8092440" y="4257178"/>
            <a:ext cx="54900" cy="69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e7350ef53c_0_267"/>
          <p:cNvSpPr/>
          <p:nvPr/>
        </p:nvSpPr>
        <p:spPr>
          <a:xfrm>
            <a:off x="8202168" y="4210675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Diesel bus EF: 74.1 kgCO₂/GJ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e7350ef53c_0_267"/>
          <p:cNvSpPr/>
          <p:nvPr/>
        </p:nvSpPr>
        <p:spPr>
          <a:xfrm>
            <a:off x="8092440" y="4536195"/>
            <a:ext cx="54900" cy="69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e7350ef53c_0_267"/>
          <p:cNvSpPr/>
          <p:nvPr/>
        </p:nvSpPr>
        <p:spPr>
          <a:xfrm>
            <a:off x="8202168" y="4489692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CH₄ &amp; N₂O by tech &amp; fuel type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e7350ef53c_0_267"/>
          <p:cNvSpPr/>
          <p:nvPr/>
        </p:nvSpPr>
        <p:spPr>
          <a:xfrm>
            <a:off x="8092440" y="4815212"/>
            <a:ext cx="54900" cy="69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e7350ef53c_0_267"/>
          <p:cNvSpPr/>
          <p:nvPr/>
        </p:nvSpPr>
        <p:spPr>
          <a:xfrm>
            <a:off x="8202168" y="4768709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GWP: CH₄=28, N₂O=265 CO₂e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e7350ef53c_0_267"/>
          <p:cNvSpPr/>
          <p:nvPr/>
        </p:nvSpPr>
        <p:spPr>
          <a:xfrm>
            <a:off x="8092440" y="5094229"/>
            <a:ext cx="54900" cy="69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e7350ef53c_0_267"/>
          <p:cNvSpPr/>
          <p:nvPr/>
        </p:nvSpPr>
        <p:spPr>
          <a:xfrm>
            <a:off x="8202168" y="5047726"/>
            <a:ext cx="349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I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India-specific EF preferred over defaults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e7350ef53c_0_267"/>
          <p:cNvSpPr/>
          <p:nvPr/>
        </p:nvSpPr>
        <p:spPr>
          <a:xfrm>
            <a:off x="8092440" y="5443000"/>
            <a:ext cx="3566100" cy="627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e7350ef53c_0_267"/>
          <p:cNvSpPr/>
          <p:nvPr/>
        </p:nvSpPr>
        <p:spPr>
          <a:xfrm>
            <a:off x="8138160" y="5466251"/>
            <a:ext cx="349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557"/>
              </a:buClr>
              <a:buSzPts val="750"/>
              <a:buFont typeface="Calibri"/>
              <a:buNone/>
            </a:pPr>
            <a:r>
              <a:rPr b="0" i="0" lang="en-IN" sz="1400" u="none" cap="none" strike="noStrike">
                <a:solidFill>
                  <a:srgbClr val="1A3557"/>
                </a:solidFill>
                <a:latin typeface="Calibri"/>
                <a:ea typeface="Calibri"/>
                <a:cs typeface="Calibri"/>
                <a:sym typeface="Calibri"/>
              </a:rPr>
              <a:t>BBUS: Required for UNFCCC-compliant GHG inventory; use India-specific EFs where available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e7350ef53c_0_7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 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accent1"/>
                </a:solidFill>
              </a:rPr>
              <a:t>Group A cities with existing bus services -</a:t>
            </a:r>
            <a:endParaRPr/>
          </a:p>
        </p:txBody>
      </p:sp>
      <p:sp>
        <p:nvSpPr>
          <p:cNvPr id="783" name="Google Shape;783;g3e7350ef53c_0_7"/>
          <p:cNvSpPr txBox="1"/>
          <p:nvPr>
            <p:ph idx="1" type="body"/>
          </p:nvPr>
        </p:nvSpPr>
        <p:spPr>
          <a:xfrm>
            <a:off x="395775" y="679875"/>
            <a:ext cx="11605200" cy="177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585858"/>
                </a:solidFill>
              </a:rPr>
              <a:t>Bottom-up life cycle assessment - ASIF Framework (Tailpipe emission) + GREET Framework (Non- tailpipe emission) </a:t>
            </a:r>
            <a:endParaRPr b="1"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585858"/>
                </a:solidFill>
              </a:rPr>
              <a:t>Updated ASIF Framework = Activity X Structure X Intensity X Fuel Factor (Carbon content + GREET -WTW factor)</a:t>
            </a:r>
            <a:endParaRPr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585858"/>
                </a:solidFill>
              </a:rPr>
              <a:t>GREET Framework (Greenhouse gases, Regulated Emissions and Energy use in Technologies) </a:t>
            </a:r>
            <a:endParaRPr sz="1800">
              <a:solidFill>
                <a:srgbClr val="585858"/>
              </a:solidFill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585858"/>
                </a:solidFill>
              </a:rPr>
              <a:t>1. Activity (Transport Activity Level )- </a:t>
            </a:r>
            <a:endParaRPr b="1" sz="1800">
              <a:solidFill>
                <a:srgbClr val="585858"/>
              </a:solidFill>
            </a:endParaRPr>
          </a:p>
        </p:txBody>
      </p:sp>
      <p:sp>
        <p:nvSpPr>
          <p:cNvPr id="784" name="Google Shape;784;g3e7350ef53c_0_7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5" name="Google Shape;785;g3e7350ef53c_0_7"/>
          <p:cNvGraphicFramePr/>
          <p:nvPr/>
        </p:nvGraphicFramePr>
        <p:xfrm>
          <a:off x="411746" y="2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462575"/>
                <a:gridCol w="2764725"/>
                <a:gridCol w="2528650"/>
                <a:gridCol w="1508425"/>
                <a:gridCol w="1184525"/>
                <a:gridCol w="1393800"/>
                <a:gridCol w="1762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data collection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78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Kilometers Traveled (VKT)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activity variable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Veh Reg x survival rate or </a:t>
                      </a: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utilization</a:t>
                      </a: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rate x Annual mileage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Km/ year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VAHAN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be calculated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EF7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Occupancy / Load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 VKT → PKT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pax/ vehicle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ITF India LCA tool defaults 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3D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Utilisation rate 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assumption/ Research journal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6F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Passenger Kilometer Traveled (PKT)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VKT X Load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Pax-km / year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be calculated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EF7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Freight Ton Kilometers (FTK)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 -km/ year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needed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 of vehicles by category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scale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VAHAN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6F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trip length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Recent CMP/  User survey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8"/>
                    </a:solidFill>
                  </a:tcPr>
                </a:tc>
              </a:tr>
            </a:tbl>
          </a:graphicData>
        </a:graphic>
      </p:graphicFrame>
      <p:pic>
        <p:nvPicPr>
          <p:cNvPr id="786" name="Google Shape;786;g3e7350ef53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415009" y="808630"/>
            <a:ext cx="10039574" cy="30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e7350ef53c_0_15"/>
          <p:cNvSpPr txBox="1"/>
          <p:nvPr>
            <p:ph type="title"/>
          </p:nvPr>
        </p:nvSpPr>
        <p:spPr>
          <a:xfrm>
            <a:off x="188425" y="-47709"/>
            <a:ext cx="11284500" cy="383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</a:rPr>
              <a:t>Group A cities with existing bus services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93" name="Google Shape;793;g3e7350ef53c_0_15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e7350ef53c_0_15"/>
          <p:cNvSpPr txBox="1"/>
          <p:nvPr/>
        </p:nvSpPr>
        <p:spPr>
          <a:xfrm>
            <a:off x="195174" y="502998"/>
            <a:ext cx="6251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2. Structure- Technology/ Fuel - (All </a:t>
            </a: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are equally critical)  </a:t>
            </a:r>
            <a:endParaRPr b="1" sz="165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5" name="Google Shape;795;g3e7350ef53c_0_15"/>
          <p:cNvGraphicFramePr/>
          <p:nvPr/>
        </p:nvGraphicFramePr>
        <p:xfrm>
          <a:off x="268346" y="8578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544450"/>
                <a:gridCol w="4079125"/>
                <a:gridCol w="631850"/>
                <a:gridCol w="1323950"/>
                <a:gridCol w="2642625"/>
                <a:gridCol w="2547325"/>
              </a:tblGrid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Primary Survey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Modal Share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Recent CMP/ OD survey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8"/>
                    </a:solidFill>
                  </a:tcPr>
                </a:tc>
              </a:tr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category distribution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VAHAN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 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6F4E"/>
                    </a:solidFill>
                  </a:tcPr>
                </a:tc>
              </a:tr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 mix (Petrol/ diesel/CNG/electric)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VAHAN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 mix (ICE/HEV/PHEV/BEV/FCEV)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VAHAN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8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Fleet age distribution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reg (VAHAN) X </a:t>
                      </a: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Survival</a:t>
                      </a: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curve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2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vs Private transport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(2w+4w)- Private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 be calculated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EF7F"/>
                    </a:solidFill>
                  </a:tcPr>
                </a:tc>
              </a:tr>
            </a:tbl>
          </a:graphicData>
        </a:graphic>
      </p:graphicFrame>
      <p:sp>
        <p:nvSpPr>
          <p:cNvPr id="796" name="Google Shape;796;g3e7350ef53c_0_15"/>
          <p:cNvSpPr txBox="1"/>
          <p:nvPr/>
        </p:nvSpPr>
        <p:spPr>
          <a:xfrm>
            <a:off x="268346" y="3511818"/>
            <a:ext cx="6251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. Intensity - Energy/Fuel Intensity  </a:t>
            </a:r>
            <a:endParaRPr b="1" sz="165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7" name="Google Shape;797;g3e7350ef53c_0_15"/>
          <p:cNvGraphicFramePr/>
          <p:nvPr/>
        </p:nvGraphicFramePr>
        <p:xfrm>
          <a:off x="268343" y="3960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646100"/>
                <a:gridCol w="2861800"/>
                <a:gridCol w="1747525"/>
                <a:gridCol w="1323950"/>
                <a:gridCol w="2642625"/>
                <a:gridCol w="2547325"/>
              </a:tblGrid>
              <a:tr h="3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variables 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Primary Survey 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2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 Consumption  (ICE PT/ IPT)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km/l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ARAI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b="1" sz="15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E51"/>
                    </a:solidFill>
                  </a:tcPr>
                </a:tc>
              </a:tr>
              <a:tr h="3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Energy consumption (EV-PT/IPT)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kWh/km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ARAI, </a:t>
                      </a: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Bureau of Energy Efficiency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9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Energy Intensity by mode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MJ/pax-km  (PV)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MJ/ ton-km (GV)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ITF LCA tool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32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Load Factor correction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UMIS survey data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32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Driving cycle adjustment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2 &amp;3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lang="en-IN" sz="12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ndian driving cycle (IDC) vs WLTP </a:t>
                      </a:r>
                      <a:r>
                        <a:rPr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id="798" name="Google Shape;798;g3e7350ef53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415009" y="808630"/>
            <a:ext cx="10039574" cy="30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e7350ef53c_0_27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5" name="Google Shape;805;g3e7350ef53c_0_27"/>
          <p:cNvGraphicFramePr/>
          <p:nvPr/>
        </p:nvGraphicFramePr>
        <p:xfrm>
          <a:off x="328615" y="12725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566250"/>
                <a:gridCol w="2306750"/>
                <a:gridCol w="1659525"/>
                <a:gridCol w="1590100"/>
                <a:gridCol w="2971650"/>
                <a:gridCol w="2430700"/>
              </a:tblGrid>
              <a:tr h="39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variables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Primary Survey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D4F0"/>
                    </a:solidFill>
                  </a:tcPr>
                </a:tc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</a:t>
                      </a: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combustion</a:t>
                      </a: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EF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Kg Co2/ 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Kg Co2/ KWh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 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INCCA-2 Road Transport Report 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10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 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E51"/>
                    </a:solidFill>
                  </a:tcPr>
                </a:tc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 Carbon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 kg CO₂/liter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vMerge="1"/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 GHG program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 Carbon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2.68 kg CO₂/liter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vMerge="1"/>
                <a:tc vMerge="1"/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  Carbon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2.75 kg CO₂/kg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vMerge="1"/>
                <a:tc vMerge="1"/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Grid emission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tCo2/MWh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~0.70 kg Co2/ Kwh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2 &amp;3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CEA FY 2024-25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Upstream (well to tank) EF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Kg Co2e/l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GREET India-adapted values (ITF-OECD)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Refinery energy intensity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MJ/l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IOCL/BPCL process data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Electricity generation mix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coal/gas/RE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CEA power statistics 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 distribution losses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PETROSTAT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  <a:tr h="41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Battery production emissions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Kg Co2/kWh (Battery)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27251E"/>
                          </a:solidFill>
                          <a:highlight>
                            <a:srgbClr val="FDFB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GREET 2 vehicle cycle </a:t>
                      </a:r>
                      <a:r>
                        <a:rPr lang="en-IN" sz="1100">
                          <a:solidFill>
                            <a:schemeClr val="dk1"/>
                          </a:solidFill>
                        </a:rPr>
                        <a:t> (ITF-OECD)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806" name="Google Shape;806;g3e7350ef53c_0_27"/>
          <p:cNvSpPr txBox="1"/>
          <p:nvPr/>
        </p:nvSpPr>
        <p:spPr>
          <a:xfrm>
            <a:off x="328619" y="816364"/>
            <a:ext cx="6251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4. Fuel factor - Carbon content X GREET- WTW factor    </a:t>
            </a:r>
            <a:endParaRPr b="1" sz="165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e7350ef53c_0_27"/>
          <p:cNvSpPr txBox="1"/>
          <p:nvPr>
            <p:ph type="title"/>
          </p:nvPr>
        </p:nvSpPr>
        <p:spPr>
          <a:xfrm>
            <a:off x="332955" y="86437"/>
            <a:ext cx="11284500" cy="383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</a:rPr>
              <a:t>Group A cities with existing bus services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e7350ef53c_0_49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</a:rPr>
              <a:t>Group A cities with existing bus services / Other Modes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e7350ef53c_0_49"/>
          <p:cNvSpPr txBox="1"/>
          <p:nvPr>
            <p:ph idx="1" type="body"/>
          </p:nvPr>
        </p:nvSpPr>
        <p:spPr>
          <a:xfrm>
            <a:off x="355550" y="958475"/>
            <a:ext cx="6321900" cy="3316500"/>
          </a:xfrm>
          <a:prstGeom prst="rect">
            <a:avLst/>
          </a:prstGeom>
          <a:solidFill>
            <a:srgbClr val="EDF3FB"/>
          </a:solidFill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/>
              <a:t>Modified Formula for calculating existing GHG calculation (CO2 /Year) </a:t>
            </a:r>
            <a:endParaRPr b="1"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 (t) =GHG(TTW​)+GHG (WTT)​+GHG (Grid) +GHG (B)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/>
              <a:t>Tailpipe</a:t>
            </a:r>
            <a:r>
              <a:rPr b="1" lang="en-IN" sz="1600"/>
              <a:t> (ICE)</a:t>
            </a:r>
            <a:endParaRPr b="1"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 (TTW) ​=i∑​{VKTi(Km/Year)​× FCi(l/Km)x (TTW)EFi(Kg/l)} 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 (TTW)= Kg/ Year 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/>
              <a:t>Well to Tank (ICE)</a:t>
            </a:r>
            <a:endParaRPr b="1"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GHG(WTT​) =i∑​{VKTi​(km/year)×FCi (l/km)​× (WTT)EFi​(kg/l)}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GHG(WTT)= Kg/ Year 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-IN" sz="1600"/>
              <a:t>Grid Emission  (EV)</a:t>
            </a:r>
            <a:endParaRPr b="1"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GHG(EV) ​=i∑​(VKTi​×ECi​×GridEF) </a:t>
            </a:r>
            <a:endParaRPr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/>
              <a:t>Battery</a:t>
            </a:r>
            <a:r>
              <a:rPr b="1" lang="en-IN" sz="1600"/>
              <a:t> Manufacturing (EV) </a:t>
            </a:r>
            <a:endParaRPr b="1" sz="160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600"/>
              <a:t>GHG (B)=  Battery Capacity (kWh)  x Battery EF (Kg Co2/ kWh) x(Number of vehicle / Vehicle life)  </a:t>
            </a:r>
            <a:endParaRPr sz="1600"/>
          </a:p>
        </p:txBody>
      </p:sp>
      <p:sp>
        <p:nvSpPr>
          <p:cNvPr id="815" name="Google Shape;815;g3e7350ef53c_0_49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g3e7350ef53c_0_49"/>
          <p:cNvSpPr txBox="1"/>
          <p:nvPr/>
        </p:nvSpPr>
        <p:spPr>
          <a:xfrm>
            <a:off x="7321982" y="882423"/>
            <a:ext cx="46038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VKT (mode) = Total VKT X Modal Share of that mode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ICE = FC= 1/Fuel Economy (l/Km)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 = EC = Energy Consumption (kWh/Km)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g3e7350ef53c_0_49"/>
          <p:cNvCxnSpPr/>
          <p:nvPr/>
        </p:nvCxnSpPr>
        <p:spPr>
          <a:xfrm>
            <a:off x="6978350" y="970625"/>
            <a:ext cx="0" cy="32700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8" name="Google Shape;818;g3e7350ef53c_0_49"/>
          <p:cNvSpPr txBox="1"/>
          <p:nvPr/>
        </p:nvSpPr>
        <p:spPr>
          <a:xfrm>
            <a:off x="344250" y="4888075"/>
            <a:ext cx="113874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To find the public transportation impact - can be </a:t>
            </a: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derived</a:t>
            </a: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from two process - </a:t>
            </a:r>
            <a:endParaRPr sz="16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600"/>
              <a:buFont typeface="Calibri"/>
              <a:buChar char="●"/>
            </a:pP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Estimation from the pre-bus situation modal share and projecting in the current </a:t>
            </a: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scenario (Unknown variable  calculation -increasing number of paratransit , increase in vehicle ownership). </a:t>
            </a:r>
            <a:endParaRPr sz="16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Survey data collection framing questions on 2nd preferable mode after buses , specifically for the existing bus users.</a:t>
            </a: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e7350ef53c_0_49"/>
          <p:cNvSpPr txBox="1"/>
          <p:nvPr/>
        </p:nvSpPr>
        <p:spPr>
          <a:xfrm>
            <a:off x="7321975" y="1852600"/>
            <a:ext cx="4657800" cy="26490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 for Pollutant Calculation -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85858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PM (Total) =</a:t>
            </a:r>
            <a:r>
              <a:rPr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PM (Exhaust) + PM (Non-Exhaust)</a:t>
            </a:r>
            <a:endParaRPr sz="15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PM (Exhaust) =</a:t>
            </a:r>
            <a:r>
              <a:rPr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iΣ { VKTᵢ × EF_exhaust_PMᵢ (Kg/ Km}</a:t>
            </a:r>
            <a:endParaRPr sz="15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I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Source- ARAI, 2025)</a:t>
            </a:r>
            <a:endParaRPr i="1"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85858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PM (Non-Exhaust) =</a:t>
            </a:r>
            <a:r>
              <a:rPr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iΣ [VKTᵢ × {EF(tyre) + EF (brake) + EF(road)}]</a:t>
            </a:r>
            <a:endParaRPr sz="15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NOx (Tailpipe)  </a:t>
            </a:r>
            <a:r>
              <a:rPr lang="en-IN" sz="15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= iΣ { VKTᵢ × EF(NOxᵢ)} </a:t>
            </a:r>
            <a:r>
              <a:rPr i="1" lang="en-I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(Source- ARAI, 2025)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1274dd058_0_9"/>
          <p:cNvSpPr txBox="1"/>
          <p:nvPr>
            <p:ph idx="1" type="body"/>
          </p:nvPr>
        </p:nvSpPr>
        <p:spPr>
          <a:xfrm>
            <a:off x="314400" y="32175"/>
            <a:ext cx="4396500" cy="5268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2039">
                <a:solidFill>
                  <a:schemeClr val="accent1"/>
                </a:solidFill>
              </a:rPr>
              <a:t>Tailpipe</a:t>
            </a:r>
            <a:r>
              <a:rPr b="1" lang="en-IN" sz="2039">
                <a:solidFill>
                  <a:schemeClr val="accent1"/>
                </a:solidFill>
              </a:rPr>
              <a:t>/ Tank to wheel / Exhaust  EF -</a:t>
            </a:r>
            <a:r>
              <a:rPr b="1" lang="en-IN" sz="2739">
                <a:solidFill>
                  <a:schemeClr val="accent1"/>
                </a:solidFill>
              </a:rPr>
              <a:t> 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826" name="Google Shape;826;g3f1274dd058_0_9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f1274dd058_0_9"/>
          <p:cNvSpPr txBox="1"/>
          <p:nvPr/>
        </p:nvSpPr>
        <p:spPr>
          <a:xfrm>
            <a:off x="352891" y="359656"/>
            <a:ext cx="46038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GHG (CO2)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Carbon Factor (EF)  - TTW  (Kg/l) or (Kg/ Km )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8" name="Google Shape;828;g3f1274dd058_0_9"/>
          <p:cNvGraphicFramePr/>
          <p:nvPr/>
        </p:nvGraphicFramePr>
        <p:xfrm>
          <a:off x="417116" y="9914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2040225"/>
                <a:gridCol w="2124500"/>
              </a:tblGrid>
              <a:tr h="16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 Carbon factor 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 kg CO₂/liter</a:t>
                      </a:r>
                      <a:r>
                        <a:rPr lang="en-I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 Carbon factor 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2.68 kg CO₂/liter</a:t>
                      </a:r>
                      <a:r>
                        <a:rPr lang="en-I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22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  Carbon factor 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2.75 kg CO₂/kg</a:t>
                      </a:r>
                      <a:r>
                        <a:rPr lang="en-I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9" name="Google Shape;829;g3f1274dd058_0_9"/>
          <p:cNvSpPr txBox="1"/>
          <p:nvPr/>
        </p:nvSpPr>
        <p:spPr>
          <a:xfrm>
            <a:off x="5194675" y="78399"/>
            <a:ext cx="41862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PM 10 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Emission Factor  - TTW (g/Km)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0" name="Google Shape;830;g3f1274dd058_0_9"/>
          <p:cNvGraphicFramePr/>
          <p:nvPr/>
        </p:nvGraphicFramePr>
        <p:xfrm>
          <a:off x="5194675" y="7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2027225"/>
                <a:gridCol w="1051625"/>
                <a:gridCol w="1038950"/>
                <a:gridCol w="1051625"/>
                <a:gridCol w="1038950"/>
              </a:tblGrid>
              <a:tr h="19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BS-III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BS-IV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BS-VI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2W-Motorcycle (Petrol)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0.00497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0.00367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2W-Scooter (Petrol)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0.00975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0.00829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0.00367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3W-CNG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0.1182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0.03188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3W-Diesel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0.65145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0.21045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0.05419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0.02125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3W-LPG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0.1182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0.03188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Car-CNG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0.00098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0.00065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Car-Diesel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0.04035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0.0231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Car-Petrol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0.00146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0.00098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0.00038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CNG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0.3672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0.06885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0.02295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7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Diesel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0.0459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0.02295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LCV-CNG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LCV-Diesel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0.44675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0.0858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MUV-CNG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0.00225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MUV-Diesel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0.08655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0.07395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0.00383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831" name="Google Shape;831;g3f1274dd058_0_9"/>
          <p:cNvSpPr txBox="1"/>
          <p:nvPr/>
        </p:nvSpPr>
        <p:spPr>
          <a:xfrm>
            <a:off x="331484" y="1970873"/>
            <a:ext cx="46038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FC = 1/ Fuel Economy (Km/l)  </a:t>
            </a: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2" name="Google Shape;832;g3f1274dd058_0_9"/>
          <p:cNvGraphicFramePr/>
          <p:nvPr/>
        </p:nvGraphicFramePr>
        <p:xfrm>
          <a:off x="406411" y="235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1752750"/>
                <a:gridCol w="731725"/>
                <a:gridCol w="1701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 Economy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 Motorcycle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 Scooter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 Auto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 Auto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 Auto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km/kg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 km/kg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km/kg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 Bus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km/L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 Bus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 km/kg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f1274dd058_0_25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f1274dd058_0_25"/>
          <p:cNvSpPr txBox="1"/>
          <p:nvPr>
            <p:ph idx="1" type="body"/>
          </p:nvPr>
        </p:nvSpPr>
        <p:spPr>
          <a:xfrm>
            <a:off x="314400" y="-64149"/>
            <a:ext cx="4396500" cy="10404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2039">
                <a:solidFill>
                  <a:schemeClr val="accent1"/>
                </a:solidFill>
              </a:rPr>
              <a:t>Tailpipe/ Tank to wheel / Exhaust  EF -</a:t>
            </a:r>
            <a:r>
              <a:rPr b="1" lang="en-IN" sz="2739">
                <a:solidFill>
                  <a:schemeClr val="accent1"/>
                </a:solidFill>
              </a:rPr>
              <a:t> </a:t>
            </a:r>
            <a:endParaRPr b="1" sz="2739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accent1"/>
                </a:solidFill>
              </a:rPr>
              <a:t>PM 2.5</a:t>
            </a:r>
            <a:endParaRPr b="1" sz="1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400">
                <a:solidFill>
                  <a:schemeClr val="dk1"/>
                </a:solidFill>
              </a:rPr>
              <a:t>Emission Factor  - TTW (g/Km) 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840" name="Google Shape;840;g3f1274dd058_0_25"/>
          <p:cNvSpPr txBox="1"/>
          <p:nvPr/>
        </p:nvSpPr>
        <p:spPr>
          <a:xfrm>
            <a:off x="5515742" y="78399"/>
            <a:ext cx="41862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NOx</a:t>
            </a:r>
            <a:r>
              <a:rPr b="1" lang="en-IN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Emission Factor  - TTW (g/Km)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1" name="Google Shape;841;g3f1274dd058_0_25"/>
          <p:cNvGraphicFramePr/>
          <p:nvPr/>
        </p:nvGraphicFramePr>
        <p:xfrm>
          <a:off x="395700" y="9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2015650"/>
                <a:gridCol w="714775"/>
                <a:gridCol w="714775"/>
                <a:gridCol w="714775"/>
                <a:gridCol w="714775"/>
              </a:tblGrid>
              <a:tr h="27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BS-VI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2W-Motorcycle (Petrol)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0.00675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2W-Scooter (Petrol)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0.00945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0.00878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0.00746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0.1593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0.58631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0.18941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0.04877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0.01913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3W-LPG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0.1593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0.00059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0.03632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0.02079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Car-Petrol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0.00132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0.00034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0.33048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0.06197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0.02066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0.6507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0.04131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0.02066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0.00405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0.40208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0.07722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0.00203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2965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0.0779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0.06656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0.00344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2" name="Google Shape;842;g3f1274dd058_0_25"/>
          <p:cNvGraphicFramePr/>
          <p:nvPr/>
        </p:nvGraphicFramePr>
        <p:xfrm>
          <a:off x="5664050" y="76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{C8BB97D2-7D7E-4C93-B79D-6AB28F514387}</a:tableStyleId>
              </a:tblPr>
              <a:tblGrid>
                <a:gridCol w="2112675"/>
                <a:gridCol w="749150"/>
                <a:gridCol w="869050"/>
                <a:gridCol w="749150"/>
                <a:gridCol w="749150"/>
              </a:tblGrid>
              <a:tr h="3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BS-III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BS-IV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BS-VI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2W-Motorcycle (Petrol)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0.65825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0.63288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0.53794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0.12033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2W-Scooter (Petrol)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0.12033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2.44825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1.1475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0.15802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2.19175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1.7925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0.19448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3W-LPG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2.44825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1.1475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0.15802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1.96575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1.05038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0.54612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0.09724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Car-Petrol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0.13375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0.14315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10.9395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7.65765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1.00643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HCV-Bus 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12.92875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7.65765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1.00643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0.15938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LCV-Diesel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4.76542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4.23083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2.4025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0.22313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MUV-CNG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6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MUV-Diesel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1.19675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1274dd058_0_0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Well to Tank Emission Factor </a:t>
            </a:r>
            <a:endParaRPr/>
          </a:p>
        </p:txBody>
      </p:sp>
      <p:sp>
        <p:nvSpPr>
          <p:cNvPr id="849" name="Google Shape;849;g3f1274dd058_0_0"/>
          <p:cNvSpPr txBox="1"/>
          <p:nvPr/>
        </p:nvSpPr>
        <p:spPr>
          <a:xfrm>
            <a:off x="363600" y="455570"/>
            <a:ext cx="4603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GHG (CO2)</a:t>
            </a:r>
            <a:endParaRPr b="1" sz="1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Factor (EF)  - WTT &amp; Grid &amp; Battery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0" name="Google Shape;850;g3f1274dd058_0_0"/>
          <p:cNvGraphicFramePr/>
          <p:nvPr/>
        </p:nvGraphicFramePr>
        <p:xfrm>
          <a:off x="459143" y="1132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525025"/>
                <a:gridCol w="1997625"/>
                <a:gridCol w="1457150"/>
              </a:tblGrid>
              <a:tr h="4405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Petrol Carbon factor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0.60–0.70 kg/L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405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Diesel Carbon factor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 kg/L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405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CNG  Carbon factor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 kg/kg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405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Grid Emission factor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2725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0.727 kg/kWh </a:t>
                      </a:r>
                      <a:endParaRPr>
                        <a:solidFill>
                          <a:srgbClr val="2725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Battery production emissions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Kg Co2/kWh (Battery)</a:t>
                      </a:r>
                      <a:endParaRPr>
                        <a:solidFill>
                          <a:srgbClr val="2725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e7350ef53c_0_70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</a:rPr>
              <a:t>Group B  cities with no bus services </a:t>
            </a:r>
            <a:r>
              <a:rPr b="0" lang="en-IN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e7350ef53c_0_70"/>
          <p:cNvSpPr txBox="1"/>
          <p:nvPr>
            <p:ph idx="1" type="body"/>
          </p:nvPr>
        </p:nvSpPr>
        <p:spPr>
          <a:xfrm>
            <a:off x="395700" y="859006"/>
            <a:ext cx="11284500" cy="67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587"/>
              </a:spcBef>
              <a:spcAft>
                <a:spcPts val="0"/>
              </a:spcAft>
              <a:buSzPts val="440"/>
              <a:buNone/>
            </a:pPr>
            <a:r>
              <a:rPr b="1" lang="en-IN" sz="1680"/>
              <a:t>Modal shift </a:t>
            </a:r>
            <a:r>
              <a:rPr b="1" lang="en-IN" sz="1680"/>
              <a:t>savings +</a:t>
            </a:r>
            <a:r>
              <a:rPr b="1" lang="en-IN" sz="1680"/>
              <a:t> </a:t>
            </a:r>
            <a:r>
              <a:rPr b="1" lang="en-IN" sz="1800">
                <a:solidFill>
                  <a:srgbClr val="585858"/>
                </a:solidFill>
              </a:rPr>
              <a:t>ASIF Framework</a:t>
            </a:r>
            <a:r>
              <a:rPr b="1" lang="en-IN" sz="1680"/>
              <a:t> + GREET model </a:t>
            </a:r>
            <a:endParaRPr b="1" sz="1680"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rgbClr val="585858"/>
                </a:solidFill>
              </a:rPr>
              <a:t>1. Activity (Transport Activity Level )</a:t>
            </a:r>
            <a:r>
              <a:rPr b="1" lang="en-IN" sz="1800">
                <a:solidFill>
                  <a:srgbClr val="585858"/>
                </a:solidFill>
              </a:rPr>
              <a:t>- </a:t>
            </a:r>
            <a:endParaRPr sz="1280"/>
          </a:p>
          <a:p>
            <a:pPr indent="0" lvl="0" marL="0" rtl="0" algn="l">
              <a:lnSpc>
                <a:spcPct val="80000"/>
              </a:lnSpc>
              <a:spcBef>
                <a:spcPts val="587"/>
              </a:spcBef>
              <a:spcAft>
                <a:spcPts val="0"/>
              </a:spcAft>
              <a:buSzPts val="440"/>
              <a:buNone/>
            </a:pPr>
            <a:r>
              <a:rPr lang="en-IN" sz="1280"/>
              <a:t> </a:t>
            </a:r>
            <a:endParaRPr sz="1280"/>
          </a:p>
        </p:txBody>
      </p:sp>
      <p:sp>
        <p:nvSpPr>
          <p:cNvPr id="858" name="Google Shape;858;g3e7350ef53c_0_70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59" name="Google Shape;859;g3e7350ef53c_0_70"/>
          <p:cNvGraphicFramePr/>
          <p:nvPr/>
        </p:nvGraphicFramePr>
        <p:xfrm>
          <a:off x="347334" y="15032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580025"/>
                <a:gridCol w="2678000"/>
                <a:gridCol w="1415175"/>
                <a:gridCol w="1762550"/>
                <a:gridCol w="2735525"/>
                <a:gridCol w="2209950"/>
              </a:tblGrid>
              <a:tr h="5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data collection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40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Census 11. Estimation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E51"/>
                    </a:solidFill>
                  </a:tcPr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Trips per capita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assumption/ Research journal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7E51"/>
                    </a:solidFill>
                  </a:tcPr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trip length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Recent CMP/  User survey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8"/>
                    </a:solidFill>
                  </a:tcPr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Occupancy</a:t>
                      </a: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Load factor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pax/vehicle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  Observation Survey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60" name="Google Shape;860;g3e7350ef53c_0_70"/>
          <p:cNvSpPr txBox="1"/>
          <p:nvPr/>
        </p:nvSpPr>
        <p:spPr>
          <a:xfrm>
            <a:off x="319474" y="3827458"/>
            <a:ext cx="6251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5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2. Structure- Technology/ Fuel - (All variables are equally critical)  </a:t>
            </a:r>
            <a:endParaRPr b="1" sz="165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1" name="Google Shape;861;g3e7350ef53c_0_70"/>
          <p:cNvGraphicFramePr/>
          <p:nvPr/>
        </p:nvGraphicFramePr>
        <p:xfrm>
          <a:off x="347334" y="4489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628400"/>
                <a:gridCol w="2629625"/>
                <a:gridCol w="1415175"/>
                <a:gridCol w="1762550"/>
                <a:gridCol w="2783875"/>
                <a:gridCol w="2209950"/>
              </a:tblGrid>
              <a:tr h="55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variable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 for data collection 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Modal Share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1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Recent CMP/ OD survey 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b="1"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38"/>
                    </a:solidFill>
                  </a:tcPr>
                </a:tc>
              </a:tr>
            </a:tbl>
          </a:graphicData>
        </a:graphic>
      </p:graphicFrame>
      <p:sp>
        <p:nvSpPr>
          <p:cNvPr id="862" name="Google Shape;862;g3e7350ef53c_0_70"/>
          <p:cNvSpPr txBox="1"/>
          <p:nvPr/>
        </p:nvSpPr>
        <p:spPr>
          <a:xfrm>
            <a:off x="319475" y="5672114"/>
            <a:ext cx="11681400" cy="5997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Passenger kilometer travelled by each Mode = PKT = Population x daily trips/capita x avg trip length x modal share of that mode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 VKT bus = PKT (shifted from diff mode ) /assumed  Bus 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7350ef53c_0_83"/>
          <p:cNvSpPr txBox="1"/>
          <p:nvPr>
            <p:ph type="title"/>
          </p:nvPr>
        </p:nvSpPr>
        <p:spPr>
          <a:xfrm>
            <a:off x="395707" y="194428"/>
            <a:ext cx="11284500" cy="794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Final model framework and parameters for M3- GHG emission and mitigation</a:t>
            </a:r>
            <a:endParaRPr/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</a:rPr>
              <a:t>Group B  cities with no bus services -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e7350ef53c_0_83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e7350ef53c_0_83"/>
          <p:cNvSpPr txBox="1"/>
          <p:nvPr/>
        </p:nvSpPr>
        <p:spPr>
          <a:xfrm>
            <a:off x="248925" y="931173"/>
            <a:ext cx="100542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Scenario development (will be changed according to context)</a:t>
            </a:r>
            <a:endParaRPr b="1" sz="16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6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858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1" name="Google Shape;871;g3e7350ef53c_0_83"/>
          <p:cNvGraphicFramePr/>
          <p:nvPr/>
        </p:nvGraphicFramePr>
        <p:xfrm>
          <a:off x="283963" y="13146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{EB5553A4-2154-4094-822D-F7633A346B5A}</a:tableStyleId>
              </a:tblPr>
              <a:tblGrid>
                <a:gridCol w="1829875"/>
                <a:gridCol w="2006100"/>
                <a:gridCol w="1918000"/>
                <a:gridCol w="1918000"/>
                <a:gridCol w="1153650"/>
                <a:gridCol w="268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2W shift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IPT shift 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4W shift 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 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bus  procurement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E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ambition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ICE fleet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ambition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I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 ICE + 50% EV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ambition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EV fleet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2" name="Google Shape;872;g3e7350ef53c_0_83"/>
          <p:cNvSpPr txBox="1"/>
          <p:nvPr/>
        </p:nvSpPr>
        <p:spPr>
          <a:xfrm>
            <a:off x="283975" y="3085050"/>
            <a:ext cx="11508000" cy="15051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Each scenario will give -</a:t>
            </a:r>
            <a:endParaRPr b="1"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GHG (t) =GHG(TTW​)+GHG (WTT)​+GHG (Grid) +GHG (B)</a:t>
            </a:r>
            <a:endParaRPr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Mitigation on each scenario will be calculated- </a:t>
            </a:r>
            <a:endParaRPr b="1"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87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Baseline - Scenario </a:t>
            </a:r>
            <a:endParaRPr sz="1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2214fd496_0_3"/>
          <p:cNvSpPr txBox="1"/>
          <p:nvPr>
            <p:ph idx="2" type="body"/>
          </p:nvPr>
        </p:nvSpPr>
        <p:spPr>
          <a:xfrm>
            <a:off x="395707" y="6475388"/>
            <a:ext cx="9740700" cy="383100"/>
          </a:xfrm>
          <a:prstGeom prst="rect">
            <a:avLst/>
          </a:prstGeom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EEW - PPT Template 28Mar18">
  <a:themeElements>
    <a:clrScheme name="CEEW">
      <a:dk1>
        <a:srgbClr val="000000"/>
      </a:dk1>
      <a:lt1>
        <a:srgbClr val="FFFFFF"/>
      </a:lt1>
      <a:dk2>
        <a:srgbClr val="777877"/>
      </a:dk2>
      <a:lt2>
        <a:srgbClr val="FFFFFE"/>
      </a:lt2>
      <a:accent1>
        <a:srgbClr val="009ED8"/>
      </a:accent1>
      <a:accent2>
        <a:srgbClr val="F16223"/>
      </a:accent2>
      <a:accent3>
        <a:srgbClr val="86BB3F"/>
      </a:accent3>
      <a:accent4>
        <a:srgbClr val="929497"/>
      </a:accent4>
      <a:accent5>
        <a:srgbClr val="FFFFFE"/>
      </a:accent5>
      <a:accent6>
        <a:srgbClr val="FFFFFE"/>
      </a:accent6>
      <a:hlink>
        <a:srgbClr val="0D81B9"/>
      </a:hlink>
      <a:folHlink>
        <a:srgbClr val="0D81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